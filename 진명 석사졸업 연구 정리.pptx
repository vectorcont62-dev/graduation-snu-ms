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17"/>
  </p:notesMasterIdLst>
  <p:sldIdLst>
    <p:sldId id="314" r:id="rId2"/>
    <p:sldId id="329" r:id="rId3"/>
    <p:sldId id="330" r:id="rId4"/>
    <p:sldId id="331" r:id="rId5"/>
    <p:sldId id="332" r:id="rId6"/>
    <p:sldId id="315" r:id="rId7"/>
    <p:sldId id="320" r:id="rId8"/>
    <p:sldId id="322" r:id="rId9"/>
    <p:sldId id="324" r:id="rId10"/>
    <p:sldId id="323" r:id="rId11"/>
    <p:sldId id="321" r:id="rId12"/>
    <p:sldId id="325" r:id="rId13"/>
    <p:sldId id="326" r:id="rId14"/>
    <p:sldId id="328" r:id="rId15"/>
    <p:sldId id="327" r:id="rId1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49" autoAdjust="0"/>
    <p:restoredTop sz="97300" autoAdjust="0"/>
  </p:normalViewPr>
  <p:slideViewPr>
    <p:cSldViewPr snapToGrid="0">
      <p:cViewPr varScale="1">
        <p:scale>
          <a:sx n="102" d="100"/>
          <a:sy n="102" d="100"/>
        </p:scale>
        <p:origin x="1590" y="102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2026-07-06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9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2026-07-06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86231"/>
            <a:ext cx="7886700" cy="3485538"/>
          </a:xfrm>
        </p:spPr>
        <p:txBody>
          <a:bodyPr/>
          <a:lstStyle/>
          <a:p>
            <a:r>
              <a:rPr lang="ko-KR" altLang="en-US" dirty="0"/>
              <a:t>진명 연구 정리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Myung Jin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B6771-B904-D06D-3F1E-BC95E197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Trap-to-band </a:t>
            </a:r>
            <a:r>
              <a:rPr lang="en-US" altLang="ko-KR" dirty="0" err="1"/>
              <a:t>Detrapping</a:t>
            </a:r>
            <a:r>
              <a:rPr lang="en-US" altLang="ko-KR" dirty="0"/>
              <a:t> Mechanism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4671DC-160D-4059-D90E-C6878BEA0E82}"/>
              </a:ext>
            </a:extLst>
          </p:cNvPr>
          <p:cNvSpPr txBox="1"/>
          <p:nvPr/>
        </p:nvSpPr>
        <p:spPr>
          <a:xfrm>
            <a:off x="0" y="0"/>
            <a:ext cx="580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(TED) 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48633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02CFA-4AE9-C87A-A0C4-389C69A4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06CA8A-3E00-E06C-5092-F220B5B4A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BETOX Trapped Electron </a:t>
            </a:r>
            <a:r>
              <a:rPr lang="en-US" altLang="ko-KR" dirty="0" err="1"/>
              <a:t>Detrapping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9885E9-F250-1C01-6F74-391F1674527A}"/>
              </a:ext>
            </a:extLst>
          </p:cNvPr>
          <p:cNvSpPr txBox="1"/>
          <p:nvPr/>
        </p:nvSpPr>
        <p:spPr>
          <a:xfrm>
            <a:off x="0" y="0"/>
            <a:ext cx="580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(TED) 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3182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623DB-6BD2-709E-782E-22837D9C5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Trap-Band</a:t>
            </a:r>
            <a:r>
              <a:rPr lang="ko-KR" altLang="en-US" dirty="0"/>
              <a:t> </a:t>
            </a:r>
            <a:r>
              <a:rPr lang="en-US" altLang="ko-KR" dirty="0"/>
              <a:t>Emission Modeling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2127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4AFBC-FA2B-9EFB-C39C-64EFC87E7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EFD29-E6BE-CE20-6575-EDCED6D30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Constant Trap Volume Modeling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5345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pic>
        <p:nvPicPr>
          <p:cNvPr id="4" name="그림 3" descr="텍스트, 폰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D68C67-112F-D59D-798A-61F8EF6A5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05" y="1362634"/>
            <a:ext cx="4309835" cy="1657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B9E240-0629-BB38-4F1A-31651C51E6ED}"/>
              </a:ext>
            </a:extLst>
          </p:cNvPr>
          <p:cNvSpPr txBox="1"/>
          <p:nvPr/>
        </p:nvSpPr>
        <p:spPr>
          <a:xfrm>
            <a:off x="580103" y="963561"/>
            <a:ext cx="5781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Potential Solution: Poisson equation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9269352-53A1-F43B-BC43-3E1D24378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016" y="4327871"/>
            <a:ext cx="1495634" cy="4667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32E6C7-A2AF-6132-94DB-8B32FB601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0" y="5069227"/>
            <a:ext cx="3755923" cy="380809"/>
          </a:xfrm>
          <a:prstGeom prst="rect">
            <a:avLst/>
          </a:prstGeom>
        </p:spPr>
      </p:pic>
      <p:pic>
        <p:nvPicPr>
          <p:cNvPr id="12" name="그림 11" descr="텍스트, 도표, 폰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1A7A15-DD41-20BB-F2BE-2717748BB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115" y="2560218"/>
            <a:ext cx="3755923" cy="31464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8D1F3B-22D4-E4A9-9940-9ACEFFA2A103}"/>
              </a:ext>
            </a:extLst>
          </p:cNvPr>
          <p:cNvSpPr txBox="1"/>
          <p:nvPr/>
        </p:nvSpPr>
        <p:spPr>
          <a:xfrm>
            <a:off x="5879689" y="1953034"/>
            <a:ext cx="2517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Boundary conditions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615ADC-A943-7868-73AE-F3A6F75CFDC0}"/>
              </a:ext>
            </a:extLst>
          </p:cNvPr>
          <p:cNvSpPr txBox="1"/>
          <p:nvPr/>
        </p:nvSpPr>
        <p:spPr>
          <a:xfrm>
            <a:off x="1405304" y="3770993"/>
            <a:ext cx="25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Solution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왼쪽 중괄호 14">
            <a:extLst>
              <a:ext uri="{FF2B5EF4-FFF2-40B4-BE49-F238E27FC236}">
                <a16:creationId xmlns:a16="http://schemas.microsoft.com/office/drawing/2014/main" id="{9DE84A4D-FA64-C446-F2F2-C9AFF8A348AD}"/>
              </a:ext>
            </a:extLst>
          </p:cNvPr>
          <p:cNvSpPr/>
          <p:nvPr/>
        </p:nvSpPr>
        <p:spPr>
          <a:xfrm>
            <a:off x="4864932" y="2353144"/>
            <a:ext cx="356707" cy="3447888"/>
          </a:xfrm>
          <a:prstGeom prst="leftBrace">
            <a:avLst>
              <a:gd name="adj1" fmla="val 80279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C87C69-9A81-859B-28F5-041833A7424F}"/>
              </a:ext>
            </a:extLst>
          </p:cNvPr>
          <p:cNvSpPr txBox="1"/>
          <p:nvPr/>
        </p:nvSpPr>
        <p:spPr>
          <a:xfrm>
            <a:off x="0" y="0"/>
            <a:ext cx="580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(EDL) 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C4F5-1BC0-444C-80AE-9E166FBE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13666-3AEC-DBB1-B987-49885C8D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Q-ΔV</a:t>
            </a:r>
            <a:r>
              <a:rPr lang="en-US" altLang="ko-KR" baseline="-25000"/>
              <a:t>th</a:t>
            </a:r>
            <a:r>
              <a:rPr lang="en-US" altLang="ko-KR"/>
              <a:t> Relation</a:t>
            </a:r>
            <a:endParaRPr lang="ko-KR" altLang="en-US"/>
          </a:p>
        </p:txBody>
      </p:sp>
      <p:pic>
        <p:nvPicPr>
          <p:cNvPr id="5" name="그림 4" descr="폰트, 텍스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08BDE1-8A43-FEC0-E8C1-EE714D441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276" y="1050177"/>
            <a:ext cx="2410161" cy="733527"/>
          </a:xfrm>
          <a:prstGeom prst="rect">
            <a:avLst/>
          </a:prstGeom>
        </p:spPr>
      </p:pic>
      <p:pic>
        <p:nvPicPr>
          <p:cNvPr id="6" name="그림 5" descr="폰트, 텍스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F27606-0963-B914-E944-35FAE9B57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505" y="1743261"/>
            <a:ext cx="2370953" cy="58698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CEA32D-CC1D-4CEB-E725-A5295A65E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345" y="2721821"/>
            <a:ext cx="3813982" cy="433598"/>
          </a:xfrm>
          <a:prstGeom prst="rect">
            <a:avLst/>
          </a:prstGeom>
        </p:spPr>
      </p:pic>
      <p:pic>
        <p:nvPicPr>
          <p:cNvPr id="12" name="그림 11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90E4FD-57D2-E219-C7E8-D9662129D6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0514" y="3405680"/>
            <a:ext cx="5613595" cy="24306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0153A1-F69A-C98F-D4B9-96EA751DAB8F}"/>
              </a:ext>
            </a:extLst>
          </p:cNvPr>
          <p:cNvSpPr txBox="1"/>
          <p:nvPr/>
        </p:nvSpPr>
        <p:spPr>
          <a:xfrm>
            <a:off x="530941" y="1196664"/>
            <a:ext cx="4552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: Equivalent channel field intensity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7EB8B-F728-D4C4-2DBF-EC64979A3A84}"/>
              </a:ext>
            </a:extLst>
          </p:cNvPr>
          <p:cNvSpPr txBox="1"/>
          <p:nvPr/>
        </p:nvSpPr>
        <p:spPr>
          <a:xfrm>
            <a:off x="530941" y="1836896"/>
            <a:ext cx="350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By Cramer’s rule,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8883FD-A382-0CF6-235B-917F9864D37F}"/>
              </a:ext>
            </a:extLst>
          </p:cNvPr>
          <p:cNvSpPr txBox="1"/>
          <p:nvPr/>
        </p:nvSpPr>
        <p:spPr>
          <a:xfrm>
            <a:off x="0" y="0"/>
            <a:ext cx="580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(EDL) 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7241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FB13-C180-6B13-EB4E-EE5BC275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7508F-D494-EA77-A7ED-80849A62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&amp; Parameters</a:t>
            </a:r>
            <a:endParaRPr lang="ko-KR" altLang="en-US" dirty="0"/>
          </a:p>
        </p:txBody>
      </p:sp>
      <p:pic>
        <p:nvPicPr>
          <p:cNvPr id="169" name="그림 168">
            <a:extLst>
              <a:ext uri="{FF2B5EF4-FFF2-40B4-BE49-F238E27FC236}">
                <a16:creationId xmlns:a16="http://schemas.microsoft.com/office/drawing/2014/main" id="{12D9807E-0DD0-8618-FE8C-60D90ADA8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47" y="1651807"/>
            <a:ext cx="4519546" cy="4253692"/>
          </a:xfrm>
          <a:prstGeom prst="rect">
            <a:avLst/>
          </a:prstGeom>
        </p:spPr>
      </p:pic>
      <p:pic>
        <p:nvPicPr>
          <p:cNvPr id="196" name="그림 195">
            <a:extLst>
              <a:ext uri="{FF2B5EF4-FFF2-40B4-BE49-F238E27FC236}">
                <a16:creationId xmlns:a16="http://schemas.microsoft.com/office/drawing/2014/main" id="{A95D2BDD-9402-5E1F-D59E-27A9345FF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893" y="1390764"/>
            <a:ext cx="4077826" cy="45147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E077DD-8669-05BE-05BA-1B84CB51944A}"/>
              </a:ext>
            </a:extLst>
          </p:cNvPr>
          <p:cNvSpPr txBox="1"/>
          <p:nvPr/>
        </p:nvSpPr>
        <p:spPr>
          <a:xfrm>
            <a:off x="0" y="0"/>
            <a:ext cx="580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(EDL) 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9400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3ADB9-34DA-B950-A802-3A43A8BE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7F58E887-E832-99FA-0F24-A9AFF8C1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5A4D3-247C-22B1-F1AE-B86974CCBE78}"/>
              </a:ext>
            </a:extLst>
          </p:cNvPr>
          <p:cNvSpPr txBox="1"/>
          <p:nvPr/>
        </p:nvSpPr>
        <p:spPr>
          <a:xfrm>
            <a:off x="671848" y="1120462"/>
            <a:ext cx="6181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Main Idea: simulation done with initial condition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different from time stepping transient simulation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B019CFC-82C9-105D-FCDD-B75465C27C5D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15A7DFE3-C15B-860D-119E-F34640D54D2A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311B41D-60B9-2619-8B99-9242345E3C1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ADA6501-2D63-D31A-2E5E-0221B93D84B6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D5066E75-AF93-E9A3-9676-300154B024F9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EF8090E-1CBF-ECCD-AB9E-F978D889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95" y="1854072"/>
            <a:ext cx="5496708" cy="3860024"/>
          </a:xfrm>
          <a:prstGeom prst="rect">
            <a:avLst/>
          </a:prstGeom>
        </p:spPr>
      </p:pic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EACCCCB-6BCA-1872-D756-495F8CC939D3}"/>
              </a:ext>
            </a:extLst>
          </p:cNvPr>
          <p:cNvCxnSpPr>
            <a:cxnSpLocks/>
          </p:cNvCxnSpPr>
          <p:nvPr/>
        </p:nvCxnSpPr>
        <p:spPr>
          <a:xfrm flipH="1">
            <a:off x="5588000" y="1901775"/>
            <a:ext cx="901700" cy="33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9EBAB40-DF68-1C55-F411-6EF90C330B79}"/>
              </a:ext>
            </a:extLst>
          </p:cNvPr>
          <p:cNvCxnSpPr>
            <a:cxnSpLocks/>
          </p:cNvCxnSpPr>
          <p:nvPr/>
        </p:nvCxnSpPr>
        <p:spPr>
          <a:xfrm flipH="1">
            <a:off x="5715000" y="2576839"/>
            <a:ext cx="774700" cy="3210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10">
            <a:extLst>
              <a:ext uri="{FF2B5EF4-FFF2-40B4-BE49-F238E27FC236}">
                <a16:creationId xmlns:a16="http://schemas.microsoft.com/office/drawing/2014/main" id="{CAD10C1F-D58C-1390-7520-D765C6608A24}"/>
              </a:ext>
            </a:extLst>
          </p:cNvPr>
          <p:cNvSpPr/>
          <p:nvPr/>
        </p:nvSpPr>
        <p:spPr>
          <a:xfrm>
            <a:off x="4975557" y="5924055"/>
            <a:ext cx="4061101" cy="485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계산 비용은 final retention time 자체가 아니라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trap bin 수와 evaluated time point 수에 의해 결정</a:t>
            </a:r>
            <a:endParaRPr lang="en-US" sz="14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96EEA-BB46-2E6D-0C26-FABBC86C4841}"/>
              </a:ext>
            </a:extLst>
          </p:cNvPr>
          <p:cNvSpPr txBox="1"/>
          <p:nvPr/>
        </p:nvSpPr>
        <p:spPr>
          <a:xfrm>
            <a:off x="0" y="0"/>
            <a:ext cx="580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(EDL) 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1134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FA9A292C-1EB9-1AA8-FC46-AEC906E07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48" y="2465655"/>
            <a:ext cx="4781669" cy="1848912"/>
          </a:xfrm>
          <a:prstGeom prst="rect">
            <a:avLst/>
          </a:prstGeom>
        </p:spPr>
      </p:pic>
      <p:sp>
        <p:nvSpPr>
          <p:cNvPr id="17" name="제목 1">
            <a:extLst>
              <a:ext uri="{FF2B5EF4-FFF2-40B4-BE49-F238E27FC236}">
                <a16:creationId xmlns:a16="http://schemas.microsoft.com/office/drawing/2014/main" id="{69A62632-E77A-3927-5FF5-36F3D484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06A91F-EB43-550F-B4D1-43300861B55A}"/>
              </a:ext>
            </a:extLst>
          </p:cNvPr>
          <p:cNvSpPr txBox="1"/>
          <p:nvPr/>
        </p:nvSpPr>
        <p:spPr>
          <a:xfrm>
            <a:off x="671848" y="1120462"/>
            <a:ext cx="6181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Main Idea: simulation done with initial condition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different from time stepping transient simulation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4B12687F-16DE-0115-C6A4-52E374D80ADA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1ACA70EC-8205-C076-89B9-19A20CDEC131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D85A6764-C53E-AE99-4112-60BB60EFD33A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D9D4F22-0BD8-C767-6471-0D1BF4AE26E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602DC4E-8168-9EC4-84C7-2DA8A78AE552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24" name="Image 0">
            <a:extLst>
              <a:ext uri="{FF2B5EF4-FFF2-40B4-BE49-F238E27FC236}">
                <a16:creationId xmlns:a16="http://schemas.microsoft.com/office/drawing/2014/main" id="{F767B7CD-BAE3-34B5-A4FA-06E1828475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128"/>
          <a:stretch>
            <a:fillRect/>
          </a:stretch>
        </p:blipFill>
        <p:spPr>
          <a:xfrm>
            <a:off x="505165" y="4391000"/>
            <a:ext cx="4948352" cy="1413205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09F6592-A71C-39DA-CBD2-234513F82200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958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4D90DDE-2D84-9963-E550-2C0D76C46C27}"/>
              </a:ext>
            </a:extLst>
          </p:cNvPr>
          <p:cNvCxnSpPr>
            <a:cxnSpLocks/>
          </p:cNvCxnSpPr>
          <p:nvPr/>
        </p:nvCxnSpPr>
        <p:spPr>
          <a:xfrm flipH="1">
            <a:off x="5453517" y="3968319"/>
            <a:ext cx="1036183" cy="2051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96CB929-075D-426F-22B0-AAE760E7E180}"/>
              </a:ext>
            </a:extLst>
          </p:cNvPr>
          <p:cNvSpPr txBox="1"/>
          <p:nvPr/>
        </p:nvSpPr>
        <p:spPr>
          <a:xfrm>
            <a:off x="0" y="0"/>
            <a:ext cx="580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(EDL) 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7606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963FC-EDAD-6A5C-ADF7-04DF9FB3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8494EF6E-67AB-B509-21AC-D9782210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372"/>
          <a:stretch>
            <a:fillRect/>
          </a:stretch>
        </p:blipFill>
        <p:spPr>
          <a:xfrm>
            <a:off x="94129" y="3308745"/>
            <a:ext cx="5743704" cy="192545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0EAB49-46F6-5CD2-4064-B6DF13C5494E}"/>
              </a:ext>
            </a:extLst>
          </p:cNvPr>
          <p:cNvSpPr/>
          <p:nvPr/>
        </p:nvSpPr>
        <p:spPr>
          <a:xfrm>
            <a:off x="94129" y="4523817"/>
            <a:ext cx="5743705" cy="71038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F7D2F6AC-3555-A4C6-508B-B9D90BA65DCE}"/>
              </a:ext>
            </a:extLst>
          </p:cNvPr>
          <p:cNvSpPr/>
          <p:nvPr/>
        </p:nvSpPr>
        <p:spPr>
          <a:xfrm>
            <a:off x="3708400" y="5792590"/>
            <a:ext cx="5328259" cy="61717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computation</a:t>
            </a:r>
            <a:r>
              <a:rPr lang="ko-KR" alt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resource</a:t>
            </a:r>
            <a:r>
              <a:rPr lang="ko-KR" alt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는 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 retention time 자체가 아니라</a:t>
            </a:r>
            <a:endParaRPr lang="en-US" sz="1450" dirty="0"/>
          </a:p>
          <a:p>
            <a:pPr marL="0" indent="0" algn="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trap bin 수와 evaluated time point 수에 의해 결정</a:t>
            </a:r>
            <a:endParaRPr lang="en-US" sz="14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E19DA4-6125-82C1-82C9-423A53008687}"/>
              </a:ext>
            </a:extLst>
          </p:cNvPr>
          <p:cNvSpPr txBox="1"/>
          <p:nvPr/>
        </p:nvSpPr>
        <p:spPr>
          <a:xfrm>
            <a:off x="671848" y="1120462"/>
            <a:ext cx="6181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Main Idea: simulation done with initial condition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different from time stepping transient simulation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30A67EAC-3D18-A813-1B7F-EF00AB74EE0B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A3316C8-B3F0-0741-486E-9F598E19EAC9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A06F1B6E-FF40-0D85-3AFB-60732B005EB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6C744D8-385E-9175-FCCD-311D63DFD29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0879281-E7E4-1239-2EB3-9AA6BBAFC2F7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C19316-AA1E-A65B-62A1-C5778A2FF30D}"/>
              </a:ext>
            </a:extLst>
          </p:cNvPr>
          <p:cNvSpPr txBox="1"/>
          <p:nvPr/>
        </p:nvSpPr>
        <p:spPr>
          <a:xfrm>
            <a:off x="996952" y="5405026"/>
            <a:ext cx="142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Initial state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91B02D-6FA9-5624-5571-5AEAC82166C6}"/>
              </a:ext>
            </a:extLst>
          </p:cNvPr>
          <p:cNvSpPr txBox="1"/>
          <p:nvPr/>
        </p:nvSpPr>
        <p:spPr>
          <a:xfrm>
            <a:off x="2940369" y="5405026"/>
            <a:ext cx="2640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1C1046-9366-24B4-9B84-F63C4F802D07}"/>
              </a:ext>
            </a:extLst>
          </p:cNvPr>
          <p:cNvSpPr txBox="1"/>
          <p:nvPr/>
        </p:nvSpPr>
        <p:spPr>
          <a:xfrm>
            <a:off x="1279396" y="2992018"/>
            <a:ext cx="3525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Autonomous ODE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FDAB256E-2B4D-60A8-D584-17DBDA9A9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22" y="2096806"/>
            <a:ext cx="1473454" cy="5832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0FF1D13-8AA4-D278-4E0A-EF5F9B16F212}"/>
              </a:ext>
            </a:extLst>
          </p:cNvPr>
          <p:cNvSpPr txBox="1"/>
          <p:nvPr/>
        </p:nvSpPr>
        <p:spPr>
          <a:xfrm>
            <a:off x="2416176" y="2202088"/>
            <a:ext cx="2963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Autonomous ODE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FE68F3D-0A0E-724C-ADBE-10863EC0246F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2430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C13342E-CC28-5518-920B-68D264394054}"/>
              </a:ext>
            </a:extLst>
          </p:cNvPr>
          <p:cNvCxnSpPr>
            <a:cxnSpLocks/>
          </p:cNvCxnSpPr>
          <p:nvPr/>
        </p:nvCxnSpPr>
        <p:spPr>
          <a:xfrm flipH="1">
            <a:off x="5664200" y="5440503"/>
            <a:ext cx="825500" cy="364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4F5560A-5E4C-FDE4-2499-CACE4E1756D6}"/>
              </a:ext>
            </a:extLst>
          </p:cNvPr>
          <p:cNvCxnSpPr/>
          <p:nvPr/>
        </p:nvCxnSpPr>
        <p:spPr>
          <a:xfrm flipH="1">
            <a:off x="2120900" y="4965700"/>
            <a:ext cx="609600" cy="474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510CED3-0489-0CBC-0FC6-B84C13B7EA5E}"/>
              </a:ext>
            </a:extLst>
          </p:cNvPr>
          <p:cNvCxnSpPr>
            <a:cxnSpLocks/>
          </p:cNvCxnSpPr>
          <p:nvPr/>
        </p:nvCxnSpPr>
        <p:spPr>
          <a:xfrm>
            <a:off x="4023362" y="5082210"/>
            <a:ext cx="0" cy="358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C2A82BE-B92B-3BAF-1EF3-72BD80E68564}"/>
              </a:ext>
            </a:extLst>
          </p:cNvPr>
          <p:cNvSpPr txBox="1"/>
          <p:nvPr/>
        </p:nvSpPr>
        <p:spPr>
          <a:xfrm>
            <a:off x="0" y="0"/>
            <a:ext cx="580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(EDL) 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215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F3F79-6A8A-8036-C0EA-5795BB86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 Calibration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0C03B-AB43-3256-A1E2-5EEE9F5EB919}"/>
              </a:ext>
            </a:extLst>
          </p:cNvPr>
          <p:cNvSpPr txBox="1"/>
          <p:nvPr/>
        </p:nvSpPr>
        <p:spPr>
          <a:xfrm>
            <a:off x="683046" y="1034073"/>
            <a:ext cx="4671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(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Refaldi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IRPS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E3B60B-6694-A2A6-F560-C9BB3B565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178" y="1434183"/>
            <a:ext cx="5515526" cy="34188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D8035-BA60-EBB1-D663-6D0EA6820F51}"/>
              </a:ext>
            </a:extLst>
          </p:cNvPr>
          <p:cNvSpPr txBox="1"/>
          <p:nvPr/>
        </p:nvSpPr>
        <p:spPr>
          <a:xfrm>
            <a:off x="751437" y="4763430"/>
            <a:ext cx="77950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 condition (~ 4.2K) : physical separation of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 from vertical retention loss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Separation of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 </a:t>
            </a:r>
            <a:r>
              <a:rPr lang="en-US" altLang="ko-KR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E91588-2DD7-9F1A-3299-60F0EA0092D2}"/>
              </a:ext>
            </a:extLst>
          </p:cNvPr>
          <p:cNvSpPr txBox="1"/>
          <p:nvPr/>
        </p:nvSpPr>
        <p:spPr>
          <a:xfrm>
            <a:off x="0" y="0"/>
            <a:ext cx="580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(EDL) 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7947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778E4-D4DA-FF84-213C-4BA55B8D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78384-2A41-9399-D026-DC24419F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 Calibration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3524CB-0BFA-BD3E-FCE4-F8C1890EFAE4}"/>
              </a:ext>
            </a:extLst>
          </p:cNvPr>
          <p:cNvSpPr txBox="1"/>
          <p:nvPr/>
        </p:nvSpPr>
        <p:spPr>
          <a:xfrm>
            <a:off x="683046" y="1034073"/>
            <a:ext cx="4671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(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Refaldi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IRPS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34" name="개체 33">
            <a:extLst>
              <a:ext uri="{FF2B5EF4-FFF2-40B4-BE49-F238E27FC236}">
                <a16:creationId xmlns:a16="http://schemas.microsoft.com/office/drawing/2014/main" id="{58BB9F18-96F1-98CA-A9A2-43AF25E72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501025"/>
              </p:ext>
            </p:extLst>
          </p:nvPr>
        </p:nvGraphicFramePr>
        <p:xfrm>
          <a:off x="3833310" y="2106773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842908" imgH="4833106" progId="Origin50.Graph">
                  <p:embed/>
                </p:oleObj>
              </mc:Choice>
              <mc:Fallback>
                <p:oleObj name="Graph" r:id="rId2" imgW="6842908" imgH="4833106" progId="Origin50.Graph">
                  <p:embed/>
                  <p:pic>
                    <p:nvPicPr>
                      <p:cNvPr id="34" name="개체 33">
                        <a:extLst>
                          <a:ext uri="{FF2B5EF4-FFF2-40B4-BE49-F238E27FC236}">
                            <a16:creationId xmlns:a16="http://schemas.microsoft.com/office/drawing/2014/main" id="{58BB9F18-96F1-98CA-A9A2-43AF25E724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33310" y="2106773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개체 34">
            <a:extLst>
              <a:ext uri="{FF2B5EF4-FFF2-40B4-BE49-F238E27FC236}">
                <a16:creationId xmlns:a16="http://schemas.microsoft.com/office/drawing/2014/main" id="{891322FF-2DED-B48F-6ACB-94E2A4CB1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946794"/>
              </p:ext>
            </p:extLst>
          </p:nvPr>
        </p:nvGraphicFramePr>
        <p:xfrm>
          <a:off x="329810" y="2106773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6842908" imgH="4833106" progId="Origin50.Graph">
                  <p:embed/>
                </p:oleObj>
              </mc:Choice>
              <mc:Fallback>
                <p:oleObj name="Graph" r:id="rId4" imgW="6842908" imgH="4833106" progId="Origin50.Graph">
                  <p:embed/>
                  <p:pic>
                    <p:nvPicPr>
                      <p:cNvPr id="35" name="개체 34">
                        <a:extLst>
                          <a:ext uri="{FF2B5EF4-FFF2-40B4-BE49-F238E27FC236}">
                            <a16:creationId xmlns:a16="http://schemas.microsoft.com/office/drawing/2014/main" id="{891322FF-2DED-B48F-6ACB-94E2A4CB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810" y="2106773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6E4C4EB1-1AB2-EF73-61FE-BF2FED9CA5D4}"/>
              </a:ext>
            </a:extLst>
          </p:cNvPr>
          <p:cNvSpPr/>
          <p:nvPr/>
        </p:nvSpPr>
        <p:spPr>
          <a:xfrm rot="19517270">
            <a:off x="6188515" y="2849477"/>
            <a:ext cx="2063126" cy="28836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6E982E-8192-2839-C046-42F0792C60F9}"/>
              </a:ext>
            </a:extLst>
          </p:cNvPr>
          <p:cNvSpPr txBox="1"/>
          <p:nvPr/>
        </p:nvSpPr>
        <p:spPr>
          <a:xfrm>
            <a:off x="5354198" y="3618934"/>
            <a:ext cx="268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ko-KR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TOX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= 3, 3.5, 4, 4.5, 5 [nm]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EAFB2D-3964-F8C5-3A78-F54BCCB0BDC3}"/>
              </a:ext>
            </a:extLst>
          </p:cNvPr>
          <p:cNvSpPr txBox="1"/>
          <p:nvPr/>
        </p:nvSpPr>
        <p:spPr>
          <a:xfrm>
            <a:off x="838200" y="1891587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– TCAD calibration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6E689E-70A9-729F-9318-9FC0E2EB24FF}"/>
              </a:ext>
            </a:extLst>
          </p:cNvPr>
          <p:cNvSpPr txBox="1"/>
          <p:nvPr/>
        </p:nvSpPr>
        <p:spPr>
          <a:xfrm>
            <a:off x="838200" y="5430227"/>
            <a:ext cx="400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cryogenic: σ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 [cm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]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 = </a:t>
            </a:r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/6/8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8B69CA-0EFC-F706-FD4E-7D72C00A5731}"/>
              </a:ext>
            </a:extLst>
          </p:cNvPr>
          <p:cNvSpPr txBox="1"/>
          <p:nvPr/>
        </p:nvSpPr>
        <p:spPr>
          <a:xfrm>
            <a:off x="5448299" y="1891587"/>
            <a:ext cx="324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 – TCAD match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C85960-DCE8-5A8A-C306-712154208786}"/>
              </a:ext>
            </a:extLst>
          </p:cNvPr>
          <p:cNvSpPr txBox="1"/>
          <p:nvPr/>
        </p:nvSpPr>
        <p:spPr>
          <a:xfrm>
            <a:off x="4840400" y="5430227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3 ~ 5 [nm]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AC7132-B415-F738-D902-326EBCCA64D1}"/>
              </a:ext>
            </a:extLst>
          </p:cNvPr>
          <p:cNvSpPr txBox="1"/>
          <p:nvPr/>
        </p:nvSpPr>
        <p:spPr>
          <a:xfrm>
            <a:off x="0" y="0"/>
            <a:ext cx="580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(EDL) 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0506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1B074-14AA-D1D3-2BED-7349DDDA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Iteration</a:t>
            </a:r>
            <a:r>
              <a:rPr lang="ko-KR" altLang="en-US" dirty="0"/>
              <a:t> </a:t>
            </a:r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47A566-F3F7-6469-E576-70F183C04546}"/>
              </a:ext>
            </a:extLst>
          </p:cNvPr>
          <p:cNvSpPr txBox="1"/>
          <p:nvPr/>
        </p:nvSpPr>
        <p:spPr>
          <a:xfrm>
            <a:off x="0" y="0"/>
            <a:ext cx="580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(EDL) 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4335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E756A-E44F-E0AA-9320-D7B3AF30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Computational Impact</a:t>
            </a:r>
            <a:endParaRPr lang="ko-KR" alt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CD5D8C2-B9F6-A0F7-6221-3EEF51EFE7A4}"/>
              </a:ext>
            </a:extLst>
          </p:cNvPr>
          <p:cNvSpPr/>
          <p:nvPr/>
        </p:nvSpPr>
        <p:spPr>
          <a:xfrm>
            <a:off x="1678940" y="987552"/>
            <a:ext cx="1325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Property</a:t>
            </a:r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C292B0B-D34E-907E-C605-4BFBBE5B65D8}"/>
              </a:ext>
            </a:extLst>
          </p:cNvPr>
          <p:cNvSpPr/>
          <p:nvPr/>
        </p:nvSpPr>
        <p:spPr>
          <a:xfrm>
            <a:off x="3004820" y="987552"/>
            <a:ext cx="196596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Transient TCAD</a:t>
            </a: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CAC4BE1-4759-0E57-69C3-F84F2E395A97}"/>
              </a:ext>
            </a:extLst>
          </p:cNvPr>
          <p:cNvSpPr/>
          <p:nvPr/>
        </p:nvSpPr>
        <p:spPr>
          <a:xfrm>
            <a:off x="4970780" y="987552"/>
            <a:ext cx="2468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Time-step-free model</a:t>
            </a:r>
            <a:endParaRPr lang="en-US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4A61EC9-7FFD-4533-05C7-E035E49B4AA9}"/>
              </a:ext>
            </a:extLst>
          </p:cNvPr>
          <p:cNvSpPr/>
          <p:nvPr/>
        </p:nvSpPr>
        <p:spPr>
          <a:xfrm>
            <a:off x="1678940" y="1399032"/>
            <a:ext cx="1325880" cy="658368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Temporal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9DE8736-7A8A-C50A-3017-6C1F863E93F0}"/>
              </a:ext>
            </a:extLst>
          </p:cNvPr>
          <p:cNvSpPr/>
          <p:nvPr/>
        </p:nvSpPr>
        <p:spPr>
          <a:xfrm>
            <a:off x="3004820" y="1399032"/>
            <a:ext cx="1965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Sequential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 stepping</a:t>
            </a:r>
            <a:endParaRPr lang="en-US" sz="1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8E33C37-1795-66F9-5660-BBB19ED8B691}"/>
              </a:ext>
            </a:extLst>
          </p:cNvPr>
          <p:cNvSpPr/>
          <p:nvPr/>
        </p:nvSpPr>
        <p:spPr>
          <a:xfrm>
            <a:off x="1678940" y="2057400"/>
            <a:ext cx="1325880" cy="768096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Final-time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dependence</a:t>
            </a:r>
            <a:endParaRPr lang="en-US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7DC4FCC-0D75-763F-35C3-C1C4EE2BAA4F}"/>
              </a:ext>
            </a:extLst>
          </p:cNvPr>
          <p:cNvSpPr/>
          <p:nvPr/>
        </p:nvSpPr>
        <p:spPr>
          <a:xfrm>
            <a:off x="3004820" y="2057400"/>
            <a:ext cx="1965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grows 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simulated retention time increases</a:t>
            </a:r>
            <a:endParaRPr lang="en-US" sz="12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FE02911-90C1-620B-37B5-516FFEA285B3}"/>
              </a:ext>
            </a:extLst>
          </p:cNvPr>
          <p:cNvSpPr/>
          <p:nvPr/>
        </p:nvSpPr>
        <p:spPr>
          <a:xfrm>
            <a:off x="4970780" y="2057400"/>
            <a:ext cx="24688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Independent of final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physical time for fixed queries</a:t>
            </a:r>
            <a:endParaRPr lang="en-US" sz="12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49D174F1-A2EB-7C3A-60B1-3C29EC4E261C}"/>
              </a:ext>
            </a:extLst>
          </p:cNvPr>
          <p:cNvSpPr/>
          <p:nvPr/>
        </p:nvSpPr>
        <p:spPr>
          <a:xfrm>
            <a:off x="1678940" y="2825496"/>
            <a:ext cx="1325880" cy="603504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Average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</a:t>
            </a:r>
            <a:endParaRPr lang="en-US" sz="14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5677FC9-B3AA-9449-57E9-50B3E482C8F1}"/>
              </a:ext>
            </a:extLst>
          </p:cNvPr>
          <p:cNvSpPr/>
          <p:nvPr/>
        </p:nvSpPr>
        <p:spPr>
          <a:xfrm>
            <a:off x="3004820" y="2825496"/>
            <a:ext cx="19659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5C66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27483 s</a:t>
            </a:r>
            <a:endParaRPr lang="en-US" sz="24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6EB728DA-214C-44E4-E603-837D7618C767}"/>
              </a:ext>
            </a:extLst>
          </p:cNvPr>
          <p:cNvSpPr/>
          <p:nvPr/>
        </p:nvSpPr>
        <p:spPr>
          <a:xfrm>
            <a:off x="4970780" y="2825496"/>
            <a:ext cx="2468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3.926 s</a:t>
            </a:r>
            <a:endParaRPr lang="en-US" sz="2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04CC522-EDC8-597E-28D2-84CE8A293807}"/>
              </a:ext>
            </a:extLst>
          </p:cNvPr>
          <p:cNvSpPr/>
          <p:nvPr/>
        </p:nvSpPr>
        <p:spPr>
          <a:xfrm>
            <a:off x="4806315" y="1355175"/>
            <a:ext cx="2797810" cy="74608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Closed-form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evaluation of Eq. (13)</a:t>
            </a:r>
            <a:endParaRPr lang="en-US" sz="1600" dirty="0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7859EE1C-ABE7-24EC-F8B1-5EEDAA8EDA66}"/>
              </a:ext>
            </a:extLst>
          </p:cNvPr>
          <p:cNvSpPr/>
          <p:nvPr/>
        </p:nvSpPr>
        <p:spPr>
          <a:xfrm>
            <a:off x="4254500" y="3306735"/>
            <a:ext cx="1460500" cy="286857"/>
          </a:xfrm>
          <a:custGeom>
            <a:avLst/>
            <a:gdLst>
              <a:gd name="csX0" fmla="*/ 0 w 1460500"/>
              <a:gd name="csY0" fmla="*/ 0 h 457598"/>
              <a:gd name="csX1" fmla="*/ 787400 w 1460500"/>
              <a:gd name="csY1" fmla="*/ 457200 h 457598"/>
              <a:gd name="csX2" fmla="*/ 1460500 w 1460500"/>
              <a:gd name="csY2" fmla="*/ 63500 h 457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60500" h="457598">
                <a:moveTo>
                  <a:pt x="0" y="0"/>
                </a:moveTo>
                <a:cubicBezTo>
                  <a:pt x="271991" y="223308"/>
                  <a:pt x="543983" y="446617"/>
                  <a:pt x="787400" y="457200"/>
                </a:cubicBezTo>
                <a:cubicBezTo>
                  <a:pt x="1030817" y="467783"/>
                  <a:pt x="1245658" y="265641"/>
                  <a:pt x="1460500" y="6350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5527E49-DD95-E8F9-13BD-E2F50DA954EA}"/>
              </a:ext>
            </a:extLst>
          </p:cNvPr>
          <p:cNvSpPr/>
          <p:nvPr/>
        </p:nvSpPr>
        <p:spPr>
          <a:xfrm>
            <a:off x="4060190" y="3593592"/>
            <a:ext cx="1849120" cy="41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A6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≈ 7000×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3320400-7B65-329F-145D-D149F9AC68A8}"/>
              </a:ext>
            </a:extLst>
          </p:cNvPr>
          <p:cNvSpPr/>
          <p:nvPr/>
        </p:nvSpPr>
        <p:spPr>
          <a:xfrm>
            <a:off x="4060190" y="3913803"/>
            <a:ext cx="1849120" cy="286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reduction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18F11F-06B6-3B51-BBFF-6FB4C620D1E5}"/>
              </a:ext>
            </a:extLst>
          </p:cNvPr>
          <p:cNvSpPr txBox="1"/>
          <p:nvPr/>
        </p:nvSpPr>
        <p:spPr>
          <a:xfrm>
            <a:off x="838200" y="4326304"/>
            <a:ext cx="7581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physical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까지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step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별 순차적으로 계산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model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Computational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resource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FDDE8B-6486-1217-BCE8-24449350D495}"/>
              </a:ext>
            </a:extLst>
          </p:cNvPr>
          <p:cNvSpPr txBox="1"/>
          <p:nvPr/>
        </p:nvSpPr>
        <p:spPr>
          <a:xfrm>
            <a:off x="0" y="0"/>
            <a:ext cx="580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(EDL) 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138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2491</TotalTime>
  <Words>434</Words>
  <Application>Microsoft Office PowerPoint</Application>
  <PresentationFormat>화면 슬라이드 쇼(4:3)</PresentationFormat>
  <Paragraphs>102</Paragraphs>
  <Slides>15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Noto Sans CJK KR</vt:lpstr>
      <vt:lpstr>맑은 고딕</vt:lpstr>
      <vt:lpstr>Arial</vt:lpstr>
      <vt:lpstr>Calibri</vt:lpstr>
      <vt:lpstr>Times New Roman</vt:lpstr>
      <vt:lpstr>Office 테마</vt:lpstr>
      <vt:lpstr>Graph</vt:lpstr>
      <vt:lpstr>진명 연구 정리  Myung Jin</vt:lpstr>
      <vt:lpstr>Trap-to-band Detrapping Mechanism</vt:lpstr>
      <vt:lpstr>BETOX Trapped Electron Detrapping</vt:lpstr>
      <vt:lpstr>Trap-Band Emission Modeling</vt:lpstr>
      <vt:lpstr>Constant Trap Volume Modeling</vt:lpstr>
      <vt:lpstr>Detailed Poisson Solution</vt:lpstr>
      <vt:lpstr>Q-ΔVth Relation</vt:lpstr>
      <vt:lpstr>Visualization &amp; Parameters</vt:lpstr>
      <vt:lpstr>Time-step-free Physics-based Modeling</vt:lpstr>
      <vt:lpstr>Time-step-free Physics-based Modeling</vt:lpstr>
      <vt:lpstr>Time-step-free Physics-based Modeling</vt:lpstr>
      <vt:lpstr>Cryogenic Calibration</vt:lpstr>
      <vt:lpstr>Cryogenic Calibration</vt:lpstr>
      <vt:lpstr>Iteration Test</vt:lpstr>
      <vt:lpstr>Computational Impact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968</cp:revision>
  <dcterms:created xsi:type="dcterms:W3CDTF">2016-06-02T05:19:04Z</dcterms:created>
  <dcterms:modified xsi:type="dcterms:W3CDTF">2026-07-06T13:13:24Z</dcterms:modified>
  <cp:version/>
</cp:coreProperties>
</file>