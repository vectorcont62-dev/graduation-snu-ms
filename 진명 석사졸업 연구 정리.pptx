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17"/>
  </p:notesMasterIdLst>
  <p:sldIdLst>
    <p:sldId id="314" r:id="rId2"/>
    <p:sldId id="329" r:id="rId3"/>
    <p:sldId id="330" r:id="rId4"/>
    <p:sldId id="331" r:id="rId5"/>
    <p:sldId id="315" r:id="rId6"/>
    <p:sldId id="333" r:id="rId7"/>
    <p:sldId id="320" r:id="rId8"/>
    <p:sldId id="322" r:id="rId9"/>
    <p:sldId id="324" r:id="rId10"/>
    <p:sldId id="323" r:id="rId11"/>
    <p:sldId id="321" r:id="rId12"/>
    <p:sldId id="325" r:id="rId13"/>
    <p:sldId id="326" r:id="rId14"/>
    <p:sldId id="328" r:id="rId15"/>
    <p:sldId id="327" r:id="rId1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7687"/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49" autoAdjust="0"/>
    <p:restoredTop sz="97300" autoAdjust="0"/>
  </p:normalViewPr>
  <p:slideViewPr>
    <p:cSldViewPr snapToGrid="0">
      <p:cViewPr>
        <p:scale>
          <a:sx n="150" d="100"/>
          <a:sy n="150" d="100"/>
        </p:scale>
        <p:origin x="1914" y="0"/>
      </p:cViewPr>
      <p:guideLst>
        <p:guide orient="horz" pos="218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17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  <p:sp>
        <p:nvSpPr>
          <p:cNvPr id="12" name="슬라이드 번호 개체 틀 1">
            <a:extLst>
              <a:ext uri="{FF2B5EF4-FFF2-40B4-BE49-F238E27FC236}">
                <a16:creationId xmlns:a16="http://schemas.microsoft.com/office/drawing/2014/main" id="{73E09DDB-F9AA-B7CF-1BD1-467229BF433E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E249DC-8914-7D45-D9D6-4D9952A1C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686231"/>
            <a:ext cx="7886700" cy="3485538"/>
          </a:xfrm>
        </p:spPr>
        <p:txBody>
          <a:bodyPr/>
          <a:lstStyle/>
          <a:p>
            <a:r>
              <a:rPr lang="ko-KR" altLang="en-US" dirty="0"/>
              <a:t>진명 연구 정리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Myung Jin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82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Trap-to-band </a:t>
            </a:r>
            <a:r>
              <a:rPr lang="en-US" altLang="ko-KR" dirty="0" err="1"/>
              <a:t>Detrapping</a:t>
            </a:r>
            <a:r>
              <a:rPr lang="en-US" altLang="ko-KR" dirty="0"/>
              <a:t> Mechanism</a:t>
            </a:r>
            <a:endParaRPr lang="ko-KR" altLang="en-US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A7530F4-DFF5-C2D3-08BE-884D26D63F9D}"/>
              </a:ext>
            </a:extLst>
          </p:cNvPr>
          <p:cNvSpPr txBox="1"/>
          <p:nvPr/>
        </p:nvSpPr>
        <p:spPr>
          <a:xfrm>
            <a:off x="580103" y="1212714"/>
            <a:ext cx="8343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Bandgap-engineered tunneling oxide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(BETOX)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으로부터의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failure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프로그램이 완료된 산포의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memory window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감소시킴</a:t>
            </a:r>
          </a:p>
        </p:txBody>
      </p:sp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38406C99-2751-D660-D4DC-A1878FA56216}"/>
              </a:ext>
            </a:extLst>
          </p:cNvPr>
          <p:cNvGrpSpPr/>
          <p:nvPr/>
        </p:nvGrpSpPr>
        <p:grpSpPr>
          <a:xfrm>
            <a:off x="3916154" y="1984393"/>
            <a:ext cx="4855023" cy="1887729"/>
            <a:chOff x="1243852" y="6710751"/>
            <a:chExt cx="4855023" cy="1887729"/>
          </a:xfrm>
        </p:grpSpPr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B286B78F-470F-11F8-DCC7-BB68E495B296}"/>
                </a:ext>
              </a:extLst>
            </p:cNvPr>
            <p:cNvGrpSpPr/>
            <p:nvPr/>
          </p:nvGrpSpPr>
          <p:grpSpPr>
            <a:xfrm>
              <a:off x="1243852" y="6710751"/>
              <a:ext cx="4855023" cy="1887729"/>
              <a:chOff x="1891552" y="487631"/>
              <a:chExt cx="4855023" cy="4014610"/>
            </a:xfrm>
          </p:grpSpPr>
          <p:sp>
            <p:nvSpPr>
              <p:cNvPr id="153" name="자유형: 도형 152">
                <a:extLst>
                  <a:ext uri="{FF2B5EF4-FFF2-40B4-BE49-F238E27FC236}">
                    <a16:creationId xmlns:a16="http://schemas.microsoft.com/office/drawing/2014/main" id="{87E071EA-0E85-BEDC-C178-B4760616F5D9}"/>
                  </a:ext>
                </a:extLst>
              </p:cNvPr>
              <p:cNvSpPr/>
              <p:nvPr/>
            </p:nvSpPr>
            <p:spPr>
              <a:xfrm>
                <a:off x="2114550" y="1733542"/>
                <a:ext cx="108585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54" name="직선 연결선 153">
                <a:extLst>
                  <a:ext uri="{FF2B5EF4-FFF2-40B4-BE49-F238E27FC236}">
                    <a16:creationId xmlns:a16="http://schemas.microsoft.com/office/drawing/2014/main" id="{0C799CD1-16A5-C91C-EFF9-7C4D6BF9D9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1552" y="3437470"/>
                <a:ext cx="4855023" cy="876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자유형: 도형 154">
                <a:extLst>
                  <a:ext uri="{FF2B5EF4-FFF2-40B4-BE49-F238E27FC236}">
                    <a16:creationId xmlns:a16="http://schemas.microsoft.com/office/drawing/2014/main" id="{BD9D4617-C92B-A9E2-4648-F18228B4ECA8}"/>
                  </a:ext>
                </a:extLst>
              </p:cNvPr>
              <p:cNvSpPr/>
              <p:nvPr/>
            </p:nvSpPr>
            <p:spPr>
              <a:xfrm>
                <a:off x="45085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6" name="자유형: 도형 155">
                <a:extLst>
                  <a:ext uri="{FF2B5EF4-FFF2-40B4-BE49-F238E27FC236}">
                    <a16:creationId xmlns:a16="http://schemas.microsoft.com/office/drawing/2014/main" id="{BE08FB68-E36F-2D8F-A3E0-07BBBE0507B5}"/>
                  </a:ext>
                </a:extLst>
              </p:cNvPr>
              <p:cNvSpPr/>
              <p:nvPr/>
            </p:nvSpPr>
            <p:spPr>
              <a:xfrm>
                <a:off x="50292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7" name="자유형: 도형 156">
                <a:extLst>
                  <a:ext uri="{FF2B5EF4-FFF2-40B4-BE49-F238E27FC236}">
                    <a16:creationId xmlns:a16="http://schemas.microsoft.com/office/drawing/2014/main" id="{4CB384F7-DEA9-7FDC-F7F8-3E02D2E399C9}"/>
                  </a:ext>
                </a:extLst>
              </p:cNvPr>
              <p:cNvSpPr/>
              <p:nvPr/>
            </p:nvSpPr>
            <p:spPr>
              <a:xfrm>
                <a:off x="55499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8" name="자유형: 도형 157">
                <a:extLst>
                  <a:ext uri="{FF2B5EF4-FFF2-40B4-BE49-F238E27FC236}">
                    <a16:creationId xmlns:a16="http://schemas.microsoft.com/office/drawing/2014/main" id="{ADFECE3C-213A-1A63-1C0A-FEA56D301240}"/>
                  </a:ext>
                </a:extLst>
              </p:cNvPr>
              <p:cNvSpPr/>
              <p:nvPr/>
            </p:nvSpPr>
            <p:spPr>
              <a:xfrm>
                <a:off x="60706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9" name="자유형: 도형 158">
                <a:extLst>
                  <a:ext uri="{FF2B5EF4-FFF2-40B4-BE49-F238E27FC236}">
                    <a16:creationId xmlns:a16="http://schemas.microsoft.com/office/drawing/2014/main" id="{B50D7640-1B1E-DB7E-7F48-63DB289965F5}"/>
                  </a:ext>
                </a:extLst>
              </p:cNvPr>
              <p:cNvSpPr/>
              <p:nvPr/>
            </p:nvSpPr>
            <p:spPr>
              <a:xfrm>
                <a:off x="43688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0" name="자유형: 도형 159">
                <a:extLst>
                  <a:ext uri="{FF2B5EF4-FFF2-40B4-BE49-F238E27FC236}">
                    <a16:creationId xmlns:a16="http://schemas.microsoft.com/office/drawing/2014/main" id="{416DB71C-B0EF-0B75-E1D2-7DC7570BF692}"/>
                  </a:ext>
                </a:extLst>
              </p:cNvPr>
              <p:cNvSpPr/>
              <p:nvPr/>
            </p:nvSpPr>
            <p:spPr>
              <a:xfrm>
                <a:off x="48895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1" name="자유형: 도형 160">
                <a:extLst>
                  <a:ext uri="{FF2B5EF4-FFF2-40B4-BE49-F238E27FC236}">
                    <a16:creationId xmlns:a16="http://schemas.microsoft.com/office/drawing/2014/main" id="{F6097671-7E92-1935-A528-ABB864E0F7D1}"/>
                  </a:ext>
                </a:extLst>
              </p:cNvPr>
              <p:cNvSpPr/>
              <p:nvPr/>
            </p:nvSpPr>
            <p:spPr>
              <a:xfrm>
                <a:off x="54102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2" name="자유형: 도형 161">
                <a:extLst>
                  <a:ext uri="{FF2B5EF4-FFF2-40B4-BE49-F238E27FC236}">
                    <a16:creationId xmlns:a16="http://schemas.microsoft.com/office/drawing/2014/main" id="{77FBA6FF-CA49-F050-2367-B38ABF4D9B27}"/>
                  </a:ext>
                </a:extLst>
              </p:cNvPr>
              <p:cNvSpPr/>
              <p:nvPr/>
            </p:nvSpPr>
            <p:spPr>
              <a:xfrm>
                <a:off x="59309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화살표: 왼쪽 162">
                <a:extLst>
                  <a:ext uri="{FF2B5EF4-FFF2-40B4-BE49-F238E27FC236}">
                    <a16:creationId xmlns:a16="http://schemas.microsoft.com/office/drawing/2014/main" id="{1621D767-D5D0-8694-CEB1-15E4757A1FFF}"/>
                  </a:ext>
                </a:extLst>
              </p:cNvPr>
              <p:cNvSpPr/>
              <p:nvPr/>
            </p:nvSpPr>
            <p:spPr>
              <a:xfrm>
                <a:off x="4518025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4" name="화살표: 왼쪽 163">
                <a:extLst>
                  <a:ext uri="{FF2B5EF4-FFF2-40B4-BE49-F238E27FC236}">
                    <a16:creationId xmlns:a16="http://schemas.microsoft.com/office/drawing/2014/main" id="{6DB4EA02-3DDD-59EE-047E-26208119CD64}"/>
                  </a:ext>
                </a:extLst>
              </p:cNvPr>
              <p:cNvSpPr/>
              <p:nvPr/>
            </p:nvSpPr>
            <p:spPr>
              <a:xfrm>
                <a:off x="5029200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5" name="화살표: 왼쪽 164">
                <a:extLst>
                  <a:ext uri="{FF2B5EF4-FFF2-40B4-BE49-F238E27FC236}">
                    <a16:creationId xmlns:a16="http://schemas.microsoft.com/office/drawing/2014/main" id="{1D187FDC-D8B8-7B97-1A41-840A59537510}"/>
                  </a:ext>
                </a:extLst>
              </p:cNvPr>
              <p:cNvSpPr/>
              <p:nvPr/>
            </p:nvSpPr>
            <p:spPr>
              <a:xfrm>
                <a:off x="5540375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6" name="화살표: 왼쪽 165">
                <a:extLst>
                  <a:ext uri="{FF2B5EF4-FFF2-40B4-BE49-F238E27FC236}">
                    <a16:creationId xmlns:a16="http://schemas.microsoft.com/office/drawing/2014/main" id="{C5C81004-2FB8-4F70-8172-8DE428A97A42}"/>
                  </a:ext>
                </a:extLst>
              </p:cNvPr>
              <p:cNvSpPr/>
              <p:nvPr/>
            </p:nvSpPr>
            <p:spPr>
              <a:xfrm>
                <a:off x="6051550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F1FEF953-2BFF-2E41-03A7-CCE818094A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155700"/>
                <a:ext cx="0" cy="31432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AE60D902-A709-03FF-2F63-F18616EF2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0600" y="1149350"/>
                <a:ext cx="0" cy="314960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B848AF67-5D73-04F2-7882-641745885B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0900" y="1149350"/>
                <a:ext cx="0" cy="3149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6EEA435D-4DC4-B975-88F6-8B0503E3BD39}"/>
                  </a:ext>
                </a:extLst>
              </p:cNvPr>
              <p:cNvSpPr txBox="1"/>
              <p:nvPr/>
            </p:nvSpPr>
            <p:spPr>
              <a:xfrm>
                <a:off x="3530599" y="3536472"/>
                <a:ext cx="2070102" cy="850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 b="1" dirty="0"/>
                  <a:t>gap margin (memory window)</a:t>
                </a:r>
              </a:p>
              <a:p>
                <a:pPr algn="ctr"/>
                <a:r>
                  <a:rPr lang="en-US" altLang="ko-KR" sz="1000" b="1" dirty="0"/>
                  <a:t>degradation</a:t>
                </a:r>
                <a:endParaRPr lang="ko-KR" altLang="en-US" sz="1000" b="1" dirty="0"/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683DDD-CC93-E94D-E648-41227EFF5EE6}"/>
                  </a:ext>
                </a:extLst>
              </p:cNvPr>
              <p:cNvSpPr txBox="1"/>
              <p:nvPr/>
            </p:nvSpPr>
            <p:spPr>
              <a:xfrm>
                <a:off x="2155825" y="487631"/>
                <a:ext cx="4165600" cy="9163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100" dirty="0"/>
                  <a:t>Electron </a:t>
                </a:r>
                <a:r>
                  <a:rPr lang="en-US" altLang="ko-KR" sz="1100" dirty="0" err="1"/>
                  <a:t>detrapping</a:t>
                </a:r>
                <a:r>
                  <a:rPr lang="en-US" altLang="ko-KR" sz="1100" dirty="0"/>
                  <a:t> effect</a:t>
                </a:r>
                <a:br>
                  <a:rPr lang="en-US" altLang="ko-KR" sz="1100" dirty="0"/>
                </a:br>
                <a:r>
                  <a:rPr lang="en-US" altLang="ko-KR" sz="1100" dirty="0"/>
                  <a:t>in </a:t>
                </a:r>
                <a:r>
                  <a:rPr lang="en-US" altLang="ko-KR" sz="1100" dirty="0" err="1"/>
                  <a:t>Δ</a:t>
                </a:r>
                <a:r>
                  <a:rPr lang="en-US" altLang="ko-KR" sz="1100" i="1" dirty="0" err="1"/>
                  <a:t>V</a:t>
                </a:r>
                <a:r>
                  <a:rPr lang="en-US" altLang="ko-KR" sz="1100" baseline="-25000" dirty="0" err="1"/>
                  <a:t>th</a:t>
                </a:r>
                <a:r>
                  <a:rPr lang="en-US" altLang="ko-KR" sz="1100" dirty="0"/>
                  <a:t> distribution</a:t>
                </a:r>
                <a:endParaRPr lang="ko-KR" altLang="en-US" sz="1100" dirty="0"/>
              </a:p>
            </p:txBody>
          </p:sp>
          <p:cxnSp>
            <p:nvCxnSpPr>
              <p:cNvPr id="172" name="직선 화살표 연결선 171">
                <a:extLst>
                  <a:ext uri="{FF2B5EF4-FFF2-40B4-BE49-F238E27FC236}">
                    <a16:creationId xmlns:a16="http://schemas.microsoft.com/office/drawing/2014/main" id="{920D2F45-EF14-6E31-8C66-12CDFEE9CD87}"/>
                  </a:ext>
                </a:extLst>
              </p:cNvPr>
              <p:cNvCxnSpPr>
                <a:cxnSpLocks/>
                <a:stCxn id="170" idx="1"/>
              </p:cNvCxnSpPr>
              <p:nvPr/>
            </p:nvCxnSpPr>
            <p:spPr>
              <a:xfrm flipH="1">
                <a:off x="3200400" y="3961926"/>
                <a:ext cx="33019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직선 화살표 연결선 172">
                <a:extLst>
                  <a:ext uri="{FF2B5EF4-FFF2-40B4-BE49-F238E27FC236}">
                    <a16:creationId xmlns:a16="http://schemas.microsoft.com/office/drawing/2014/main" id="{92343334-B602-B8FE-1745-A2679552EA1E}"/>
                  </a:ext>
                </a:extLst>
              </p:cNvPr>
              <p:cNvCxnSpPr>
                <a:cxnSpLocks/>
                <a:stCxn id="170" idx="3"/>
              </p:cNvCxnSpPr>
              <p:nvPr/>
            </p:nvCxnSpPr>
            <p:spPr>
              <a:xfrm flipV="1">
                <a:off x="5600701" y="3961924"/>
                <a:ext cx="495298" cy="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화살표: 왼쪽 173">
                <a:extLst>
                  <a:ext uri="{FF2B5EF4-FFF2-40B4-BE49-F238E27FC236}">
                    <a16:creationId xmlns:a16="http://schemas.microsoft.com/office/drawing/2014/main" id="{FB6EE1B7-3A58-8A48-4686-21CA2BECC0DF}"/>
                  </a:ext>
                </a:extLst>
              </p:cNvPr>
              <p:cNvSpPr/>
              <p:nvPr/>
            </p:nvSpPr>
            <p:spPr>
              <a:xfrm>
                <a:off x="5761036" y="4305908"/>
                <a:ext cx="339725" cy="196333"/>
              </a:xfrm>
              <a:prstGeom prst="leftArrow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7BD4B787-04B0-AF8F-E7B7-D8F91B15E10D}"/>
                  </a:ext>
                </a:extLst>
              </p:cNvPr>
              <p:cNvSpPr txBox="1"/>
              <p:nvPr/>
            </p:nvSpPr>
            <p:spPr>
              <a:xfrm>
                <a:off x="2343147" y="2444392"/>
                <a:ext cx="692154" cy="461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/>
                  <a:t>Erased</a:t>
                </a:r>
                <a:br>
                  <a:rPr lang="en-US" altLang="ko-KR" sz="1200"/>
                </a:br>
                <a:r>
                  <a:rPr lang="en-US" altLang="ko-KR" sz="1200"/>
                  <a:t>Cells</a:t>
                </a:r>
                <a:endParaRPr lang="ko-KR" altLang="en-US" sz="1200"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3325EE47-927C-FB7F-148A-DC551F6A78B2}"/>
                  </a:ext>
                </a:extLst>
              </p:cNvPr>
              <p:cNvSpPr txBox="1"/>
              <p:nvPr/>
            </p:nvSpPr>
            <p:spPr>
              <a:xfrm>
                <a:off x="4889500" y="1123338"/>
                <a:ext cx="1219198" cy="425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/>
                  <a:t>Programmed Cells</a:t>
                </a:r>
                <a:endParaRPr lang="ko-KR" altLang="en-US" sz="700"/>
              </a:p>
            </p:txBody>
          </p:sp>
        </p:grp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6C0B1DE-346E-2662-CCAB-44C8BD8D23C3}"/>
                </a:ext>
              </a:extLst>
            </p:cNvPr>
            <p:cNvSpPr txBox="1"/>
            <p:nvPr/>
          </p:nvSpPr>
          <p:spPr>
            <a:xfrm>
              <a:off x="3328113" y="7425866"/>
              <a:ext cx="3773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…</a:t>
              </a:r>
              <a:endParaRPr lang="ko-KR" altLang="en-US"/>
            </a:p>
          </p:txBody>
        </p:sp>
      </p:grp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043010" y="4507845"/>
            <a:ext cx="5303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구조에서의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일어나는 현상에 대한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진행</a:t>
            </a:r>
          </a:p>
        </p:txBody>
      </p:sp>
      <p:grpSp>
        <p:nvGrpSpPr>
          <p:cNvPr id="313" name="그룹 312">
            <a:extLst>
              <a:ext uri="{FF2B5EF4-FFF2-40B4-BE49-F238E27FC236}">
                <a16:creationId xmlns:a16="http://schemas.microsoft.com/office/drawing/2014/main" id="{D0446B26-840C-27E8-FB3A-0DE6929F6DC4}"/>
              </a:ext>
            </a:extLst>
          </p:cNvPr>
          <p:cNvGrpSpPr/>
          <p:nvPr/>
        </p:nvGrpSpPr>
        <p:grpSpPr>
          <a:xfrm>
            <a:off x="625316" y="2525454"/>
            <a:ext cx="2302341" cy="3689196"/>
            <a:chOff x="6447475" y="1975285"/>
            <a:chExt cx="2302341" cy="3689196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968EE5A-E974-223C-1B5E-BC43E64550DF}"/>
                </a:ext>
              </a:extLst>
            </p:cNvPr>
            <p:cNvGrpSpPr/>
            <p:nvPr/>
          </p:nvGrpSpPr>
          <p:grpSpPr>
            <a:xfrm>
              <a:off x="6447475" y="2690188"/>
              <a:ext cx="2064544" cy="2974293"/>
              <a:chOff x="1409700" y="6504387"/>
              <a:chExt cx="2064544" cy="2974293"/>
            </a:xfrm>
          </p:grpSpPr>
          <p:pic>
            <p:nvPicPr>
              <p:cNvPr id="211" name="그림 210" descr="로고, 그래픽, 디자인이(가) 표시된 사진&#10;&#10;자동 생성된 설명">
                <a:extLst>
                  <a:ext uri="{FF2B5EF4-FFF2-40B4-BE49-F238E27FC236}">
                    <a16:creationId xmlns:a16="http://schemas.microsoft.com/office/drawing/2014/main" id="{20E526E3-9043-CED4-08E9-9DE1295ECB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8303" t="12315" r="12187"/>
              <a:stretch/>
            </p:blipFill>
            <p:spPr>
              <a:xfrm>
                <a:off x="1409700" y="6582571"/>
                <a:ext cx="2064544" cy="2577269"/>
              </a:xfrm>
              <a:prstGeom prst="rect">
                <a:avLst/>
              </a:prstGeom>
            </p:spPr>
          </p:pic>
          <p:cxnSp>
            <p:nvCxnSpPr>
              <p:cNvPr id="213" name="직선 화살표 연결선 212">
                <a:extLst>
                  <a:ext uri="{FF2B5EF4-FFF2-40B4-BE49-F238E27FC236}">
                    <a16:creationId xmlns:a16="http://schemas.microsoft.com/office/drawing/2014/main" id="{3CF29235-04EA-DFF1-4DC5-2B71DA818BBB}"/>
                  </a:ext>
                </a:extLst>
              </p:cNvPr>
              <p:cNvCxnSpPr/>
              <p:nvPr/>
            </p:nvCxnSpPr>
            <p:spPr>
              <a:xfrm flipH="1" flipV="1">
                <a:off x="2070438" y="8436786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화살표 연결선 213">
                <a:extLst>
                  <a:ext uri="{FF2B5EF4-FFF2-40B4-BE49-F238E27FC236}">
                    <a16:creationId xmlns:a16="http://schemas.microsoft.com/office/drawing/2014/main" id="{3430449A-CECF-CFFC-A6D0-12DCD6B595DB}"/>
                  </a:ext>
                </a:extLst>
              </p:cNvPr>
              <p:cNvCxnSpPr/>
              <p:nvPr/>
            </p:nvCxnSpPr>
            <p:spPr>
              <a:xfrm flipH="1" flipV="1">
                <a:off x="2070438" y="8354633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화살표 연결선 214">
                <a:extLst>
                  <a:ext uri="{FF2B5EF4-FFF2-40B4-BE49-F238E27FC236}">
                    <a16:creationId xmlns:a16="http://schemas.microsoft.com/office/drawing/2014/main" id="{E5F401F1-330F-2488-C588-F2E64E0DC815}"/>
                  </a:ext>
                </a:extLst>
              </p:cNvPr>
              <p:cNvCxnSpPr/>
              <p:nvPr/>
            </p:nvCxnSpPr>
            <p:spPr>
              <a:xfrm flipH="1" flipV="1">
                <a:off x="2070438" y="8272480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화살표 연결선 215">
                <a:extLst>
                  <a:ext uri="{FF2B5EF4-FFF2-40B4-BE49-F238E27FC236}">
                    <a16:creationId xmlns:a16="http://schemas.microsoft.com/office/drawing/2014/main" id="{6CCF3B4A-4634-26C2-CD34-9838DC3D8927}"/>
                  </a:ext>
                </a:extLst>
              </p:cNvPr>
              <p:cNvCxnSpPr/>
              <p:nvPr/>
            </p:nvCxnSpPr>
            <p:spPr>
              <a:xfrm flipH="1" flipV="1">
                <a:off x="2070438" y="8190327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직선 화살표 연결선 216">
                <a:extLst>
                  <a:ext uri="{FF2B5EF4-FFF2-40B4-BE49-F238E27FC236}">
                    <a16:creationId xmlns:a16="http://schemas.microsoft.com/office/drawing/2014/main" id="{2209007B-BA7A-FF41-83B9-506CFD576704}"/>
                  </a:ext>
                </a:extLst>
              </p:cNvPr>
              <p:cNvCxnSpPr/>
              <p:nvPr/>
            </p:nvCxnSpPr>
            <p:spPr>
              <a:xfrm flipH="1" flipV="1">
                <a:off x="2070438" y="8108174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화살표 연결선 217">
                <a:extLst>
                  <a:ext uri="{FF2B5EF4-FFF2-40B4-BE49-F238E27FC236}">
                    <a16:creationId xmlns:a16="http://schemas.microsoft.com/office/drawing/2014/main" id="{9AB57C62-5F37-38CA-5081-DC26682CFF60}"/>
                  </a:ext>
                </a:extLst>
              </p:cNvPr>
              <p:cNvCxnSpPr/>
              <p:nvPr/>
            </p:nvCxnSpPr>
            <p:spPr>
              <a:xfrm flipH="1" flipV="1">
                <a:off x="2070438" y="8020317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직선 화살표 연결선 218">
                <a:extLst>
                  <a:ext uri="{FF2B5EF4-FFF2-40B4-BE49-F238E27FC236}">
                    <a16:creationId xmlns:a16="http://schemas.microsoft.com/office/drawing/2014/main" id="{20C2A38B-06D2-204B-F031-6E2381CAB2F4}"/>
                  </a:ext>
                </a:extLst>
              </p:cNvPr>
              <p:cNvCxnSpPr/>
              <p:nvPr/>
            </p:nvCxnSpPr>
            <p:spPr>
              <a:xfrm flipH="1" flipV="1">
                <a:off x="2070438" y="7944935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화살표 연결선 219">
                <a:extLst>
                  <a:ext uri="{FF2B5EF4-FFF2-40B4-BE49-F238E27FC236}">
                    <a16:creationId xmlns:a16="http://schemas.microsoft.com/office/drawing/2014/main" id="{0CD37C3F-80FA-9B63-4296-594233C78DD2}"/>
                  </a:ext>
                </a:extLst>
              </p:cNvPr>
              <p:cNvCxnSpPr/>
              <p:nvPr/>
            </p:nvCxnSpPr>
            <p:spPr>
              <a:xfrm flipH="1" flipV="1">
                <a:off x="2070438" y="7871206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D6E6291A-5098-30EC-CE55-4904DD2AD286}"/>
                  </a:ext>
                </a:extLst>
              </p:cNvPr>
              <p:cNvSpPr txBox="1"/>
              <p:nvPr/>
            </p:nvSpPr>
            <p:spPr>
              <a:xfrm>
                <a:off x="1487537" y="9170903"/>
                <a:ext cx="168741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Trapped</a:t>
                </a:r>
                <a:r>
                  <a:rPr lang="ko-KR" altLang="en-US" sz="1400" dirty="0"/>
                  <a:t> </a:t>
                </a:r>
                <a:r>
                  <a:rPr lang="en-US" altLang="ko-KR" sz="1400" dirty="0"/>
                  <a:t>Electrons</a:t>
                </a:r>
                <a:endParaRPr lang="ko-KR" altLang="en-US" sz="1400" dirty="0"/>
              </a:p>
            </p:txBody>
          </p: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384FD8E0-8B22-B661-A154-AEAD7A52D28C}"/>
                  </a:ext>
                </a:extLst>
              </p:cNvPr>
              <p:cNvCxnSpPr>
                <a:cxnSpLocks/>
                <a:endCxn id="221" idx="0"/>
              </p:cNvCxnSpPr>
              <p:nvPr/>
            </p:nvCxnSpPr>
            <p:spPr>
              <a:xfrm>
                <a:off x="2224088" y="8504599"/>
                <a:ext cx="107156" cy="66630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직선 연결선 222">
                <a:extLst>
                  <a:ext uri="{FF2B5EF4-FFF2-40B4-BE49-F238E27FC236}">
                    <a16:creationId xmlns:a16="http://schemas.microsoft.com/office/drawing/2014/main" id="{D3D91B11-9F4C-7339-FB02-8BD8F41E62AF}"/>
                  </a:ext>
                </a:extLst>
              </p:cNvPr>
              <p:cNvCxnSpPr>
                <a:cxnSpLocks/>
                <a:endCxn id="221" idx="0"/>
              </p:cNvCxnSpPr>
              <p:nvPr/>
            </p:nvCxnSpPr>
            <p:spPr>
              <a:xfrm flipH="1">
                <a:off x="2331244" y="8514666"/>
                <a:ext cx="39287" cy="656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직선 연결선 223">
                <a:extLst>
                  <a:ext uri="{FF2B5EF4-FFF2-40B4-BE49-F238E27FC236}">
                    <a16:creationId xmlns:a16="http://schemas.microsoft.com/office/drawing/2014/main" id="{514A09F0-556C-F0DA-D395-2E3A51E11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4716" y="6504387"/>
                <a:ext cx="0" cy="233336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>
                <a:extLst>
                  <a:ext uri="{FF2B5EF4-FFF2-40B4-BE49-F238E27FC236}">
                    <a16:creationId xmlns:a16="http://schemas.microsoft.com/office/drawing/2014/main" id="{E971E9B3-EEB0-045E-77D1-9A95134D75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45827" y="6549299"/>
                <a:ext cx="0" cy="43368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A9FDE615-9E6E-C667-8CEB-EE0C2EDC6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85589" y="6549299"/>
                <a:ext cx="0" cy="46047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직선 연결선 226">
                <a:extLst>
                  <a:ext uri="{FF2B5EF4-FFF2-40B4-BE49-F238E27FC236}">
                    <a16:creationId xmlns:a16="http://schemas.microsoft.com/office/drawing/2014/main" id="{DA19623C-9C73-8BA2-4C99-310E32D02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3020" y="6549299"/>
                <a:ext cx="0" cy="59039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직선 연결선 234">
                <a:extLst>
                  <a:ext uri="{FF2B5EF4-FFF2-40B4-BE49-F238E27FC236}">
                    <a16:creationId xmlns:a16="http://schemas.microsoft.com/office/drawing/2014/main" id="{A79E245E-07EE-543F-65EA-417903A978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5608" y="6549299"/>
                <a:ext cx="0" cy="55311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직선 연결선 236">
                <a:extLst>
                  <a:ext uri="{FF2B5EF4-FFF2-40B4-BE49-F238E27FC236}">
                    <a16:creationId xmlns:a16="http://schemas.microsoft.com/office/drawing/2014/main" id="{EA6ED4FB-439C-BD3B-3B49-2107F5462E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6583" y="6549299"/>
                <a:ext cx="0" cy="57216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6650944" y="298505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7065733" y="197528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7584188" y="215860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7777640" y="233365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8121278" y="252931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7501274" y="228399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7677150" y="246020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7911944" y="265242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572" y="222150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1746" y="228315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1726" y="245676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11944" y="265242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7935359" y="397269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</p:grp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CFA-4AE9-C87A-A0C4-389C69A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06CA8A-3E00-E06C-5092-F220B5B4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BETOX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8F022FD0-ACA4-98C9-1A38-7C6A3D14B528}"/>
              </a:ext>
            </a:extLst>
          </p:cNvPr>
          <p:cNvGrpSpPr/>
          <p:nvPr/>
        </p:nvGrpSpPr>
        <p:grpSpPr>
          <a:xfrm>
            <a:off x="6677510" y="3178100"/>
            <a:ext cx="2200260" cy="3288813"/>
            <a:chOff x="4155873" y="5829539"/>
            <a:chExt cx="2200260" cy="3288813"/>
          </a:xfrm>
        </p:grpSpPr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B0CC0EDB-2980-8DDE-4097-192140646C78}"/>
                </a:ext>
              </a:extLst>
            </p:cNvPr>
            <p:cNvGrpSpPr/>
            <p:nvPr/>
          </p:nvGrpSpPr>
          <p:grpSpPr>
            <a:xfrm>
              <a:off x="4155873" y="5829539"/>
              <a:ext cx="2200260" cy="3288813"/>
              <a:chOff x="4155873" y="5829539"/>
              <a:chExt cx="2200260" cy="3288813"/>
            </a:xfrm>
          </p:grpSpPr>
          <p:pic>
            <p:nvPicPr>
              <p:cNvPr id="182" name="그림 181" descr="스크린샷, 디자인, 예술이(가) 표시된 사진&#10;&#10;자동 생성된 설명">
                <a:extLst>
                  <a:ext uri="{FF2B5EF4-FFF2-40B4-BE49-F238E27FC236}">
                    <a16:creationId xmlns:a16="http://schemas.microsoft.com/office/drawing/2014/main" id="{1B150861-9878-20FE-6E22-72F9ADF82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856" t="4775" r="29017"/>
              <a:stretch/>
            </p:blipFill>
            <p:spPr>
              <a:xfrm>
                <a:off x="4155873" y="6233981"/>
                <a:ext cx="1987554" cy="2588633"/>
              </a:xfrm>
              <a:prstGeom prst="rect">
                <a:avLst/>
              </a:prstGeom>
            </p:spPr>
          </p:pic>
          <p:sp>
            <p:nvSpPr>
              <p:cNvPr id="183" name="화살표: 아래쪽 182">
                <a:extLst>
                  <a:ext uri="{FF2B5EF4-FFF2-40B4-BE49-F238E27FC236}">
                    <a16:creationId xmlns:a16="http://schemas.microsoft.com/office/drawing/2014/main" id="{1C64350A-9879-73C9-D1DE-E01148706FE9}"/>
                  </a:ext>
                </a:extLst>
              </p:cNvPr>
              <p:cNvSpPr/>
              <p:nvPr/>
            </p:nvSpPr>
            <p:spPr>
              <a:xfrm rot="5400000">
                <a:off x="4689525" y="8049405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4" name="화살표: 아래쪽 183">
                <a:extLst>
                  <a:ext uri="{FF2B5EF4-FFF2-40B4-BE49-F238E27FC236}">
                    <a16:creationId xmlns:a16="http://schemas.microsoft.com/office/drawing/2014/main" id="{95479DC5-511F-5FE9-835F-62BFF680BF45}"/>
                  </a:ext>
                </a:extLst>
              </p:cNvPr>
              <p:cNvSpPr/>
              <p:nvPr/>
            </p:nvSpPr>
            <p:spPr>
              <a:xfrm rot="5400000">
                <a:off x="4592224" y="7919520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5" name="화살표: 아래쪽 184">
                <a:extLst>
                  <a:ext uri="{FF2B5EF4-FFF2-40B4-BE49-F238E27FC236}">
                    <a16:creationId xmlns:a16="http://schemas.microsoft.com/office/drawing/2014/main" id="{791B09F6-6D15-6365-BCD3-051BED19B053}"/>
                  </a:ext>
                </a:extLst>
              </p:cNvPr>
              <p:cNvSpPr/>
              <p:nvPr/>
            </p:nvSpPr>
            <p:spPr>
              <a:xfrm rot="5400000">
                <a:off x="4490073" y="7798983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016D00E6-C014-12C5-9B34-7FCB132CC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6725" y="5896691"/>
                <a:ext cx="0" cy="1535906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>
                <a:extLst>
                  <a:ext uri="{FF2B5EF4-FFF2-40B4-BE49-F238E27FC236}">
                    <a16:creationId xmlns:a16="http://schemas.microsoft.com/office/drawing/2014/main" id="{DCC3EFDD-CB48-0F57-28AB-86599E6DC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5896691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F5BF1A-3EB7-8CBC-2AE9-CD40DB4EBCC4}"/>
                  </a:ext>
                </a:extLst>
              </p:cNvPr>
              <p:cNvSpPr txBox="1"/>
              <p:nvPr/>
            </p:nvSpPr>
            <p:spPr>
              <a:xfrm>
                <a:off x="4566176" y="5829539"/>
                <a:ext cx="1043735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BETOX Region</a:t>
                </a:r>
              </a:p>
              <a:p>
                <a:pPr algn="ctr"/>
                <a:r>
                  <a:rPr lang="en-US" altLang="ko-KR" sz="1013"/>
                  <a:t>(ONO)</a:t>
                </a:r>
              </a:p>
            </p:txBody>
          </p:sp>
          <p:grpSp>
            <p:nvGrpSpPr>
              <p:cNvPr id="189" name="그룹 188">
                <a:extLst>
                  <a:ext uri="{FF2B5EF4-FFF2-40B4-BE49-F238E27FC236}">
                    <a16:creationId xmlns:a16="http://schemas.microsoft.com/office/drawing/2014/main" id="{118F26CA-DA88-FE1C-1AC6-9A8103B90415}"/>
                  </a:ext>
                </a:extLst>
              </p:cNvPr>
              <p:cNvGrpSpPr/>
              <p:nvPr/>
            </p:nvGrpSpPr>
            <p:grpSpPr>
              <a:xfrm>
                <a:off x="4409675" y="6265426"/>
                <a:ext cx="1427217" cy="2124973"/>
                <a:chOff x="4409675" y="6458070"/>
                <a:chExt cx="1427217" cy="2124973"/>
              </a:xfrm>
            </p:grpSpPr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6CA1E149-AE62-AEA9-4EDD-780E24610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09675" y="7575550"/>
                  <a:ext cx="59199" cy="1007493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CCE48783-E6F8-F856-1E5F-E3D4BC4C2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18201" y="7009769"/>
                  <a:ext cx="401449" cy="56578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385DC8FC-E4B8-F28F-58EF-8338CA7188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6700" y="7009769"/>
                  <a:ext cx="30143" cy="100904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직선 연결선 202">
                  <a:extLst>
                    <a:ext uri="{FF2B5EF4-FFF2-40B4-BE49-F238E27FC236}">
                      <a16:creationId xmlns:a16="http://schemas.microsoft.com/office/drawing/2014/main" id="{75B69C6A-0495-04BC-9B14-50A372382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883893" y="7924249"/>
                  <a:ext cx="157410" cy="9456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BDEA1707-83EF-6FE2-B75D-2A1BA8354A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6775" y="6680200"/>
                  <a:ext cx="0" cy="1040384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3196023A-72CE-2505-AA69-304117AC80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96775" y="6458070"/>
                  <a:ext cx="328684" cy="222130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E2C2599A-F5E0-5598-B565-837DF59006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09911" y="6482254"/>
                  <a:ext cx="115548" cy="1501065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A314CE9F-7296-2D91-7ABC-7F93C48CA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26962" y="7909590"/>
                  <a:ext cx="209930" cy="73729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1A430988-E3F7-73C3-C5B2-C66EE68EE4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9061" y="7718808"/>
                  <a:ext cx="341973" cy="20544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0" name="화살표: 아래쪽 189">
                <a:extLst>
                  <a:ext uri="{FF2B5EF4-FFF2-40B4-BE49-F238E27FC236}">
                    <a16:creationId xmlns:a16="http://schemas.microsoft.com/office/drawing/2014/main" id="{30F43438-227F-C99A-BE24-8BF92C956B59}"/>
                  </a:ext>
                </a:extLst>
              </p:cNvPr>
              <p:cNvSpPr/>
              <p:nvPr/>
            </p:nvSpPr>
            <p:spPr>
              <a:xfrm rot="19925906" flipH="1">
                <a:off x="5224310" y="7576453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1" name="직선 연결선 190">
                <a:extLst>
                  <a:ext uri="{FF2B5EF4-FFF2-40B4-BE49-F238E27FC236}">
                    <a16:creationId xmlns:a16="http://schemas.microsoft.com/office/drawing/2014/main" id="{E8C01DC7-791B-4A74-43F2-CB9DDC35C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5627" y="8304239"/>
                <a:ext cx="118266" cy="4648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529AD0C-C28F-02DB-5D61-2264039B3938}"/>
                  </a:ext>
                </a:extLst>
              </p:cNvPr>
              <p:cNvSpPr txBox="1"/>
              <p:nvPr/>
            </p:nvSpPr>
            <p:spPr>
              <a:xfrm>
                <a:off x="4362450" y="8783517"/>
                <a:ext cx="1085850" cy="334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88"/>
                  <a:t>Trap-to-Band Tunneling Emission</a:t>
                </a:r>
                <a:endParaRPr lang="ko-KR" altLang="en-US" sz="788"/>
              </a:p>
            </p:txBody>
          </p:sp>
          <p:sp>
            <p:nvSpPr>
              <p:cNvPr id="194" name="화살표: 아래쪽 193">
                <a:extLst>
                  <a:ext uri="{FF2B5EF4-FFF2-40B4-BE49-F238E27FC236}">
                    <a16:creationId xmlns:a16="http://schemas.microsoft.com/office/drawing/2014/main" id="{283CB6CC-4823-540D-528E-2243C2EDA567}"/>
                  </a:ext>
                </a:extLst>
              </p:cNvPr>
              <p:cNvSpPr/>
              <p:nvPr/>
            </p:nvSpPr>
            <p:spPr>
              <a:xfrm rot="8800769" flipH="1">
                <a:off x="4945085" y="7362945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902812" lon="2358286" rev="1722722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E1A415D3-4B26-4A0D-94BF-358842F56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8217236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D2A5A98-ABFD-BEE5-3591-F7D93E6F5542}"/>
                  </a:ext>
                </a:extLst>
              </p:cNvPr>
              <p:cNvSpPr txBox="1"/>
              <p:nvPr/>
            </p:nvSpPr>
            <p:spPr>
              <a:xfrm>
                <a:off x="5603199" y="8193932"/>
                <a:ext cx="752934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CTN</a:t>
                </a:r>
              </a:p>
              <a:p>
                <a:pPr algn="ctr"/>
                <a:r>
                  <a:rPr lang="en-US" altLang="ko-KR" sz="1013"/>
                  <a:t>Region</a:t>
                </a:r>
              </a:p>
            </p:txBody>
          </p:sp>
          <p:sp>
            <p:nvSpPr>
              <p:cNvPr id="197" name="화살표: 아래쪽 196">
                <a:extLst>
                  <a:ext uri="{FF2B5EF4-FFF2-40B4-BE49-F238E27FC236}">
                    <a16:creationId xmlns:a16="http://schemas.microsoft.com/office/drawing/2014/main" id="{F57EA6A0-48DA-F547-4FB5-7CD1D313A355}"/>
                  </a:ext>
                </a:extLst>
              </p:cNvPr>
              <p:cNvSpPr/>
              <p:nvPr/>
            </p:nvSpPr>
            <p:spPr>
              <a:xfrm rot="1499914" flipH="1">
                <a:off x="4910895" y="7515700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98" name="화살표: 아래쪽 197">
                <a:extLst>
                  <a:ext uri="{FF2B5EF4-FFF2-40B4-BE49-F238E27FC236}">
                    <a16:creationId xmlns:a16="http://schemas.microsoft.com/office/drawing/2014/main" id="{6D269ADA-E1F8-F6C7-2123-AC08F6AD9EF3}"/>
                  </a:ext>
                </a:extLst>
              </p:cNvPr>
              <p:cNvSpPr/>
              <p:nvPr/>
            </p:nvSpPr>
            <p:spPr>
              <a:xfrm rot="1499914" flipH="1">
                <a:off x="5348495" y="7790853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pic>
            <p:nvPicPr>
              <p:cNvPr id="199" name="그림 198">
                <a:extLst>
                  <a:ext uri="{FF2B5EF4-FFF2-40B4-BE49-F238E27FC236}">
                    <a16:creationId xmlns:a16="http://schemas.microsoft.com/office/drawing/2014/main" id="{15FF8E80-68CC-58E2-A545-1FFFEC598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4898933" y="7374919"/>
                <a:ext cx="138613" cy="233739"/>
              </a:xfrm>
              <a:prstGeom prst="rect">
                <a:avLst/>
              </a:prstGeom>
            </p:spPr>
          </p:pic>
        </p:grp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EF71FE24-2A38-E5EF-C1DC-1D2C5766FEF4}"/>
                </a:ext>
              </a:extLst>
            </p:cNvPr>
            <p:cNvSpPr/>
            <p:nvPr/>
          </p:nvSpPr>
          <p:spPr>
            <a:xfrm rot="10800000">
              <a:off x="4188337" y="7548539"/>
              <a:ext cx="939709" cy="111996"/>
            </a:xfrm>
            <a:custGeom>
              <a:avLst/>
              <a:gdLst>
                <a:gd name="connsiteX0" fmla="*/ 0 w 1054100"/>
                <a:gd name="connsiteY0" fmla="*/ 110186 h 199104"/>
                <a:gd name="connsiteX1" fmla="*/ 127000 w 1054100"/>
                <a:gd name="connsiteY1" fmla="*/ 2236 h 199104"/>
                <a:gd name="connsiteX2" fmla="*/ 285750 w 1054100"/>
                <a:gd name="connsiteY2" fmla="*/ 199086 h 199104"/>
                <a:gd name="connsiteX3" fmla="*/ 463550 w 1054100"/>
                <a:gd name="connsiteY3" fmla="*/ 14936 h 199104"/>
                <a:gd name="connsiteX4" fmla="*/ 609600 w 1054100"/>
                <a:gd name="connsiteY4" fmla="*/ 186386 h 199104"/>
                <a:gd name="connsiteX5" fmla="*/ 768350 w 1054100"/>
                <a:gd name="connsiteY5" fmla="*/ 33986 h 199104"/>
                <a:gd name="connsiteX6" fmla="*/ 844550 w 1054100"/>
                <a:gd name="connsiteY6" fmla="*/ 46686 h 199104"/>
                <a:gd name="connsiteX7" fmla="*/ 920750 w 1054100"/>
                <a:gd name="connsiteY7" fmla="*/ 116536 h 199104"/>
                <a:gd name="connsiteX8" fmla="*/ 1054100 w 1054100"/>
                <a:gd name="connsiteY8" fmla="*/ 122886 h 19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4100" h="199104">
                  <a:moveTo>
                    <a:pt x="0" y="110186"/>
                  </a:moveTo>
                  <a:cubicBezTo>
                    <a:pt x="39687" y="48802"/>
                    <a:pt x="79375" y="-12581"/>
                    <a:pt x="127000" y="2236"/>
                  </a:cubicBezTo>
                  <a:cubicBezTo>
                    <a:pt x="174625" y="17053"/>
                    <a:pt x="229658" y="196969"/>
                    <a:pt x="285750" y="199086"/>
                  </a:cubicBezTo>
                  <a:cubicBezTo>
                    <a:pt x="341842" y="201203"/>
                    <a:pt x="409575" y="17053"/>
                    <a:pt x="463550" y="14936"/>
                  </a:cubicBezTo>
                  <a:cubicBezTo>
                    <a:pt x="517525" y="12819"/>
                    <a:pt x="558800" y="183211"/>
                    <a:pt x="609600" y="186386"/>
                  </a:cubicBezTo>
                  <a:cubicBezTo>
                    <a:pt x="660400" y="189561"/>
                    <a:pt x="729192" y="57269"/>
                    <a:pt x="768350" y="33986"/>
                  </a:cubicBezTo>
                  <a:cubicBezTo>
                    <a:pt x="807508" y="10703"/>
                    <a:pt x="819150" y="32928"/>
                    <a:pt x="844550" y="46686"/>
                  </a:cubicBezTo>
                  <a:cubicBezTo>
                    <a:pt x="869950" y="60444"/>
                    <a:pt x="885825" y="103836"/>
                    <a:pt x="920750" y="116536"/>
                  </a:cubicBezTo>
                  <a:cubicBezTo>
                    <a:pt x="955675" y="129236"/>
                    <a:pt x="1004887" y="126061"/>
                    <a:pt x="1054100" y="122886"/>
                  </a:cubicBezTo>
                </a:path>
              </a:pathLst>
            </a:custGeom>
            <a:noFill/>
            <a:ln>
              <a:solidFill>
                <a:srgbClr val="002060"/>
              </a:solidFill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0" name="곱하기 기호 179">
              <a:extLst>
                <a:ext uri="{FF2B5EF4-FFF2-40B4-BE49-F238E27FC236}">
                  <a16:creationId xmlns:a16="http://schemas.microsoft.com/office/drawing/2014/main" id="{CBA223F7-B232-1A2D-94D2-5E76EF447290}"/>
                </a:ext>
              </a:extLst>
            </p:cNvPr>
            <p:cNvSpPr/>
            <p:nvPr/>
          </p:nvSpPr>
          <p:spPr>
            <a:xfrm>
              <a:off x="4567024" y="7440944"/>
              <a:ext cx="178638" cy="368545"/>
            </a:xfrm>
            <a:prstGeom prst="mathMultiply">
              <a:avLst/>
            </a:prstGeom>
            <a:solidFill>
              <a:srgbClr val="FF0000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307CCB46-3ABB-127A-FAAF-8A3D9D498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rcRect l="1" t="4762" r="-1" b="-1"/>
            <a:stretch/>
          </p:blipFill>
          <p:spPr>
            <a:xfrm>
              <a:off x="4883892" y="7608658"/>
              <a:ext cx="155343" cy="208866"/>
            </a:xfrm>
            <a:prstGeom prst="rect">
              <a:avLst/>
            </a:prstGeom>
          </p:spPr>
        </p:pic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5EDE3C4A-CC2B-49A2-258D-B74433D57C7D}"/>
              </a:ext>
            </a:extLst>
          </p:cNvPr>
          <p:cNvSpPr txBox="1"/>
          <p:nvPr/>
        </p:nvSpPr>
        <p:spPr>
          <a:xfrm>
            <a:off x="827018" y="4028894"/>
            <a:ext cx="55708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선행연구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TTT trap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기반으로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보았을 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profile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측정자료에 의하면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주요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mechanism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임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EFAC80-0F22-C8E0-9FBF-FA3954430E3E}"/>
              </a:ext>
            </a:extLst>
          </p:cNvPr>
          <p:cNvGrpSpPr/>
          <p:nvPr/>
        </p:nvGrpSpPr>
        <p:grpSpPr>
          <a:xfrm>
            <a:off x="890676" y="1107714"/>
            <a:ext cx="1801255" cy="1749841"/>
            <a:chOff x="1425895" y="5488309"/>
            <a:chExt cx="1801255" cy="17498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049283-9338-CD6C-AEC7-D734628B2046}"/>
                </a:ext>
              </a:extLst>
            </p:cNvPr>
            <p:cNvSpPr txBox="1"/>
            <p:nvPr/>
          </p:nvSpPr>
          <p:spPr>
            <a:xfrm>
              <a:off x="2573623" y="6804516"/>
              <a:ext cx="40280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n1</a:t>
              </a:r>
              <a:endParaRPr lang="ko-KR" altLang="en-US" sz="80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86E0833D-D55B-9CD4-07AD-1E11DCDE3157}"/>
                </a:ext>
              </a:extLst>
            </p:cNvPr>
            <p:cNvSpPr/>
            <p:nvPr/>
          </p:nvSpPr>
          <p:spPr>
            <a:xfrm>
              <a:off x="1692868" y="5930050"/>
              <a:ext cx="1168400" cy="1308100"/>
            </a:xfrm>
            <a:custGeom>
              <a:avLst/>
              <a:gdLst>
                <a:gd name="connsiteX0" fmla="*/ 0 w 1168400"/>
                <a:gd name="connsiteY0" fmla="*/ 482600 h 1308100"/>
                <a:gd name="connsiteX1" fmla="*/ 292100 w 1168400"/>
                <a:gd name="connsiteY1" fmla="*/ 482600 h 1308100"/>
                <a:gd name="connsiteX2" fmla="*/ 374650 w 1168400"/>
                <a:gd name="connsiteY2" fmla="*/ 488950 h 1308100"/>
                <a:gd name="connsiteX3" fmla="*/ 469900 w 1168400"/>
                <a:gd name="connsiteY3" fmla="*/ 558800 h 1308100"/>
                <a:gd name="connsiteX4" fmla="*/ 514350 w 1168400"/>
                <a:gd name="connsiteY4" fmla="*/ 654050 h 1308100"/>
                <a:gd name="connsiteX5" fmla="*/ 514350 w 1168400"/>
                <a:gd name="connsiteY5" fmla="*/ 0 h 1308100"/>
                <a:gd name="connsiteX6" fmla="*/ 908050 w 1168400"/>
                <a:gd name="connsiteY6" fmla="*/ 825500 h 1308100"/>
                <a:gd name="connsiteX7" fmla="*/ 908050 w 1168400"/>
                <a:gd name="connsiteY7" fmla="*/ 1143000 h 1308100"/>
                <a:gd name="connsiteX8" fmla="*/ 1168400 w 1168400"/>
                <a:gd name="connsiteY8" fmla="*/ 1308100 h 1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8400" h="1308100">
                  <a:moveTo>
                    <a:pt x="0" y="482600"/>
                  </a:moveTo>
                  <a:lnTo>
                    <a:pt x="292100" y="482600"/>
                  </a:lnTo>
                  <a:lnTo>
                    <a:pt x="374650" y="488950"/>
                  </a:lnTo>
                  <a:lnTo>
                    <a:pt x="469900" y="558800"/>
                  </a:lnTo>
                  <a:lnTo>
                    <a:pt x="514350" y="654050"/>
                  </a:lnTo>
                  <a:lnTo>
                    <a:pt x="514350" y="0"/>
                  </a:lnTo>
                  <a:lnTo>
                    <a:pt x="908050" y="825500"/>
                  </a:lnTo>
                  <a:lnTo>
                    <a:pt x="908050" y="1143000"/>
                  </a:lnTo>
                  <a:lnTo>
                    <a:pt x="1168400" y="13081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6AA0B065-4873-01EB-4DB3-76E23F681695}"/>
                </a:ext>
              </a:extLst>
            </p:cNvPr>
            <p:cNvCxnSpPr>
              <a:cxnSpLocks/>
            </p:cNvCxnSpPr>
            <p:nvPr/>
          </p:nvCxnSpPr>
          <p:spPr>
            <a:xfrm>
              <a:off x="2234157" y="6463303"/>
              <a:ext cx="550930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F819483-4FA9-F9CF-3F7F-9B7CC7198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1354" y="6437903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AE402-F62B-6336-8593-2FFDCA940A06}"/>
                </a:ext>
              </a:extLst>
            </p:cNvPr>
            <p:cNvSpPr txBox="1"/>
            <p:nvPr/>
          </p:nvSpPr>
          <p:spPr>
            <a:xfrm>
              <a:off x="1527289" y="6189408"/>
              <a:ext cx="69705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/>
                <a:t>Si-Channel</a:t>
              </a:r>
              <a:endParaRPr lang="ko-KR" altLang="en-US" sz="800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3A0B8FE-FAD4-8836-B9E8-C9B3C1BA4292}"/>
                </a:ext>
              </a:extLst>
            </p:cNvPr>
            <p:cNvSpPr/>
            <p:nvPr/>
          </p:nvSpPr>
          <p:spPr>
            <a:xfrm>
              <a:off x="2118459" y="6438900"/>
              <a:ext cx="78581" cy="123825"/>
            </a:xfrm>
            <a:custGeom>
              <a:avLst/>
              <a:gdLst>
                <a:gd name="connsiteX0" fmla="*/ 0 w 78581"/>
                <a:gd name="connsiteY0" fmla="*/ 4763 h 123825"/>
                <a:gd name="connsiteX1" fmla="*/ 52388 w 78581"/>
                <a:gd name="connsiteY1" fmla="*/ 45244 h 123825"/>
                <a:gd name="connsiteX2" fmla="*/ 78581 w 78581"/>
                <a:gd name="connsiteY2" fmla="*/ 123825 h 123825"/>
                <a:gd name="connsiteX3" fmla="*/ 78581 w 78581"/>
                <a:gd name="connsiteY3" fmla="*/ 0 h 123825"/>
                <a:gd name="connsiteX4" fmla="*/ 0 w 78581"/>
                <a:gd name="connsiteY4" fmla="*/ 4763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581" h="123825">
                  <a:moveTo>
                    <a:pt x="0" y="4763"/>
                  </a:moveTo>
                  <a:lnTo>
                    <a:pt x="52388" y="45244"/>
                  </a:lnTo>
                  <a:lnTo>
                    <a:pt x="78581" y="123825"/>
                  </a:lnTo>
                  <a:lnTo>
                    <a:pt x="78581" y="0"/>
                  </a:lnTo>
                  <a:lnTo>
                    <a:pt x="0" y="4763"/>
                  </a:lnTo>
                  <a:close/>
                </a:path>
              </a:pathLst>
            </a:custGeom>
            <a:solidFill>
              <a:srgbClr val="FF29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B604A2-96F9-A17E-1BE2-E410E7D51089}"/>
                </a:ext>
              </a:extLst>
            </p:cNvPr>
            <p:cNvSpPr txBox="1"/>
            <p:nvPr/>
          </p:nvSpPr>
          <p:spPr>
            <a:xfrm>
              <a:off x="2251906" y="5832380"/>
              <a:ext cx="60780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BETOX</a:t>
              </a:r>
              <a:endParaRPr lang="ko-KR" altLang="en-US" sz="8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39C714-1434-DE0B-737C-B0328C917A24}"/>
                </a:ext>
              </a:extLst>
            </p:cNvPr>
            <p:cNvSpPr txBox="1"/>
            <p:nvPr/>
          </p:nvSpPr>
          <p:spPr>
            <a:xfrm>
              <a:off x="2287746" y="6062283"/>
              <a:ext cx="40280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o1</a:t>
              </a:r>
              <a:endParaRPr lang="ko-KR" altLang="en-US" sz="8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D80AB2B-6B31-3322-218B-2D3E770082B4}"/>
                </a:ext>
              </a:extLst>
            </p:cNvPr>
            <p:cNvSpPr txBox="1"/>
            <p:nvPr/>
          </p:nvSpPr>
          <p:spPr>
            <a:xfrm>
              <a:off x="1695639" y="6384928"/>
              <a:ext cx="4390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sz="1100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sz="1100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6F820-CBE3-E6F1-5ADE-5B2ADC88ABD8}"/>
                </a:ext>
              </a:extLst>
            </p:cNvPr>
            <p:cNvSpPr txBox="1"/>
            <p:nvPr/>
          </p:nvSpPr>
          <p:spPr>
            <a:xfrm>
              <a:off x="1425895" y="5488309"/>
              <a:ext cx="167158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Program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800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en-US" altLang="ko-KR" sz="8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800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pgm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ko-KR" sz="8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800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V)</a:t>
              </a:r>
              <a:endParaRPr lang="en-US" altLang="ko-KR" sz="11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B2441F-6E84-C899-8B50-DB8AC9ECB258}"/>
                </a:ext>
              </a:extLst>
            </p:cNvPr>
            <p:cNvSpPr txBox="1"/>
            <p:nvPr/>
          </p:nvSpPr>
          <p:spPr>
            <a:xfrm>
              <a:off x="2737512" y="6308421"/>
              <a:ext cx="4896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ko-KR" sz="1100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FN</a:t>
              </a:r>
              <a:endParaRPr lang="ko-KR" altLang="en-US" sz="1100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7A49C27-FE39-BC58-EA02-A9AB05B7DF6F}"/>
              </a:ext>
            </a:extLst>
          </p:cNvPr>
          <p:cNvGrpSpPr/>
          <p:nvPr/>
        </p:nvGrpSpPr>
        <p:grpSpPr>
          <a:xfrm>
            <a:off x="2778489" y="1107583"/>
            <a:ext cx="1749215" cy="1737272"/>
            <a:chOff x="3313708" y="5488178"/>
            <a:chExt cx="1749215" cy="173727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382260-C3EB-5660-76BE-341891F4245D}"/>
                </a:ext>
              </a:extLst>
            </p:cNvPr>
            <p:cNvSpPr txBox="1"/>
            <p:nvPr/>
          </p:nvSpPr>
          <p:spPr>
            <a:xfrm>
              <a:off x="3320094" y="7009381"/>
              <a:ext cx="68814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/>
                <a:t>Si-Channel</a:t>
              </a:r>
              <a:endParaRPr lang="ko-KR" altLang="en-US" sz="800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A0C6900-6EE1-28C9-E3C3-28AE266FB7ED}"/>
                </a:ext>
              </a:extLst>
            </p:cNvPr>
            <p:cNvSpPr/>
            <p:nvPr/>
          </p:nvSpPr>
          <p:spPr>
            <a:xfrm>
              <a:off x="3571815" y="5930050"/>
              <a:ext cx="1041400" cy="1295400"/>
            </a:xfrm>
            <a:custGeom>
              <a:avLst/>
              <a:gdLst>
                <a:gd name="connsiteX0" fmla="*/ 0 w 1041400"/>
                <a:gd name="connsiteY0" fmla="*/ 1295400 h 1295400"/>
                <a:gd name="connsiteX1" fmla="*/ 400050 w 1041400"/>
                <a:gd name="connsiteY1" fmla="*/ 1295400 h 1295400"/>
                <a:gd name="connsiteX2" fmla="*/ 400050 w 1041400"/>
                <a:gd name="connsiteY2" fmla="*/ 368300 h 1295400"/>
                <a:gd name="connsiteX3" fmla="*/ 749300 w 1041400"/>
                <a:gd name="connsiteY3" fmla="*/ 0 h 1295400"/>
                <a:gd name="connsiteX4" fmla="*/ 749300 w 1041400"/>
                <a:gd name="connsiteY4" fmla="*/ 431800 h 1295400"/>
                <a:gd name="connsiteX5" fmla="*/ 1041400 w 1041400"/>
                <a:gd name="connsiteY5" fmla="*/ 2540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1400" h="1295400">
                  <a:moveTo>
                    <a:pt x="0" y="1295400"/>
                  </a:moveTo>
                  <a:lnTo>
                    <a:pt x="400050" y="1295400"/>
                  </a:lnTo>
                  <a:lnTo>
                    <a:pt x="400050" y="368300"/>
                  </a:lnTo>
                  <a:lnTo>
                    <a:pt x="749300" y="0"/>
                  </a:lnTo>
                  <a:lnTo>
                    <a:pt x="749300" y="431800"/>
                  </a:lnTo>
                  <a:lnTo>
                    <a:pt x="1041400" y="2540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58AF1CF0-6BFA-1D01-009C-24DD38085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0760" y="6547727"/>
              <a:ext cx="342900" cy="175022"/>
            </a:xfrm>
            <a:prstGeom prst="line">
              <a:avLst/>
            </a:prstGeom>
            <a:ln>
              <a:solidFill>
                <a:srgbClr val="FF29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CD70CB8-1286-D50C-B74E-ED7CCA5E7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7390" y="6635238"/>
              <a:ext cx="690742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CA36470-331A-F044-827A-14264A3967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9528" y="6547727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E06E01-D165-1F1E-42F1-FC97D0832022}"/>
                </a:ext>
              </a:extLst>
            </p:cNvPr>
            <p:cNvSpPr txBox="1"/>
            <p:nvPr/>
          </p:nvSpPr>
          <p:spPr>
            <a:xfrm>
              <a:off x="4282991" y="5973964"/>
              <a:ext cx="40280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n1</a:t>
              </a:r>
              <a:endParaRPr lang="ko-KR" altLang="en-US" sz="8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EC287E-2B50-7A32-EA2A-087DFE40EA3C}"/>
                </a:ext>
              </a:extLst>
            </p:cNvPr>
            <p:cNvSpPr txBox="1"/>
            <p:nvPr/>
          </p:nvSpPr>
          <p:spPr>
            <a:xfrm>
              <a:off x="3913589" y="5930032"/>
              <a:ext cx="40280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o1</a:t>
              </a:r>
              <a:endParaRPr lang="ko-KR" altLang="en-US" sz="8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12F1FA-16A0-1323-3332-F4AB5E173E15}"/>
                </a:ext>
              </a:extLst>
            </p:cNvPr>
            <p:cNvSpPr txBox="1"/>
            <p:nvPr/>
          </p:nvSpPr>
          <p:spPr>
            <a:xfrm>
              <a:off x="4017936" y="5724658"/>
              <a:ext cx="60780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BETOX</a:t>
              </a:r>
              <a:endParaRPr lang="ko-KR" altLang="en-US" sz="800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88083C4D-1FCF-774C-BFC6-45A7DDCAF86F}"/>
                </a:ext>
              </a:extLst>
            </p:cNvPr>
            <p:cNvSpPr/>
            <p:nvPr/>
          </p:nvSpPr>
          <p:spPr>
            <a:xfrm>
              <a:off x="3750979" y="6265258"/>
              <a:ext cx="597694" cy="118685"/>
            </a:xfrm>
            <a:custGeom>
              <a:avLst/>
              <a:gdLst>
                <a:gd name="connsiteX0" fmla="*/ 502444 w 502444"/>
                <a:gd name="connsiteY0" fmla="*/ 54390 h 118685"/>
                <a:gd name="connsiteX1" fmla="*/ 409575 w 502444"/>
                <a:gd name="connsiteY1" fmla="*/ 2003 h 118685"/>
                <a:gd name="connsiteX2" fmla="*/ 345281 w 502444"/>
                <a:gd name="connsiteY2" fmla="*/ 116303 h 118685"/>
                <a:gd name="connsiteX3" fmla="*/ 285750 w 502444"/>
                <a:gd name="connsiteY3" fmla="*/ 11528 h 118685"/>
                <a:gd name="connsiteX4" fmla="*/ 226219 w 502444"/>
                <a:gd name="connsiteY4" fmla="*/ 118684 h 118685"/>
                <a:gd name="connsiteX5" fmla="*/ 183356 w 502444"/>
                <a:gd name="connsiteY5" fmla="*/ 13909 h 118685"/>
                <a:gd name="connsiteX6" fmla="*/ 119063 w 502444"/>
                <a:gd name="connsiteY6" fmla="*/ 116303 h 118685"/>
                <a:gd name="connsiteX7" fmla="*/ 78581 w 502444"/>
                <a:gd name="connsiteY7" fmla="*/ 56772 h 118685"/>
                <a:gd name="connsiteX8" fmla="*/ 0 w 502444"/>
                <a:gd name="connsiteY8" fmla="*/ 56772 h 118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2444" h="118685">
                  <a:moveTo>
                    <a:pt x="502444" y="54390"/>
                  </a:moveTo>
                  <a:cubicBezTo>
                    <a:pt x="469106" y="23037"/>
                    <a:pt x="435769" y="-8316"/>
                    <a:pt x="409575" y="2003"/>
                  </a:cubicBezTo>
                  <a:cubicBezTo>
                    <a:pt x="383381" y="12322"/>
                    <a:pt x="365918" y="114716"/>
                    <a:pt x="345281" y="116303"/>
                  </a:cubicBezTo>
                  <a:cubicBezTo>
                    <a:pt x="324644" y="117890"/>
                    <a:pt x="305594" y="11131"/>
                    <a:pt x="285750" y="11528"/>
                  </a:cubicBezTo>
                  <a:cubicBezTo>
                    <a:pt x="265906" y="11925"/>
                    <a:pt x="243285" y="118287"/>
                    <a:pt x="226219" y="118684"/>
                  </a:cubicBezTo>
                  <a:cubicBezTo>
                    <a:pt x="209153" y="119081"/>
                    <a:pt x="201215" y="14306"/>
                    <a:pt x="183356" y="13909"/>
                  </a:cubicBezTo>
                  <a:cubicBezTo>
                    <a:pt x="165497" y="13512"/>
                    <a:pt x="136525" y="109159"/>
                    <a:pt x="119063" y="116303"/>
                  </a:cubicBezTo>
                  <a:cubicBezTo>
                    <a:pt x="101601" y="123447"/>
                    <a:pt x="98425" y="66694"/>
                    <a:pt x="78581" y="56772"/>
                  </a:cubicBezTo>
                  <a:cubicBezTo>
                    <a:pt x="58737" y="46850"/>
                    <a:pt x="29368" y="51811"/>
                    <a:pt x="0" y="567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곱하기 기호 29">
              <a:extLst>
                <a:ext uri="{FF2B5EF4-FFF2-40B4-BE49-F238E27FC236}">
                  <a16:creationId xmlns:a16="http://schemas.microsoft.com/office/drawing/2014/main" id="{189BDFC1-A4A2-91E1-67B1-4CFED1B02119}"/>
                </a:ext>
              </a:extLst>
            </p:cNvPr>
            <p:cNvSpPr/>
            <p:nvPr/>
          </p:nvSpPr>
          <p:spPr>
            <a:xfrm>
              <a:off x="3993924" y="6143376"/>
              <a:ext cx="194392" cy="376625"/>
            </a:xfrm>
            <a:prstGeom prst="mathMultiply">
              <a:avLst/>
            </a:prstGeom>
            <a:solidFill>
              <a:srgbClr val="FF2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7B0065D0-D05A-8EFA-ED19-6D42A0EC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43764" y="6242976"/>
              <a:ext cx="68314" cy="68314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23778246-7FFD-9A7C-E6A4-E7EBD6306310}"/>
                </a:ext>
              </a:extLst>
            </p:cNvPr>
            <p:cNvSpPr/>
            <p:nvPr/>
          </p:nvSpPr>
          <p:spPr>
            <a:xfrm>
              <a:off x="4416365" y="6311900"/>
              <a:ext cx="60409" cy="282575"/>
            </a:xfrm>
            <a:custGeom>
              <a:avLst/>
              <a:gdLst>
                <a:gd name="connsiteX0" fmla="*/ 0 w 60409"/>
                <a:gd name="connsiteY0" fmla="*/ 0 h 282575"/>
                <a:gd name="connsiteX1" fmla="*/ 50800 w 60409"/>
                <a:gd name="connsiteY1" fmla="*/ 92075 h 282575"/>
                <a:gd name="connsiteX2" fmla="*/ 60325 w 60409"/>
                <a:gd name="connsiteY2" fmla="*/ 282575 h 28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09" h="282575">
                  <a:moveTo>
                    <a:pt x="0" y="0"/>
                  </a:moveTo>
                  <a:cubicBezTo>
                    <a:pt x="20373" y="22489"/>
                    <a:pt x="40746" y="44979"/>
                    <a:pt x="50800" y="92075"/>
                  </a:cubicBezTo>
                  <a:cubicBezTo>
                    <a:pt x="60854" y="139171"/>
                    <a:pt x="60589" y="210873"/>
                    <a:pt x="60325" y="282575"/>
                  </a:cubicBezTo>
                </a:path>
              </a:pathLst>
            </a:custGeom>
            <a:noFill/>
            <a:ln>
              <a:solidFill>
                <a:srgbClr val="0000FF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1330A9B-B694-5153-97D5-CF5D1BB1C47E}"/>
                </a:ext>
              </a:extLst>
            </p:cNvPr>
            <p:cNvSpPr txBox="1"/>
            <p:nvPr/>
          </p:nvSpPr>
          <p:spPr>
            <a:xfrm>
              <a:off x="4549254" y="6416921"/>
              <a:ext cx="4390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sz="1100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sz="1100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7B0A07-3AB8-391A-9D8C-D45E4406AC48}"/>
                </a:ext>
              </a:extLst>
            </p:cNvPr>
            <p:cNvSpPr txBox="1"/>
            <p:nvPr/>
          </p:nvSpPr>
          <p:spPr>
            <a:xfrm>
              <a:off x="3313708" y="5488178"/>
              <a:ext cx="17492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Retention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800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V, </a:t>
              </a:r>
              <a:r>
                <a:rPr lang="en-US" altLang="ko-KR" sz="8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800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-</a:t>
              </a:r>
              <a:r>
                <a:rPr lang="en-US" altLang="ko-KR" sz="8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ΔV</a:t>
              </a:r>
              <a:r>
                <a:rPr lang="en-US" altLang="ko-KR" sz="800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ko-KR" sz="800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650D8C6-3DCC-A1C7-A6A5-D160A0567DF4}"/>
                </a:ext>
              </a:extLst>
            </p:cNvPr>
            <p:cNvSpPr txBox="1"/>
            <p:nvPr/>
          </p:nvSpPr>
          <p:spPr>
            <a:xfrm>
              <a:off x="3388432" y="6514025"/>
              <a:ext cx="4896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i="1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sz="1100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TBT</a:t>
              </a:r>
              <a:endParaRPr lang="ko-KR" altLang="en-US" sz="1100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93B8EF8-B809-091B-DDC2-B2D67BCCA28D}"/>
                </a:ext>
              </a:extLst>
            </p:cNvPr>
            <p:cNvSpPr txBox="1"/>
            <p:nvPr/>
          </p:nvSpPr>
          <p:spPr>
            <a:xfrm>
              <a:off x="3421808" y="6107380"/>
              <a:ext cx="4896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sz="1100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DT</a:t>
              </a:r>
              <a:endParaRPr lang="ko-KR" altLang="en-US" sz="1100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D12BE82-D719-AA97-EF81-E1BD25A99E7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350C7B-0A88-595F-8911-74810F6666FF}"/>
              </a:ext>
            </a:extLst>
          </p:cNvPr>
          <p:cNvSpPr txBox="1"/>
          <p:nvPr/>
        </p:nvSpPr>
        <p:spPr>
          <a:xfrm>
            <a:off x="4882684" y="1302385"/>
            <a:ext cx="41056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Program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터널링이 일어날 만큼 강한 전기장이 걸리지만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상황에서는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direct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대신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터널링이 주로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일어남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182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Trap-Band</a:t>
            </a:r>
            <a:r>
              <a:rPr lang="ko-KR" altLang="en-US" dirty="0"/>
              <a:t> </a:t>
            </a:r>
            <a:r>
              <a:rPr lang="en-US" altLang="ko-KR" dirty="0"/>
              <a:t>Emission Modeling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E2555-6D5A-9263-CB11-FA6B6D380A4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123" y="1203236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533" y="3041276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4823427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4753195"/>
            <a:ext cx="3805756" cy="590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0B26E-D7EF-B0B7-2CB8-5143E660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B9E240-0629-BB38-4F1A-31651C51E6ED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내의 전자들의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에서도 동일하게 모델링 적용 가능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526A-F38A-B804-66AD-0446ED93057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(2026)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28" name="그림 27" descr="로고, 그래픽, 디자인이(가) 표시된 사진&#10;&#10;자동 생성된 설명">
            <a:extLst>
              <a:ext uri="{FF2B5EF4-FFF2-40B4-BE49-F238E27FC236}">
                <a16:creationId xmlns:a16="http://schemas.microsoft.com/office/drawing/2014/main" id="{D9283FB3-D2EA-71B6-0D43-832C5FA256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303" t="12315" r="12187"/>
          <a:stretch/>
        </p:blipFill>
        <p:spPr>
          <a:xfrm>
            <a:off x="879316" y="1497361"/>
            <a:ext cx="2064544" cy="2577269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83CB947-9797-7136-EFB0-3EE761F6EEA4}"/>
              </a:ext>
            </a:extLst>
          </p:cNvPr>
          <p:cNvCxnSpPr/>
          <p:nvPr/>
        </p:nvCxnSpPr>
        <p:spPr>
          <a:xfrm flipH="1" flipV="1">
            <a:off x="1540054" y="3351576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74B63A8-E235-4497-5093-7D94C692928B}"/>
              </a:ext>
            </a:extLst>
          </p:cNvPr>
          <p:cNvCxnSpPr/>
          <p:nvPr/>
        </p:nvCxnSpPr>
        <p:spPr>
          <a:xfrm flipH="1" flipV="1">
            <a:off x="1540054" y="3269423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3A5FE3D-1ECC-DD84-A284-F60E2954D76F}"/>
              </a:ext>
            </a:extLst>
          </p:cNvPr>
          <p:cNvCxnSpPr/>
          <p:nvPr/>
        </p:nvCxnSpPr>
        <p:spPr>
          <a:xfrm flipH="1" flipV="1">
            <a:off x="1540054" y="3187270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43B4534-DFB9-8E50-95CD-EABA02011F20}"/>
              </a:ext>
            </a:extLst>
          </p:cNvPr>
          <p:cNvCxnSpPr/>
          <p:nvPr/>
        </p:nvCxnSpPr>
        <p:spPr>
          <a:xfrm flipH="1" flipV="1">
            <a:off x="1540054" y="3105117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CBFA218-0965-EAA5-2837-E7348413EC46}"/>
              </a:ext>
            </a:extLst>
          </p:cNvPr>
          <p:cNvCxnSpPr/>
          <p:nvPr/>
        </p:nvCxnSpPr>
        <p:spPr>
          <a:xfrm flipH="1" flipV="1">
            <a:off x="1540054" y="3022964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876A02E-A8A9-B268-4B9B-8878098356B1}"/>
              </a:ext>
            </a:extLst>
          </p:cNvPr>
          <p:cNvCxnSpPr/>
          <p:nvPr/>
        </p:nvCxnSpPr>
        <p:spPr>
          <a:xfrm flipH="1" flipV="1">
            <a:off x="1540054" y="2935107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982F78C-7A9C-5942-2849-AFC20C870665}"/>
              </a:ext>
            </a:extLst>
          </p:cNvPr>
          <p:cNvCxnSpPr/>
          <p:nvPr/>
        </p:nvCxnSpPr>
        <p:spPr>
          <a:xfrm flipH="1" flipV="1">
            <a:off x="1540054" y="2859725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62E0603-9A36-C1DE-7D06-B99455C6AF91}"/>
              </a:ext>
            </a:extLst>
          </p:cNvPr>
          <p:cNvCxnSpPr/>
          <p:nvPr/>
        </p:nvCxnSpPr>
        <p:spPr>
          <a:xfrm flipH="1" flipV="1">
            <a:off x="1540054" y="2785996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D2D558-A2D7-86C2-BAF0-913869202D05}"/>
              </a:ext>
            </a:extLst>
          </p:cNvPr>
          <p:cNvSpPr txBox="1"/>
          <p:nvPr/>
        </p:nvSpPr>
        <p:spPr>
          <a:xfrm>
            <a:off x="957153" y="4085693"/>
            <a:ext cx="16874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Trapped</a:t>
            </a:r>
            <a:r>
              <a:rPr lang="ko-KR" altLang="en-US" sz="1400" dirty="0"/>
              <a:t> </a:t>
            </a:r>
            <a:r>
              <a:rPr lang="en-US" altLang="ko-KR" sz="1400" dirty="0"/>
              <a:t>Electrons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1D72DBFE-C971-F8C0-6846-92B874290EA1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1693704" y="3419389"/>
            <a:ext cx="107156" cy="6663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3317F8B3-E9BE-4B90-24B5-997D956FDD33}"/>
              </a:ext>
            </a:extLst>
          </p:cNvPr>
          <p:cNvCxnSpPr>
            <a:cxnSpLocks/>
            <a:endCxn id="38" idx="0"/>
          </p:cNvCxnSpPr>
          <p:nvPr/>
        </p:nvCxnSpPr>
        <p:spPr>
          <a:xfrm flipH="1">
            <a:off x="1800860" y="3429456"/>
            <a:ext cx="39287" cy="656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C0F3FB5-4CDA-1A16-D2F8-01A712A3CEE0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2746494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89CDBDA-86E8-390E-1093-FE541EA9EE82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2878293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910BFD99-CD26-8CCB-1531-D10FA69ACEF2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010092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BBC5560-8F27-43DE-F80C-CD036F98D0FD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141891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59DB24F-59CA-2D35-7F79-22B40FC99AB8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273690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0097355-F4A7-EC4F-6957-BDBD02958024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2961254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61F4608-2DFB-30FC-1703-FEBAF566A476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3120243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F4811C3-81CD-3DAB-2C09-81AFFD2D3C6D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3279232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342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57813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Potential Solution: Poisson equation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4327871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5069227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2560218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879689" y="1953034"/>
            <a:ext cx="25170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Boundary conditions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770993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Solution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2353144"/>
            <a:ext cx="356707" cy="3447888"/>
          </a:xfrm>
          <a:prstGeom prst="leftBrace">
            <a:avLst>
              <a:gd name="adj1" fmla="val 8027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F7021-0B12-BAA3-907B-50DE16D8817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(2026)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Q-ΔV</a:t>
            </a:r>
            <a:r>
              <a:rPr lang="en-US" altLang="ko-KR" baseline="-25000"/>
              <a:t>th</a:t>
            </a:r>
            <a:r>
              <a:rPr lang="en-US" altLang="ko-KR"/>
              <a:t> Relation</a:t>
            </a:r>
            <a:endParaRPr lang="ko-KR" altLang="en-US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276" y="1050177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505" y="1743261"/>
            <a:ext cx="2370953" cy="58698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5345" y="2721821"/>
            <a:ext cx="3813982" cy="433598"/>
          </a:xfrm>
          <a:prstGeom prst="rect">
            <a:avLst/>
          </a:prstGeom>
        </p:spPr>
      </p:pic>
      <p:pic>
        <p:nvPicPr>
          <p:cNvPr id="12" name="그림 11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90E4FD-57D2-E219-C7E8-D9662129D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514" y="3405680"/>
            <a:ext cx="5613595" cy="2430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4552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Equivalent channel field intensity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1836896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By Cramer’s rule,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&amp; Parameters</a:t>
            </a:r>
            <a:endParaRPr lang="ko-KR" altLang="en-US" dirty="0"/>
          </a:p>
        </p:txBody>
      </p:sp>
      <p:pic>
        <p:nvPicPr>
          <p:cNvPr id="169" name="그림 168">
            <a:extLst>
              <a:ext uri="{FF2B5EF4-FFF2-40B4-BE49-F238E27FC236}">
                <a16:creationId xmlns:a16="http://schemas.microsoft.com/office/drawing/2014/main" id="{12D9807E-0DD0-8618-FE8C-60D90ADA8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47" y="1651807"/>
            <a:ext cx="4519546" cy="4253692"/>
          </a:xfrm>
          <a:prstGeom prst="rect">
            <a:avLst/>
          </a:prstGeom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A95D2BDD-9402-5E1F-D59E-27A9345FF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893" y="1390764"/>
            <a:ext cx="4077826" cy="451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89EBAB40-DF68-1C55-F411-6EF90C330B79}"/>
              </a:ext>
            </a:extLst>
          </p:cNvPr>
          <p:cNvCxnSpPr>
            <a:cxnSpLocks/>
          </p:cNvCxnSpPr>
          <p:nvPr/>
        </p:nvCxnSpPr>
        <p:spPr>
          <a:xfrm flipH="1">
            <a:off x="5715000" y="2576839"/>
            <a:ext cx="774700" cy="3210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10">
            <a:extLst>
              <a:ext uri="{FF2B5EF4-FFF2-40B4-BE49-F238E27FC236}">
                <a16:creationId xmlns:a16="http://schemas.microsoft.com/office/drawing/2014/main" id="{CAD10C1F-D58C-1390-7520-D765C6608A24}"/>
              </a:ext>
            </a:extLst>
          </p:cNvPr>
          <p:cNvSpPr/>
          <p:nvPr/>
        </p:nvSpPr>
        <p:spPr>
          <a:xfrm>
            <a:off x="4975557" y="5924055"/>
            <a:ext cx="4061101" cy="485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계산 비용은 final retention time 자체가 아니라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trap bin 수와 evaluated time point 수에 의해 결정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FA9A292C-1EB9-1AA8-FC46-AEC906E07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8" y="2465655"/>
            <a:ext cx="4781669" cy="1848912"/>
          </a:xfrm>
          <a:prstGeom prst="rect">
            <a:avLst/>
          </a:prstGeom>
        </p:spPr>
      </p:pic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06A91F-EB43-550F-B4D1-43300861B55A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128"/>
          <a:stretch>
            <a:fillRect/>
          </a:stretch>
        </p:blipFill>
        <p:spPr>
          <a:xfrm>
            <a:off x="505165" y="4391000"/>
            <a:ext cx="4948352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372"/>
          <a:stretch>
            <a:fillRect/>
          </a:stretch>
        </p:blipFill>
        <p:spPr>
          <a:xfrm>
            <a:off x="94129" y="3308745"/>
            <a:ext cx="5743704" cy="192545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F7D2F6AC-3555-A4C6-508B-B9D90BA65DCE}"/>
              </a:ext>
            </a:extLst>
          </p:cNvPr>
          <p:cNvSpPr/>
          <p:nvPr/>
        </p:nvSpPr>
        <p:spPr>
          <a:xfrm>
            <a:off x="3708400" y="5792590"/>
            <a:ext cx="5328259" cy="6171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computation</a:t>
            </a:r>
            <a:r>
              <a:rPr lang="ko-KR" alt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altLang="ko-KR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resource</a:t>
            </a:r>
            <a:r>
              <a:rPr lang="ko-KR" alt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는 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 retention time 자체가 아니라</a:t>
            </a:r>
            <a:endParaRPr lang="en-US" sz="1450" dirty="0"/>
          </a:p>
          <a:p>
            <a:pPr marL="0" indent="0" algn="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trap bin 수와 evaluated time point 수에 의해 결정</a:t>
            </a:r>
            <a:endParaRPr lang="en-US" sz="14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E19DA4-6125-82C1-82C9-423A53008687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996952" y="5405026"/>
            <a:ext cx="1422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state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405026"/>
            <a:ext cx="26409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/>
          <p:nvPr/>
        </p:nvCxnSpPr>
        <p:spPr>
          <a:xfrm flipH="1">
            <a:off x="2120900" y="4965700"/>
            <a:ext cx="609600" cy="474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358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F3F79-6A8A-8036-C0EA-5795BB86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 Calibration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D0C03B-AB43-3256-A1E2-5EEE9F5EB919}"/>
              </a:ext>
            </a:extLst>
          </p:cNvPr>
          <p:cNvSpPr txBox="1"/>
          <p:nvPr/>
        </p:nvSpPr>
        <p:spPr>
          <a:xfrm>
            <a:off x="683046" y="1034073"/>
            <a:ext cx="46711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Refaldi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IRPS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E3B60B-6694-A2A6-F560-C9BB3B565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178" y="1434183"/>
            <a:ext cx="5515526" cy="3418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ED8035-BA60-EBB1-D663-6D0EA6820F51}"/>
              </a:ext>
            </a:extLst>
          </p:cNvPr>
          <p:cNvSpPr txBox="1"/>
          <p:nvPr/>
        </p:nvSpPr>
        <p:spPr>
          <a:xfrm>
            <a:off x="751437" y="4763430"/>
            <a:ext cx="77950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 condition (~ 4.2K) : physical separation of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from vertical retention loss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Separation of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</a:t>
            </a:r>
          </a:p>
        </p:txBody>
      </p:sp>
    </p:spTree>
    <p:extLst>
      <p:ext uri="{BB962C8B-B14F-4D97-AF65-F5344CB8AC3E}">
        <p14:creationId xmlns:p14="http://schemas.microsoft.com/office/powerpoint/2010/main" val="6779477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 Calibration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3524CB-0BFA-BD3E-FCE4-F8C1890EFAE4}"/>
              </a:ext>
            </a:extLst>
          </p:cNvPr>
          <p:cNvSpPr txBox="1"/>
          <p:nvPr/>
        </p:nvSpPr>
        <p:spPr>
          <a:xfrm>
            <a:off x="683046" y="1034073"/>
            <a:ext cx="46711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Refaldi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IRPS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8501025"/>
              </p:ext>
            </p:extLst>
          </p:nvPr>
        </p:nvGraphicFramePr>
        <p:xfrm>
          <a:off x="3833310" y="210677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33310" y="210677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0946794"/>
              </p:ext>
            </p:extLst>
          </p:nvPr>
        </p:nvGraphicFramePr>
        <p:xfrm>
          <a:off x="329810" y="210677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10677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188515" y="284947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354198" y="361893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838200" y="1891587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– TCAD calibration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430227"/>
            <a:ext cx="4002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cryogenic: σ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 [cm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448299" y="1891587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 – TCAD match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4840400" y="5430227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Iteration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2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</TotalTime>
  <Words>611</Words>
  <Application>Microsoft Office PowerPoint</Application>
  <PresentationFormat>화면 슬라이드 쇼(4:3)</PresentationFormat>
  <Paragraphs>134</Paragraphs>
  <Slides>15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Noto Sans CJK KR</vt:lpstr>
      <vt:lpstr>맑은 고딕</vt:lpstr>
      <vt:lpstr>Arial</vt:lpstr>
      <vt:lpstr>Calibri</vt:lpstr>
      <vt:lpstr>Times New Roman</vt:lpstr>
      <vt:lpstr>Office 테마</vt:lpstr>
      <vt:lpstr>Graph</vt:lpstr>
      <vt:lpstr>진명 연구 정리  Myung Jin</vt:lpstr>
      <vt:lpstr>Trap-to-band Detrapping Mechanism</vt:lpstr>
      <vt:lpstr>BETOX Trapped Electron Detrapping</vt:lpstr>
      <vt:lpstr>Trap-Band Emission Modeling</vt:lpstr>
      <vt:lpstr>CTN Trapped Electron Detrapping</vt:lpstr>
      <vt:lpstr>Detailed Poisson Solution</vt:lpstr>
      <vt:lpstr>Q-ΔVth Relation</vt:lpstr>
      <vt:lpstr>Visualization &amp; Parameters</vt:lpstr>
      <vt:lpstr>Time-step-free Physics-based Modeling</vt:lpstr>
      <vt:lpstr>Time-step-free Physics-based Modeling</vt:lpstr>
      <vt:lpstr>Time-step-free Physics-based Modeling</vt:lpstr>
      <vt:lpstr>Cryogenic Calibration</vt:lpstr>
      <vt:lpstr>Cryogenic Calibration</vt:lpstr>
      <vt:lpstr>Iteration Test</vt:lpstr>
      <vt:lpstr>Computational Impact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971</cp:revision>
  <dcterms:created xsi:type="dcterms:W3CDTF">2016-06-02T05:19:04Z</dcterms:created>
  <dcterms:modified xsi:type="dcterms:W3CDTF">2026-07-06T15:43:29Z</dcterms:modified>
  <cp:version/>
</cp:coreProperties>
</file>