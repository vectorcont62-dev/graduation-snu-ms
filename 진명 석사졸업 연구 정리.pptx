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notesMasterIdLst>
    <p:notesMasterId r:id="rId21"/>
  </p:notesMasterIdLst>
  <p:sldIdLst>
    <p:sldId id="256" r:id="rId2"/>
    <p:sldId id="334" r:id="rId3"/>
    <p:sldId id="329" r:id="rId4"/>
    <p:sldId id="330" r:id="rId5"/>
    <p:sldId id="331" r:id="rId6"/>
    <p:sldId id="315" r:id="rId7"/>
    <p:sldId id="322" r:id="rId8"/>
    <p:sldId id="335" r:id="rId9"/>
    <p:sldId id="333" r:id="rId10"/>
    <p:sldId id="320" r:id="rId11"/>
    <p:sldId id="336" r:id="rId12"/>
    <p:sldId id="324" r:id="rId13"/>
    <p:sldId id="323" r:id="rId14"/>
    <p:sldId id="321" r:id="rId15"/>
    <p:sldId id="328" r:id="rId16"/>
    <p:sldId id="325" r:id="rId17"/>
    <p:sldId id="337" r:id="rId18"/>
    <p:sldId id="326" r:id="rId19"/>
    <p:sldId id="327" r:id="rId20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7687"/>
    <a:srgbClr val="2848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85" autoAdjust="0"/>
    <p:restoredTop sz="97300" autoAdjust="0"/>
  </p:normalViewPr>
  <p:slideViewPr>
    <p:cSldViewPr snapToGrid="0">
      <p:cViewPr varScale="1">
        <p:scale>
          <a:sx n="102" d="100"/>
          <a:sy n="102" d="100"/>
        </p:scale>
        <p:origin x="1602" y="102"/>
      </p:cViewPr>
      <p:guideLst>
        <p:guide orient="horz" pos="218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2026-07-07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AF3849-7B75-418B-A29D-3680F71454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192D5C-D446-4FA3-ADD1-C38C90C7EE5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9896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5000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00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DC6DFB7-6350-4B39-A52F-9F6B530A330B}"/>
              </a:ext>
            </a:extLst>
          </p:cNvPr>
          <p:cNvSpPr/>
          <p:nvPr userDrawn="1"/>
        </p:nvSpPr>
        <p:spPr bwMode="auto"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157A76F-DACA-44EE-A4A0-2B111084B4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5152B70-22AA-4E3B-9C71-C7A8D0FF28D7}"/>
              </a:ext>
            </a:extLst>
          </p:cNvPr>
          <p:cNvSpPr/>
          <p:nvPr userDrawn="1"/>
        </p:nvSpPr>
        <p:spPr>
          <a:xfrm>
            <a:off x="6635692" y="6555964"/>
            <a:ext cx="2525087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rPr>
              <a:t>Dept. of ECE, Seoul National University</a:t>
            </a:r>
            <a:endParaRPr lang="en-US" altLang="ko-KR" sz="1100" b="1" kern="0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7059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  <p:sp>
        <p:nvSpPr>
          <p:cNvPr id="4" name="슬라이드 번호 개체 틀 1">
            <a:extLst>
              <a:ext uri="{FF2B5EF4-FFF2-40B4-BE49-F238E27FC236}">
                <a16:creationId xmlns:a16="http://schemas.microsoft.com/office/drawing/2014/main" id="{770A8E3B-2F99-2E3D-21C3-3332B4D77E3A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19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  <p:sldLayoutId id="2147483676" r:id="rId15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emf"/><Relationship Id="rId4" Type="http://schemas.openxmlformats.org/officeDocument/2006/relationships/oleObject" Target="../embeddings/oleObject2.bin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2C339-410E-4EC1-8B38-E1FD889CD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937" y="650632"/>
            <a:ext cx="8439709" cy="228599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Time-Step-Free Physics-based Modeling of 3-D NAND Flash Memories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A8BFC4B-D59D-483F-8FA0-62EAA5FC0F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2026. 07. 08</a:t>
            </a:r>
          </a:p>
          <a:p>
            <a:r>
              <a:rPr lang="ko-KR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ko-KR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A5A379D-0C9F-4120-A1FC-1174744553D2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98066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Trap-to-band </a:t>
            </a:r>
            <a:r>
              <a:rPr lang="en-US" altLang="ko-KR" dirty="0" err="1"/>
              <a:t>Detrapping</a:t>
            </a:r>
            <a:r>
              <a:rPr lang="en-US" altLang="ko-KR" dirty="0"/>
              <a:t> Mechanism</a:t>
            </a:r>
            <a:endParaRPr lang="ko-KR" altLang="en-US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A7530F4-DFF5-C2D3-08BE-884D26D63F9D}"/>
              </a:ext>
            </a:extLst>
          </p:cNvPr>
          <p:cNvSpPr txBox="1"/>
          <p:nvPr/>
        </p:nvSpPr>
        <p:spPr>
          <a:xfrm>
            <a:off x="580103" y="1212714"/>
            <a:ext cx="83434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Bandgap-engineered tunneling oxide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(BETOX)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으로부터의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failure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프로그램이 완료된 산포의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memory window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감소시킴</a:t>
            </a:r>
          </a:p>
        </p:txBody>
      </p:sp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38406C99-2751-D660-D4DC-A1878FA56216}"/>
              </a:ext>
            </a:extLst>
          </p:cNvPr>
          <p:cNvGrpSpPr/>
          <p:nvPr/>
        </p:nvGrpSpPr>
        <p:grpSpPr>
          <a:xfrm>
            <a:off x="3916154" y="1984393"/>
            <a:ext cx="4855023" cy="1887729"/>
            <a:chOff x="1243852" y="6710751"/>
            <a:chExt cx="4855023" cy="1887729"/>
          </a:xfrm>
        </p:grpSpPr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B286B78F-470F-11F8-DCC7-BB68E495B296}"/>
                </a:ext>
              </a:extLst>
            </p:cNvPr>
            <p:cNvGrpSpPr/>
            <p:nvPr/>
          </p:nvGrpSpPr>
          <p:grpSpPr>
            <a:xfrm>
              <a:off x="1243852" y="6710751"/>
              <a:ext cx="4855023" cy="1887729"/>
              <a:chOff x="1891552" y="487631"/>
              <a:chExt cx="4855023" cy="4014610"/>
            </a:xfrm>
          </p:grpSpPr>
          <p:sp>
            <p:nvSpPr>
              <p:cNvPr id="153" name="자유형: 도형 152">
                <a:extLst>
                  <a:ext uri="{FF2B5EF4-FFF2-40B4-BE49-F238E27FC236}">
                    <a16:creationId xmlns:a16="http://schemas.microsoft.com/office/drawing/2014/main" id="{87E071EA-0E85-BEDC-C178-B4760616F5D9}"/>
                  </a:ext>
                </a:extLst>
              </p:cNvPr>
              <p:cNvSpPr/>
              <p:nvPr/>
            </p:nvSpPr>
            <p:spPr>
              <a:xfrm>
                <a:off x="2114550" y="1733542"/>
                <a:ext cx="108585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54" name="직선 연결선 153">
                <a:extLst>
                  <a:ext uri="{FF2B5EF4-FFF2-40B4-BE49-F238E27FC236}">
                    <a16:creationId xmlns:a16="http://schemas.microsoft.com/office/drawing/2014/main" id="{0C799CD1-16A5-C91C-EFF9-7C4D6BF9D90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91552" y="3437470"/>
                <a:ext cx="4855023" cy="8768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5" name="자유형: 도형 154">
                <a:extLst>
                  <a:ext uri="{FF2B5EF4-FFF2-40B4-BE49-F238E27FC236}">
                    <a16:creationId xmlns:a16="http://schemas.microsoft.com/office/drawing/2014/main" id="{BD9D4617-C92B-A9E2-4648-F18228B4ECA8}"/>
                  </a:ext>
                </a:extLst>
              </p:cNvPr>
              <p:cNvSpPr/>
              <p:nvPr/>
            </p:nvSpPr>
            <p:spPr>
              <a:xfrm>
                <a:off x="45085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6" name="자유형: 도형 155">
                <a:extLst>
                  <a:ext uri="{FF2B5EF4-FFF2-40B4-BE49-F238E27FC236}">
                    <a16:creationId xmlns:a16="http://schemas.microsoft.com/office/drawing/2014/main" id="{BE08FB68-E36F-2D8F-A3E0-07BBBE0507B5}"/>
                  </a:ext>
                </a:extLst>
              </p:cNvPr>
              <p:cNvSpPr/>
              <p:nvPr/>
            </p:nvSpPr>
            <p:spPr>
              <a:xfrm>
                <a:off x="50292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7" name="자유형: 도형 156">
                <a:extLst>
                  <a:ext uri="{FF2B5EF4-FFF2-40B4-BE49-F238E27FC236}">
                    <a16:creationId xmlns:a16="http://schemas.microsoft.com/office/drawing/2014/main" id="{4CB384F7-DEA9-7FDC-F7F8-3E02D2E399C9}"/>
                  </a:ext>
                </a:extLst>
              </p:cNvPr>
              <p:cNvSpPr/>
              <p:nvPr/>
            </p:nvSpPr>
            <p:spPr>
              <a:xfrm>
                <a:off x="55499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8" name="자유형: 도형 157">
                <a:extLst>
                  <a:ext uri="{FF2B5EF4-FFF2-40B4-BE49-F238E27FC236}">
                    <a16:creationId xmlns:a16="http://schemas.microsoft.com/office/drawing/2014/main" id="{ADFECE3C-213A-1A63-1C0A-FEA56D301240}"/>
                  </a:ext>
                </a:extLst>
              </p:cNvPr>
              <p:cNvSpPr/>
              <p:nvPr/>
            </p:nvSpPr>
            <p:spPr>
              <a:xfrm>
                <a:off x="60706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9" name="자유형: 도형 158">
                <a:extLst>
                  <a:ext uri="{FF2B5EF4-FFF2-40B4-BE49-F238E27FC236}">
                    <a16:creationId xmlns:a16="http://schemas.microsoft.com/office/drawing/2014/main" id="{B50D7640-1B1E-DB7E-7F48-63DB289965F5}"/>
                  </a:ext>
                </a:extLst>
              </p:cNvPr>
              <p:cNvSpPr/>
              <p:nvPr/>
            </p:nvSpPr>
            <p:spPr>
              <a:xfrm>
                <a:off x="43688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0" name="자유형: 도형 159">
                <a:extLst>
                  <a:ext uri="{FF2B5EF4-FFF2-40B4-BE49-F238E27FC236}">
                    <a16:creationId xmlns:a16="http://schemas.microsoft.com/office/drawing/2014/main" id="{416DB71C-B0EF-0B75-E1D2-7DC7570BF692}"/>
                  </a:ext>
                </a:extLst>
              </p:cNvPr>
              <p:cNvSpPr/>
              <p:nvPr/>
            </p:nvSpPr>
            <p:spPr>
              <a:xfrm>
                <a:off x="48895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1" name="자유형: 도형 160">
                <a:extLst>
                  <a:ext uri="{FF2B5EF4-FFF2-40B4-BE49-F238E27FC236}">
                    <a16:creationId xmlns:a16="http://schemas.microsoft.com/office/drawing/2014/main" id="{F6097671-7E92-1935-A528-ABB864E0F7D1}"/>
                  </a:ext>
                </a:extLst>
              </p:cNvPr>
              <p:cNvSpPr/>
              <p:nvPr/>
            </p:nvSpPr>
            <p:spPr>
              <a:xfrm>
                <a:off x="54102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2" name="자유형: 도형 161">
                <a:extLst>
                  <a:ext uri="{FF2B5EF4-FFF2-40B4-BE49-F238E27FC236}">
                    <a16:creationId xmlns:a16="http://schemas.microsoft.com/office/drawing/2014/main" id="{77FBA6FF-CA49-F050-2367-B38ABF4D9B27}"/>
                  </a:ext>
                </a:extLst>
              </p:cNvPr>
              <p:cNvSpPr/>
              <p:nvPr/>
            </p:nvSpPr>
            <p:spPr>
              <a:xfrm>
                <a:off x="5930900" y="1733542"/>
                <a:ext cx="330200" cy="1714508"/>
              </a:xfrm>
              <a:custGeom>
                <a:avLst/>
                <a:gdLst>
                  <a:gd name="connsiteX0" fmla="*/ 0 w 1085850"/>
                  <a:gd name="connsiteY0" fmla="*/ 1714508 h 1714508"/>
                  <a:gd name="connsiteX1" fmla="*/ 577850 w 1085850"/>
                  <a:gd name="connsiteY1" fmla="*/ 8 h 1714508"/>
                  <a:gd name="connsiteX2" fmla="*/ 1085850 w 1085850"/>
                  <a:gd name="connsiteY2" fmla="*/ 1695458 h 1714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85850" h="1714508">
                    <a:moveTo>
                      <a:pt x="0" y="1714508"/>
                    </a:moveTo>
                    <a:cubicBezTo>
                      <a:pt x="198437" y="858845"/>
                      <a:pt x="396875" y="3183"/>
                      <a:pt x="577850" y="8"/>
                    </a:cubicBezTo>
                    <a:cubicBezTo>
                      <a:pt x="758825" y="-3167"/>
                      <a:pt x="922337" y="846145"/>
                      <a:pt x="1085850" y="1695458"/>
                    </a:cubicBezTo>
                  </a:path>
                </a:pathLst>
              </a:cu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3" name="화살표: 왼쪽 162">
                <a:extLst>
                  <a:ext uri="{FF2B5EF4-FFF2-40B4-BE49-F238E27FC236}">
                    <a16:creationId xmlns:a16="http://schemas.microsoft.com/office/drawing/2014/main" id="{1621D767-D5D0-8694-CEB1-15E4757A1FFF}"/>
                  </a:ext>
                </a:extLst>
              </p:cNvPr>
              <p:cNvSpPr/>
              <p:nvPr/>
            </p:nvSpPr>
            <p:spPr>
              <a:xfrm>
                <a:off x="4518025" y="1555750"/>
                <a:ext cx="209550" cy="82550"/>
              </a:xfrm>
              <a:prstGeom prst="lef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4" name="화살표: 왼쪽 163">
                <a:extLst>
                  <a:ext uri="{FF2B5EF4-FFF2-40B4-BE49-F238E27FC236}">
                    <a16:creationId xmlns:a16="http://schemas.microsoft.com/office/drawing/2014/main" id="{6DB4EA02-3DDD-59EE-047E-26208119CD64}"/>
                  </a:ext>
                </a:extLst>
              </p:cNvPr>
              <p:cNvSpPr/>
              <p:nvPr/>
            </p:nvSpPr>
            <p:spPr>
              <a:xfrm>
                <a:off x="5029200" y="1555750"/>
                <a:ext cx="209550" cy="82550"/>
              </a:xfrm>
              <a:prstGeom prst="lef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5" name="화살표: 왼쪽 164">
                <a:extLst>
                  <a:ext uri="{FF2B5EF4-FFF2-40B4-BE49-F238E27FC236}">
                    <a16:creationId xmlns:a16="http://schemas.microsoft.com/office/drawing/2014/main" id="{1D187FDC-D8B8-7B97-1A41-840A59537510}"/>
                  </a:ext>
                </a:extLst>
              </p:cNvPr>
              <p:cNvSpPr/>
              <p:nvPr/>
            </p:nvSpPr>
            <p:spPr>
              <a:xfrm>
                <a:off x="5540375" y="1555750"/>
                <a:ext cx="209550" cy="82550"/>
              </a:xfrm>
              <a:prstGeom prst="lef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6" name="화살표: 왼쪽 165">
                <a:extLst>
                  <a:ext uri="{FF2B5EF4-FFF2-40B4-BE49-F238E27FC236}">
                    <a16:creationId xmlns:a16="http://schemas.microsoft.com/office/drawing/2014/main" id="{C5C81004-2FB8-4F70-8172-8DE428A97A42}"/>
                  </a:ext>
                </a:extLst>
              </p:cNvPr>
              <p:cNvSpPr/>
              <p:nvPr/>
            </p:nvSpPr>
            <p:spPr>
              <a:xfrm>
                <a:off x="6051550" y="1555750"/>
                <a:ext cx="209550" cy="82550"/>
              </a:xfrm>
              <a:prstGeom prst="lef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67" name="직선 연결선 166">
                <a:extLst>
                  <a:ext uri="{FF2B5EF4-FFF2-40B4-BE49-F238E27FC236}">
                    <a16:creationId xmlns:a16="http://schemas.microsoft.com/office/drawing/2014/main" id="{F1FEF953-2BFF-2E41-03A7-CCE818094A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00400" y="1155700"/>
                <a:ext cx="0" cy="31432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AE60D902-A709-03FF-2F63-F18616EF2F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0600" y="1149350"/>
                <a:ext cx="0" cy="314960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B848AF67-5D73-04F2-7882-641745885B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0900" y="1149350"/>
                <a:ext cx="0" cy="3149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6EEA435D-4DC4-B975-88F6-8B0503E3BD39}"/>
                  </a:ext>
                </a:extLst>
              </p:cNvPr>
              <p:cNvSpPr txBox="1"/>
              <p:nvPr/>
            </p:nvSpPr>
            <p:spPr>
              <a:xfrm>
                <a:off x="3530599" y="3536472"/>
                <a:ext cx="2070102" cy="8509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 b="1" dirty="0"/>
                  <a:t>gap margin (memory window)</a:t>
                </a:r>
              </a:p>
              <a:p>
                <a:pPr algn="ctr"/>
                <a:r>
                  <a:rPr lang="en-US" altLang="ko-KR" sz="1000" b="1" dirty="0"/>
                  <a:t>degradation</a:t>
                </a:r>
                <a:endParaRPr lang="ko-KR" altLang="en-US" sz="1000" b="1" dirty="0"/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683DDD-CC93-E94D-E648-41227EFF5EE6}"/>
                  </a:ext>
                </a:extLst>
              </p:cNvPr>
              <p:cNvSpPr txBox="1"/>
              <p:nvPr/>
            </p:nvSpPr>
            <p:spPr>
              <a:xfrm>
                <a:off x="2155825" y="487631"/>
                <a:ext cx="4165600" cy="9163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100" dirty="0"/>
                  <a:t>Electron </a:t>
                </a:r>
                <a:r>
                  <a:rPr lang="en-US" altLang="ko-KR" sz="1100" dirty="0" err="1"/>
                  <a:t>detrapping</a:t>
                </a:r>
                <a:r>
                  <a:rPr lang="en-US" altLang="ko-KR" sz="1100" dirty="0"/>
                  <a:t> effect</a:t>
                </a:r>
                <a:br>
                  <a:rPr lang="en-US" altLang="ko-KR" sz="1100" dirty="0"/>
                </a:br>
                <a:r>
                  <a:rPr lang="en-US" altLang="ko-KR" sz="1100" dirty="0"/>
                  <a:t>in </a:t>
                </a:r>
                <a:r>
                  <a:rPr lang="en-US" altLang="ko-KR" sz="1100" dirty="0" err="1"/>
                  <a:t>Δ</a:t>
                </a:r>
                <a:r>
                  <a:rPr lang="en-US" altLang="ko-KR" sz="1100" i="1" dirty="0" err="1"/>
                  <a:t>V</a:t>
                </a:r>
                <a:r>
                  <a:rPr lang="en-US" altLang="ko-KR" sz="1100" baseline="-25000" dirty="0" err="1"/>
                  <a:t>th</a:t>
                </a:r>
                <a:r>
                  <a:rPr lang="en-US" altLang="ko-KR" sz="1100" dirty="0"/>
                  <a:t> distribution</a:t>
                </a:r>
                <a:endParaRPr lang="ko-KR" altLang="en-US" sz="1100" dirty="0"/>
              </a:p>
            </p:txBody>
          </p:sp>
          <p:cxnSp>
            <p:nvCxnSpPr>
              <p:cNvPr id="172" name="직선 화살표 연결선 171">
                <a:extLst>
                  <a:ext uri="{FF2B5EF4-FFF2-40B4-BE49-F238E27FC236}">
                    <a16:creationId xmlns:a16="http://schemas.microsoft.com/office/drawing/2014/main" id="{920D2F45-EF14-6E31-8C66-12CDFEE9CD87}"/>
                  </a:ext>
                </a:extLst>
              </p:cNvPr>
              <p:cNvCxnSpPr>
                <a:cxnSpLocks/>
                <a:stCxn id="170" idx="1"/>
              </p:cNvCxnSpPr>
              <p:nvPr/>
            </p:nvCxnSpPr>
            <p:spPr>
              <a:xfrm flipH="1">
                <a:off x="3200400" y="3961926"/>
                <a:ext cx="33019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직선 화살표 연결선 172">
                <a:extLst>
                  <a:ext uri="{FF2B5EF4-FFF2-40B4-BE49-F238E27FC236}">
                    <a16:creationId xmlns:a16="http://schemas.microsoft.com/office/drawing/2014/main" id="{92343334-B602-B8FE-1745-A2679552EA1E}"/>
                  </a:ext>
                </a:extLst>
              </p:cNvPr>
              <p:cNvCxnSpPr>
                <a:cxnSpLocks/>
                <a:stCxn id="170" idx="3"/>
              </p:cNvCxnSpPr>
              <p:nvPr/>
            </p:nvCxnSpPr>
            <p:spPr>
              <a:xfrm flipV="1">
                <a:off x="5600701" y="3961924"/>
                <a:ext cx="495298" cy="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4" name="화살표: 왼쪽 173">
                <a:extLst>
                  <a:ext uri="{FF2B5EF4-FFF2-40B4-BE49-F238E27FC236}">
                    <a16:creationId xmlns:a16="http://schemas.microsoft.com/office/drawing/2014/main" id="{FB6EE1B7-3A58-8A48-4686-21CA2BECC0DF}"/>
                  </a:ext>
                </a:extLst>
              </p:cNvPr>
              <p:cNvSpPr/>
              <p:nvPr/>
            </p:nvSpPr>
            <p:spPr>
              <a:xfrm>
                <a:off x="5761036" y="4305908"/>
                <a:ext cx="339725" cy="196333"/>
              </a:xfrm>
              <a:prstGeom prst="leftArrow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7BD4B787-04B0-AF8F-E7B7-D8F91B15E10D}"/>
                  </a:ext>
                </a:extLst>
              </p:cNvPr>
              <p:cNvSpPr txBox="1"/>
              <p:nvPr/>
            </p:nvSpPr>
            <p:spPr>
              <a:xfrm>
                <a:off x="2343147" y="2444392"/>
                <a:ext cx="692154" cy="461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/>
                  <a:t>Erased</a:t>
                </a:r>
                <a:br>
                  <a:rPr lang="en-US" altLang="ko-KR" sz="1200"/>
                </a:br>
                <a:r>
                  <a:rPr lang="en-US" altLang="ko-KR" sz="1200"/>
                  <a:t>Cells</a:t>
                </a:r>
                <a:endParaRPr lang="ko-KR" altLang="en-US" sz="1200"/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3325EE47-927C-FB7F-148A-DC551F6A78B2}"/>
                  </a:ext>
                </a:extLst>
              </p:cNvPr>
              <p:cNvSpPr txBox="1"/>
              <p:nvPr/>
            </p:nvSpPr>
            <p:spPr>
              <a:xfrm>
                <a:off x="4889500" y="1123338"/>
                <a:ext cx="1219198" cy="4254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/>
                  <a:t>Programmed Cells</a:t>
                </a:r>
                <a:endParaRPr lang="ko-KR" altLang="en-US" sz="700"/>
              </a:p>
            </p:txBody>
          </p:sp>
        </p:grp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E6C0B1DE-346E-2662-CCAB-44C8BD8D23C3}"/>
                </a:ext>
              </a:extLst>
            </p:cNvPr>
            <p:cNvSpPr txBox="1"/>
            <p:nvPr/>
          </p:nvSpPr>
          <p:spPr>
            <a:xfrm>
              <a:off x="3328113" y="7425866"/>
              <a:ext cx="3773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…</a:t>
              </a:r>
              <a:endParaRPr lang="ko-KR" altLang="en-US"/>
            </a:p>
          </p:txBody>
        </p:sp>
      </p:grp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043010" y="4507845"/>
            <a:ext cx="53030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구조에서의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일어나는 현상에 대한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진행</a:t>
            </a:r>
          </a:p>
        </p:txBody>
      </p:sp>
      <p:grpSp>
        <p:nvGrpSpPr>
          <p:cNvPr id="313" name="그룹 312">
            <a:extLst>
              <a:ext uri="{FF2B5EF4-FFF2-40B4-BE49-F238E27FC236}">
                <a16:creationId xmlns:a16="http://schemas.microsoft.com/office/drawing/2014/main" id="{D0446B26-840C-27E8-FB3A-0DE6929F6DC4}"/>
              </a:ext>
            </a:extLst>
          </p:cNvPr>
          <p:cNvGrpSpPr/>
          <p:nvPr/>
        </p:nvGrpSpPr>
        <p:grpSpPr>
          <a:xfrm>
            <a:off x="625316" y="2525454"/>
            <a:ext cx="2302341" cy="3689196"/>
            <a:chOff x="6447475" y="1975285"/>
            <a:chExt cx="2302341" cy="3689196"/>
          </a:xfrm>
        </p:grpSpPr>
        <p:grpSp>
          <p:nvGrpSpPr>
            <p:cNvPr id="210" name="그룹 209">
              <a:extLst>
                <a:ext uri="{FF2B5EF4-FFF2-40B4-BE49-F238E27FC236}">
                  <a16:creationId xmlns:a16="http://schemas.microsoft.com/office/drawing/2014/main" id="{E968EE5A-E974-223C-1B5E-BC43E64550DF}"/>
                </a:ext>
              </a:extLst>
            </p:cNvPr>
            <p:cNvGrpSpPr/>
            <p:nvPr/>
          </p:nvGrpSpPr>
          <p:grpSpPr>
            <a:xfrm>
              <a:off x="6447475" y="2690188"/>
              <a:ext cx="2064544" cy="2974293"/>
              <a:chOff x="1409700" y="6504387"/>
              <a:chExt cx="2064544" cy="2974293"/>
            </a:xfrm>
          </p:grpSpPr>
          <p:pic>
            <p:nvPicPr>
              <p:cNvPr id="211" name="그림 210" descr="로고, 그래픽, 디자인이(가) 표시된 사진&#10;&#10;자동 생성된 설명">
                <a:extLst>
                  <a:ext uri="{FF2B5EF4-FFF2-40B4-BE49-F238E27FC236}">
                    <a16:creationId xmlns:a16="http://schemas.microsoft.com/office/drawing/2014/main" id="{20E526E3-9043-CED4-08E9-9DE1295ECB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8303" t="12315" r="12187"/>
              <a:stretch/>
            </p:blipFill>
            <p:spPr>
              <a:xfrm>
                <a:off x="1409700" y="6582571"/>
                <a:ext cx="2064544" cy="2577269"/>
              </a:xfrm>
              <a:prstGeom prst="rect">
                <a:avLst/>
              </a:prstGeom>
            </p:spPr>
          </p:pic>
          <p:cxnSp>
            <p:nvCxnSpPr>
              <p:cNvPr id="213" name="직선 화살표 연결선 212">
                <a:extLst>
                  <a:ext uri="{FF2B5EF4-FFF2-40B4-BE49-F238E27FC236}">
                    <a16:creationId xmlns:a16="http://schemas.microsoft.com/office/drawing/2014/main" id="{3CF29235-04EA-DFF1-4DC5-2B71DA818BBB}"/>
                  </a:ext>
                </a:extLst>
              </p:cNvPr>
              <p:cNvCxnSpPr/>
              <p:nvPr/>
            </p:nvCxnSpPr>
            <p:spPr>
              <a:xfrm flipH="1" flipV="1">
                <a:off x="2070438" y="8436786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화살표 연결선 213">
                <a:extLst>
                  <a:ext uri="{FF2B5EF4-FFF2-40B4-BE49-F238E27FC236}">
                    <a16:creationId xmlns:a16="http://schemas.microsoft.com/office/drawing/2014/main" id="{3430449A-CECF-CFFC-A6D0-12DCD6B595DB}"/>
                  </a:ext>
                </a:extLst>
              </p:cNvPr>
              <p:cNvCxnSpPr/>
              <p:nvPr/>
            </p:nvCxnSpPr>
            <p:spPr>
              <a:xfrm flipH="1" flipV="1">
                <a:off x="2070438" y="8354633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직선 화살표 연결선 214">
                <a:extLst>
                  <a:ext uri="{FF2B5EF4-FFF2-40B4-BE49-F238E27FC236}">
                    <a16:creationId xmlns:a16="http://schemas.microsoft.com/office/drawing/2014/main" id="{E5F401F1-330F-2488-C588-F2E64E0DC815}"/>
                  </a:ext>
                </a:extLst>
              </p:cNvPr>
              <p:cNvCxnSpPr/>
              <p:nvPr/>
            </p:nvCxnSpPr>
            <p:spPr>
              <a:xfrm flipH="1" flipV="1">
                <a:off x="2070438" y="8272480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화살표 연결선 215">
                <a:extLst>
                  <a:ext uri="{FF2B5EF4-FFF2-40B4-BE49-F238E27FC236}">
                    <a16:creationId xmlns:a16="http://schemas.microsoft.com/office/drawing/2014/main" id="{6CCF3B4A-4634-26C2-CD34-9838DC3D8927}"/>
                  </a:ext>
                </a:extLst>
              </p:cNvPr>
              <p:cNvCxnSpPr/>
              <p:nvPr/>
            </p:nvCxnSpPr>
            <p:spPr>
              <a:xfrm flipH="1" flipV="1">
                <a:off x="2070438" y="8190327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직선 화살표 연결선 216">
                <a:extLst>
                  <a:ext uri="{FF2B5EF4-FFF2-40B4-BE49-F238E27FC236}">
                    <a16:creationId xmlns:a16="http://schemas.microsoft.com/office/drawing/2014/main" id="{2209007B-BA7A-FF41-83B9-506CFD576704}"/>
                  </a:ext>
                </a:extLst>
              </p:cNvPr>
              <p:cNvCxnSpPr/>
              <p:nvPr/>
            </p:nvCxnSpPr>
            <p:spPr>
              <a:xfrm flipH="1" flipV="1">
                <a:off x="2070438" y="8108174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화살표 연결선 217">
                <a:extLst>
                  <a:ext uri="{FF2B5EF4-FFF2-40B4-BE49-F238E27FC236}">
                    <a16:creationId xmlns:a16="http://schemas.microsoft.com/office/drawing/2014/main" id="{9AB57C62-5F37-38CA-5081-DC26682CFF60}"/>
                  </a:ext>
                </a:extLst>
              </p:cNvPr>
              <p:cNvCxnSpPr/>
              <p:nvPr/>
            </p:nvCxnSpPr>
            <p:spPr>
              <a:xfrm flipH="1" flipV="1">
                <a:off x="2070438" y="8020317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직선 화살표 연결선 218">
                <a:extLst>
                  <a:ext uri="{FF2B5EF4-FFF2-40B4-BE49-F238E27FC236}">
                    <a16:creationId xmlns:a16="http://schemas.microsoft.com/office/drawing/2014/main" id="{20C2A38B-06D2-204B-F031-6E2381CAB2F4}"/>
                  </a:ext>
                </a:extLst>
              </p:cNvPr>
              <p:cNvCxnSpPr/>
              <p:nvPr/>
            </p:nvCxnSpPr>
            <p:spPr>
              <a:xfrm flipH="1" flipV="1">
                <a:off x="2070438" y="7944935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화살표 연결선 219">
                <a:extLst>
                  <a:ext uri="{FF2B5EF4-FFF2-40B4-BE49-F238E27FC236}">
                    <a16:creationId xmlns:a16="http://schemas.microsoft.com/office/drawing/2014/main" id="{0CD37C3F-80FA-9B63-4296-594233C78DD2}"/>
                  </a:ext>
                </a:extLst>
              </p:cNvPr>
              <p:cNvCxnSpPr/>
              <p:nvPr/>
            </p:nvCxnSpPr>
            <p:spPr>
              <a:xfrm flipH="1" flipV="1">
                <a:off x="2070438" y="7871206"/>
                <a:ext cx="126668" cy="38384"/>
              </a:xfrm>
              <a:prstGeom prst="straightConnector1">
                <a:avLst/>
              </a:prstGeom>
              <a:ln>
                <a:solidFill>
                  <a:srgbClr val="FFFF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1" name="TextBox 220">
                <a:extLst>
                  <a:ext uri="{FF2B5EF4-FFF2-40B4-BE49-F238E27FC236}">
                    <a16:creationId xmlns:a16="http://schemas.microsoft.com/office/drawing/2014/main" id="{D6E6291A-5098-30EC-CE55-4904DD2AD286}"/>
                  </a:ext>
                </a:extLst>
              </p:cNvPr>
              <p:cNvSpPr txBox="1"/>
              <p:nvPr/>
            </p:nvSpPr>
            <p:spPr>
              <a:xfrm>
                <a:off x="1487537" y="9170903"/>
                <a:ext cx="168741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Trapped</a:t>
                </a:r>
                <a:r>
                  <a:rPr lang="ko-KR" altLang="en-US" sz="1400" dirty="0"/>
                  <a:t> </a:t>
                </a:r>
                <a:r>
                  <a:rPr lang="en-US" altLang="ko-KR" sz="1400" dirty="0"/>
                  <a:t>Electrons</a:t>
                </a:r>
                <a:endParaRPr lang="ko-KR" altLang="en-US" sz="1400" dirty="0"/>
              </a:p>
            </p:txBody>
          </p: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384FD8E0-8B22-B661-A154-AEAD7A52D28C}"/>
                  </a:ext>
                </a:extLst>
              </p:cNvPr>
              <p:cNvCxnSpPr>
                <a:cxnSpLocks/>
                <a:endCxn id="221" idx="0"/>
              </p:cNvCxnSpPr>
              <p:nvPr/>
            </p:nvCxnSpPr>
            <p:spPr>
              <a:xfrm>
                <a:off x="2224088" y="8504599"/>
                <a:ext cx="107156" cy="66630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직선 연결선 222">
                <a:extLst>
                  <a:ext uri="{FF2B5EF4-FFF2-40B4-BE49-F238E27FC236}">
                    <a16:creationId xmlns:a16="http://schemas.microsoft.com/office/drawing/2014/main" id="{D3D91B11-9F4C-7339-FB02-8BD8F41E62AF}"/>
                  </a:ext>
                </a:extLst>
              </p:cNvPr>
              <p:cNvCxnSpPr>
                <a:cxnSpLocks/>
                <a:endCxn id="221" idx="0"/>
              </p:cNvCxnSpPr>
              <p:nvPr/>
            </p:nvCxnSpPr>
            <p:spPr>
              <a:xfrm flipH="1">
                <a:off x="2331244" y="8514666"/>
                <a:ext cx="39287" cy="6562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직선 연결선 223">
                <a:extLst>
                  <a:ext uri="{FF2B5EF4-FFF2-40B4-BE49-F238E27FC236}">
                    <a16:creationId xmlns:a16="http://schemas.microsoft.com/office/drawing/2014/main" id="{514A09F0-556C-F0DA-D395-2E3A51E11D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34716" y="6504387"/>
                <a:ext cx="0" cy="233336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직선 연결선 224">
                <a:extLst>
                  <a:ext uri="{FF2B5EF4-FFF2-40B4-BE49-F238E27FC236}">
                    <a16:creationId xmlns:a16="http://schemas.microsoft.com/office/drawing/2014/main" id="{E971E9B3-EEB0-045E-77D1-9A95134D75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45827" y="6549299"/>
                <a:ext cx="0" cy="43368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직선 연결선 225">
                <a:extLst>
                  <a:ext uri="{FF2B5EF4-FFF2-40B4-BE49-F238E27FC236}">
                    <a16:creationId xmlns:a16="http://schemas.microsoft.com/office/drawing/2014/main" id="{A9FDE615-9E6E-C667-8CEB-EE0C2EDC66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85589" y="6549299"/>
                <a:ext cx="0" cy="46047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직선 연결선 226">
                <a:extLst>
                  <a:ext uri="{FF2B5EF4-FFF2-40B4-BE49-F238E27FC236}">
                    <a16:creationId xmlns:a16="http://schemas.microsoft.com/office/drawing/2014/main" id="{DA19623C-9C73-8BA2-4C99-310E32D028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3020" y="6549299"/>
                <a:ext cx="0" cy="59039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직선 연결선 234">
                <a:extLst>
                  <a:ext uri="{FF2B5EF4-FFF2-40B4-BE49-F238E27FC236}">
                    <a16:creationId xmlns:a16="http://schemas.microsoft.com/office/drawing/2014/main" id="{A79E245E-07EE-543F-65EA-417903A978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35608" y="6549299"/>
                <a:ext cx="0" cy="55311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직선 연결선 236">
                <a:extLst>
                  <a:ext uri="{FF2B5EF4-FFF2-40B4-BE49-F238E27FC236}">
                    <a16:creationId xmlns:a16="http://schemas.microsoft.com/office/drawing/2014/main" id="{EA6ED4FB-439C-BD3B-3B49-2107F5462E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6583" y="6549299"/>
                <a:ext cx="0" cy="57216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6650944" y="298505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7065733" y="197528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7584188" y="215860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7777640" y="233365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8121278" y="252931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7501274" y="228399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7677150" y="246020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7911944" y="265242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572" y="222150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1746" y="228315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71726" y="245676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11944" y="265242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7935359" y="397269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</p:grp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[1] 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02CFA-4AE9-C87A-A0C4-389C69A4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06CA8A-3E00-E06C-5092-F220B5B4A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BETOX Trapped Electron </a:t>
            </a:r>
            <a:r>
              <a:rPr lang="en-US" altLang="ko-KR" dirty="0" err="1"/>
              <a:t>Detrapping</a:t>
            </a:r>
            <a:endParaRPr lang="ko-KR" altLang="en-US" dirty="0"/>
          </a:p>
        </p:txBody>
      </p: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8F022FD0-ACA4-98C9-1A38-7C6A3D14B528}"/>
              </a:ext>
            </a:extLst>
          </p:cNvPr>
          <p:cNvGrpSpPr/>
          <p:nvPr/>
        </p:nvGrpSpPr>
        <p:grpSpPr>
          <a:xfrm>
            <a:off x="6677510" y="3178100"/>
            <a:ext cx="2200260" cy="3288813"/>
            <a:chOff x="4155873" y="5829539"/>
            <a:chExt cx="2200260" cy="3288813"/>
          </a:xfrm>
        </p:grpSpPr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B0CC0EDB-2980-8DDE-4097-192140646C78}"/>
                </a:ext>
              </a:extLst>
            </p:cNvPr>
            <p:cNvGrpSpPr/>
            <p:nvPr/>
          </p:nvGrpSpPr>
          <p:grpSpPr>
            <a:xfrm>
              <a:off x="4155873" y="5829539"/>
              <a:ext cx="2200260" cy="3288813"/>
              <a:chOff x="4155873" y="5829539"/>
              <a:chExt cx="2200260" cy="3288813"/>
            </a:xfrm>
          </p:grpSpPr>
          <p:pic>
            <p:nvPicPr>
              <p:cNvPr id="182" name="그림 181" descr="스크린샷, 디자인, 예술이(가) 표시된 사진&#10;&#10;자동 생성된 설명">
                <a:extLst>
                  <a:ext uri="{FF2B5EF4-FFF2-40B4-BE49-F238E27FC236}">
                    <a16:creationId xmlns:a16="http://schemas.microsoft.com/office/drawing/2014/main" id="{1B150861-9878-20FE-6E22-72F9ADF824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856" t="4775" r="29017"/>
              <a:stretch/>
            </p:blipFill>
            <p:spPr>
              <a:xfrm>
                <a:off x="4155873" y="6233981"/>
                <a:ext cx="1987554" cy="2588633"/>
              </a:xfrm>
              <a:prstGeom prst="rect">
                <a:avLst/>
              </a:prstGeom>
            </p:spPr>
          </p:pic>
          <p:sp>
            <p:nvSpPr>
              <p:cNvPr id="183" name="화살표: 아래쪽 182">
                <a:extLst>
                  <a:ext uri="{FF2B5EF4-FFF2-40B4-BE49-F238E27FC236}">
                    <a16:creationId xmlns:a16="http://schemas.microsoft.com/office/drawing/2014/main" id="{1C64350A-9879-73C9-D1DE-E01148706FE9}"/>
                  </a:ext>
                </a:extLst>
              </p:cNvPr>
              <p:cNvSpPr/>
              <p:nvPr/>
            </p:nvSpPr>
            <p:spPr>
              <a:xfrm rot="5400000">
                <a:off x="4689525" y="8049405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84" name="화살표: 아래쪽 183">
                <a:extLst>
                  <a:ext uri="{FF2B5EF4-FFF2-40B4-BE49-F238E27FC236}">
                    <a16:creationId xmlns:a16="http://schemas.microsoft.com/office/drawing/2014/main" id="{95479DC5-511F-5FE9-835F-62BFF680BF45}"/>
                  </a:ext>
                </a:extLst>
              </p:cNvPr>
              <p:cNvSpPr/>
              <p:nvPr/>
            </p:nvSpPr>
            <p:spPr>
              <a:xfrm rot="5400000">
                <a:off x="4592224" y="7919520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85" name="화살표: 아래쪽 184">
                <a:extLst>
                  <a:ext uri="{FF2B5EF4-FFF2-40B4-BE49-F238E27FC236}">
                    <a16:creationId xmlns:a16="http://schemas.microsoft.com/office/drawing/2014/main" id="{791B09F6-6D15-6365-BCD3-051BED19B053}"/>
                  </a:ext>
                </a:extLst>
              </p:cNvPr>
              <p:cNvSpPr/>
              <p:nvPr/>
            </p:nvSpPr>
            <p:spPr>
              <a:xfrm rot="5400000">
                <a:off x="4490073" y="7798983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016D00E6-C014-12C5-9B34-7FCB132CCD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6725" y="5896691"/>
                <a:ext cx="0" cy="1535906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>
                <a:extLst>
                  <a:ext uri="{FF2B5EF4-FFF2-40B4-BE49-F238E27FC236}">
                    <a16:creationId xmlns:a16="http://schemas.microsoft.com/office/drawing/2014/main" id="{DCC3EFDD-CB48-0F57-28AB-86599E6DC5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5459" y="5896691"/>
                <a:ext cx="0" cy="361474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F5BF1A-3EB7-8CBC-2AE9-CD40DB4EBCC4}"/>
                  </a:ext>
                </a:extLst>
              </p:cNvPr>
              <p:cNvSpPr txBox="1"/>
              <p:nvPr/>
            </p:nvSpPr>
            <p:spPr>
              <a:xfrm>
                <a:off x="4566176" y="5829539"/>
                <a:ext cx="1043735" cy="404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13"/>
                  <a:t>BETOX Region</a:t>
                </a:r>
              </a:p>
              <a:p>
                <a:pPr algn="ctr"/>
                <a:r>
                  <a:rPr lang="en-US" altLang="ko-KR" sz="1013"/>
                  <a:t>(ONO)</a:t>
                </a:r>
              </a:p>
            </p:txBody>
          </p:sp>
          <p:grpSp>
            <p:nvGrpSpPr>
              <p:cNvPr id="189" name="그룹 188">
                <a:extLst>
                  <a:ext uri="{FF2B5EF4-FFF2-40B4-BE49-F238E27FC236}">
                    <a16:creationId xmlns:a16="http://schemas.microsoft.com/office/drawing/2014/main" id="{118F26CA-DA88-FE1C-1AC6-9A8103B90415}"/>
                  </a:ext>
                </a:extLst>
              </p:cNvPr>
              <p:cNvGrpSpPr/>
              <p:nvPr/>
            </p:nvGrpSpPr>
            <p:grpSpPr>
              <a:xfrm>
                <a:off x="4409675" y="6265426"/>
                <a:ext cx="1427217" cy="2124973"/>
                <a:chOff x="4409675" y="6458070"/>
                <a:chExt cx="1427217" cy="2124973"/>
              </a:xfrm>
            </p:grpSpPr>
            <p:cxnSp>
              <p:nvCxnSpPr>
                <p:cNvPr id="200" name="직선 연결선 199">
                  <a:extLst>
                    <a:ext uri="{FF2B5EF4-FFF2-40B4-BE49-F238E27FC236}">
                      <a16:creationId xmlns:a16="http://schemas.microsoft.com/office/drawing/2014/main" id="{6CA1E149-AE62-AEA9-4EDD-780E246109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09675" y="7575550"/>
                  <a:ext cx="59199" cy="1007493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CCE48783-E6F8-F856-1E5F-E3D4BC4C2F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18201" y="7009769"/>
                  <a:ext cx="401449" cy="565781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385DC8FC-E4B8-F28F-58EF-8338CA7188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6700" y="7009769"/>
                  <a:ext cx="30143" cy="1009044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직선 연결선 202">
                  <a:extLst>
                    <a:ext uri="{FF2B5EF4-FFF2-40B4-BE49-F238E27FC236}">
                      <a16:creationId xmlns:a16="http://schemas.microsoft.com/office/drawing/2014/main" id="{75B69C6A-0495-04BC-9B14-50A3723823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883893" y="7924249"/>
                  <a:ext cx="157410" cy="94564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>
                  <a:extLst>
                    <a:ext uri="{FF2B5EF4-FFF2-40B4-BE49-F238E27FC236}">
                      <a16:creationId xmlns:a16="http://schemas.microsoft.com/office/drawing/2014/main" id="{BDEA1707-83EF-6FE2-B75D-2A1BA8354A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6775" y="6680200"/>
                  <a:ext cx="0" cy="1040384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직선 연결선 204">
                  <a:extLst>
                    <a:ext uri="{FF2B5EF4-FFF2-40B4-BE49-F238E27FC236}">
                      <a16:creationId xmlns:a16="http://schemas.microsoft.com/office/drawing/2014/main" id="{3196023A-72CE-2505-AA69-304117AC80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96775" y="6458070"/>
                  <a:ext cx="328684" cy="222130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E2C2599A-F5E0-5598-B565-837DF59006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609911" y="6482254"/>
                  <a:ext cx="115548" cy="1501065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A314CE9F-7296-2D91-7ABC-7F93C48CA7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626962" y="7909590"/>
                  <a:ext cx="209930" cy="73729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직선 연결선 207">
                  <a:extLst>
                    <a:ext uri="{FF2B5EF4-FFF2-40B4-BE49-F238E27FC236}">
                      <a16:creationId xmlns:a16="http://schemas.microsoft.com/office/drawing/2014/main" id="{1A430988-E3F7-73C3-C5B2-C66EE68EE4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49061" y="7718808"/>
                  <a:ext cx="341973" cy="205441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0" name="화살표: 아래쪽 189">
                <a:extLst>
                  <a:ext uri="{FF2B5EF4-FFF2-40B4-BE49-F238E27FC236}">
                    <a16:creationId xmlns:a16="http://schemas.microsoft.com/office/drawing/2014/main" id="{30F43438-227F-C99A-BE24-8BF92C956B59}"/>
                  </a:ext>
                </a:extLst>
              </p:cNvPr>
              <p:cNvSpPr/>
              <p:nvPr/>
            </p:nvSpPr>
            <p:spPr>
              <a:xfrm rot="19925906" flipH="1">
                <a:off x="5224310" y="7576453"/>
                <a:ext cx="188671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91" name="직선 연결선 190">
                <a:extLst>
                  <a:ext uri="{FF2B5EF4-FFF2-40B4-BE49-F238E27FC236}">
                    <a16:creationId xmlns:a16="http://schemas.microsoft.com/office/drawing/2014/main" id="{E8C01DC7-791B-4A74-43F2-CB9DDC35CB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5627" y="8304239"/>
                <a:ext cx="118266" cy="46488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2529AD0C-C28F-02DB-5D61-2264039B3938}"/>
                  </a:ext>
                </a:extLst>
              </p:cNvPr>
              <p:cNvSpPr txBox="1"/>
              <p:nvPr/>
            </p:nvSpPr>
            <p:spPr>
              <a:xfrm>
                <a:off x="4362450" y="8783517"/>
                <a:ext cx="1085850" cy="334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88"/>
                  <a:t>Trap-to-Band Tunneling Emission</a:t>
                </a:r>
                <a:endParaRPr lang="ko-KR" altLang="en-US" sz="788"/>
              </a:p>
            </p:txBody>
          </p:sp>
          <p:sp>
            <p:nvSpPr>
              <p:cNvPr id="194" name="화살표: 아래쪽 193">
                <a:extLst>
                  <a:ext uri="{FF2B5EF4-FFF2-40B4-BE49-F238E27FC236}">
                    <a16:creationId xmlns:a16="http://schemas.microsoft.com/office/drawing/2014/main" id="{283CB6CC-4823-540D-528E-2243C2EDA567}"/>
                  </a:ext>
                </a:extLst>
              </p:cNvPr>
              <p:cNvSpPr/>
              <p:nvPr/>
            </p:nvSpPr>
            <p:spPr>
              <a:xfrm rot="8800769" flipH="1">
                <a:off x="4945085" y="7362945"/>
                <a:ext cx="188671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902812" lon="2358286" rev="1722722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95" name="직선 연결선 194">
                <a:extLst>
                  <a:ext uri="{FF2B5EF4-FFF2-40B4-BE49-F238E27FC236}">
                    <a16:creationId xmlns:a16="http://schemas.microsoft.com/office/drawing/2014/main" id="{E1A415D3-4B26-4A0D-94BF-358842F564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5459" y="8217236"/>
                <a:ext cx="0" cy="361474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BD2A5A98-ABFD-BEE5-3591-F7D93E6F5542}"/>
                  </a:ext>
                </a:extLst>
              </p:cNvPr>
              <p:cNvSpPr txBox="1"/>
              <p:nvPr/>
            </p:nvSpPr>
            <p:spPr>
              <a:xfrm>
                <a:off x="5603199" y="8193932"/>
                <a:ext cx="752934" cy="404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13"/>
                  <a:t>CTN</a:t>
                </a:r>
              </a:p>
              <a:p>
                <a:pPr algn="ctr"/>
                <a:r>
                  <a:rPr lang="en-US" altLang="ko-KR" sz="1013"/>
                  <a:t>Region</a:t>
                </a:r>
              </a:p>
            </p:txBody>
          </p:sp>
          <p:sp>
            <p:nvSpPr>
              <p:cNvPr id="197" name="화살표: 아래쪽 196">
                <a:extLst>
                  <a:ext uri="{FF2B5EF4-FFF2-40B4-BE49-F238E27FC236}">
                    <a16:creationId xmlns:a16="http://schemas.microsoft.com/office/drawing/2014/main" id="{F57EA6A0-48DA-F547-4FB5-7CD1D313A355}"/>
                  </a:ext>
                </a:extLst>
              </p:cNvPr>
              <p:cNvSpPr/>
              <p:nvPr/>
            </p:nvSpPr>
            <p:spPr>
              <a:xfrm rot="1499914" flipH="1">
                <a:off x="4910895" y="7515700"/>
                <a:ext cx="128448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98" name="화살표: 아래쪽 197">
                <a:extLst>
                  <a:ext uri="{FF2B5EF4-FFF2-40B4-BE49-F238E27FC236}">
                    <a16:creationId xmlns:a16="http://schemas.microsoft.com/office/drawing/2014/main" id="{6D269ADA-E1F8-F6C7-2123-AC08F6AD9EF3}"/>
                  </a:ext>
                </a:extLst>
              </p:cNvPr>
              <p:cNvSpPr/>
              <p:nvPr/>
            </p:nvSpPr>
            <p:spPr>
              <a:xfrm rot="1499914" flipH="1">
                <a:off x="5348495" y="7790853"/>
                <a:ext cx="128448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pic>
            <p:nvPicPr>
              <p:cNvPr id="199" name="그림 198">
                <a:extLst>
                  <a:ext uri="{FF2B5EF4-FFF2-40B4-BE49-F238E27FC236}">
                    <a16:creationId xmlns:a16="http://schemas.microsoft.com/office/drawing/2014/main" id="{15FF8E80-68CC-58E2-A545-1FFFEC5982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alphaModFix amt="50000"/>
              </a:blip>
              <a:stretch>
                <a:fillRect/>
              </a:stretch>
            </p:blipFill>
            <p:spPr>
              <a:xfrm>
                <a:off x="4898933" y="7374919"/>
                <a:ext cx="138613" cy="233739"/>
              </a:xfrm>
              <a:prstGeom prst="rect">
                <a:avLst/>
              </a:prstGeom>
            </p:spPr>
          </p:pic>
        </p:grpSp>
        <p:sp>
          <p:nvSpPr>
            <p:cNvPr id="179" name="자유형: 도형 178">
              <a:extLst>
                <a:ext uri="{FF2B5EF4-FFF2-40B4-BE49-F238E27FC236}">
                  <a16:creationId xmlns:a16="http://schemas.microsoft.com/office/drawing/2014/main" id="{EF71FE24-2A38-E5EF-C1DC-1D2C5766FEF4}"/>
                </a:ext>
              </a:extLst>
            </p:cNvPr>
            <p:cNvSpPr/>
            <p:nvPr/>
          </p:nvSpPr>
          <p:spPr>
            <a:xfrm rot="10800000">
              <a:off x="4188337" y="7548539"/>
              <a:ext cx="939709" cy="111996"/>
            </a:xfrm>
            <a:custGeom>
              <a:avLst/>
              <a:gdLst>
                <a:gd name="connsiteX0" fmla="*/ 0 w 1054100"/>
                <a:gd name="connsiteY0" fmla="*/ 110186 h 199104"/>
                <a:gd name="connsiteX1" fmla="*/ 127000 w 1054100"/>
                <a:gd name="connsiteY1" fmla="*/ 2236 h 199104"/>
                <a:gd name="connsiteX2" fmla="*/ 285750 w 1054100"/>
                <a:gd name="connsiteY2" fmla="*/ 199086 h 199104"/>
                <a:gd name="connsiteX3" fmla="*/ 463550 w 1054100"/>
                <a:gd name="connsiteY3" fmla="*/ 14936 h 199104"/>
                <a:gd name="connsiteX4" fmla="*/ 609600 w 1054100"/>
                <a:gd name="connsiteY4" fmla="*/ 186386 h 199104"/>
                <a:gd name="connsiteX5" fmla="*/ 768350 w 1054100"/>
                <a:gd name="connsiteY5" fmla="*/ 33986 h 199104"/>
                <a:gd name="connsiteX6" fmla="*/ 844550 w 1054100"/>
                <a:gd name="connsiteY6" fmla="*/ 46686 h 199104"/>
                <a:gd name="connsiteX7" fmla="*/ 920750 w 1054100"/>
                <a:gd name="connsiteY7" fmla="*/ 116536 h 199104"/>
                <a:gd name="connsiteX8" fmla="*/ 1054100 w 1054100"/>
                <a:gd name="connsiteY8" fmla="*/ 122886 h 199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4100" h="199104">
                  <a:moveTo>
                    <a:pt x="0" y="110186"/>
                  </a:moveTo>
                  <a:cubicBezTo>
                    <a:pt x="39687" y="48802"/>
                    <a:pt x="79375" y="-12581"/>
                    <a:pt x="127000" y="2236"/>
                  </a:cubicBezTo>
                  <a:cubicBezTo>
                    <a:pt x="174625" y="17053"/>
                    <a:pt x="229658" y="196969"/>
                    <a:pt x="285750" y="199086"/>
                  </a:cubicBezTo>
                  <a:cubicBezTo>
                    <a:pt x="341842" y="201203"/>
                    <a:pt x="409575" y="17053"/>
                    <a:pt x="463550" y="14936"/>
                  </a:cubicBezTo>
                  <a:cubicBezTo>
                    <a:pt x="517525" y="12819"/>
                    <a:pt x="558800" y="183211"/>
                    <a:pt x="609600" y="186386"/>
                  </a:cubicBezTo>
                  <a:cubicBezTo>
                    <a:pt x="660400" y="189561"/>
                    <a:pt x="729192" y="57269"/>
                    <a:pt x="768350" y="33986"/>
                  </a:cubicBezTo>
                  <a:cubicBezTo>
                    <a:pt x="807508" y="10703"/>
                    <a:pt x="819150" y="32928"/>
                    <a:pt x="844550" y="46686"/>
                  </a:cubicBezTo>
                  <a:cubicBezTo>
                    <a:pt x="869950" y="60444"/>
                    <a:pt x="885825" y="103836"/>
                    <a:pt x="920750" y="116536"/>
                  </a:cubicBezTo>
                  <a:cubicBezTo>
                    <a:pt x="955675" y="129236"/>
                    <a:pt x="1004887" y="126061"/>
                    <a:pt x="1054100" y="122886"/>
                  </a:cubicBezTo>
                </a:path>
              </a:pathLst>
            </a:custGeom>
            <a:noFill/>
            <a:ln>
              <a:solidFill>
                <a:srgbClr val="002060"/>
              </a:solidFill>
              <a:prstDash val="dash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180" name="곱하기 기호 179">
              <a:extLst>
                <a:ext uri="{FF2B5EF4-FFF2-40B4-BE49-F238E27FC236}">
                  <a16:creationId xmlns:a16="http://schemas.microsoft.com/office/drawing/2014/main" id="{CBA223F7-B232-1A2D-94D2-5E76EF447290}"/>
                </a:ext>
              </a:extLst>
            </p:cNvPr>
            <p:cNvSpPr/>
            <p:nvPr/>
          </p:nvSpPr>
          <p:spPr>
            <a:xfrm>
              <a:off x="4567024" y="7440944"/>
              <a:ext cx="178638" cy="368545"/>
            </a:xfrm>
            <a:prstGeom prst="mathMultiply">
              <a:avLst/>
            </a:prstGeom>
            <a:solidFill>
              <a:srgbClr val="FF0000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1" name="그림 180">
              <a:extLst>
                <a:ext uri="{FF2B5EF4-FFF2-40B4-BE49-F238E27FC236}">
                  <a16:creationId xmlns:a16="http://schemas.microsoft.com/office/drawing/2014/main" id="{307CCB46-3ABB-127A-FAAF-8A3D9D498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50000"/>
            </a:blip>
            <a:srcRect l="1" t="4762" r="-1" b="-1"/>
            <a:stretch/>
          </p:blipFill>
          <p:spPr>
            <a:xfrm>
              <a:off x="4883892" y="7608658"/>
              <a:ext cx="155343" cy="208866"/>
            </a:xfrm>
            <a:prstGeom prst="rect">
              <a:avLst/>
            </a:prstGeom>
          </p:spPr>
        </p:pic>
      </p:grpSp>
      <p:sp>
        <p:nvSpPr>
          <p:cNvPr id="209" name="TextBox 208">
            <a:extLst>
              <a:ext uri="{FF2B5EF4-FFF2-40B4-BE49-F238E27FC236}">
                <a16:creationId xmlns:a16="http://schemas.microsoft.com/office/drawing/2014/main" id="{5EDE3C4A-CC2B-49A2-258D-B74433D57C7D}"/>
              </a:ext>
            </a:extLst>
          </p:cNvPr>
          <p:cNvSpPr txBox="1"/>
          <p:nvPr/>
        </p:nvSpPr>
        <p:spPr>
          <a:xfrm>
            <a:off x="827018" y="4028894"/>
            <a:ext cx="55708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선행연구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[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TTT trap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]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기반으로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보았을 때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profile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측정자료에 의하면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주요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mechanism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trap-to-band tunneling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임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9EFAC80-0F22-C8E0-9FBF-FA3954430E3E}"/>
              </a:ext>
            </a:extLst>
          </p:cNvPr>
          <p:cNvGrpSpPr/>
          <p:nvPr/>
        </p:nvGrpSpPr>
        <p:grpSpPr>
          <a:xfrm>
            <a:off x="302442" y="1107714"/>
            <a:ext cx="2389490" cy="2321286"/>
            <a:chOff x="1425895" y="5488309"/>
            <a:chExt cx="1801255" cy="174984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049283-9338-CD6C-AEC7-D734628B2046}"/>
                </a:ext>
              </a:extLst>
            </p:cNvPr>
            <p:cNvSpPr txBox="1"/>
            <p:nvPr/>
          </p:nvSpPr>
          <p:spPr>
            <a:xfrm>
              <a:off x="2573623" y="6804516"/>
              <a:ext cx="402808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n1</a:t>
              </a:r>
              <a:endParaRPr lang="ko-KR" altLang="en-US" sz="1100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86E0833D-D55B-9CD4-07AD-1E11DCDE3157}"/>
                </a:ext>
              </a:extLst>
            </p:cNvPr>
            <p:cNvSpPr/>
            <p:nvPr/>
          </p:nvSpPr>
          <p:spPr>
            <a:xfrm>
              <a:off x="1692868" y="5930050"/>
              <a:ext cx="1168400" cy="1308100"/>
            </a:xfrm>
            <a:custGeom>
              <a:avLst/>
              <a:gdLst>
                <a:gd name="connsiteX0" fmla="*/ 0 w 1168400"/>
                <a:gd name="connsiteY0" fmla="*/ 482600 h 1308100"/>
                <a:gd name="connsiteX1" fmla="*/ 292100 w 1168400"/>
                <a:gd name="connsiteY1" fmla="*/ 482600 h 1308100"/>
                <a:gd name="connsiteX2" fmla="*/ 374650 w 1168400"/>
                <a:gd name="connsiteY2" fmla="*/ 488950 h 1308100"/>
                <a:gd name="connsiteX3" fmla="*/ 469900 w 1168400"/>
                <a:gd name="connsiteY3" fmla="*/ 558800 h 1308100"/>
                <a:gd name="connsiteX4" fmla="*/ 514350 w 1168400"/>
                <a:gd name="connsiteY4" fmla="*/ 654050 h 1308100"/>
                <a:gd name="connsiteX5" fmla="*/ 514350 w 1168400"/>
                <a:gd name="connsiteY5" fmla="*/ 0 h 1308100"/>
                <a:gd name="connsiteX6" fmla="*/ 908050 w 1168400"/>
                <a:gd name="connsiteY6" fmla="*/ 825500 h 1308100"/>
                <a:gd name="connsiteX7" fmla="*/ 908050 w 1168400"/>
                <a:gd name="connsiteY7" fmla="*/ 1143000 h 1308100"/>
                <a:gd name="connsiteX8" fmla="*/ 1168400 w 1168400"/>
                <a:gd name="connsiteY8" fmla="*/ 1308100 h 1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68400" h="1308100">
                  <a:moveTo>
                    <a:pt x="0" y="482600"/>
                  </a:moveTo>
                  <a:lnTo>
                    <a:pt x="292100" y="482600"/>
                  </a:lnTo>
                  <a:lnTo>
                    <a:pt x="374650" y="488950"/>
                  </a:lnTo>
                  <a:lnTo>
                    <a:pt x="469900" y="558800"/>
                  </a:lnTo>
                  <a:lnTo>
                    <a:pt x="514350" y="654050"/>
                  </a:lnTo>
                  <a:lnTo>
                    <a:pt x="514350" y="0"/>
                  </a:lnTo>
                  <a:lnTo>
                    <a:pt x="908050" y="825500"/>
                  </a:lnTo>
                  <a:lnTo>
                    <a:pt x="908050" y="1143000"/>
                  </a:lnTo>
                  <a:lnTo>
                    <a:pt x="1168400" y="13081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6AA0B065-4873-01EB-4DB3-76E23F681695}"/>
                </a:ext>
              </a:extLst>
            </p:cNvPr>
            <p:cNvCxnSpPr>
              <a:cxnSpLocks/>
            </p:cNvCxnSpPr>
            <p:nvPr/>
          </p:nvCxnSpPr>
          <p:spPr>
            <a:xfrm>
              <a:off x="2234157" y="6463303"/>
              <a:ext cx="550930" cy="0"/>
            </a:xfrm>
            <a:prstGeom prst="straightConnector1">
              <a:avLst/>
            </a:prstGeom>
            <a:ln w="28575">
              <a:solidFill>
                <a:srgbClr val="FF350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3F819483-4FA9-F9CF-3F7F-9B7CC7198C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91354" y="6437903"/>
              <a:ext cx="412296" cy="0"/>
            </a:xfrm>
            <a:prstGeom prst="line">
              <a:avLst/>
            </a:prstGeom>
            <a:ln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2AE402-F62B-6336-8593-2FFDCA940A06}"/>
                </a:ext>
              </a:extLst>
            </p:cNvPr>
            <p:cNvSpPr txBox="1"/>
            <p:nvPr/>
          </p:nvSpPr>
          <p:spPr>
            <a:xfrm>
              <a:off x="1527289" y="6189408"/>
              <a:ext cx="697052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/>
                <a:t>Si-Channel</a:t>
              </a:r>
              <a:endParaRPr lang="ko-KR" altLang="en-US" sz="1100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C3A0B8FE-FAD4-8836-B9E8-C9B3C1BA4292}"/>
                </a:ext>
              </a:extLst>
            </p:cNvPr>
            <p:cNvSpPr/>
            <p:nvPr/>
          </p:nvSpPr>
          <p:spPr>
            <a:xfrm>
              <a:off x="2118459" y="6438900"/>
              <a:ext cx="78581" cy="123825"/>
            </a:xfrm>
            <a:custGeom>
              <a:avLst/>
              <a:gdLst>
                <a:gd name="connsiteX0" fmla="*/ 0 w 78581"/>
                <a:gd name="connsiteY0" fmla="*/ 4763 h 123825"/>
                <a:gd name="connsiteX1" fmla="*/ 52388 w 78581"/>
                <a:gd name="connsiteY1" fmla="*/ 45244 h 123825"/>
                <a:gd name="connsiteX2" fmla="*/ 78581 w 78581"/>
                <a:gd name="connsiteY2" fmla="*/ 123825 h 123825"/>
                <a:gd name="connsiteX3" fmla="*/ 78581 w 78581"/>
                <a:gd name="connsiteY3" fmla="*/ 0 h 123825"/>
                <a:gd name="connsiteX4" fmla="*/ 0 w 78581"/>
                <a:gd name="connsiteY4" fmla="*/ 4763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581" h="123825">
                  <a:moveTo>
                    <a:pt x="0" y="4763"/>
                  </a:moveTo>
                  <a:lnTo>
                    <a:pt x="52388" y="45244"/>
                  </a:lnTo>
                  <a:lnTo>
                    <a:pt x="78581" y="123825"/>
                  </a:lnTo>
                  <a:lnTo>
                    <a:pt x="78581" y="0"/>
                  </a:lnTo>
                  <a:lnTo>
                    <a:pt x="0" y="4763"/>
                  </a:lnTo>
                  <a:close/>
                </a:path>
              </a:pathLst>
            </a:custGeom>
            <a:solidFill>
              <a:srgbClr val="FF29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AB604A2-96F9-A17E-1BE2-E410E7D51089}"/>
                </a:ext>
              </a:extLst>
            </p:cNvPr>
            <p:cNvSpPr txBox="1"/>
            <p:nvPr/>
          </p:nvSpPr>
          <p:spPr>
            <a:xfrm>
              <a:off x="2251906" y="5832380"/>
              <a:ext cx="607806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BETOX</a:t>
              </a:r>
              <a:endParaRPr lang="ko-KR" altLang="en-US" sz="11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39C714-1434-DE0B-737C-B0328C917A24}"/>
                </a:ext>
              </a:extLst>
            </p:cNvPr>
            <p:cNvSpPr txBox="1"/>
            <p:nvPr/>
          </p:nvSpPr>
          <p:spPr>
            <a:xfrm>
              <a:off x="2287746" y="6062283"/>
              <a:ext cx="402808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o1</a:t>
              </a:r>
              <a:endParaRPr lang="ko-KR" altLang="en-US" sz="11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D80AB2B-6B31-3322-218B-2D3E770082B4}"/>
                </a:ext>
              </a:extLst>
            </p:cNvPr>
            <p:cNvSpPr txBox="1"/>
            <p:nvPr/>
          </p:nvSpPr>
          <p:spPr>
            <a:xfrm>
              <a:off x="1695639" y="6384928"/>
              <a:ext cx="439071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ko-KR" altLang="en-US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D6F820-CBE3-E6F1-5ADE-5B2ADC88ABD8}"/>
                </a:ext>
              </a:extLst>
            </p:cNvPr>
            <p:cNvSpPr txBox="1"/>
            <p:nvPr/>
          </p:nvSpPr>
          <p:spPr>
            <a:xfrm>
              <a:off x="1425895" y="5488309"/>
              <a:ext cx="1671588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Program 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(V</a:t>
              </a:r>
              <a:r>
                <a:rPr lang="en-US" altLang="ko-KR" sz="11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en-US" altLang="ko-KR" sz="11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altLang="ko-KR" sz="11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pgm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,)</a:t>
              </a:r>
              <a:endPara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B2441F-6E84-C899-8B50-DB8AC9ECB258}"/>
                </a:ext>
              </a:extLst>
            </p:cNvPr>
            <p:cNvSpPr txBox="1"/>
            <p:nvPr/>
          </p:nvSpPr>
          <p:spPr>
            <a:xfrm>
              <a:off x="2737512" y="6308421"/>
              <a:ext cx="489638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lang="en-US" altLang="ko-K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FN</a:t>
              </a:r>
              <a:endParaRPr lang="ko-KR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7A49C27-FE39-BC58-EA02-A9AB05B7DF6F}"/>
              </a:ext>
            </a:extLst>
          </p:cNvPr>
          <p:cNvGrpSpPr/>
          <p:nvPr/>
        </p:nvGrpSpPr>
        <p:grpSpPr>
          <a:xfrm>
            <a:off x="2536970" y="1107583"/>
            <a:ext cx="2349687" cy="2333644"/>
            <a:chOff x="3313708" y="5488178"/>
            <a:chExt cx="1749215" cy="173727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6382260-C3EB-5660-76BE-341891F4245D}"/>
                </a:ext>
              </a:extLst>
            </p:cNvPr>
            <p:cNvSpPr txBox="1"/>
            <p:nvPr/>
          </p:nvSpPr>
          <p:spPr>
            <a:xfrm>
              <a:off x="3320094" y="7009381"/>
              <a:ext cx="688143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100"/>
                <a:t>Si-Channel</a:t>
              </a:r>
              <a:endParaRPr lang="ko-KR" altLang="en-US" sz="1100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EA0C6900-6EE1-28C9-E3C3-28AE266FB7ED}"/>
                </a:ext>
              </a:extLst>
            </p:cNvPr>
            <p:cNvSpPr/>
            <p:nvPr/>
          </p:nvSpPr>
          <p:spPr>
            <a:xfrm>
              <a:off x="3571815" y="5930050"/>
              <a:ext cx="1041400" cy="1295400"/>
            </a:xfrm>
            <a:custGeom>
              <a:avLst/>
              <a:gdLst>
                <a:gd name="connsiteX0" fmla="*/ 0 w 1041400"/>
                <a:gd name="connsiteY0" fmla="*/ 1295400 h 1295400"/>
                <a:gd name="connsiteX1" fmla="*/ 400050 w 1041400"/>
                <a:gd name="connsiteY1" fmla="*/ 1295400 h 1295400"/>
                <a:gd name="connsiteX2" fmla="*/ 400050 w 1041400"/>
                <a:gd name="connsiteY2" fmla="*/ 368300 h 1295400"/>
                <a:gd name="connsiteX3" fmla="*/ 749300 w 1041400"/>
                <a:gd name="connsiteY3" fmla="*/ 0 h 1295400"/>
                <a:gd name="connsiteX4" fmla="*/ 749300 w 1041400"/>
                <a:gd name="connsiteY4" fmla="*/ 431800 h 1295400"/>
                <a:gd name="connsiteX5" fmla="*/ 1041400 w 1041400"/>
                <a:gd name="connsiteY5" fmla="*/ 2540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1400" h="1295400">
                  <a:moveTo>
                    <a:pt x="0" y="1295400"/>
                  </a:moveTo>
                  <a:lnTo>
                    <a:pt x="400050" y="1295400"/>
                  </a:lnTo>
                  <a:lnTo>
                    <a:pt x="400050" y="368300"/>
                  </a:lnTo>
                  <a:lnTo>
                    <a:pt x="749300" y="0"/>
                  </a:lnTo>
                  <a:lnTo>
                    <a:pt x="749300" y="431800"/>
                  </a:lnTo>
                  <a:lnTo>
                    <a:pt x="1041400" y="2540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58AF1CF0-6BFA-1D01-009C-24DD380851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00760" y="6547727"/>
              <a:ext cx="342900" cy="175022"/>
            </a:xfrm>
            <a:prstGeom prst="line">
              <a:avLst/>
            </a:prstGeom>
            <a:ln>
              <a:solidFill>
                <a:srgbClr val="FF29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9CD70CB8-1286-D50C-B74E-ED7CCA5E7A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7390" y="6635238"/>
              <a:ext cx="690742" cy="0"/>
            </a:xfrm>
            <a:prstGeom prst="straightConnector1">
              <a:avLst/>
            </a:prstGeom>
            <a:ln w="28575">
              <a:solidFill>
                <a:srgbClr val="FF350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ACA36470-331A-F044-827A-14264A3967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9528" y="6547727"/>
              <a:ext cx="412296" cy="0"/>
            </a:xfrm>
            <a:prstGeom prst="line">
              <a:avLst/>
            </a:prstGeom>
            <a:ln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1E06E01-D165-1F1E-42F1-FC97D0832022}"/>
                </a:ext>
              </a:extLst>
            </p:cNvPr>
            <p:cNvSpPr txBox="1"/>
            <p:nvPr/>
          </p:nvSpPr>
          <p:spPr>
            <a:xfrm>
              <a:off x="4282991" y="5973964"/>
              <a:ext cx="402808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n1</a:t>
              </a:r>
              <a:endParaRPr lang="ko-KR" altLang="en-US" sz="110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FEC287E-2B50-7A32-EA2A-087DFE40EA3C}"/>
                </a:ext>
              </a:extLst>
            </p:cNvPr>
            <p:cNvSpPr txBox="1"/>
            <p:nvPr/>
          </p:nvSpPr>
          <p:spPr>
            <a:xfrm>
              <a:off x="3913589" y="5930032"/>
              <a:ext cx="402808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o1</a:t>
              </a:r>
              <a:endParaRPr lang="ko-KR" altLang="en-US" sz="11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612F1FA-16A0-1323-3332-F4AB5E173E15}"/>
                </a:ext>
              </a:extLst>
            </p:cNvPr>
            <p:cNvSpPr txBox="1"/>
            <p:nvPr/>
          </p:nvSpPr>
          <p:spPr>
            <a:xfrm>
              <a:off x="4017936" y="5724658"/>
              <a:ext cx="607806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BETOX</a:t>
              </a:r>
              <a:endParaRPr lang="ko-KR" altLang="en-US" sz="1100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88083C4D-1FCF-774C-BFC6-45A7DDCAF86F}"/>
                </a:ext>
              </a:extLst>
            </p:cNvPr>
            <p:cNvSpPr/>
            <p:nvPr/>
          </p:nvSpPr>
          <p:spPr>
            <a:xfrm>
              <a:off x="3750979" y="6265258"/>
              <a:ext cx="597694" cy="118685"/>
            </a:xfrm>
            <a:custGeom>
              <a:avLst/>
              <a:gdLst>
                <a:gd name="connsiteX0" fmla="*/ 502444 w 502444"/>
                <a:gd name="connsiteY0" fmla="*/ 54390 h 118685"/>
                <a:gd name="connsiteX1" fmla="*/ 409575 w 502444"/>
                <a:gd name="connsiteY1" fmla="*/ 2003 h 118685"/>
                <a:gd name="connsiteX2" fmla="*/ 345281 w 502444"/>
                <a:gd name="connsiteY2" fmla="*/ 116303 h 118685"/>
                <a:gd name="connsiteX3" fmla="*/ 285750 w 502444"/>
                <a:gd name="connsiteY3" fmla="*/ 11528 h 118685"/>
                <a:gd name="connsiteX4" fmla="*/ 226219 w 502444"/>
                <a:gd name="connsiteY4" fmla="*/ 118684 h 118685"/>
                <a:gd name="connsiteX5" fmla="*/ 183356 w 502444"/>
                <a:gd name="connsiteY5" fmla="*/ 13909 h 118685"/>
                <a:gd name="connsiteX6" fmla="*/ 119063 w 502444"/>
                <a:gd name="connsiteY6" fmla="*/ 116303 h 118685"/>
                <a:gd name="connsiteX7" fmla="*/ 78581 w 502444"/>
                <a:gd name="connsiteY7" fmla="*/ 56772 h 118685"/>
                <a:gd name="connsiteX8" fmla="*/ 0 w 502444"/>
                <a:gd name="connsiteY8" fmla="*/ 56772 h 118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2444" h="118685">
                  <a:moveTo>
                    <a:pt x="502444" y="54390"/>
                  </a:moveTo>
                  <a:cubicBezTo>
                    <a:pt x="469106" y="23037"/>
                    <a:pt x="435769" y="-8316"/>
                    <a:pt x="409575" y="2003"/>
                  </a:cubicBezTo>
                  <a:cubicBezTo>
                    <a:pt x="383381" y="12322"/>
                    <a:pt x="365918" y="114716"/>
                    <a:pt x="345281" y="116303"/>
                  </a:cubicBezTo>
                  <a:cubicBezTo>
                    <a:pt x="324644" y="117890"/>
                    <a:pt x="305594" y="11131"/>
                    <a:pt x="285750" y="11528"/>
                  </a:cubicBezTo>
                  <a:cubicBezTo>
                    <a:pt x="265906" y="11925"/>
                    <a:pt x="243285" y="118287"/>
                    <a:pt x="226219" y="118684"/>
                  </a:cubicBezTo>
                  <a:cubicBezTo>
                    <a:pt x="209153" y="119081"/>
                    <a:pt x="201215" y="14306"/>
                    <a:pt x="183356" y="13909"/>
                  </a:cubicBezTo>
                  <a:cubicBezTo>
                    <a:pt x="165497" y="13512"/>
                    <a:pt x="136525" y="109159"/>
                    <a:pt x="119063" y="116303"/>
                  </a:cubicBezTo>
                  <a:cubicBezTo>
                    <a:pt x="101601" y="123447"/>
                    <a:pt x="98425" y="66694"/>
                    <a:pt x="78581" y="56772"/>
                  </a:cubicBezTo>
                  <a:cubicBezTo>
                    <a:pt x="58737" y="46850"/>
                    <a:pt x="29368" y="51811"/>
                    <a:pt x="0" y="56772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30" name="곱하기 기호 29">
              <a:extLst>
                <a:ext uri="{FF2B5EF4-FFF2-40B4-BE49-F238E27FC236}">
                  <a16:creationId xmlns:a16="http://schemas.microsoft.com/office/drawing/2014/main" id="{189BDFC1-A4A2-91E1-67B1-4CFED1B02119}"/>
                </a:ext>
              </a:extLst>
            </p:cNvPr>
            <p:cNvSpPr/>
            <p:nvPr/>
          </p:nvSpPr>
          <p:spPr>
            <a:xfrm>
              <a:off x="3993924" y="6143376"/>
              <a:ext cx="194392" cy="376625"/>
            </a:xfrm>
            <a:prstGeom prst="mathMultiply">
              <a:avLst/>
            </a:prstGeom>
            <a:solidFill>
              <a:srgbClr val="FF2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7B0065D0-D05A-8EFA-ED19-6D42A0EC3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43764" y="6242976"/>
              <a:ext cx="68314" cy="68314"/>
            </a:xfrm>
            <a:prstGeom prst="rect">
              <a:avLst/>
            </a:prstGeom>
          </p:spPr>
        </p:pic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23778246-7FFD-9A7C-E6A4-E7EBD6306310}"/>
                </a:ext>
              </a:extLst>
            </p:cNvPr>
            <p:cNvSpPr/>
            <p:nvPr/>
          </p:nvSpPr>
          <p:spPr>
            <a:xfrm>
              <a:off x="4416365" y="6311900"/>
              <a:ext cx="60409" cy="282575"/>
            </a:xfrm>
            <a:custGeom>
              <a:avLst/>
              <a:gdLst>
                <a:gd name="connsiteX0" fmla="*/ 0 w 60409"/>
                <a:gd name="connsiteY0" fmla="*/ 0 h 282575"/>
                <a:gd name="connsiteX1" fmla="*/ 50800 w 60409"/>
                <a:gd name="connsiteY1" fmla="*/ 92075 h 282575"/>
                <a:gd name="connsiteX2" fmla="*/ 60325 w 60409"/>
                <a:gd name="connsiteY2" fmla="*/ 282575 h 282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09" h="282575">
                  <a:moveTo>
                    <a:pt x="0" y="0"/>
                  </a:moveTo>
                  <a:cubicBezTo>
                    <a:pt x="20373" y="22489"/>
                    <a:pt x="40746" y="44979"/>
                    <a:pt x="50800" y="92075"/>
                  </a:cubicBezTo>
                  <a:cubicBezTo>
                    <a:pt x="60854" y="139171"/>
                    <a:pt x="60589" y="210873"/>
                    <a:pt x="60325" y="282575"/>
                  </a:cubicBezTo>
                </a:path>
              </a:pathLst>
            </a:custGeom>
            <a:noFill/>
            <a:ln>
              <a:solidFill>
                <a:srgbClr val="0000FF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1330A9B-B694-5153-97D5-CF5D1BB1C47E}"/>
                </a:ext>
              </a:extLst>
            </p:cNvPr>
            <p:cNvSpPr txBox="1"/>
            <p:nvPr/>
          </p:nvSpPr>
          <p:spPr>
            <a:xfrm>
              <a:off x="4549254" y="6416921"/>
              <a:ext cx="439071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ko-KR" altLang="en-US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17B0A07-3AB8-391A-9D8C-D45E4406AC48}"/>
                </a:ext>
              </a:extLst>
            </p:cNvPr>
            <p:cNvSpPr txBox="1"/>
            <p:nvPr/>
          </p:nvSpPr>
          <p:spPr>
            <a:xfrm>
              <a:off x="3313708" y="5488178"/>
              <a:ext cx="1749215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Retention 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(V</a:t>
              </a:r>
              <a:r>
                <a:rPr lang="en-US" altLang="ko-KR" sz="11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 V)</a:t>
              </a:r>
              <a:endParaRPr lang="en-US" altLang="ko-KR" sz="11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650D8C6-3DCC-A1C7-A6A5-D160A0567DF4}"/>
                </a:ext>
              </a:extLst>
            </p:cNvPr>
            <p:cNvSpPr txBox="1"/>
            <p:nvPr/>
          </p:nvSpPr>
          <p:spPr>
            <a:xfrm>
              <a:off x="3388432" y="6514025"/>
              <a:ext cx="489638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i="1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aseline="-25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TBT</a:t>
              </a:r>
              <a:endParaRPr lang="ko-KR" altLang="en-US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93B8EF8-B809-091B-DDC2-B2D67BCCA28D}"/>
                </a:ext>
              </a:extLst>
            </p:cNvPr>
            <p:cNvSpPr txBox="1"/>
            <p:nvPr/>
          </p:nvSpPr>
          <p:spPr>
            <a:xfrm>
              <a:off x="3421808" y="6107380"/>
              <a:ext cx="489638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DT</a:t>
              </a:r>
              <a:endParaRPr lang="ko-KR" altLang="en-US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61350C7B-0A88-595F-8911-74810F6666FF}"/>
              </a:ext>
            </a:extLst>
          </p:cNvPr>
          <p:cNvSpPr txBox="1"/>
          <p:nvPr/>
        </p:nvSpPr>
        <p:spPr>
          <a:xfrm>
            <a:off x="4882684" y="1302385"/>
            <a:ext cx="410567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Program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터널링이 일어날 만큼 강한 전기장이 걸리지만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상황에서는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direct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터널링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대신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trap-to-band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터널링이 주로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일어남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3AF5E-B0CA-1BEF-604C-E08AB0082CB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[1] 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31828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Trap-Band</a:t>
            </a:r>
            <a:r>
              <a:rPr lang="ko-KR" altLang="en-US" dirty="0"/>
              <a:t> </a:t>
            </a:r>
            <a:r>
              <a:rPr lang="en-US" altLang="ko-KR" dirty="0"/>
              <a:t>Emission Modeling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95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480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80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572000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[1] 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0B26E-D7EF-B0B7-2CB8-5143E6609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Trapped Electron </a:t>
            </a:r>
            <a:r>
              <a:rPr lang="en-US" altLang="ko-KR" dirty="0" err="1"/>
              <a:t>Detrapping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B9E240-0629-BB38-4F1A-31651C51E6ED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내의 전자들의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에서도 동일하게 모델링 적용 가능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EE526A-F38A-B804-66AD-0446ED93057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28" name="그림 27" descr="로고, 그래픽, 디자인이(가) 표시된 사진&#10;&#10;자동 생성된 설명">
            <a:extLst>
              <a:ext uri="{FF2B5EF4-FFF2-40B4-BE49-F238E27FC236}">
                <a16:creationId xmlns:a16="http://schemas.microsoft.com/office/drawing/2014/main" id="{D9283FB3-D2EA-71B6-0D43-832C5FA256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303" t="12315" r="12187"/>
          <a:stretch/>
        </p:blipFill>
        <p:spPr>
          <a:xfrm>
            <a:off x="879316" y="1497361"/>
            <a:ext cx="2064544" cy="2577269"/>
          </a:xfrm>
          <a:prstGeom prst="rect">
            <a:avLst/>
          </a:prstGeom>
        </p:spPr>
      </p:pic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683CB947-9797-7136-EFB0-3EE761F6EEA4}"/>
              </a:ext>
            </a:extLst>
          </p:cNvPr>
          <p:cNvCxnSpPr/>
          <p:nvPr/>
        </p:nvCxnSpPr>
        <p:spPr>
          <a:xfrm flipH="1" flipV="1">
            <a:off x="1540054" y="3351576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74B63A8-E235-4497-5093-7D94C692928B}"/>
              </a:ext>
            </a:extLst>
          </p:cNvPr>
          <p:cNvCxnSpPr/>
          <p:nvPr/>
        </p:nvCxnSpPr>
        <p:spPr>
          <a:xfrm flipH="1" flipV="1">
            <a:off x="1540054" y="3269423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3A5FE3D-1ECC-DD84-A284-F60E2954D76F}"/>
              </a:ext>
            </a:extLst>
          </p:cNvPr>
          <p:cNvCxnSpPr/>
          <p:nvPr/>
        </p:nvCxnSpPr>
        <p:spPr>
          <a:xfrm flipH="1" flipV="1">
            <a:off x="1540054" y="3187270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43B4534-DFB9-8E50-95CD-EABA02011F20}"/>
              </a:ext>
            </a:extLst>
          </p:cNvPr>
          <p:cNvCxnSpPr/>
          <p:nvPr/>
        </p:nvCxnSpPr>
        <p:spPr>
          <a:xfrm flipH="1" flipV="1">
            <a:off x="1540054" y="3105117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8CBFA218-0965-EAA5-2837-E7348413EC46}"/>
              </a:ext>
            </a:extLst>
          </p:cNvPr>
          <p:cNvCxnSpPr/>
          <p:nvPr/>
        </p:nvCxnSpPr>
        <p:spPr>
          <a:xfrm flipH="1" flipV="1">
            <a:off x="1540054" y="3022964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876A02E-A8A9-B268-4B9B-8878098356B1}"/>
              </a:ext>
            </a:extLst>
          </p:cNvPr>
          <p:cNvCxnSpPr/>
          <p:nvPr/>
        </p:nvCxnSpPr>
        <p:spPr>
          <a:xfrm flipH="1" flipV="1">
            <a:off x="1540054" y="2935107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1982F78C-7A9C-5942-2849-AFC20C870665}"/>
              </a:ext>
            </a:extLst>
          </p:cNvPr>
          <p:cNvCxnSpPr/>
          <p:nvPr/>
        </p:nvCxnSpPr>
        <p:spPr>
          <a:xfrm flipH="1" flipV="1">
            <a:off x="1540054" y="2859725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62E0603-9A36-C1DE-7D06-B99455C6AF91}"/>
              </a:ext>
            </a:extLst>
          </p:cNvPr>
          <p:cNvCxnSpPr/>
          <p:nvPr/>
        </p:nvCxnSpPr>
        <p:spPr>
          <a:xfrm flipH="1" flipV="1">
            <a:off x="1540054" y="2785996"/>
            <a:ext cx="126668" cy="38384"/>
          </a:xfrm>
          <a:prstGeom prst="straightConnector1">
            <a:avLst/>
          </a:prstGeom>
          <a:ln>
            <a:solidFill>
              <a:srgbClr val="BF76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4D2D558-A2D7-86C2-BAF0-913869202D05}"/>
              </a:ext>
            </a:extLst>
          </p:cNvPr>
          <p:cNvSpPr txBox="1"/>
          <p:nvPr/>
        </p:nvSpPr>
        <p:spPr>
          <a:xfrm>
            <a:off x="957153" y="4085693"/>
            <a:ext cx="16874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Trapped</a:t>
            </a:r>
            <a:r>
              <a:rPr lang="ko-KR" altLang="en-US" sz="1400" dirty="0"/>
              <a:t> </a:t>
            </a:r>
            <a:r>
              <a:rPr lang="en-US" altLang="ko-KR" sz="1400" dirty="0"/>
              <a:t>Electrons</a:t>
            </a:r>
            <a:endParaRPr lang="ko-KR" altLang="en-US" sz="1400" dirty="0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1D72DBFE-C971-F8C0-6846-92B874290EA1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1693704" y="3419389"/>
            <a:ext cx="107156" cy="6663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3317F8B3-E9BE-4B90-24B5-997D956FDD33}"/>
              </a:ext>
            </a:extLst>
          </p:cNvPr>
          <p:cNvCxnSpPr>
            <a:cxnSpLocks/>
            <a:endCxn id="38" idx="0"/>
          </p:cNvCxnSpPr>
          <p:nvPr/>
        </p:nvCxnSpPr>
        <p:spPr>
          <a:xfrm flipH="1">
            <a:off x="1800860" y="3429456"/>
            <a:ext cx="39287" cy="6562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C0F3FB5-4CDA-1A16-D2F8-01A712A3CEE0}"/>
              </a:ext>
            </a:extLst>
          </p:cNvPr>
          <p:cNvCxnSpPr>
            <a:cxnSpLocks/>
          </p:cNvCxnSpPr>
          <p:nvPr/>
        </p:nvCxnSpPr>
        <p:spPr>
          <a:xfrm flipH="1" flipV="1">
            <a:off x="1563478" y="2746494"/>
            <a:ext cx="257025" cy="7788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589CDBDA-86E8-390E-1093-FE541EA9EE82}"/>
              </a:ext>
            </a:extLst>
          </p:cNvPr>
          <p:cNvCxnSpPr>
            <a:cxnSpLocks/>
          </p:cNvCxnSpPr>
          <p:nvPr/>
        </p:nvCxnSpPr>
        <p:spPr>
          <a:xfrm flipH="1" flipV="1">
            <a:off x="1563478" y="2878293"/>
            <a:ext cx="257025" cy="7788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910BFD99-CD26-8CCB-1531-D10FA69ACEF2}"/>
              </a:ext>
            </a:extLst>
          </p:cNvPr>
          <p:cNvCxnSpPr>
            <a:cxnSpLocks/>
          </p:cNvCxnSpPr>
          <p:nvPr/>
        </p:nvCxnSpPr>
        <p:spPr>
          <a:xfrm flipH="1" flipV="1">
            <a:off x="1563478" y="3010092"/>
            <a:ext cx="257025" cy="7788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BBC5560-8F27-43DE-F80C-CD036F98D0FD}"/>
              </a:ext>
            </a:extLst>
          </p:cNvPr>
          <p:cNvCxnSpPr>
            <a:cxnSpLocks/>
          </p:cNvCxnSpPr>
          <p:nvPr/>
        </p:nvCxnSpPr>
        <p:spPr>
          <a:xfrm flipH="1" flipV="1">
            <a:off x="1563478" y="3141891"/>
            <a:ext cx="257025" cy="7788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659DB24F-59CA-2D35-7F79-22B40FC99AB8}"/>
              </a:ext>
            </a:extLst>
          </p:cNvPr>
          <p:cNvCxnSpPr>
            <a:cxnSpLocks/>
          </p:cNvCxnSpPr>
          <p:nvPr/>
        </p:nvCxnSpPr>
        <p:spPr>
          <a:xfrm flipH="1" flipV="1">
            <a:off x="1563478" y="3273690"/>
            <a:ext cx="257025" cy="7788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0097355-F4A7-EC4F-6957-BDBD02958024}"/>
              </a:ext>
            </a:extLst>
          </p:cNvPr>
          <p:cNvCxnSpPr>
            <a:cxnSpLocks/>
          </p:cNvCxnSpPr>
          <p:nvPr/>
        </p:nvCxnSpPr>
        <p:spPr>
          <a:xfrm flipH="1" flipV="1">
            <a:off x="1956394" y="2961254"/>
            <a:ext cx="326431" cy="98918"/>
          </a:xfrm>
          <a:prstGeom prst="straightConnector1">
            <a:avLst/>
          </a:prstGeom>
          <a:ln>
            <a:solidFill>
              <a:srgbClr val="FFFF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61F4608-2DFB-30FC-1703-FEBAF566A476}"/>
              </a:ext>
            </a:extLst>
          </p:cNvPr>
          <p:cNvCxnSpPr>
            <a:cxnSpLocks/>
          </p:cNvCxnSpPr>
          <p:nvPr/>
        </p:nvCxnSpPr>
        <p:spPr>
          <a:xfrm flipH="1" flipV="1">
            <a:off x="1956394" y="3120243"/>
            <a:ext cx="326431" cy="98918"/>
          </a:xfrm>
          <a:prstGeom prst="straightConnector1">
            <a:avLst/>
          </a:prstGeom>
          <a:ln>
            <a:solidFill>
              <a:srgbClr val="FFFF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F4811C3-81CD-3DAB-2C09-81AFFD2D3C6D}"/>
              </a:ext>
            </a:extLst>
          </p:cNvPr>
          <p:cNvCxnSpPr>
            <a:cxnSpLocks/>
          </p:cNvCxnSpPr>
          <p:nvPr/>
        </p:nvCxnSpPr>
        <p:spPr>
          <a:xfrm flipH="1" flipV="1">
            <a:off x="1956394" y="3279232"/>
            <a:ext cx="326431" cy="98918"/>
          </a:xfrm>
          <a:prstGeom prst="straightConnector1">
            <a:avLst/>
          </a:prstGeom>
          <a:ln>
            <a:solidFill>
              <a:srgbClr val="FFFF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C7665B8-B8A6-9E87-D8CF-E9B011DA6BB8}"/>
              </a:ext>
            </a:extLst>
          </p:cNvPr>
          <p:cNvSpPr txBox="1"/>
          <p:nvPr/>
        </p:nvSpPr>
        <p:spPr>
          <a:xfrm>
            <a:off x="3413733" y="2714452"/>
            <a:ext cx="56183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기존모델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(Amoroso, TED 2011)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문제점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uniform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대해서만 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Vth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계산식 최적화 과정이 없음</a:t>
            </a:r>
          </a:p>
        </p:txBody>
      </p:sp>
    </p:spTree>
    <p:extLst>
      <p:ext uri="{BB962C8B-B14F-4D97-AF65-F5344CB8AC3E}">
        <p14:creationId xmlns:p14="http://schemas.microsoft.com/office/powerpoint/2010/main" val="2899342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671731" y="785089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1579633" y="3519047"/>
            <a:ext cx="6169658" cy="1122848"/>
            <a:chOff x="2303921" y="4220082"/>
            <a:chExt cx="6169658" cy="1122848"/>
          </a:xfrm>
        </p:grpSpPr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25162DB8-D71E-3D6E-0CBF-F5D091B333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3921" y="4254549"/>
              <a:ext cx="0" cy="95578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166CA115-5C10-73ED-7A13-C9E71F172F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1372" y="4254549"/>
              <a:ext cx="0" cy="7499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DBC98D01-5EE4-7BA8-DBCF-0CCD74F89A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26531" y="4254549"/>
              <a:ext cx="0" cy="7499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10B0BC5A-C879-DAB9-CE86-5777A05911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81689" y="4254549"/>
              <a:ext cx="0" cy="7499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88735B84-21B4-7313-B365-6BAF35FABD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36850" y="4254549"/>
              <a:ext cx="0" cy="7499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4A79BF57-6C88-866C-EF26-211279E42C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10827" y="4254549"/>
              <a:ext cx="0" cy="7499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6A8FC97-1FC9-2971-C045-4142D9BE8B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63799" y="4254549"/>
              <a:ext cx="0" cy="7499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16391A00-B659-E3CF-941B-F775D50A4F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72375" y="4254549"/>
              <a:ext cx="0" cy="95578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803685" y="4220082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3685" y="4220082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388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76128" y="4220082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6128" y="4220082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388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50900" y="4220082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0900" y="4220082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6316" b="-1388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5003864" y="4220082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3864" y="4220082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388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603838" y="4220082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3838" y="4220082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4390" b="-1388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55852" y="4220082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55852" y="4220082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4706" b="-1388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C8D8AC-AEFF-D5A6-D281-6AC193551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075484-5CCB-2978-5C9A-D5B3140D7696}"/>
              </a:ext>
            </a:extLst>
          </p:cNvPr>
          <p:cNvSpPr txBox="1"/>
          <p:nvPr/>
        </p:nvSpPr>
        <p:spPr>
          <a:xfrm>
            <a:off x="527900" y="1159497"/>
            <a:ext cx="75602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ex) Uniform distribution : </a:t>
            </a:r>
            <a:r>
              <a:rPr lang="el-GR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Q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Q, </a:t>
            </a:r>
            <a:r>
              <a:rPr lang="el-GR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Q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-Q , else </a:t>
            </a:r>
            <a:r>
              <a:rPr lang="el-GR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Q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0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D375C53-8C59-7284-E873-07AEA37AD020}"/>
              </a:ext>
            </a:extLst>
          </p:cNvPr>
          <p:cNvGrpSpPr/>
          <p:nvPr/>
        </p:nvGrpSpPr>
        <p:grpSpPr>
          <a:xfrm>
            <a:off x="1579633" y="1784515"/>
            <a:ext cx="6169658" cy="1122848"/>
            <a:chOff x="2303921" y="4220082"/>
            <a:chExt cx="6169658" cy="1122848"/>
          </a:xfrm>
        </p:grpSpPr>
        <p:cxnSp>
          <p:nvCxnSpPr>
            <p:cNvPr id="5" name="직선 연결선 4">
              <a:extLst>
                <a:ext uri="{FF2B5EF4-FFF2-40B4-BE49-F238E27FC236}">
                  <a16:creationId xmlns:a16="http://schemas.microsoft.com/office/drawing/2014/main" id="{B10B4F97-F672-D0E7-EDAE-79D53114C1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3921" y="4254549"/>
              <a:ext cx="0" cy="95578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615E29B1-CA02-C160-0930-E8461E76E8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1372" y="4254549"/>
              <a:ext cx="0" cy="7499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DC039757-139E-CD55-989E-15D5A65077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63799" y="4254549"/>
              <a:ext cx="0" cy="7499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05CD96F4-E961-61B7-0BE3-D8B2B91A37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72375" y="4254549"/>
              <a:ext cx="0" cy="95578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8A46A11F-928C-A85E-DBE7-0B2ECDD33757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9FFA3A7-FD53-DA95-0D19-F281878B6509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60" name="직선 연결선 59">
                <a:extLst>
                  <a:ext uri="{FF2B5EF4-FFF2-40B4-BE49-F238E27FC236}">
                    <a16:creationId xmlns:a16="http://schemas.microsoft.com/office/drawing/2014/main" id="{E9AF5B37-45E0-3135-8E4C-B17B9A272E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E77637B1-3167-0C0E-D169-AD16C9A596E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1EB5F000-C10B-56B7-4FF7-50C7EE00DFC8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9A66D278-398C-8231-8D31-93C724A0A81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32F379FC-3F55-4885-B212-4EA52BAFAC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E1274FC6-E044-0BE8-6E6C-275BBCDDD7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5AAA97DD-3A1F-7881-5080-AD64DDF567E3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B13EFCC4-16C9-851D-BBEF-DD1E29B85D12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85F5BEEB-24D2-0F04-ADF2-137252F337D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1C3E59D5-7D1F-4D41-8565-806E6C8F321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A79DC533-FA2A-DABD-34D7-CA44FD80ECE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520E68E9-93C2-1051-7A8B-C8EFD19403EC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EE123F9D-67BE-3F47-3366-7FDCA0C058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B18F3900-2A4F-AD74-6D98-66266F68260C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2BF830C5-FBCA-A0D7-BBA1-1679A397C4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ABE93F47-BB83-7090-FD82-4A630A2C37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24D32359-C0B5-AA83-A973-6B034B515B81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0C899956-A50E-3A1D-F725-E933D6787D3F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D6D5CA57-AFA3-9A9F-97C4-6298EC688C7B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451BA6E6-D67D-02AB-77D3-0758F4D32D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3B2DE77C-640D-4B5E-4CEC-63D7BCFE60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074469C3-2468-6BA0-905F-7B22430CD81E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FEDB0785-AD13-2C81-9A37-629D15D705CA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6AFF35DD-C939-F188-302B-3FF8D11BC08F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B780738-36CC-91B9-9484-E31B51FD7239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002BE34F-5012-F6B9-A449-887120815E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>
                <a:extLst>
                  <a:ext uri="{FF2B5EF4-FFF2-40B4-BE49-F238E27FC236}">
                    <a16:creationId xmlns:a16="http://schemas.microsoft.com/office/drawing/2014/main" id="{17AD6DB6-CA92-2E8B-178F-95BEAE79B6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18334218-D39B-7C33-F3AC-F40F16744BFD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DF50318-90B0-71FD-50B3-017F531E2969}"/>
                    </a:ext>
                  </a:extLst>
                </p:cNvPr>
                <p:cNvSpPr txBox="1"/>
                <p:nvPr/>
              </p:nvSpPr>
              <p:spPr>
                <a:xfrm>
                  <a:off x="2803685" y="4220082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DF50318-90B0-71FD-50B3-017F531E29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3685" y="4220082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55A4D9F2-F1A7-D596-6152-A17DA3765DCD}"/>
                    </a:ext>
                  </a:extLst>
                </p:cNvPr>
                <p:cNvSpPr txBox="1"/>
                <p:nvPr/>
              </p:nvSpPr>
              <p:spPr>
                <a:xfrm>
                  <a:off x="3876128" y="4220082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55A4D9F2-F1A7-D596-6152-A17DA3765D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6128" y="4220082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32247A2-C443-3B2F-556A-6984FE328BD2}"/>
                    </a:ext>
                  </a:extLst>
                </p:cNvPr>
                <p:cNvSpPr txBox="1"/>
                <p:nvPr/>
              </p:nvSpPr>
              <p:spPr>
                <a:xfrm>
                  <a:off x="4450900" y="4220082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32247A2-C443-3B2F-556A-6984FE328B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0900" y="4220082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17E5151-CBA6-2651-BB93-D9980B7D48F4}"/>
                    </a:ext>
                  </a:extLst>
                </p:cNvPr>
                <p:cNvSpPr txBox="1"/>
                <p:nvPr/>
              </p:nvSpPr>
              <p:spPr>
                <a:xfrm>
                  <a:off x="5003864" y="4220082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17E5151-CBA6-2651-BB93-D9980B7D48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3864" y="4220082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9CEC562-43B2-4A12-EF3B-6ACC5CBBF1E0}"/>
                    </a:ext>
                  </a:extLst>
                </p:cNvPr>
                <p:cNvSpPr txBox="1"/>
                <p:nvPr/>
              </p:nvSpPr>
              <p:spPr>
                <a:xfrm>
                  <a:off x="6603838" y="4220082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9CEC562-43B2-4A12-EF3B-6ACC5CBBF1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3838" y="4220082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439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2C98A84-3C7D-3A5D-70BF-90B7FE58B470}"/>
                    </a:ext>
                  </a:extLst>
                </p:cNvPr>
                <p:cNvSpPr txBox="1"/>
                <p:nvPr/>
              </p:nvSpPr>
              <p:spPr>
                <a:xfrm>
                  <a:off x="7555852" y="4220082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2C98A84-3C7D-3A5D-70BF-90B7FE58B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55852" y="4220082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470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1C8B33-9C97-1E4B-88AB-0B9B520C6CA0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EE33454-FD55-03E3-A7D4-DA1A75B7C8AB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2C3C9A77-0AF4-27E0-9508-8FC5B155CA99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2E970770-96AE-F632-633A-24CC8462889B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206F04DE-4188-397E-EEF7-D7F00CF1B2D5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4708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A1212BA6-593B-5935-099D-08C108893F42}"/>
                    </a:ext>
                  </a:extLst>
                </p:cNvPr>
                <p:cNvSpPr txBox="1"/>
                <p:nvPr/>
              </p:nvSpPr>
              <p:spPr>
                <a:xfrm>
                  <a:off x="5714096" y="4788932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A1212BA6-593B-5935-099D-08C108893F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4096" y="4788932"/>
                  <a:ext cx="226023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810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8553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57813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Potential Solution: Poisson equation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879689" y="963561"/>
            <a:ext cx="25170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Boundary conditions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Solution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Then…</a:t>
            </a:r>
          </a:p>
          <a:p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5221639" y="5797541"/>
            <a:ext cx="19615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Optimization!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101419" y="5997596"/>
            <a:ext cx="21202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276" y="1050177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8505" y="1743261"/>
            <a:ext cx="2370953" cy="58698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5345" y="2721821"/>
            <a:ext cx="3813982" cy="4335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45523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Equivalent channel field intensity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1836896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By Cramer’s rule,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E407A-4361-331A-4C48-DCCF1EF9A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167D83-D14C-2A1F-C38B-F2B1B5D37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134F614-5A3B-D521-C1B8-0EE3DA3B4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345" y="1239792"/>
            <a:ext cx="3813982" cy="433598"/>
          </a:xfrm>
          <a:prstGeom prst="rect">
            <a:avLst/>
          </a:prstGeom>
        </p:spPr>
      </p:pic>
      <p:pic>
        <p:nvPicPr>
          <p:cNvPr id="12" name="그림 11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BEE82D-C675-6B9E-6312-D16F1FDD7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514" y="1923651"/>
            <a:ext cx="5613595" cy="24306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51972AA-673D-92C3-7122-A46E58BE71E6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76774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8" y="1120462"/>
            <a:ext cx="61818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Main Idea: simulation done with initial condition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=&gt; different from time stepping transient simulation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89EBAB40-DF68-1C55-F411-6EF90C330B79}"/>
              </a:ext>
            </a:extLst>
          </p:cNvPr>
          <p:cNvCxnSpPr>
            <a:cxnSpLocks/>
          </p:cNvCxnSpPr>
          <p:nvPr/>
        </p:nvCxnSpPr>
        <p:spPr>
          <a:xfrm flipH="1">
            <a:off x="5740924" y="2576839"/>
            <a:ext cx="748776" cy="31372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10">
            <a:extLst>
              <a:ext uri="{FF2B5EF4-FFF2-40B4-BE49-F238E27FC236}">
                <a16:creationId xmlns:a16="http://schemas.microsoft.com/office/drawing/2014/main" id="{CAD10C1F-D58C-1390-7520-D765C6608A24}"/>
              </a:ext>
            </a:extLst>
          </p:cNvPr>
          <p:cNvSpPr/>
          <p:nvPr/>
        </p:nvSpPr>
        <p:spPr>
          <a:xfrm>
            <a:off x="4975557" y="5787523"/>
            <a:ext cx="4061101" cy="4857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계산 비용은 final retention time 자체가 아니라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trap bin 수와 evaluated time point 수에 의해 결정</a:t>
            </a:r>
            <a:endParaRPr lang="en-US" sz="14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FA9A292C-1EB9-1AA8-FC46-AEC906E07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48" y="2465655"/>
            <a:ext cx="4781669" cy="1848912"/>
          </a:xfrm>
          <a:prstGeom prst="rect">
            <a:avLst/>
          </a:prstGeom>
        </p:spPr>
      </p:pic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06A91F-EB43-550F-B4D1-43300861B55A}"/>
              </a:ext>
            </a:extLst>
          </p:cNvPr>
          <p:cNvSpPr txBox="1"/>
          <p:nvPr/>
        </p:nvSpPr>
        <p:spPr>
          <a:xfrm>
            <a:off x="671848" y="1120462"/>
            <a:ext cx="61818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Main Idea: simulation done with initial condition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=&gt; different from time stepping transient simulation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1128"/>
          <a:stretch>
            <a:fillRect/>
          </a:stretch>
        </p:blipFill>
        <p:spPr>
          <a:xfrm>
            <a:off x="505165" y="4391000"/>
            <a:ext cx="4948352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372"/>
          <a:stretch>
            <a:fillRect/>
          </a:stretch>
        </p:blipFill>
        <p:spPr>
          <a:xfrm>
            <a:off x="94129" y="3308745"/>
            <a:ext cx="5743704" cy="1925452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F7D2F6AC-3555-A4C6-508B-B9D90BA65DCE}"/>
              </a:ext>
            </a:extLst>
          </p:cNvPr>
          <p:cNvSpPr/>
          <p:nvPr/>
        </p:nvSpPr>
        <p:spPr>
          <a:xfrm>
            <a:off x="3708400" y="5718931"/>
            <a:ext cx="5328259" cy="61717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computation</a:t>
            </a:r>
            <a:r>
              <a:rPr lang="ko-KR" alt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altLang="ko-KR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resource</a:t>
            </a:r>
            <a:r>
              <a:rPr lang="ko-KR" alt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는 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 retention time 자체가 아니라</a:t>
            </a:r>
            <a:endParaRPr lang="en-US" sz="1450" dirty="0"/>
          </a:p>
          <a:p>
            <a:pPr marL="0" indent="0" algn="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trap bin 수와 evaluated time point 수에 의해 결정</a:t>
            </a:r>
            <a:endParaRPr lang="en-US" sz="145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E19DA4-6125-82C1-82C9-423A53008687}"/>
              </a:ext>
            </a:extLst>
          </p:cNvPr>
          <p:cNvSpPr txBox="1"/>
          <p:nvPr/>
        </p:nvSpPr>
        <p:spPr>
          <a:xfrm>
            <a:off x="671848" y="1120462"/>
            <a:ext cx="61818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Main Idea: simulation done with initial condition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=&gt; different from time stepping transient simulation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996952" y="5405026"/>
            <a:ext cx="1422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state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405026"/>
            <a:ext cx="26409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/>
          <p:nvPr/>
        </p:nvCxnSpPr>
        <p:spPr>
          <a:xfrm flipH="1">
            <a:off x="2120900" y="4965700"/>
            <a:ext cx="609600" cy="474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3582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Iteration</a:t>
            </a:r>
            <a:r>
              <a:rPr lang="ko-KR" altLang="en-US" dirty="0"/>
              <a:t> </a:t>
            </a:r>
            <a:r>
              <a:rPr lang="en-US" altLang="ko-KR" dirty="0"/>
              <a:t>Test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F16C545-3123-68E3-6748-FEE2132DD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7" y="1056797"/>
            <a:ext cx="7490481" cy="303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AF3F79-6A8A-8036-C0EA-5795BB86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D0C03B-AB43-3256-A1E2-5EEE9F5EB919}"/>
              </a:ext>
            </a:extLst>
          </p:cNvPr>
          <p:cNvSpPr txBox="1"/>
          <p:nvPr/>
        </p:nvSpPr>
        <p:spPr>
          <a:xfrm>
            <a:off x="6500047" y="3629338"/>
            <a:ext cx="23355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Measurement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Refaldi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IRPS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DE3B60B-6694-A2A6-F560-C9BB3B565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76" y="1434183"/>
            <a:ext cx="5515526" cy="3418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ED8035-BA60-EBB1-D663-6D0EA6820F51}"/>
              </a:ext>
            </a:extLst>
          </p:cNvPr>
          <p:cNvSpPr txBox="1"/>
          <p:nvPr/>
        </p:nvSpPr>
        <p:spPr>
          <a:xfrm>
            <a:off x="751437" y="4763430"/>
            <a:ext cx="77950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 condition (~ 4.2K) : physical separation of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effect from vertical retention loss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Separation of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effect </a:t>
            </a:r>
            <a:r>
              <a:rPr lang="en-US" altLang="ko-KR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measurement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9748CA-8A3C-2756-E4D8-C7F53508008F}"/>
              </a:ext>
            </a:extLst>
          </p:cNvPr>
          <p:cNvSpPr txBox="1"/>
          <p:nvPr/>
        </p:nvSpPr>
        <p:spPr>
          <a:xfrm>
            <a:off x="490376" y="1034073"/>
            <a:ext cx="46711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Why cryogenic?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C86065-8388-B37B-29BE-E2B0CA5C8CA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77947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CDBA3E-99CC-2403-9B66-32F6B0A6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3CD0B-A0FD-3F51-70EB-3DB1DD6CF2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34" y="1191384"/>
            <a:ext cx="7584932" cy="256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955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8501025"/>
              </p:ext>
            </p:extLst>
          </p:nvPr>
        </p:nvGraphicFramePr>
        <p:xfrm>
          <a:off x="3833310" y="210677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33310" y="210677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0946794"/>
              </p:ext>
            </p:extLst>
          </p:nvPr>
        </p:nvGraphicFramePr>
        <p:xfrm>
          <a:off x="329810" y="210677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10677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188515" y="2849477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354198" y="3618934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838200" y="950583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Measurement – TCAD calibration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1469293"/>
            <a:ext cx="4002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 cryogenic: σ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 [cm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]</a:t>
            </a: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950583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model – TCAD match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236915" y="1469293"/>
            <a:ext cx="27104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20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evaluation of Eq. (13)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[2] 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2948</TotalTime>
  <Words>831</Words>
  <Application>Microsoft Office PowerPoint</Application>
  <PresentationFormat>화면 슬라이드 쇼(4:3)</PresentationFormat>
  <Paragraphs>208</Paragraphs>
  <Slides>19</Slides>
  <Notes>1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Noto Sans CJK KR</vt:lpstr>
      <vt:lpstr>맑은 고딕</vt:lpstr>
      <vt:lpstr>Arial</vt:lpstr>
      <vt:lpstr>Calibri</vt:lpstr>
      <vt:lpstr>Cambria Math</vt:lpstr>
      <vt:lpstr>Times New Roman</vt:lpstr>
      <vt:lpstr>Office 테마</vt:lpstr>
      <vt:lpstr>Graph</vt:lpstr>
      <vt:lpstr>Time-Step-Free Physics-based Modeling of 3-D NAND Flash Memories</vt:lpstr>
      <vt:lpstr>Content</vt:lpstr>
      <vt:lpstr>Trap-to-band Detrapping Mechanism</vt:lpstr>
      <vt:lpstr>BETOX Trapped Electron Detrapping</vt:lpstr>
      <vt:lpstr>Trap-Band Emission Modeling</vt:lpstr>
      <vt:lpstr>CTN Trapped Electron Detrapping</vt:lpstr>
      <vt:lpstr>Visualization of Charge Node Analysis</vt:lpstr>
      <vt:lpstr>Visualization of Charge Node Analysis</vt:lpstr>
      <vt:lpstr>Detailed Poisson Solution</vt:lpstr>
      <vt:lpstr>Q-ΔVth Optimized Calculation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Iteration Test</vt:lpstr>
      <vt:lpstr>Cryogenic-like Emulation</vt:lpstr>
      <vt:lpstr>Cryogenic-like Emulation</vt:lpstr>
      <vt:lpstr>Cryogenic-like Emulation</vt:lpstr>
      <vt:lpstr>Computational Impact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 JIN</cp:lastModifiedBy>
  <cp:revision>975</cp:revision>
  <dcterms:created xsi:type="dcterms:W3CDTF">2016-06-02T05:19:04Z</dcterms:created>
  <dcterms:modified xsi:type="dcterms:W3CDTF">2026-07-07T08:39:38Z</dcterms:modified>
  <cp:version/>
</cp:coreProperties>
</file>