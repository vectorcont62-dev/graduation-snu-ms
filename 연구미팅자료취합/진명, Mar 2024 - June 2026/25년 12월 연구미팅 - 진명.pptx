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>
  <p:sldMasterIdLst>
    <p:sldMasterId id="2147483672" r:id="rId1"/>
  </p:sldMasterIdLst>
  <p:notesMasterIdLst>
    <p:notesMasterId r:id="rId8"/>
  </p:notesMasterIdLst>
  <p:sldIdLst>
    <p:sldId id="314" r:id="rId2"/>
    <p:sldId id="315" r:id="rId3"/>
    <p:sldId id="318" r:id="rId4"/>
    <p:sldId id="316" r:id="rId5"/>
    <p:sldId id="319" r:id="rId6"/>
    <p:sldId id="317" r:id="rId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3333FF"/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E4B6E6-EE86-4125-BEEE-8AD257CFD268}" v="15" dt="2025-12-30T04:48:09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49" autoAdjust="0"/>
    <p:restoredTop sz="97300" autoAdjust="0"/>
  </p:normalViewPr>
  <p:slideViewPr>
    <p:cSldViewPr snapToGrid="0">
      <p:cViewPr varScale="1">
        <p:scale>
          <a:sx n="151" d="100"/>
          <a:sy n="151" d="100"/>
        </p:scale>
        <p:origin x="1914" y="10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1442CAFF-C376-405E-80FE-32277BA9AD5E}"/>
    <pc:docChg chg="custSel addSld delSld modSld sldOrd">
      <pc:chgData name="MYUNG JIN" userId="89f3fa32ababedc4" providerId="LiveId" clId="{1442CAFF-C376-405E-80FE-32277BA9AD5E}" dt="2025-12-30T04:48:09.322" v="775"/>
      <pc:docMkLst>
        <pc:docMk/>
      </pc:docMkLst>
      <pc:sldChg chg="modSp mod">
        <pc:chgData name="MYUNG JIN" userId="89f3fa32ababedc4" providerId="LiveId" clId="{1442CAFF-C376-405E-80FE-32277BA9AD5E}" dt="2025-12-29T11:53:37.260" v="58" actId="20577"/>
        <pc:sldMkLst>
          <pc:docMk/>
          <pc:sldMk cId="2415824652" sldId="314"/>
        </pc:sldMkLst>
        <pc:spChg chg="mod">
          <ac:chgData name="MYUNG JIN" userId="89f3fa32ababedc4" providerId="LiveId" clId="{1442CAFF-C376-405E-80FE-32277BA9AD5E}" dt="2025-12-29T11:53:37.260" v="58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modSp mod">
        <pc:chgData name="MYUNG JIN" userId="89f3fa32ababedc4" providerId="LiveId" clId="{1442CAFF-C376-405E-80FE-32277BA9AD5E}" dt="2025-12-29T11:57:19.754" v="296" actId="20577"/>
        <pc:sldMkLst>
          <pc:docMk/>
          <pc:sldMk cId="2899342611" sldId="315"/>
        </pc:sldMkLst>
        <pc:spChg chg="mod">
          <ac:chgData name="MYUNG JIN" userId="89f3fa32ababedc4" providerId="LiveId" clId="{1442CAFF-C376-405E-80FE-32277BA9AD5E}" dt="2025-12-29T11:53:48.540" v="86" actId="20577"/>
          <ac:spMkLst>
            <pc:docMk/>
            <pc:sldMk cId="2899342611" sldId="315"/>
            <ac:spMk id="2" creationId="{6B80B26E-D7EF-B0B7-2CB8-5143E660972A}"/>
          </ac:spMkLst>
        </pc:spChg>
        <pc:spChg chg="add mod">
          <ac:chgData name="MYUNG JIN" userId="89f3fa32ababedc4" providerId="LiveId" clId="{1442CAFF-C376-405E-80FE-32277BA9AD5E}" dt="2025-12-29T11:57:19.754" v="296" actId="20577"/>
          <ac:spMkLst>
            <pc:docMk/>
            <pc:sldMk cId="2899342611" sldId="315"/>
            <ac:spMk id="3" creationId="{72AA1A5F-426A-BD39-D70E-58E0B98E2E09}"/>
          </ac:spMkLst>
        </pc:spChg>
      </pc:sldChg>
      <pc:sldChg chg="addSp modSp new mod">
        <pc:chgData name="MYUNG JIN" userId="89f3fa32ababedc4" providerId="LiveId" clId="{1442CAFF-C376-405E-80FE-32277BA9AD5E}" dt="2025-12-30T04:36:41.632" v="536" actId="1076"/>
        <pc:sldMkLst>
          <pc:docMk/>
          <pc:sldMk cId="226762443" sldId="316"/>
        </pc:sldMkLst>
        <pc:spChg chg="mod">
          <ac:chgData name="MYUNG JIN" userId="89f3fa32ababedc4" providerId="LiveId" clId="{1442CAFF-C376-405E-80FE-32277BA9AD5E}" dt="2025-12-29T11:54:02.735" v="124" actId="20577"/>
          <ac:spMkLst>
            <pc:docMk/>
            <pc:sldMk cId="226762443" sldId="316"/>
            <ac:spMk id="2" creationId="{29DA5744-578D-3670-354E-8AC11C70170C}"/>
          </ac:spMkLst>
        </pc:spChg>
        <pc:spChg chg="add mod">
          <ac:chgData name="MYUNG JIN" userId="89f3fa32ababedc4" providerId="LiveId" clId="{1442CAFF-C376-405E-80FE-32277BA9AD5E}" dt="2025-12-29T12:04:15.296" v="351" actId="20577"/>
          <ac:spMkLst>
            <pc:docMk/>
            <pc:sldMk cId="226762443" sldId="316"/>
            <ac:spMk id="3" creationId="{E9FFF1E7-B37B-9922-9260-C9B32115979C}"/>
          </ac:spMkLst>
        </pc:spChg>
        <pc:graphicFrameChg chg="add mod">
          <ac:chgData name="MYUNG JIN" userId="89f3fa32ababedc4" providerId="LiveId" clId="{1442CAFF-C376-405E-80FE-32277BA9AD5E}" dt="2025-12-30T04:36:38.715" v="533"/>
          <ac:graphicFrameMkLst>
            <pc:docMk/>
            <pc:sldMk cId="226762443" sldId="316"/>
            <ac:graphicFrameMk id="4" creationId="{1E95AD64-869A-C7AF-D598-3F1F30109970}"/>
          </ac:graphicFrameMkLst>
        </pc:graphicFrameChg>
        <pc:picChg chg="add mod">
          <ac:chgData name="MYUNG JIN" userId="89f3fa32ababedc4" providerId="LiveId" clId="{1442CAFF-C376-405E-80FE-32277BA9AD5E}" dt="2025-12-30T04:36:41.632" v="536" actId="1076"/>
          <ac:picMkLst>
            <pc:docMk/>
            <pc:sldMk cId="226762443" sldId="316"/>
            <ac:picMk id="5" creationId="{7D419E55-C3E6-1FC2-1638-BBA13AB5015C}"/>
          </ac:picMkLst>
        </pc:picChg>
      </pc:sldChg>
      <pc:sldChg chg="del">
        <pc:chgData name="MYUNG JIN" userId="89f3fa32ababedc4" providerId="LiveId" clId="{1442CAFF-C376-405E-80FE-32277BA9AD5E}" dt="2025-12-29T11:53:52.724" v="87" actId="47"/>
        <pc:sldMkLst>
          <pc:docMk/>
          <pc:sldMk cId="3739363777" sldId="316"/>
        </pc:sldMkLst>
      </pc:sldChg>
      <pc:sldChg chg="addSp modSp new mod ord">
        <pc:chgData name="MYUNG JIN" userId="89f3fa32ababedc4" providerId="LiveId" clId="{1442CAFF-C376-405E-80FE-32277BA9AD5E}" dt="2025-12-30T04:36:18.236" v="530" actId="20577"/>
        <pc:sldMkLst>
          <pc:docMk/>
          <pc:sldMk cId="819851124" sldId="317"/>
        </pc:sldMkLst>
        <pc:spChg chg="mod">
          <ac:chgData name="MYUNG JIN" userId="89f3fa32ababedc4" providerId="LiveId" clId="{1442CAFF-C376-405E-80FE-32277BA9AD5E}" dt="2025-12-29T11:54:54.353" v="287" actId="20577"/>
          <ac:spMkLst>
            <pc:docMk/>
            <pc:sldMk cId="819851124" sldId="317"/>
            <ac:spMk id="2" creationId="{53331901-AC7E-DA75-1DC4-3E1A52B8A8A2}"/>
          </ac:spMkLst>
        </pc:spChg>
        <pc:spChg chg="add mod">
          <ac:chgData name="MYUNG JIN" userId="89f3fa32ababedc4" providerId="LiveId" clId="{1442CAFF-C376-405E-80FE-32277BA9AD5E}" dt="2025-12-30T04:36:18.236" v="530" actId="20577"/>
          <ac:spMkLst>
            <pc:docMk/>
            <pc:sldMk cId="819851124" sldId="317"/>
            <ac:spMk id="3" creationId="{01A5DD9B-48E6-4070-862F-C8DD7C780DFD}"/>
          </ac:spMkLst>
        </pc:spChg>
      </pc:sldChg>
      <pc:sldChg chg="del">
        <pc:chgData name="MYUNG JIN" userId="89f3fa32ababedc4" providerId="LiveId" clId="{1442CAFF-C376-405E-80FE-32277BA9AD5E}" dt="2025-12-29T11:53:52.942" v="88" actId="47"/>
        <pc:sldMkLst>
          <pc:docMk/>
          <pc:sldMk cId="2174781645" sldId="317"/>
        </pc:sldMkLst>
      </pc:sldChg>
      <pc:sldChg chg="addSp modSp add mod">
        <pc:chgData name="MYUNG JIN" userId="89f3fa32ababedc4" providerId="LiveId" clId="{1442CAFF-C376-405E-80FE-32277BA9AD5E}" dt="2025-12-30T04:48:09.322" v="775"/>
        <pc:sldMkLst>
          <pc:docMk/>
          <pc:sldMk cId="154909303" sldId="318"/>
        </pc:sldMkLst>
        <pc:spChg chg="add mod">
          <ac:chgData name="MYUNG JIN" userId="89f3fa32ababedc4" providerId="LiveId" clId="{1442CAFF-C376-405E-80FE-32277BA9AD5E}" dt="2025-12-29T11:58:20.671" v="337" actId="20577"/>
          <ac:spMkLst>
            <pc:docMk/>
            <pc:sldMk cId="154909303" sldId="318"/>
            <ac:spMk id="3" creationId="{8BB53F19-D5FE-7405-73AA-FD6465B67315}"/>
          </ac:spMkLst>
        </pc:spChg>
        <pc:spChg chg="add mod">
          <ac:chgData name="MYUNG JIN" userId="89f3fa32ababedc4" providerId="LiveId" clId="{1442CAFF-C376-405E-80FE-32277BA9AD5E}" dt="2025-12-30T04:44:27.598" v="654" actId="1076"/>
          <ac:spMkLst>
            <pc:docMk/>
            <pc:sldMk cId="154909303" sldId="318"/>
            <ac:spMk id="4" creationId="{3B155CE4-93CE-5852-80D4-3F16AA32AAC2}"/>
          </ac:spMkLst>
        </pc:spChg>
        <pc:spChg chg="add mod">
          <ac:chgData name="MYUNG JIN" userId="89f3fa32ababedc4" providerId="LiveId" clId="{1442CAFF-C376-405E-80FE-32277BA9AD5E}" dt="2025-12-30T04:47:13.148" v="768" actId="1076"/>
          <ac:spMkLst>
            <pc:docMk/>
            <pc:sldMk cId="154909303" sldId="318"/>
            <ac:spMk id="5" creationId="{5E11D646-68A6-E321-960A-4B11D018D8DA}"/>
          </ac:spMkLst>
        </pc:spChg>
        <pc:spChg chg="add mod">
          <ac:chgData name="MYUNG JIN" userId="89f3fa32ababedc4" providerId="LiveId" clId="{1442CAFF-C376-405E-80FE-32277BA9AD5E}" dt="2025-12-30T04:44:51.636" v="690" actId="14100"/>
          <ac:spMkLst>
            <pc:docMk/>
            <pc:sldMk cId="154909303" sldId="318"/>
            <ac:spMk id="6" creationId="{E92FB44F-3EDA-DCBB-16DB-87C59777C644}"/>
          </ac:spMkLst>
        </pc:spChg>
        <pc:spChg chg="add mod">
          <ac:chgData name="MYUNG JIN" userId="89f3fa32ababedc4" providerId="LiveId" clId="{1442CAFF-C376-405E-80FE-32277BA9AD5E}" dt="2025-12-30T04:46:48.217" v="765" actId="58"/>
          <ac:spMkLst>
            <pc:docMk/>
            <pc:sldMk cId="154909303" sldId="318"/>
            <ac:spMk id="7" creationId="{796D903E-B897-1523-FCEF-BB32B3B7542A}"/>
          </ac:spMkLst>
        </pc:spChg>
        <pc:spChg chg="add mod">
          <ac:chgData name="MYUNG JIN" userId="89f3fa32ababedc4" providerId="LiveId" clId="{1442CAFF-C376-405E-80FE-32277BA9AD5E}" dt="2025-12-30T04:47:10.002" v="767" actId="14100"/>
          <ac:spMkLst>
            <pc:docMk/>
            <pc:sldMk cId="154909303" sldId="318"/>
            <ac:spMk id="8" creationId="{82F3017F-FDF1-ACC7-D778-9DC04EB20C79}"/>
          </ac:spMkLst>
        </pc:spChg>
        <pc:spChg chg="add mod">
          <ac:chgData name="MYUNG JIN" userId="89f3fa32ababedc4" providerId="LiveId" clId="{1442CAFF-C376-405E-80FE-32277BA9AD5E}" dt="2025-12-30T04:47:57.475" v="774"/>
          <ac:spMkLst>
            <pc:docMk/>
            <pc:sldMk cId="154909303" sldId="318"/>
            <ac:spMk id="9" creationId="{AFD67361-1ECF-2100-696F-B86EFA81E827}"/>
          </ac:spMkLst>
        </pc:spChg>
        <pc:spChg chg="add mod">
          <ac:chgData name="MYUNG JIN" userId="89f3fa32ababedc4" providerId="LiveId" clId="{1442CAFF-C376-405E-80FE-32277BA9AD5E}" dt="2025-12-30T04:48:09.322" v="775"/>
          <ac:spMkLst>
            <pc:docMk/>
            <pc:sldMk cId="154909303" sldId="318"/>
            <ac:spMk id="10" creationId="{3F336404-EB43-E571-2036-F8F4F67C3DD2}"/>
          </ac:spMkLst>
        </pc:spChg>
        <pc:spChg chg="add mod">
          <ac:chgData name="MYUNG JIN" userId="89f3fa32ababedc4" providerId="LiveId" clId="{1442CAFF-C376-405E-80FE-32277BA9AD5E}" dt="2025-12-30T04:47:43.325" v="772" actId="207"/>
          <ac:spMkLst>
            <pc:docMk/>
            <pc:sldMk cId="154909303" sldId="318"/>
            <ac:spMk id="11" creationId="{2EAC2A5F-3BF5-3825-230F-A64428236229}"/>
          </ac:spMkLst>
        </pc:spChg>
      </pc:sldChg>
      <pc:sldChg chg="add">
        <pc:chgData name="MYUNG JIN" userId="89f3fa32ababedc4" providerId="LiveId" clId="{1442CAFF-C376-405E-80FE-32277BA9AD5E}" dt="2025-12-29T12:09:56.293" v="491"/>
        <pc:sldMkLst>
          <pc:docMk/>
          <pc:sldMk cId="3568046984" sldId="3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2025-12-30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5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2025-12-30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25</a:t>
            </a:r>
            <a:r>
              <a:rPr lang="ko-KR" altLang="en-US" dirty="0"/>
              <a:t>년 </a:t>
            </a:r>
            <a:r>
              <a:rPr lang="en-US" altLang="ko-KR" dirty="0"/>
              <a:t>12</a:t>
            </a:r>
            <a:r>
              <a:rPr lang="ko-KR" altLang="en-US" dirty="0"/>
              <a:t>월 </a:t>
            </a:r>
            <a:r>
              <a:rPr lang="ko-KR" altLang="en-US" dirty="0" err="1"/>
              <a:t>연구미팅자료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en-US" altLang="ko-KR" dirty="0"/>
              <a:t> from CTN Overview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FA6E-7F2B-0B73-7BE5-D2D010E65F66}"/>
                  </a:ext>
                </a:extLst>
              </p:cNvPr>
              <p:cNvSpPr txBox="1"/>
              <p:nvPr/>
            </p:nvSpPr>
            <p:spPr>
              <a:xfrm>
                <a:off x="468966" y="4172239"/>
                <a:ext cx="8403058" cy="15976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sz="16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𝑐h</m:t>
                                        </m:r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sz="16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sz="16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𝑊𝐿</m:t>
                                            </m:r>
                                            <m: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sz="1600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sz="16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𝑐h</m:t>
                            </m:r>
                          </m:sub>
                        </m:sSub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</m:num>
                      <m:den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𝑐h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𝑐h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𝑐h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endPara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  <m:sub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𝐺</m:t>
                        </m:r>
                      </m:sub>
                    </m:sSub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 </m:t>
                            </m:r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𝐺</m:t>
                            </m:r>
                          </m:sub>
                        </m:sSub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=−</m:t>
                    </m:r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f>
                      <m:fPr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</m:t>
                        </m:r>
                      </m:num>
                      <m:den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𝑑𝑡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𝐺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a:rPr lang="en-US" altLang="ko-KR" sz="16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𝑞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sz="16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𝐺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func>
                          <m:funcPr>
                            <m:ctrlPr>
                              <a:rPr lang="en-US" altLang="ko-KR" sz="16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60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altLang="ko-KR" sz="16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𝐺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6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𝑗</m:t>
                                    </m:r>
                                  </m:sub>
                                </m:sSub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r>
                                  <a:rPr lang="en-US" altLang="ko-KR" sz="16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918FA6E-7F2B-0B73-7BE5-D2D010E65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966" y="4172239"/>
                <a:ext cx="8403058" cy="15976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44D1F25B-E513-B059-5E1C-862EF49640DA}"/>
              </a:ext>
            </a:extLst>
          </p:cNvPr>
          <p:cNvSpPr txBox="1"/>
          <p:nvPr/>
        </p:nvSpPr>
        <p:spPr>
          <a:xfrm>
            <a:off x="1897224" y="5882733"/>
            <a:ext cx="57960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=&gt; Modeling by time transient &amp; leakage current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1" name="그림 10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77E9CCE-4264-C6B6-D461-91FF8C0031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062"/>
          <a:stretch>
            <a:fillRect/>
          </a:stretch>
        </p:blipFill>
        <p:spPr>
          <a:xfrm>
            <a:off x="3240059" y="917446"/>
            <a:ext cx="2663882" cy="3101236"/>
          </a:xfrm>
          <a:prstGeom prst="rect">
            <a:avLst/>
          </a:prstGeom>
        </p:spPr>
      </p:pic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674F55BE-0773-868D-6243-AE39A64E6F9A}"/>
              </a:ext>
            </a:extLst>
          </p:cNvPr>
          <p:cNvSpPr/>
          <p:nvPr/>
        </p:nvSpPr>
        <p:spPr>
          <a:xfrm>
            <a:off x="4458866" y="1649659"/>
            <a:ext cx="217714" cy="217714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70FF5E1-5531-E16C-2E0B-FB6F00201708}"/>
              </a:ext>
            </a:extLst>
          </p:cNvPr>
          <p:cNvCxnSpPr/>
          <p:nvPr/>
        </p:nvCxnSpPr>
        <p:spPr>
          <a:xfrm flipH="1">
            <a:off x="2443454" y="1758516"/>
            <a:ext cx="20154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3A220B9-72B7-DC6A-C6F9-D4DED831A4F9}"/>
              </a:ext>
            </a:extLst>
          </p:cNvPr>
          <p:cNvCxnSpPr>
            <a:cxnSpLocks/>
          </p:cNvCxnSpPr>
          <p:nvPr/>
        </p:nvCxnSpPr>
        <p:spPr>
          <a:xfrm>
            <a:off x="4645477" y="1758516"/>
            <a:ext cx="226423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AF58F0-725D-299A-24A2-2C9BD6E4930F}"/>
                  </a:ext>
                </a:extLst>
              </p:cNvPr>
              <p:cNvSpPr txBox="1"/>
              <p:nvPr/>
            </p:nvSpPr>
            <p:spPr>
              <a:xfrm>
                <a:off x="1379525" y="1393647"/>
                <a:ext cx="2214465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3AF58F0-725D-299A-24A2-2C9BD6E49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25" y="1393647"/>
                <a:ext cx="2214465" cy="31720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AE891E-7EE3-FAE5-83CC-18B829B771FE}"/>
                  </a:ext>
                </a:extLst>
              </p:cNvPr>
              <p:cNvSpPr txBox="1"/>
              <p:nvPr/>
            </p:nvSpPr>
            <p:spPr>
              <a:xfrm>
                <a:off x="5903941" y="1393647"/>
                <a:ext cx="2486747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FAE891E-7EE3-FAE5-83CC-18B829B77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941" y="1393647"/>
                <a:ext cx="2486747" cy="31720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곱하기 기호 16">
            <a:extLst>
              <a:ext uri="{FF2B5EF4-FFF2-40B4-BE49-F238E27FC236}">
                <a16:creationId xmlns:a16="http://schemas.microsoft.com/office/drawing/2014/main" id="{BF476A15-7D29-1E50-747B-09642B26B08E}"/>
              </a:ext>
            </a:extLst>
          </p:cNvPr>
          <p:cNvSpPr/>
          <p:nvPr/>
        </p:nvSpPr>
        <p:spPr>
          <a:xfrm>
            <a:off x="4458866" y="2409306"/>
            <a:ext cx="217714" cy="217714"/>
          </a:xfrm>
          <a:prstGeom prst="mathMultiply">
            <a:avLst>
              <a:gd name="adj1" fmla="val 637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140B983-EC94-E202-FEF2-46DA11C3757D}"/>
              </a:ext>
            </a:extLst>
          </p:cNvPr>
          <p:cNvCxnSpPr/>
          <p:nvPr/>
        </p:nvCxnSpPr>
        <p:spPr>
          <a:xfrm flipH="1">
            <a:off x="2443454" y="2518163"/>
            <a:ext cx="201541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ACA2AD7-BFE5-0761-E612-D3502EEE1BBB}"/>
              </a:ext>
            </a:extLst>
          </p:cNvPr>
          <p:cNvCxnSpPr>
            <a:cxnSpLocks/>
          </p:cNvCxnSpPr>
          <p:nvPr/>
        </p:nvCxnSpPr>
        <p:spPr>
          <a:xfrm>
            <a:off x="4645477" y="2518163"/>
            <a:ext cx="2264230" cy="0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7E6D69-4D30-6A3A-8293-0D5568E7D96C}"/>
                  </a:ext>
                </a:extLst>
              </p:cNvPr>
              <p:cNvSpPr txBox="1"/>
              <p:nvPr/>
            </p:nvSpPr>
            <p:spPr>
              <a:xfrm>
                <a:off x="1379525" y="2639108"/>
                <a:ext cx="2214465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h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h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h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𝑐h</m:t>
                        </m:r>
                      </m:sub>
                    </m:sSub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F7E6D69-4D30-6A3A-8293-0D5568E7D9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9525" y="2639108"/>
                <a:ext cx="2214465" cy="3172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815156-2C6C-7426-63CD-DFC0BD8D86FA}"/>
                  </a:ext>
                </a:extLst>
              </p:cNvPr>
              <p:cNvSpPr txBox="1"/>
              <p:nvPr/>
            </p:nvSpPr>
            <p:spPr>
              <a:xfrm>
                <a:off x="5903941" y="2604993"/>
                <a:ext cx="2531197" cy="317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h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h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  <m:r>
                      <a:rPr lang="en-US" altLang="ko-KR" sz="14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sSub>
                      <m:sSubPr>
                        <m:ctrlP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4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𝑇𝐶</m:t>
                            </m:r>
                          </m:e>
                        </m:d>
                      </m:e>
                      <m:sub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h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</m:t>
                        </m:r>
                        <m:r>
                          <a:rPr lang="en-US" altLang="ko-KR" sz="14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𝑊𝐿</m:t>
                        </m:r>
                      </m:sub>
                    </m:sSub>
                  </m:oMath>
                </a14:m>
                <a:r>
                  <a:rPr lang="ko-KR" altLang="en-US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D815156-2C6C-7426-63CD-DFC0BD8D8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3941" y="2604993"/>
                <a:ext cx="2531197" cy="31720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08F337B2-D4CF-B418-6D92-CE49CC6DF829}"/>
              </a:ext>
            </a:extLst>
          </p:cNvPr>
          <p:cNvSpPr txBox="1"/>
          <p:nvPr/>
        </p:nvSpPr>
        <p:spPr>
          <a:xfrm>
            <a:off x="353278" y="1036264"/>
            <a:ext cx="2764572" cy="307777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Electron</a:t>
            </a:r>
            <a:r>
              <a:rPr lang="ko-KR" altLang="en-US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emission</a:t>
            </a:r>
            <a:r>
              <a:rPr lang="ko-KR" altLang="en-US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to</a:t>
            </a:r>
            <a:r>
              <a:rPr lang="ko-KR" altLang="en-US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3333FF"/>
                </a:solidFill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channel</a:t>
            </a:r>
            <a:endParaRPr lang="ko-KR" altLang="en-US" sz="14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3333FF"/>
              </a:solidFill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DB03AB-DF29-13C6-F05D-D135663CA6DA}"/>
              </a:ext>
            </a:extLst>
          </p:cNvPr>
          <p:cNvSpPr txBox="1"/>
          <p:nvPr/>
        </p:nvSpPr>
        <p:spPr>
          <a:xfrm>
            <a:off x="6312620" y="1036264"/>
            <a:ext cx="27613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Electron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emission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to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wordline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4B678D-17AE-2FE7-645F-8DDFA0E933CB}"/>
              </a:ext>
            </a:extLst>
          </p:cNvPr>
          <p:cNvSpPr txBox="1"/>
          <p:nvPr/>
        </p:nvSpPr>
        <p:spPr>
          <a:xfrm>
            <a:off x="6312621" y="2985251"/>
            <a:ext cx="248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Hole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emission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to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wordline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FC9AA8-856A-498E-7F3D-633BB7A5829E}"/>
              </a:ext>
            </a:extLst>
          </p:cNvPr>
          <p:cNvSpPr txBox="1"/>
          <p:nvPr/>
        </p:nvSpPr>
        <p:spPr>
          <a:xfrm>
            <a:off x="353278" y="2985251"/>
            <a:ext cx="2482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Hole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emission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to</a:t>
            </a:r>
            <a:r>
              <a: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 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channel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749F69-CFB6-99A5-0157-085A7FE198DD}"/>
              </a:ext>
            </a:extLst>
          </p:cNvPr>
          <p:cNvSpPr txBox="1"/>
          <p:nvPr/>
        </p:nvSpPr>
        <p:spPr>
          <a:xfrm>
            <a:off x="213586" y="1745812"/>
            <a:ext cx="13811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Most dominant!</a:t>
            </a:r>
            <a:endParaRPr lang="ko-KR" altLang="en-US" sz="1400" i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612E868-88CB-61CD-77AA-73FCF94DD298}"/>
              </a:ext>
            </a:extLst>
          </p:cNvPr>
          <p:cNvCxnSpPr/>
          <p:nvPr/>
        </p:nvCxnSpPr>
        <p:spPr>
          <a:xfrm>
            <a:off x="908050" y="1355253"/>
            <a:ext cx="0" cy="450260"/>
          </a:xfrm>
          <a:prstGeom prst="straightConnector1">
            <a:avLst/>
          </a:prstGeom>
          <a:ln w="12700">
            <a:solidFill>
              <a:srgbClr val="3333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A2CDD-417F-0B74-E3B4-821F2917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39C35-9EAC-930C-F24B-D80BB5BC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en-US" altLang="ko-KR" dirty="0"/>
              <a:t> from CTN Overview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53F19-D5FE-7405-73AA-FD6465B67315}"/>
              </a:ext>
            </a:extLst>
          </p:cNvPr>
          <p:cNvSpPr txBox="1"/>
          <p:nvPr/>
        </p:nvSpPr>
        <p:spPr>
          <a:xfrm>
            <a:off x="283830" y="1088397"/>
            <a:ext cx="59329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Simulation</a:t>
            </a:r>
            <a:r>
              <a:rPr lang="ko-KR" altLang="en-US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flowchart</a:t>
            </a:r>
            <a:endParaRPr lang="ko-KR" altLang="en-US" sz="2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" name="순서도: 대체 처리 3">
            <a:extLst>
              <a:ext uri="{FF2B5EF4-FFF2-40B4-BE49-F238E27FC236}">
                <a16:creationId xmlns:a16="http://schemas.microsoft.com/office/drawing/2014/main" id="{3B155CE4-93CE-5852-80D4-3F16AA32AAC2}"/>
              </a:ext>
            </a:extLst>
          </p:cNvPr>
          <p:cNvSpPr/>
          <p:nvPr/>
        </p:nvSpPr>
        <p:spPr>
          <a:xfrm>
            <a:off x="380892" y="2220686"/>
            <a:ext cx="2824065" cy="480527"/>
          </a:xfrm>
          <a:prstGeom prst="flowChartAlternateProcess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Initialize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순서도: 대체 처리 4">
            <a:extLst>
              <a:ext uri="{FF2B5EF4-FFF2-40B4-BE49-F238E27FC236}">
                <a16:creationId xmlns:a16="http://schemas.microsoft.com/office/drawing/2014/main" id="{5E11D646-68A6-E321-960A-4B11D018D8DA}"/>
              </a:ext>
            </a:extLst>
          </p:cNvPr>
          <p:cNvSpPr/>
          <p:nvPr/>
        </p:nvSpPr>
        <p:spPr>
          <a:xfrm>
            <a:off x="2582916" y="4598971"/>
            <a:ext cx="3077655" cy="678024"/>
          </a:xfrm>
          <a:prstGeom prst="flowChartAlternateProcess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Exponential Decay Prediction by Time constant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E92FB44F-3EDA-DCBB-16DB-87C59777C644}"/>
              </a:ext>
            </a:extLst>
          </p:cNvPr>
          <p:cNvSpPr/>
          <p:nvPr/>
        </p:nvSpPr>
        <p:spPr>
          <a:xfrm>
            <a:off x="4572000" y="1340741"/>
            <a:ext cx="3382455" cy="480527"/>
          </a:xfrm>
          <a:prstGeom prst="flowChartAlternateProcess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Vth Prediction after given time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6D903E-B897-1523-FCEF-BB32B3B7542A}"/>
              </a:ext>
            </a:extLst>
          </p:cNvPr>
          <p:cNvSpPr txBox="1"/>
          <p:nvPr/>
        </p:nvSpPr>
        <p:spPr>
          <a:xfrm>
            <a:off x="566057" y="2967135"/>
            <a:ext cx="234509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Location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Trap depth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e,t</a:t>
            </a:r>
            <a:endParaRPr lang="en-US" altLang="ko-KR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h,t</a:t>
            </a:r>
            <a:endParaRPr lang="en-US" altLang="ko-KR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e,ch</a:t>
            </a:r>
            <a:endParaRPr lang="en-US" altLang="ko-KR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e,WL</a:t>
            </a:r>
            <a:endParaRPr lang="en-US" altLang="ko-KR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h,ch</a:t>
            </a:r>
            <a:endParaRPr lang="en-US" altLang="ko-KR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e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h,WL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8" name="오른쪽 중괄호 7">
            <a:extLst>
              <a:ext uri="{FF2B5EF4-FFF2-40B4-BE49-F238E27FC236}">
                <a16:creationId xmlns:a16="http://schemas.microsoft.com/office/drawing/2014/main" id="{82F3017F-FDF1-ACC7-D778-9DC04EB20C79}"/>
              </a:ext>
            </a:extLst>
          </p:cNvPr>
          <p:cNvSpPr/>
          <p:nvPr/>
        </p:nvSpPr>
        <p:spPr>
          <a:xfrm>
            <a:off x="1648408" y="4354286"/>
            <a:ext cx="503853" cy="1167394"/>
          </a:xfrm>
          <a:prstGeom prst="rightBrace">
            <a:avLst>
              <a:gd name="adj1" fmla="val 30555"/>
              <a:gd name="adj2" fmla="val 50000"/>
            </a:avLst>
          </a:prstGeom>
          <a:ln w="12700">
            <a:solidFill>
              <a:srgbClr val="28486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AFD67361-1ECF-2100-696F-B86EFA81E827}"/>
              </a:ext>
            </a:extLst>
          </p:cNvPr>
          <p:cNvSpPr/>
          <p:nvPr/>
        </p:nvSpPr>
        <p:spPr>
          <a:xfrm>
            <a:off x="1704393" y="4047397"/>
            <a:ext cx="1405812" cy="524604"/>
          </a:xfrm>
          <a:custGeom>
            <a:avLst/>
            <a:gdLst>
              <a:gd name="csX0" fmla="*/ 1387151 w 1387151"/>
              <a:gd name="csY0" fmla="*/ 497633 h 497633"/>
              <a:gd name="csX1" fmla="*/ 1101012 w 1387151"/>
              <a:gd name="csY1" fmla="*/ 167951 h 497633"/>
              <a:gd name="csX2" fmla="*/ 0 w 1387151"/>
              <a:gd name="csY2" fmla="*/ 0 h 4976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387151" h="497633">
                <a:moveTo>
                  <a:pt x="1387151" y="497633"/>
                </a:moveTo>
                <a:cubicBezTo>
                  <a:pt x="1359677" y="374261"/>
                  <a:pt x="1332204" y="250890"/>
                  <a:pt x="1101012" y="167951"/>
                </a:cubicBezTo>
                <a:cubicBezTo>
                  <a:pt x="869820" y="85012"/>
                  <a:pt x="434910" y="42506"/>
                  <a:pt x="0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3F336404-EB43-E571-2036-F8F4F67C3DD2}"/>
              </a:ext>
            </a:extLst>
          </p:cNvPr>
          <p:cNvSpPr/>
          <p:nvPr/>
        </p:nvSpPr>
        <p:spPr>
          <a:xfrm>
            <a:off x="1704393" y="1888776"/>
            <a:ext cx="3006638" cy="1961657"/>
          </a:xfrm>
          <a:custGeom>
            <a:avLst/>
            <a:gdLst>
              <a:gd name="csX0" fmla="*/ 0 w 3968620"/>
              <a:gd name="csY0" fmla="*/ 1138335 h 1138335"/>
              <a:gd name="csX1" fmla="*/ 3253273 w 3968620"/>
              <a:gd name="csY1" fmla="*/ 758890 h 1138335"/>
              <a:gd name="csX2" fmla="*/ 3968620 w 3968620"/>
              <a:gd name="csY2" fmla="*/ 0 h 11383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968620" h="1138335">
                <a:moveTo>
                  <a:pt x="0" y="1138335"/>
                </a:moveTo>
                <a:cubicBezTo>
                  <a:pt x="1295918" y="1043473"/>
                  <a:pt x="2591836" y="948612"/>
                  <a:pt x="3253273" y="758890"/>
                </a:cubicBezTo>
                <a:cubicBezTo>
                  <a:pt x="3914710" y="569167"/>
                  <a:pt x="3941665" y="284583"/>
                  <a:pt x="3968620" y="0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2EAC2A5F-3BF5-3825-230F-A64428236229}"/>
              </a:ext>
            </a:extLst>
          </p:cNvPr>
          <p:cNvSpPr/>
          <p:nvPr/>
        </p:nvSpPr>
        <p:spPr>
          <a:xfrm>
            <a:off x="752669" y="3576735"/>
            <a:ext cx="951723" cy="734008"/>
          </a:xfrm>
          <a:prstGeom prst="ellipse">
            <a:avLst/>
          </a:prstGeom>
          <a:noFill/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C279423-ECF2-6C4F-21D5-6180219E8B51}"/>
              </a:ext>
            </a:extLst>
          </p:cNvPr>
          <p:cNvCxnSpPr>
            <a:cxnSpLocks/>
          </p:cNvCxnSpPr>
          <p:nvPr/>
        </p:nvCxnSpPr>
        <p:spPr>
          <a:xfrm>
            <a:off x="2152261" y="4942016"/>
            <a:ext cx="430655" cy="2317"/>
          </a:xfrm>
          <a:prstGeom prst="straightConnector1">
            <a:avLst/>
          </a:prstGeom>
          <a:ln w="12700">
            <a:solidFill>
              <a:srgbClr val="284866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0393E3-08EA-BBEF-CA72-C00DE34FBFAF}"/>
                  </a:ext>
                </a:extLst>
              </p:cNvPr>
              <p:cNvSpPr txBox="1"/>
              <p:nvPr/>
            </p:nvSpPr>
            <p:spPr>
              <a:xfrm>
                <a:off x="2279649" y="5496341"/>
                <a:ext cx="6111681" cy="4206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</m:e>
                    </m:nary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𝑖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𝑗</m:t>
                            </m:r>
                          </m:sub>
                        </m:s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𝑒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𝑐h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,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𝑗</m:t>
                                        </m:r>
                                      </m:sub>
                                    </m:sSub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 </m:t>
                                    </m:r>
                                    <m: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func>
                                  <m:func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𝑒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𝑊𝐿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𝑖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altLang="ko-KR" b="0" i="1" smtClean="0">
                                                <a:ln w="9525">
                                                  <a:solidFill>
                                                    <a:schemeClr val="tx1">
                                                      <a:alpha val="29000"/>
                                                    </a:schemeClr>
                                                  </a:solidFill>
                                                </a:ln>
                                                <a:latin typeface="Cambria Math" panose="02040503050406030204" pitchFamily="18" charset="0"/>
                                                <a:ea typeface="맑은 고딕"/>
                                                <a:cs typeface="Times New Roman"/>
                                              </a:rPr>
                                              <m:t>𝑗</m:t>
                                            </m:r>
                                          </m:sub>
                                        </m:sSub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 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func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C0393E3-08EA-BBEF-CA72-C00DE34FB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649" y="5496341"/>
                <a:ext cx="6111681" cy="4206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그림 18" descr="그래프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A80521-4DB1-FCD0-5AF4-E98782DD9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502" y="1998031"/>
            <a:ext cx="3773606" cy="23815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FCC4B66-794C-21D5-DFA8-3D8A4DA9F3BC}"/>
              </a:ext>
            </a:extLst>
          </p:cNvPr>
          <p:cNvSpPr txBox="1"/>
          <p:nvPr/>
        </p:nvSpPr>
        <p:spPr>
          <a:xfrm>
            <a:off x="6125546" y="4379625"/>
            <a:ext cx="19177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Retention Time [s]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152D44-B036-E0F3-AE3E-0B659351F77F}"/>
              </a:ext>
            </a:extLst>
          </p:cNvPr>
          <p:cNvSpPr txBox="1"/>
          <p:nvPr/>
        </p:nvSpPr>
        <p:spPr>
          <a:xfrm rot="16200000">
            <a:off x="4485453" y="2919270"/>
            <a:ext cx="680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ΔV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th</a:t>
            </a:r>
            <a:endParaRPr lang="ko-KR" altLang="en-US" sz="16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09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DA5744-578D-3670-354E-8AC11C701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en-US" altLang="ko-KR" dirty="0"/>
              <a:t> Transient &amp; TCAD Fitting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FFF1E7-B37B-9922-9260-C9B32115979C}"/>
              </a:ext>
            </a:extLst>
          </p:cNvPr>
          <p:cNvSpPr txBox="1"/>
          <p:nvPr/>
        </p:nvSpPr>
        <p:spPr>
          <a:xfrm>
            <a:off x="467833" y="1062026"/>
            <a:ext cx="81232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Ongoing process for process variations – well match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68F060-442F-400E-18DF-E82D714014B6}"/>
              </a:ext>
            </a:extLst>
          </p:cNvPr>
          <p:cNvSpPr txBox="1"/>
          <p:nvPr/>
        </p:nvSpPr>
        <p:spPr>
          <a:xfrm>
            <a:off x="467833" y="2384900"/>
            <a:ext cx="342306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Calibration condition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2/2/1/6/8 BETOX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Shallow Trap: Gaussian</a:t>
            </a:r>
          </a:p>
          <a:p>
            <a:pPr marL="342900" indent="-342900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Trap: exact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graphicFrame>
        <p:nvGraphicFramePr>
          <p:cNvPr id="7" name="개체 6">
            <a:extLst>
              <a:ext uri="{FF2B5EF4-FFF2-40B4-BE49-F238E27FC236}">
                <a16:creationId xmlns:a16="http://schemas.microsoft.com/office/drawing/2014/main" id="{2B65B1E3-53C1-312A-A9FD-FAE73087A4A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918451"/>
              </p:ext>
            </p:extLst>
          </p:nvPr>
        </p:nvGraphicFramePr>
        <p:xfrm>
          <a:off x="3890897" y="1380269"/>
          <a:ext cx="5522809" cy="38811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21592" imgH="3317966" progId="Origin50.Graph">
                  <p:embed/>
                </p:oleObj>
              </mc:Choice>
              <mc:Fallback>
                <p:oleObj name="Graph" r:id="rId2" imgW="4721592" imgH="3317966" progId="Origin50.Grap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90897" y="1380269"/>
                        <a:ext cx="5522809" cy="38811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C270572-75BB-7691-E56E-D663D3CEB72F}"/>
              </a:ext>
            </a:extLst>
          </p:cNvPr>
          <p:cNvSpPr txBox="1"/>
          <p:nvPr/>
        </p:nvSpPr>
        <p:spPr>
          <a:xfrm>
            <a:off x="467833" y="5477731"/>
            <a:ext cx="81232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However, for simplicity of the research &gt;&gt;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ONO (5/6/8) Structure will be used for discussion 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6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90B98-306C-EF2E-2C83-4C9039D1C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98F20-AECE-4FC5-F78D-07899C89C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en-US" altLang="ko-KR" dirty="0"/>
              <a:t> Characteristic Variations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A6D7A-8978-1305-1E70-4BDC5DB00DF3}"/>
              </a:ext>
            </a:extLst>
          </p:cNvPr>
          <p:cNvSpPr txBox="1"/>
          <p:nvPr/>
        </p:nvSpPr>
        <p:spPr>
          <a:xfrm>
            <a:off x="367004" y="1069910"/>
            <a:ext cx="22766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Variation Settings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9FC491-C981-4F3B-8EDA-3286BAAD5603}"/>
              </a:ext>
            </a:extLst>
          </p:cNvPr>
          <p:cNvSpPr txBox="1"/>
          <p:nvPr/>
        </p:nvSpPr>
        <p:spPr>
          <a:xfrm>
            <a:off x="534955" y="1583388"/>
            <a:ext cx="3887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CTN trapped electron profile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19109-829A-1985-4E88-EA68CF8D2DFF}"/>
              </a:ext>
            </a:extLst>
          </p:cNvPr>
          <p:cNvSpPr txBox="1"/>
          <p:nvPr/>
        </p:nvSpPr>
        <p:spPr>
          <a:xfrm>
            <a:off x="5032309" y="1583388"/>
            <a:ext cx="35269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2000" b="0" i="0" u="none" strike="noStrike" kern="1200" cap="none" spc="0" normalizeH="0" baseline="0" noProof="0" dirty="0">
                <a:ln w="9525">
                  <a:solidFill>
                    <a:prstClr val="black">
                      <a:alpha val="2900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Shallow/Deep trap profile</a:t>
            </a:r>
            <a:endParaRPr kumimoji="0" lang="ko-KR" altLang="en-US" sz="2000" b="0" i="0" u="none" strike="noStrike" kern="1200" cap="none" spc="0" normalizeH="0" baseline="0" noProof="0" dirty="0">
              <a:ln w="9525">
                <a:solidFill>
                  <a:prstClr val="black">
                    <a:alpha val="2900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2F6D0-4970-379B-36A2-F515919D70AD}"/>
              </a:ext>
            </a:extLst>
          </p:cNvPr>
          <p:cNvSpPr txBox="1"/>
          <p:nvPr/>
        </p:nvSpPr>
        <p:spPr>
          <a:xfrm>
            <a:off x="367004" y="3657600"/>
            <a:ext cx="47212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Tx/>
              <a:buChar char="-"/>
            </a:pP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Process Variation</a:t>
            </a: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BB44209-B380-B1EF-0016-9FABE0BE62EB}"/>
              </a:ext>
            </a:extLst>
          </p:cNvPr>
          <p:cNvCxnSpPr>
            <a:cxnSpLocks/>
          </p:cNvCxnSpPr>
          <p:nvPr/>
        </p:nvCxnSpPr>
        <p:spPr>
          <a:xfrm>
            <a:off x="260350" y="4946424"/>
            <a:ext cx="30203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253EBC31-A48F-2D55-9093-87A60E5B6AB7}"/>
              </a:ext>
            </a:extLst>
          </p:cNvPr>
          <p:cNvCxnSpPr>
            <a:cxnSpLocks/>
          </p:cNvCxnSpPr>
          <p:nvPr/>
        </p:nvCxnSpPr>
        <p:spPr>
          <a:xfrm flipV="1">
            <a:off x="2646264" y="4084379"/>
            <a:ext cx="0" cy="8682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0CD8E54-0BCD-F222-572B-D298856FF4E3}"/>
              </a:ext>
            </a:extLst>
          </p:cNvPr>
          <p:cNvSpPr txBox="1"/>
          <p:nvPr/>
        </p:nvSpPr>
        <p:spPr>
          <a:xfrm>
            <a:off x="2248158" y="4978852"/>
            <a:ext cx="1032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Initial V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th</a:t>
            </a:r>
            <a:endParaRPr lang="ko-KR" altLang="en-US" sz="16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C1B06467-A4EF-E42A-8FF8-B64FD5F70D2E}"/>
              </a:ext>
            </a:extLst>
          </p:cNvPr>
          <p:cNvSpPr/>
          <p:nvPr/>
        </p:nvSpPr>
        <p:spPr>
          <a:xfrm>
            <a:off x="2104442" y="4218686"/>
            <a:ext cx="541822" cy="721519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9050">
            <a:solidFill>
              <a:srgbClr val="3333FF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E39FA03F-AFD6-529C-67C7-96E4335DDF8E}"/>
              </a:ext>
            </a:extLst>
          </p:cNvPr>
          <p:cNvSpPr/>
          <p:nvPr/>
        </p:nvSpPr>
        <p:spPr>
          <a:xfrm>
            <a:off x="1132891" y="5788090"/>
            <a:ext cx="1513365" cy="309708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9050">
            <a:solidFill>
              <a:srgbClr val="008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C87D15D-DA6B-E59E-38C3-CF4E65A884A7}"/>
              </a:ext>
            </a:extLst>
          </p:cNvPr>
          <p:cNvCxnSpPr>
            <a:cxnSpLocks/>
          </p:cNvCxnSpPr>
          <p:nvPr/>
        </p:nvCxnSpPr>
        <p:spPr>
          <a:xfrm>
            <a:off x="260350" y="6097798"/>
            <a:ext cx="3020396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FC2A357-0258-FFF3-9B0B-632049315677}"/>
              </a:ext>
            </a:extLst>
          </p:cNvPr>
          <p:cNvCxnSpPr>
            <a:cxnSpLocks/>
          </p:cNvCxnSpPr>
          <p:nvPr/>
        </p:nvCxnSpPr>
        <p:spPr>
          <a:xfrm flipV="1">
            <a:off x="2646264" y="5334000"/>
            <a:ext cx="0" cy="7700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9CAF97B-D285-71E4-4778-7838121638FE}"/>
              </a:ext>
            </a:extLst>
          </p:cNvPr>
          <p:cNvCxnSpPr>
            <a:cxnSpLocks/>
          </p:cNvCxnSpPr>
          <p:nvPr/>
        </p:nvCxnSpPr>
        <p:spPr>
          <a:xfrm flipV="1">
            <a:off x="1479938" y="4084379"/>
            <a:ext cx="0" cy="868265"/>
          </a:xfrm>
          <a:prstGeom prst="straightConnector1">
            <a:avLst/>
          </a:prstGeom>
          <a:ln w="12700">
            <a:solidFill>
              <a:srgbClr val="3333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97E88F8-5C0B-DBF9-B086-0FF58360AB45}"/>
              </a:ext>
            </a:extLst>
          </p:cNvPr>
          <p:cNvCxnSpPr>
            <a:cxnSpLocks/>
          </p:cNvCxnSpPr>
          <p:nvPr/>
        </p:nvCxnSpPr>
        <p:spPr>
          <a:xfrm flipV="1">
            <a:off x="649000" y="5334000"/>
            <a:ext cx="0" cy="763798"/>
          </a:xfrm>
          <a:prstGeom prst="straightConnector1">
            <a:avLst/>
          </a:prstGeom>
          <a:ln w="12700">
            <a:solidFill>
              <a:srgbClr val="008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D49ED62-4403-B567-669B-604397AD7903}"/>
              </a:ext>
            </a:extLst>
          </p:cNvPr>
          <p:cNvCxnSpPr>
            <a:cxnSpLocks/>
          </p:cNvCxnSpPr>
          <p:nvPr/>
        </p:nvCxnSpPr>
        <p:spPr>
          <a:xfrm>
            <a:off x="5291430" y="5871690"/>
            <a:ext cx="320882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4959F31D-2F1F-9912-028E-924B47E14BC3}"/>
              </a:ext>
            </a:extLst>
          </p:cNvPr>
          <p:cNvCxnSpPr>
            <a:cxnSpLocks/>
          </p:cNvCxnSpPr>
          <p:nvPr/>
        </p:nvCxnSpPr>
        <p:spPr>
          <a:xfrm flipV="1">
            <a:off x="7865771" y="4146550"/>
            <a:ext cx="0" cy="1731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810498AA-3831-9C17-F2AF-BA07771146D7}"/>
              </a:ext>
            </a:extLst>
          </p:cNvPr>
          <p:cNvSpPr/>
          <p:nvPr/>
        </p:nvSpPr>
        <p:spPr>
          <a:xfrm>
            <a:off x="7507579" y="4218686"/>
            <a:ext cx="358191" cy="1646785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952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4B78E3D-A927-D9B5-5A5F-8F9FF5279A96}"/>
              </a:ext>
            </a:extLst>
          </p:cNvPr>
          <p:cNvCxnSpPr>
            <a:cxnSpLocks/>
          </p:cNvCxnSpPr>
          <p:nvPr/>
        </p:nvCxnSpPr>
        <p:spPr>
          <a:xfrm flipV="1">
            <a:off x="5655971" y="4146550"/>
            <a:ext cx="0" cy="1731360"/>
          </a:xfrm>
          <a:prstGeom prst="straightConnector1">
            <a:avLst/>
          </a:prstGeom>
          <a:ln w="12700">
            <a:solidFill>
              <a:srgbClr val="008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자유형: 도형 38">
            <a:extLst>
              <a:ext uri="{FF2B5EF4-FFF2-40B4-BE49-F238E27FC236}">
                <a16:creationId xmlns:a16="http://schemas.microsoft.com/office/drawing/2014/main" id="{155DE05B-6BB2-D0EE-6614-9B059BD497B2}"/>
              </a:ext>
            </a:extLst>
          </p:cNvPr>
          <p:cNvSpPr/>
          <p:nvPr/>
        </p:nvSpPr>
        <p:spPr>
          <a:xfrm>
            <a:off x="6415390" y="5317405"/>
            <a:ext cx="1450380" cy="548065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9525">
            <a:solidFill>
              <a:srgbClr val="008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1617FF7C-04E9-E661-254D-25D07F6E059A}"/>
              </a:ext>
            </a:extLst>
          </p:cNvPr>
          <p:cNvSpPr/>
          <p:nvPr/>
        </p:nvSpPr>
        <p:spPr>
          <a:xfrm>
            <a:off x="1803854" y="4218686"/>
            <a:ext cx="541822" cy="721519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952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자유형: 도형 40">
            <a:extLst>
              <a:ext uri="{FF2B5EF4-FFF2-40B4-BE49-F238E27FC236}">
                <a16:creationId xmlns:a16="http://schemas.microsoft.com/office/drawing/2014/main" id="{650FC5E8-3489-63B3-FA5A-7CC7383D5FD7}"/>
              </a:ext>
            </a:extLst>
          </p:cNvPr>
          <p:cNvSpPr/>
          <p:nvPr/>
        </p:nvSpPr>
        <p:spPr>
          <a:xfrm>
            <a:off x="1541884" y="4218686"/>
            <a:ext cx="541822" cy="721519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9525">
            <a:solidFill>
              <a:srgbClr val="3333FF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자유형: 도형 42">
            <a:extLst>
              <a:ext uri="{FF2B5EF4-FFF2-40B4-BE49-F238E27FC236}">
                <a16:creationId xmlns:a16="http://schemas.microsoft.com/office/drawing/2014/main" id="{0AE9866B-C0E3-8D14-3F0D-6EE846CCC725}"/>
              </a:ext>
            </a:extLst>
          </p:cNvPr>
          <p:cNvSpPr/>
          <p:nvPr/>
        </p:nvSpPr>
        <p:spPr>
          <a:xfrm>
            <a:off x="894316" y="5788090"/>
            <a:ext cx="1513365" cy="309708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2700">
            <a:solidFill>
              <a:srgbClr val="008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자유형: 도형 43">
            <a:extLst>
              <a:ext uri="{FF2B5EF4-FFF2-40B4-BE49-F238E27FC236}">
                <a16:creationId xmlns:a16="http://schemas.microsoft.com/office/drawing/2014/main" id="{92AE32CA-6417-E7BB-56FA-A98E0CBDEC79}"/>
              </a:ext>
            </a:extLst>
          </p:cNvPr>
          <p:cNvSpPr/>
          <p:nvPr/>
        </p:nvSpPr>
        <p:spPr>
          <a:xfrm>
            <a:off x="649000" y="5788090"/>
            <a:ext cx="1513365" cy="309708"/>
          </a:xfrm>
          <a:custGeom>
            <a:avLst/>
            <a:gdLst>
              <a:gd name="csX0" fmla="*/ 1154906 w 1154906"/>
              <a:gd name="csY0" fmla="*/ 721519 h 721519"/>
              <a:gd name="csX1" fmla="*/ 938213 w 1154906"/>
              <a:gd name="csY1" fmla="*/ 578644 h 721519"/>
              <a:gd name="csX2" fmla="*/ 581025 w 1154906"/>
              <a:gd name="csY2" fmla="*/ 0 h 721519"/>
              <a:gd name="csX3" fmla="*/ 219075 w 1154906"/>
              <a:gd name="csY3" fmla="*/ 578644 h 721519"/>
              <a:gd name="csX4" fmla="*/ 0 w 1154906"/>
              <a:gd name="csY4" fmla="*/ 716756 h 72151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54906" h="721519">
                <a:moveTo>
                  <a:pt x="1154906" y="721519"/>
                </a:moveTo>
                <a:cubicBezTo>
                  <a:pt x="1094383" y="710208"/>
                  <a:pt x="1033860" y="698897"/>
                  <a:pt x="938213" y="578644"/>
                </a:cubicBezTo>
                <a:cubicBezTo>
                  <a:pt x="842566" y="458391"/>
                  <a:pt x="700881" y="0"/>
                  <a:pt x="581025" y="0"/>
                </a:cubicBezTo>
                <a:cubicBezTo>
                  <a:pt x="461169" y="0"/>
                  <a:pt x="315912" y="459185"/>
                  <a:pt x="219075" y="578644"/>
                </a:cubicBezTo>
                <a:cubicBezTo>
                  <a:pt x="122237" y="698103"/>
                  <a:pt x="61118" y="707429"/>
                  <a:pt x="0" y="716756"/>
                </a:cubicBezTo>
              </a:path>
            </a:pathLst>
          </a:custGeom>
          <a:noFill/>
          <a:ln w="12700">
            <a:solidFill>
              <a:srgbClr val="008000"/>
            </a:solidFill>
            <a:prstDash val="dash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3AECAD9-F202-E72A-0E70-F9CE7B62A3D4}"/>
              </a:ext>
            </a:extLst>
          </p:cNvPr>
          <p:cNvSpPr txBox="1"/>
          <p:nvPr/>
        </p:nvSpPr>
        <p:spPr>
          <a:xfrm>
            <a:off x="2764452" y="4190913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Shallow Trap:</a:t>
            </a:r>
          </a:p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narrow distribution, fast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043CEF-7C3D-F482-812D-A63F919D4D9C}"/>
              </a:ext>
            </a:extLst>
          </p:cNvPr>
          <p:cNvSpPr txBox="1"/>
          <p:nvPr/>
        </p:nvSpPr>
        <p:spPr>
          <a:xfrm>
            <a:off x="2764452" y="5557984"/>
            <a:ext cx="2276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Trap:</a:t>
            </a:r>
          </a:p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wide distribution, slow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49" name="그림 48" descr="그래프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95E2F6-7D21-1DA7-372C-090F26E97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10" y="2055634"/>
            <a:ext cx="2021760" cy="1471760"/>
          </a:xfrm>
          <a:prstGeom prst="rect">
            <a:avLst/>
          </a:prstGeom>
        </p:spPr>
      </p:pic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EA499F90-C384-F7E3-9B09-1EB1996892F8}"/>
              </a:ext>
            </a:extLst>
          </p:cNvPr>
          <p:cNvCxnSpPr>
            <a:cxnSpLocks/>
          </p:cNvCxnSpPr>
          <p:nvPr/>
        </p:nvCxnSpPr>
        <p:spPr>
          <a:xfrm flipV="1">
            <a:off x="7275221" y="4146550"/>
            <a:ext cx="0" cy="1731360"/>
          </a:xfrm>
          <a:prstGeom prst="straightConnector1">
            <a:avLst/>
          </a:prstGeom>
          <a:ln w="12700">
            <a:solidFill>
              <a:srgbClr val="3333FF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화살표: 왼쪽 52">
            <a:extLst>
              <a:ext uri="{FF2B5EF4-FFF2-40B4-BE49-F238E27FC236}">
                <a16:creationId xmlns:a16="http://schemas.microsoft.com/office/drawing/2014/main" id="{95065565-35FB-459C-619D-CCF30A728147}"/>
              </a:ext>
            </a:extLst>
          </p:cNvPr>
          <p:cNvSpPr/>
          <p:nvPr/>
        </p:nvSpPr>
        <p:spPr>
          <a:xfrm>
            <a:off x="1650998" y="4057710"/>
            <a:ext cx="877076" cy="88840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화살표: 왼쪽 53">
            <a:extLst>
              <a:ext uri="{FF2B5EF4-FFF2-40B4-BE49-F238E27FC236}">
                <a16:creationId xmlns:a16="http://schemas.microsoft.com/office/drawing/2014/main" id="{9DC89362-B9CD-B6FA-4578-AC851C51F398}"/>
              </a:ext>
            </a:extLst>
          </p:cNvPr>
          <p:cNvSpPr/>
          <p:nvPr/>
        </p:nvSpPr>
        <p:spPr>
          <a:xfrm>
            <a:off x="1593328" y="5543590"/>
            <a:ext cx="182398" cy="157469"/>
          </a:xfrm>
          <a:prstGeom prst="lef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자유형: 도형 54">
            <a:extLst>
              <a:ext uri="{FF2B5EF4-FFF2-40B4-BE49-F238E27FC236}">
                <a16:creationId xmlns:a16="http://schemas.microsoft.com/office/drawing/2014/main" id="{1347C8FD-7C2C-B9FC-38F1-58448ECEC15A}"/>
              </a:ext>
            </a:extLst>
          </p:cNvPr>
          <p:cNvSpPr/>
          <p:nvPr/>
        </p:nvSpPr>
        <p:spPr>
          <a:xfrm>
            <a:off x="6415380" y="4071274"/>
            <a:ext cx="1428750" cy="1789776"/>
          </a:xfrm>
          <a:custGeom>
            <a:avLst/>
            <a:gdLst>
              <a:gd name="csX0" fmla="*/ 0 w 1428750"/>
              <a:gd name="csY0" fmla="*/ 1789776 h 1789776"/>
              <a:gd name="csX1" fmla="*/ 304800 w 1428750"/>
              <a:gd name="csY1" fmla="*/ 1599276 h 1789776"/>
              <a:gd name="csX2" fmla="*/ 723900 w 1428750"/>
              <a:gd name="csY2" fmla="*/ 1097626 h 1789776"/>
              <a:gd name="csX3" fmla="*/ 1016000 w 1428750"/>
              <a:gd name="csY3" fmla="*/ 1046826 h 1789776"/>
              <a:gd name="csX4" fmla="*/ 1250950 w 1428750"/>
              <a:gd name="csY4" fmla="*/ 100676 h 1789776"/>
              <a:gd name="csX5" fmla="*/ 1352550 w 1428750"/>
              <a:gd name="csY5" fmla="*/ 214976 h 1789776"/>
              <a:gd name="csX6" fmla="*/ 1428750 w 1428750"/>
              <a:gd name="csY6" fmla="*/ 1764376 h 17897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428750" h="1789776">
                <a:moveTo>
                  <a:pt x="0" y="1789776"/>
                </a:moveTo>
                <a:cubicBezTo>
                  <a:pt x="92075" y="1752205"/>
                  <a:pt x="184150" y="1714634"/>
                  <a:pt x="304800" y="1599276"/>
                </a:cubicBezTo>
                <a:cubicBezTo>
                  <a:pt x="425450" y="1483918"/>
                  <a:pt x="605367" y="1189701"/>
                  <a:pt x="723900" y="1097626"/>
                </a:cubicBezTo>
                <a:cubicBezTo>
                  <a:pt x="842433" y="1005551"/>
                  <a:pt x="928158" y="1212984"/>
                  <a:pt x="1016000" y="1046826"/>
                </a:cubicBezTo>
                <a:cubicBezTo>
                  <a:pt x="1103842" y="880668"/>
                  <a:pt x="1194858" y="239318"/>
                  <a:pt x="1250950" y="100676"/>
                </a:cubicBezTo>
                <a:cubicBezTo>
                  <a:pt x="1307042" y="-37966"/>
                  <a:pt x="1322917" y="-62307"/>
                  <a:pt x="1352550" y="214976"/>
                </a:cubicBezTo>
                <a:cubicBezTo>
                  <a:pt x="1382183" y="492259"/>
                  <a:pt x="1405466" y="1128317"/>
                  <a:pt x="1428750" y="1764376"/>
                </a:cubicBezTo>
              </a:path>
            </a:pathLst>
          </a:cu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A9A0BA7-243C-1610-A08C-C7720430C25C}"/>
              </a:ext>
            </a:extLst>
          </p:cNvPr>
          <p:cNvSpPr txBox="1"/>
          <p:nvPr/>
        </p:nvSpPr>
        <p:spPr>
          <a:xfrm>
            <a:off x="7349476" y="5950046"/>
            <a:ext cx="10325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Initial V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th</a:t>
            </a:r>
            <a:endParaRPr lang="ko-KR" altLang="en-US" sz="16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pic>
        <p:nvPicPr>
          <p:cNvPr id="58" name="그림 57" descr="라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DA7C97-9ACF-2167-7A71-08583479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500" y="2173443"/>
            <a:ext cx="1876173" cy="1294212"/>
          </a:xfrm>
          <a:prstGeom prst="rect">
            <a:avLst/>
          </a:prstGeom>
        </p:spPr>
      </p:pic>
      <p:pic>
        <p:nvPicPr>
          <p:cNvPr id="59" name="그림 58" descr="텍스트, 도표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CF5BCB-0809-1924-F771-DFDF76ED1D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062"/>
          <a:stretch>
            <a:fillRect/>
          </a:stretch>
        </p:blipFill>
        <p:spPr>
          <a:xfrm>
            <a:off x="3220720" y="2070529"/>
            <a:ext cx="1364131" cy="1588093"/>
          </a:xfrm>
          <a:prstGeom prst="rect">
            <a:avLst/>
          </a:prstGeom>
        </p:spPr>
      </p:pic>
      <p:sp>
        <p:nvSpPr>
          <p:cNvPr id="60" name="직사각형 59">
            <a:extLst>
              <a:ext uri="{FF2B5EF4-FFF2-40B4-BE49-F238E27FC236}">
                <a16:creationId xmlns:a16="http://schemas.microsoft.com/office/drawing/2014/main" id="{12360F13-BC80-34A2-2ADE-6B1F107CE88C}"/>
              </a:ext>
            </a:extLst>
          </p:cNvPr>
          <p:cNvSpPr/>
          <p:nvPr/>
        </p:nvSpPr>
        <p:spPr>
          <a:xfrm>
            <a:off x="3644900" y="2368210"/>
            <a:ext cx="425450" cy="6343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288D3FF-95E9-F808-1938-929E3B0E2B75}"/>
              </a:ext>
            </a:extLst>
          </p:cNvPr>
          <p:cNvCxnSpPr>
            <a:cxnSpLocks/>
            <a:stCxn id="60" idx="1"/>
          </p:cNvCxnSpPr>
          <p:nvPr/>
        </p:nvCxnSpPr>
        <p:spPr>
          <a:xfrm flipH="1">
            <a:off x="2597150" y="2685362"/>
            <a:ext cx="10477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04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31901-AC7E-DA75-1DC4-3E1A52B8A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Detrapping</a:t>
            </a:r>
            <a:r>
              <a:rPr lang="en-US" altLang="ko-KR" dirty="0"/>
              <a:t> Characteristic Variations</a:t>
            </a:r>
            <a:endParaRPr lang="ko-KR" altLang="en-US" dirty="0"/>
          </a:p>
        </p:txBody>
      </p:sp>
      <p:pic>
        <p:nvPicPr>
          <p:cNvPr id="5" name="그림 4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7235DD-97C1-F01D-6D5C-58C174EFD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29" y="4395466"/>
            <a:ext cx="2105871" cy="1774706"/>
          </a:xfrm>
          <a:prstGeom prst="rect">
            <a:avLst/>
          </a:prstGeom>
        </p:spPr>
      </p:pic>
      <p:pic>
        <p:nvPicPr>
          <p:cNvPr id="8" name="그림 7" descr="텍스트, 도표, 라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525148-08F2-D9AE-0FC3-5DF2E1C6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830" y="1658734"/>
            <a:ext cx="2105870" cy="1772322"/>
          </a:xfrm>
          <a:prstGeom prst="rect">
            <a:avLst/>
          </a:prstGeom>
        </p:spPr>
      </p:pic>
      <p:pic>
        <p:nvPicPr>
          <p:cNvPr id="10" name="그림 9" descr="텍스트, 스크린샷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2329DB-92DE-038A-8138-34089DCAB1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2633" y="1353362"/>
            <a:ext cx="4928767" cy="414810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3817693-E237-1733-6371-17D3B784A379}"/>
              </a:ext>
            </a:extLst>
          </p:cNvPr>
          <p:cNvSpPr txBox="1"/>
          <p:nvPr/>
        </p:nvSpPr>
        <p:spPr>
          <a:xfrm>
            <a:off x="688128" y="1030679"/>
            <a:ext cx="18772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Only Shallow</a:t>
            </a:r>
          </a:p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(fast, narrow)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47DC27-10A9-CE73-F254-1F2E2A51D40C}"/>
              </a:ext>
            </a:extLst>
          </p:cNvPr>
          <p:cNvSpPr txBox="1"/>
          <p:nvPr/>
        </p:nvSpPr>
        <p:spPr>
          <a:xfrm>
            <a:off x="688128" y="3779913"/>
            <a:ext cx="18772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Only Deep</a:t>
            </a:r>
          </a:p>
          <a:p>
            <a:pPr algn="ctr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(slow, wide)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sp>
        <p:nvSpPr>
          <p:cNvPr id="14" name="십자형 13">
            <a:extLst>
              <a:ext uri="{FF2B5EF4-FFF2-40B4-BE49-F238E27FC236}">
                <a16:creationId xmlns:a16="http://schemas.microsoft.com/office/drawing/2014/main" id="{2964590F-224B-82BE-1A51-F537B10423C9}"/>
              </a:ext>
            </a:extLst>
          </p:cNvPr>
          <p:cNvSpPr/>
          <p:nvPr/>
        </p:nvSpPr>
        <p:spPr>
          <a:xfrm>
            <a:off x="1398162" y="3365843"/>
            <a:ext cx="457201" cy="457201"/>
          </a:xfrm>
          <a:prstGeom prst="plus">
            <a:avLst>
              <a:gd name="adj" fmla="val 40385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같음 기호 14">
            <a:extLst>
              <a:ext uri="{FF2B5EF4-FFF2-40B4-BE49-F238E27FC236}">
                <a16:creationId xmlns:a16="http://schemas.microsoft.com/office/drawing/2014/main" id="{279BBAE1-773E-4E35-B78A-C885EB61A2AF}"/>
              </a:ext>
            </a:extLst>
          </p:cNvPr>
          <p:cNvSpPr/>
          <p:nvPr/>
        </p:nvSpPr>
        <p:spPr>
          <a:xfrm>
            <a:off x="2786484" y="3325884"/>
            <a:ext cx="717550" cy="717550"/>
          </a:xfrm>
          <a:prstGeom prst="mathEqual">
            <a:avLst>
              <a:gd name="adj1" fmla="val 12901"/>
              <a:gd name="adj2" fmla="val 11760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4763B5-B4CA-E33A-4256-9D15AE885451}"/>
              </a:ext>
            </a:extLst>
          </p:cNvPr>
          <p:cNvSpPr txBox="1"/>
          <p:nvPr/>
        </p:nvSpPr>
        <p:spPr>
          <a:xfrm>
            <a:off x="7448550" y="1564132"/>
            <a:ext cx="12128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Shallow trap retention variation dominant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0A2A7E69-CE0F-4F25-C886-402D30E47375}"/>
              </a:ext>
            </a:extLst>
          </p:cNvPr>
          <p:cNvCxnSpPr/>
          <p:nvPr/>
        </p:nvCxnSpPr>
        <p:spPr>
          <a:xfrm>
            <a:off x="7308850" y="2544895"/>
            <a:ext cx="12890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타원 18">
            <a:extLst>
              <a:ext uri="{FF2B5EF4-FFF2-40B4-BE49-F238E27FC236}">
                <a16:creationId xmlns:a16="http://schemas.microsoft.com/office/drawing/2014/main" id="{A83FC679-49BC-9CFF-6674-D8C18E8D1602}"/>
              </a:ext>
            </a:extLst>
          </p:cNvPr>
          <p:cNvSpPr/>
          <p:nvPr/>
        </p:nvSpPr>
        <p:spPr>
          <a:xfrm>
            <a:off x="5892800" y="4395466"/>
            <a:ext cx="1295400" cy="919484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FEAD40-048F-6715-68E8-32F5E3CEAAA0}"/>
              </a:ext>
            </a:extLst>
          </p:cNvPr>
          <p:cNvSpPr txBox="1"/>
          <p:nvPr/>
        </p:nvSpPr>
        <p:spPr>
          <a:xfrm>
            <a:off x="6750895" y="5575119"/>
            <a:ext cx="2298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 retention distribution widening starts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C7C0A2C9-D48A-B93B-92BC-D229490EE69E}"/>
              </a:ext>
            </a:extLst>
          </p:cNvPr>
          <p:cNvCxnSpPr>
            <a:stCxn id="19" idx="5"/>
          </p:cNvCxnSpPr>
          <p:nvPr/>
        </p:nvCxnSpPr>
        <p:spPr>
          <a:xfrm>
            <a:off x="6998493" y="5180295"/>
            <a:ext cx="189707" cy="42040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C2DD52F-854A-99E6-A5D2-043B9B942912}"/>
              </a:ext>
            </a:extLst>
          </p:cNvPr>
          <p:cNvCxnSpPr>
            <a:cxnSpLocks/>
          </p:cNvCxnSpPr>
          <p:nvPr/>
        </p:nvCxnSpPr>
        <p:spPr>
          <a:xfrm>
            <a:off x="4197350" y="4227645"/>
            <a:ext cx="2711450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8EF96EA-A4D9-0163-469B-6ACE7E58418D}"/>
              </a:ext>
            </a:extLst>
          </p:cNvPr>
          <p:cNvSpPr txBox="1"/>
          <p:nvPr/>
        </p:nvSpPr>
        <p:spPr>
          <a:xfrm>
            <a:off x="4403587" y="3684659"/>
            <a:ext cx="2298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Arial" panose="020B0604020202020204" pitchFamily="34" charset="0"/>
                <a:ea typeface="맑은 고딕"/>
                <a:cs typeface="Arial" panose="020B0604020202020204" pitchFamily="34" charset="0"/>
              </a:rPr>
              <a:t>Deep trap retention variation dominant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Arial" panose="020B0604020202020204" pitchFamily="34" charset="0"/>
              <a:ea typeface="맑은 고딕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9851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Arial" panose="020B0604020202020204" pitchFamily="34" charset="0"/>
            <a:ea typeface="맑은 고딕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252</Words>
  <Application>Microsoft Office PowerPoint</Application>
  <PresentationFormat>화면 슬라이드 쇼(4:3)</PresentationFormat>
  <Paragraphs>60</Paragraphs>
  <Slides>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맑은 고딕</vt:lpstr>
      <vt:lpstr>Arial</vt:lpstr>
      <vt:lpstr>Calibri</vt:lpstr>
      <vt:lpstr>Cambria Math</vt:lpstr>
      <vt:lpstr>Times New Roman</vt:lpstr>
      <vt:lpstr>Office 테마</vt:lpstr>
      <vt:lpstr>Origin Graph</vt:lpstr>
      <vt:lpstr>25년 12월 연구미팅자료  진명</vt:lpstr>
      <vt:lpstr>Detrapping from CTN Overview</vt:lpstr>
      <vt:lpstr>Detrapping from CTN Overview</vt:lpstr>
      <vt:lpstr>Detrapping Transient &amp; TCAD Fitting</vt:lpstr>
      <vt:lpstr>Detrapping Characteristic Variations</vt:lpstr>
      <vt:lpstr>Detrapping Characteristic Variations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968</cp:revision>
  <dcterms:created xsi:type="dcterms:W3CDTF">2016-06-02T05:19:04Z</dcterms:created>
  <dcterms:modified xsi:type="dcterms:W3CDTF">2025-12-30T16:05:11Z</dcterms:modified>
  <cp:version/>
</cp:coreProperties>
</file>