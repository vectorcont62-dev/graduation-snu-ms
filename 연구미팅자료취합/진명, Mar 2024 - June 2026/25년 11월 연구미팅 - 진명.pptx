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72" r:id="rId1"/>
  </p:sldMasterIdLst>
  <p:notesMasterIdLst>
    <p:notesMasterId r:id="rId9"/>
  </p:notesMasterIdLst>
  <p:sldIdLst>
    <p:sldId id="314" r:id="rId2"/>
    <p:sldId id="317" r:id="rId3"/>
    <p:sldId id="318" r:id="rId4"/>
    <p:sldId id="319" r:id="rId5"/>
    <p:sldId id="320" r:id="rId6"/>
    <p:sldId id="321" r:id="rId7"/>
    <p:sldId id="322" r:id="rId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48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A1F6FF-68F2-4249-8D89-0F330D1F5B44}" v="1" dt="2025-12-30T14:43:32.2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49" autoAdjust="0"/>
    <p:restoredTop sz="97300" autoAdjust="0"/>
  </p:normalViewPr>
  <p:slideViewPr>
    <p:cSldViewPr snapToGrid="0">
      <p:cViewPr varScale="1">
        <p:scale>
          <a:sx n="151" d="100"/>
          <a:sy n="151" d="100"/>
        </p:scale>
        <p:origin x="1914" y="108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1442CAFF-C376-405E-80FE-32277BA9AD5E}"/>
    <pc:docChg chg="undo custSel addSld delSld modSld modMainMaster">
      <pc:chgData name="MYUNG JIN" userId="89f3fa32ababedc4" providerId="LiveId" clId="{1442CAFF-C376-405E-80FE-32277BA9AD5E}" dt="2025-12-30T14:43:32.237" v="1828" actId="165"/>
      <pc:docMkLst>
        <pc:docMk/>
      </pc:docMkLst>
      <pc:sldChg chg="delSp modSp">
        <pc:chgData name="MYUNG JIN" userId="89f3fa32ababedc4" providerId="LiveId" clId="{1442CAFF-C376-405E-80FE-32277BA9AD5E}" dt="2025-12-30T14:43:32.237" v="1828" actId="165"/>
        <pc:sldMkLst>
          <pc:docMk/>
          <pc:sldMk cId="4284338184" sldId="321"/>
        </pc:sldMkLst>
        <pc:spChg chg="mod topLvl">
          <ac:chgData name="MYUNG JIN" userId="89f3fa32ababedc4" providerId="LiveId" clId="{1442CAFF-C376-405E-80FE-32277BA9AD5E}" dt="2025-12-30T14:43:32.237" v="1828" actId="165"/>
          <ac:spMkLst>
            <pc:docMk/>
            <pc:sldMk cId="4284338184" sldId="321"/>
            <ac:spMk id="7" creationId="{3F315F9E-1D00-5F67-9227-B196489E8F4B}"/>
          </ac:spMkLst>
        </pc:spChg>
        <pc:spChg chg="mod topLvl">
          <ac:chgData name="MYUNG JIN" userId="89f3fa32ababedc4" providerId="LiveId" clId="{1442CAFF-C376-405E-80FE-32277BA9AD5E}" dt="2025-12-30T14:43:32.237" v="1828" actId="165"/>
          <ac:spMkLst>
            <pc:docMk/>
            <pc:sldMk cId="4284338184" sldId="321"/>
            <ac:spMk id="13" creationId="{4B13381C-C84F-8FCD-92C7-1BB61D66FB78}"/>
          </ac:spMkLst>
        </pc:spChg>
        <pc:spChg chg="mod topLvl">
          <ac:chgData name="MYUNG JIN" userId="89f3fa32ababedc4" providerId="LiveId" clId="{1442CAFF-C376-405E-80FE-32277BA9AD5E}" dt="2025-12-30T14:43:32.237" v="1828" actId="165"/>
          <ac:spMkLst>
            <pc:docMk/>
            <pc:sldMk cId="4284338184" sldId="321"/>
            <ac:spMk id="14" creationId="{07124355-DF34-9970-6E3A-63EB5D908072}"/>
          </ac:spMkLst>
        </pc:spChg>
        <pc:spChg chg="mod topLvl">
          <ac:chgData name="MYUNG JIN" userId="89f3fa32ababedc4" providerId="LiveId" clId="{1442CAFF-C376-405E-80FE-32277BA9AD5E}" dt="2025-12-30T14:43:32.237" v="1828" actId="165"/>
          <ac:spMkLst>
            <pc:docMk/>
            <pc:sldMk cId="4284338184" sldId="321"/>
            <ac:spMk id="15" creationId="{184ACF9D-4B42-6305-F64D-275C217228D6}"/>
          </ac:spMkLst>
        </pc:spChg>
        <pc:spChg chg="mod topLvl">
          <ac:chgData name="MYUNG JIN" userId="89f3fa32ababedc4" providerId="LiveId" clId="{1442CAFF-C376-405E-80FE-32277BA9AD5E}" dt="2025-12-30T14:43:32.237" v="1828" actId="165"/>
          <ac:spMkLst>
            <pc:docMk/>
            <pc:sldMk cId="4284338184" sldId="321"/>
            <ac:spMk id="16" creationId="{974937CA-AB43-0934-3829-07C7E5977311}"/>
          </ac:spMkLst>
        </pc:spChg>
        <pc:spChg chg="mod topLvl">
          <ac:chgData name="MYUNG JIN" userId="89f3fa32ababedc4" providerId="LiveId" clId="{1442CAFF-C376-405E-80FE-32277BA9AD5E}" dt="2025-12-30T14:43:32.237" v="1828" actId="165"/>
          <ac:spMkLst>
            <pc:docMk/>
            <pc:sldMk cId="4284338184" sldId="321"/>
            <ac:spMk id="17" creationId="{44F1F49D-E588-26CE-83CE-456222134EBD}"/>
          </ac:spMkLst>
        </pc:spChg>
        <pc:grpChg chg="del">
          <ac:chgData name="MYUNG JIN" userId="89f3fa32ababedc4" providerId="LiveId" clId="{1442CAFF-C376-405E-80FE-32277BA9AD5E}" dt="2025-12-30T14:43:32.237" v="1828" actId="165"/>
          <ac:grpSpMkLst>
            <pc:docMk/>
            <pc:sldMk cId="4284338184" sldId="321"/>
            <ac:grpSpMk id="18" creationId="{B7CDF039-48FC-BB8B-E371-314A8A8EE8A6}"/>
          </ac:grpSpMkLst>
        </pc:grpChg>
        <pc:picChg chg="mod topLvl">
          <ac:chgData name="MYUNG JIN" userId="89f3fa32ababedc4" providerId="LiveId" clId="{1442CAFF-C376-405E-80FE-32277BA9AD5E}" dt="2025-12-30T14:43:32.237" v="1828" actId="165"/>
          <ac:picMkLst>
            <pc:docMk/>
            <pc:sldMk cId="4284338184" sldId="321"/>
            <ac:picMk id="6" creationId="{A0930D91-8526-4A16-BB24-E81201B9C188}"/>
          </ac:picMkLst>
        </pc:picChg>
        <pc:cxnChg chg="mod topLvl">
          <ac:chgData name="MYUNG JIN" userId="89f3fa32ababedc4" providerId="LiveId" clId="{1442CAFF-C376-405E-80FE-32277BA9AD5E}" dt="2025-12-30T14:43:32.237" v="1828" actId="165"/>
          <ac:cxnSpMkLst>
            <pc:docMk/>
            <pc:sldMk cId="4284338184" sldId="321"/>
            <ac:cxnSpMk id="9" creationId="{58AC9D17-8A3B-BFD3-5F7F-DEE30276D883}"/>
          </ac:cxnSpMkLst>
        </pc:cxnChg>
        <pc:cxnChg chg="mod topLvl">
          <ac:chgData name="MYUNG JIN" userId="89f3fa32ababedc4" providerId="LiveId" clId="{1442CAFF-C376-405E-80FE-32277BA9AD5E}" dt="2025-12-30T14:43:32.237" v="1828" actId="165"/>
          <ac:cxnSpMkLst>
            <pc:docMk/>
            <pc:sldMk cId="4284338184" sldId="321"/>
            <ac:cxnSpMk id="10" creationId="{C047AC9E-A696-4B21-3C1F-6D9C90DB302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80F2F1-247D-439A-AE1A-1AD18BF0EBC5}" type="datetime1">
              <a:rPr lang="ko-KR" altLang="en-US"/>
              <a:pPr lvl="0">
                <a:defRPr/>
              </a:pPr>
              <a:t>2025-12-30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69D8441-CF3E-4C34-A420-65ADD8A7BB0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>
                <a:solidFill>
                  <a:srgbClr val="FFFFFF"/>
                </a:solidFill>
              </a:rPr>
              <a:t>/ 6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37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73E09DDB-F9AA-B7CF-1BD1-467229BF433E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637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303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4A334C5-B9FA-4ED1-A744-F408B6777B24}" type="datetime1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0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E5042A7-DF43-46DE-92FC-CFB97544BBB3}" type="datetime1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916D5AD-5A6F-454C-9545-6885344E280D}" type="datetime1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1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3F7BB00-28E5-4A3B-9E5F-1F4BB3A8F165}" type="datetime1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2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EAC59B-C817-48F5-8ACE-D9D17C2470A4}" type="datetime1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9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B0509C-DF52-4D9E-B08B-80FF4BADBE5B}" type="datetime1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61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7E32654-65AB-44C2-B15A-24814E9FAC6C}" type="datetime1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34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A4443EB-2E16-4E63-8781-456863843F67}" type="datetime1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59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33B04AE-6A3D-446A-BA2E-D60D9DF7E98F}" type="datetime1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92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F9506-E5DD-4FE8-0BB7-EACC1C891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5DBDE6-F08E-5E13-9BC0-67987A6A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DA8C695-F3F3-4DFA-BE8E-F96FA1E20C9A}" type="datetime1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BAB051-DD19-19B3-C999-DD1B7F47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96CDF9-9319-B249-5F10-09AFE0D9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7706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 latinLnBrk="1">
              <a:defRPr/>
            </a:pPr>
            <a:endParaRPr kumimoji="1" lang="ko-KR" altLang="en-US" sz="4400" b="1" dirty="0">
              <a:solidFill>
                <a:srgbClr val="0000FF"/>
              </a:solidFill>
              <a:effectLst/>
              <a:latin typeface="Calibri"/>
              <a:ea typeface="굴림"/>
              <a:cs typeface="굴림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B2251B-B63B-3A95-4A71-181753A1254A}"/>
              </a:ext>
            </a:extLst>
          </p:cNvPr>
          <p:cNvSpPr/>
          <p:nvPr userDrawn="1"/>
        </p:nvSpPr>
        <p:spPr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600" b="0" i="0" u="none" strike="noStrike" cap="none" normalizeH="0">
              <a:solidFill>
                <a:schemeClr val="tx1"/>
              </a:solidFill>
              <a:effectLst/>
              <a:latin typeface="Times New Roman"/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AE41EA-423B-2D50-1B61-33F790630545}"/>
              </a:ext>
            </a:extLst>
          </p:cNvPr>
          <p:cNvSpPr/>
          <p:nvPr userDrawn="1"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School of Electrical Engineering, Seoul National University</a:t>
            </a:r>
            <a:endParaRPr lang="en-US" altLang="ko-KR" sz="1100" b="1" kern="0"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E44581E-9BA8-E469-247F-0330F2662E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2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5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3" r:id="rId14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E249DC-8914-7D45-D9D6-4D9952A1C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Modeling</a:t>
            </a:r>
            <a:r>
              <a:rPr lang="ko-KR" altLang="en-US"/>
              <a:t> </a:t>
            </a:r>
            <a:r>
              <a:rPr lang="en-US" altLang="ko-KR"/>
              <a:t>Methodology of CTN Detrapping</a:t>
            </a:r>
            <a:br>
              <a:rPr lang="en-US" altLang="ko-KR"/>
            </a:br>
            <a:br>
              <a:rPr lang="en-US" altLang="ko-KR"/>
            </a:br>
            <a:r>
              <a:rPr lang="en-US" altLang="ko-KR"/>
              <a:t>CTN Cell Information Method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5824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2F7985-64BD-84D1-4486-A8B6E3B64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Remind) Detailed Poisson Solution</a:t>
            </a:r>
            <a:endParaRPr lang="ko-KR" altLang="en-US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79F5B66-CE5E-3EB0-EC8E-8637B549BE3A}"/>
              </a:ext>
            </a:extLst>
          </p:cNvPr>
          <p:cNvSpPr txBox="1"/>
          <p:nvPr/>
        </p:nvSpPr>
        <p:spPr>
          <a:xfrm>
            <a:off x="485192" y="1082351"/>
            <a:ext cx="69170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Remind) Detailed Poisson solution has been calculated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234" name="그림 233">
            <a:extLst>
              <a:ext uri="{FF2B5EF4-FFF2-40B4-BE49-F238E27FC236}">
                <a16:creationId xmlns:a16="http://schemas.microsoft.com/office/drawing/2014/main" id="{89468471-3E9E-C53C-19E1-D609639A4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403" y="1592860"/>
            <a:ext cx="4711193" cy="2390805"/>
          </a:xfrm>
          <a:prstGeom prst="rect">
            <a:avLst/>
          </a:prstGeom>
        </p:spPr>
      </p:pic>
      <p:sp>
        <p:nvSpPr>
          <p:cNvPr id="235" name="화살표: 오른쪽 234">
            <a:extLst>
              <a:ext uri="{FF2B5EF4-FFF2-40B4-BE49-F238E27FC236}">
                <a16:creationId xmlns:a16="http://schemas.microsoft.com/office/drawing/2014/main" id="{6BCDBE5F-1E41-2CBF-97C4-6371BC784DEE}"/>
              </a:ext>
            </a:extLst>
          </p:cNvPr>
          <p:cNvSpPr/>
          <p:nvPr/>
        </p:nvSpPr>
        <p:spPr>
          <a:xfrm>
            <a:off x="868635" y="5266919"/>
            <a:ext cx="822061" cy="368397"/>
          </a:xfrm>
          <a:prstGeom prst="righ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6" name="그림 235">
            <a:extLst>
              <a:ext uri="{FF2B5EF4-FFF2-40B4-BE49-F238E27FC236}">
                <a16:creationId xmlns:a16="http://schemas.microsoft.com/office/drawing/2014/main" id="{1B008310-BD60-DD0A-13F9-3B044C09B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6723" y="4575519"/>
            <a:ext cx="3720658" cy="1846515"/>
          </a:xfrm>
          <a:prstGeom prst="rect">
            <a:avLst/>
          </a:prstGeom>
        </p:spPr>
      </p:pic>
      <p:sp>
        <p:nvSpPr>
          <p:cNvPr id="237" name="TextBox 236">
            <a:extLst>
              <a:ext uri="{FF2B5EF4-FFF2-40B4-BE49-F238E27FC236}">
                <a16:creationId xmlns:a16="http://schemas.microsoft.com/office/drawing/2014/main" id="{604E7E5C-2F3C-9EBD-7971-7099D9076F60}"/>
              </a:ext>
            </a:extLst>
          </p:cNvPr>
          <p:cNvSpPr txBox="1"/>
          <p:nvPr/>
        </p:nvSpPr>
        <p:spPr>
          <a:xfrm>
            <a:off x="331028" y="4094065"/>
            <a:ext cx="79918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Emission Modeling based on Detailed Poisson Solution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24026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D88303-A4AB-0206-1DCB-020CDFA55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Cell Information Methodology</a:t>
            </a:r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78475AD-75C5-1C92-BE87-E53799282963}"/>
              </a:ext>
            </a:extLst>
          </p:cNvPr>
          <p:cNvSpPr txBox="1"/>
          <p:nvPr/>
        </p:nvSpPr>
        <p:spPr>
          <a:xfrm>
            <a:off x="4285861" y="4468244"/>
            <a:ext cx="460932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Each cell C</a:t>
            </a:r>
            <a:r>
              <a:rPr lang="en-US" altLang="ko-KR" sz="2000" i="1" baseline="-25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ij</a:t>
            </a:r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contains informations</a:t>
            </a:r>
          </a:p>
          <a:p>
            <a:pPr marL="457200" indent="-457200">
              <a:buAutoNum type="arabicParenBoth"/>
            </a:pPr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Location (i)</a:t>
            </a:r>
          </a:p>
          <a:p>
            <a:pPr marL="457200" indent="-457200">
              <a:buAutoNum type="arabicParenBoth"/>
            </a:pPr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depth (j)</a:t>
            </a:r>
          </a:p>
          <a:p>
            <a:pPr marL="457200" indent="-457200">
              <a:buAutoNum type="arabicParenBoth"/>
            </a:pPr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concentration</a:t>
            </a:r>
          </a:p>
          <a:p>
            <a:pPr marL="457200" indent="-457200">
              <a:buAutoNum type="arabicParenBoth"/>
            </a:pPr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Emission rate to channel direction</a:t>
            </a:r>
          </a:p>
          <a:p>
            <a:pPr marL="457200" indent="-457200">
              <a:buAutoNum type="arabicParenBoth"/>
            </a:pPr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Emission rate to wordline direction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A9DDC17A-4A09-66D6-D1F9-2BD649993D1C}"/>
              </a:ext>
            </a:extLst>
          </p:cNvPr>
          <p:cNvGrpSpPr/>
          <p:nvPr/>
        </p:nvGrpSpPr>
        <p:grpSpPr>
          <a:xfrm>
            <a:off x="1084170" y="868882"/>
            <a:ext cx="7881216" cy="4357374"/>
            <a:chOff x="1084170" y="868882"/>
            <a:chExt cx="7881216" cy="4357374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C50E5CDB-3BA2-3159-EBCC-14C6BC69E9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4170" y="962166"/>
              <a:ext cx="2395685" cy="4264090"/>
            </a:xfrm>
            <a:prstGeom prst="rect">
              <a:avLst/>
            </a:prstGeom>
          </p:spPr>
        </p:pic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FBC2438D-A2FE-C577-C680-7FD7D3B51385}"/>
                </a:ext>
              </a:extLst>
            </p:cNvPr>
            <p:cNvSpPr/>
            <p:nvPr/>
          </p:nvSpPr>
          <p:spPr>
            <a:xfrm>
              <a:off x="1733940" y="1423554"/>
              <a:ext cx="709613" cy="101516"/>
            </a:xfrm>
            <a:custGeom>
              <a:avLst/>
              <a:gdLst>
                <a:gd name="connsiteX0" fmla="*/ 0 w 709613"/>
                <a:gd name="connsiteY0" fmla="*/ 58654 h 101516"/>
                <a:gd name="connsiteX1" fmla="*/ 147638 w 709613"/>
                <a:gd name="connsiteY1" fmla="*/ 3885 h 101516"/>
                <a:gd name="connsiteX2" fmla="*/ 321469 w 709613"/>
                <a:gd name="connsiteY2" fmla="*/ 13410 h 101516"/>
                <a:gd name="connsiteX3" fmla="*/ 611981 w 709613"/>
                <a:gd name="connsiteY3" fmla="*/ 84848 h 101516"/>
                <a:gd name="connsiteX4" fmla="*/ 709613 w 709613"/>
                <a:gd name="connsiteY4" fmla="*/ 101516 h 10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9613" h="101516">
                  <a:moveTo>
                    <a:pt x="0" y="58654"/>
                  </a:moveTo>
                  <a:cubicBezTo>
                    <a:pt x="47030" y="35040"/>
                    <a:pt x="94060" y="11426"/>
                    <a:pt x="147638" y="3885"/>
                  </a:cubicBezTo>
                  <a:cubicBezTo>
                    <a:pt x="201216" y="-3656"/>
                    <a:pt x="244079" y="-84"/>
                    <a:pt x="321469" y="13410"/>
                  </a:cubicBezTo>
                  <a:cubicBezTo>
                    <a:pt x="398860" y="26904"/>
                    <a:pt x="547290" y="70164"/>
                    <a:pt x="611981" y="84848"/>
                  </a:cubicBezTo>
                  <a:cubicBezTo>
                    <a:pt x="676672" y="99532"/>
                    <a:pt x="693142" y="100524"/>
                    <a:pt x="709613" y="101516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자유형: 도형 13">
              <a:extLst>
                <a:ext uri="{FF2B5EF4-FFF2-40B4-BE49-F238E27FC236}">
                  <a16:creationId xmlns:a16="http://schemas.microsoft.com/office/drawing/2014/main" id="{D9C1B2B0-3FE6-E85A-82ED-67AC4D6DAF70}"/>
                </a:ext>
              </a:extLst>
            </p:cNvPr>
            <p:cNvSpPr/>
            <p:nvPr/>
          </p:nvSpPr>
          <p:spPr>
            <a:xfrm>
              <a:off x="1733940" y="3352367"/>
              <a:ext cx="709613" cy="101516"/>
            </a:xfrm>
            <a:custGeom>
              <a:avLst/>
              <a:gdLst>
                <a:gd name="connsiteX0" fmla="*/ 0 w 709613"/>
                <a:gd name="connsiteY0" fmla="*/ 58654 h 101516"/>
                <a:gd name="connsiteX1" fmla="*/ 147638 w 709613"/>
                <a:gd name="connsiteY1" fmla="*/ 3885 h 101516"/>
                <a:gd name="connsiteX2" fmla="*/ 321469 w 709613"/>
                <a:gd name="connsiteY2" fmla="*/ 13410 h 101516"/>
                <a:gd name="connsiteX3" fmla="*/ 611981 w 709613"/>
                <a:gd name="connsiteY3" fmla="*/ 84848 h 101516"/>
                <a:gd name="connsiteX4" fmla="*/ 709613 w 709613"/>
                <a:gd name="connsiteY4" fmla="*/ 101516 h 10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9613" h="101516">
                  <a:moveTo>
                    <a:pt x="0" y="58654"/>
                  </a:moveTo>
                  <a:cubicBezTo>
                    <a:pt x="47030" y="35040"/>
                    <a:pt x="94060" y="11426"/>
                    <a:pt x="147638" y="3885"/>
                  </a:cubicBezTo>
                  <a:cubicBezTo>
                    <a:pt x="201216" y="-3656"/>
                    <a:pt x="244079" y="-84"/>
                    <a:pt x="321469" y="13410"/>
                  </a:cubicBezTo>
                  <a:cubicBezTo>
                    <a:pt x="398860" y="26904"/>
                    <a:pt x="547290" y="70164"/>
                    <a:pt x="611981" y="84848"/>
                  </a:cubicBezTo>
                  <a:cubicBezTo>
                    <a:pt x="676672" y="99532"/>
                    <a:pt x="693142" y="100524"/>
                    <a:pt x="709613" y="101516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자유형: 도형 14">
              <a:extLst>
                <a:ext uri="{FF2B5EF4-FFF2-40B4-BE49-F238E27FC236}">
                  <a16:creationId xmlns:a16="http://schemas.microsoft.com/office/drawing/2014/main" id="{527D399E-0A89-F703-D6BD-7A1247B6990D}"/>
                </a:ext>
              </a:extLst>
            </p:cNvPr>
            <p:cNvSpPr/>
            <p:nvPr/>
          </p:nvSpPr>
          <p:spPr>
            <a:xfrm>
              <a:off x="1733940" y="1460367"/>
              <a:ext cx="709613" cy="101516"/>
            </a:xfrm>
            <a:custGeom>
              <a:avLst/>
              <a:gdLst>
                <a:gd name="connsiteX0" fmla="*/ 0 w 709613"/>
                <a:gd name="connsiteY0" fmla="*/ 58654 h 101516"/>
                <a:gd name="connsiteX1" fmla="*/ 147638 w 709613"/>
                <a:gd name="connsiteY1" fmla="*/ 3885 h 101516"/>
                <a:gd name="connsiteX2" fmla="*/ 321469 w 709613"/>
                <a:gd name="connsiteY2" fmla="*/ 13410 h 101516"/>
                <a:gd name="connsiteX3" fmla="*/ 611981 w 709613"/>
                <a:gd name="connsiteY3" fmla="*/ 84848 h 101516"/>
                <a:gd name="connsiteX4" fmla="*/ 709613 w 709613"/>
                <a:gd name="connsiteY4" fmla="*/ 101516 h 10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9613" h="101516">
                  <a:moveTo>
                    <a:pt x="0" y="58654"/>
                  </a:moveTo>
                  <a:cubicBezTo>
                    <a:pt x="47030" y="35040"/>
                    <a:pt x="94060" y="11426"/>
                    <a:pt x="147638" y="3885"/>
                  </a:cubicBezTo>
                  <a:cubicBezTo>
                    <a:pt x="201216" y="-3656"/>
                    <a:pt x="244079" y="-84"/>
                    <a:pt x="321469" y="13410"/>
                  </a:cubicBezTo>
                  <a:cubicBezTo>
                    <a:pt x="398860" y="26904"/>
                    <a:pt x="547290" y="70164"/>
                    <a:pt x="611981" y="84848"/>
                  </a:cubicBezTo>
                  <a:cubicBezTo>
                    <a:pt x="676672" y="99532"/>
                    <a:pt x="693142" y="100524"/>
                    <a:pt x="709613" y="101516"/>
                  </a:cubicBezTo>
                </a:path>
              </a:pathLst>
            </a:custGeom>
            <a:noFill/>
            <a:ln w="6350"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자유형: 도형 15">
              <a:extLst>
                <a:ext uri="{FF2B5EF4-FFF2-40B4-BE49-F238E27FC236}">
                  <a16:creationId xmlns:a16="http://schemas.microsoft.com/office/drawing/2014/main" id="{14AC8F03-3C2F-51AC-B93D-D9E5F8AA892C}"/>
                </a:ext>
              </a:extLst>
            </p:cNvPr>
            <p:cNvSpPr/>
            <p:nvPr/>
          </p:nvSpPr>
          <p:spPr>
            <a:xfrm>
              <a:off x="1733940" y="1510584"/>
              <a:ext cx="709613" cy="101516"/>
            </a:xfrm>
            <a:custGeom>
              <a:avLst/>
              <a:gdLst>
                <a:gd name="connsiteX0" fmla="*/ 0 w 709613"/>
                <a:gd name="connsiteY0" fmla="*/ 58654 h 101516"/>
                <a:gd name="connsiteX1" fmla="*/ 147638 w 709613"/>
                <a:gd name="connsiteY1" fmla="*/ 3885 h 101516"/>
                <a:gd name="connsiteX2" fmla="*/ 321469 w 709613"/>
                <a:gd name="connsiteY2" fmla="*/ 13410 h 101516"/>
                <a:gd name="connsiteX3" fmla="*/ 611981 w 709613"/>
                <a:gd name="connsiteY3" fmla="*/ 84848 h 101516"/>
                <a:gd name="connsiteX4" fmla="*/ 709613 w 709613"/>
                <a:gd name="connsiteY4" fmla="*/ 101516 h 10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9613" h="101516">
                  <a:moveTo>
                    <a:pt x="0" y="58654"/>
                  </a:moveTo>
                  <a:cubicBezTo>
                    <a:pt x="47030" y="35040"/>
                    <a:pt x="94060" y="11426"/>
                    <a:pt x="147638" y="3885"/>
                  </a:cubicBezTo>
                  <a:cubicBezTo>
                    <a:pt x="201216" y="-3656"/>
                    <a:pt x="244079" y="-84"/>
                    <a:pt x="321469" y="13410"/>
                  </a:cubicBezTo>
                  <a:cubicBezTo>
                    <a:pt x="398860" y="26904"/>
                    <a:pt x="547290" y="70164"/>
                    <a:pt x="611981" y="84848"/>
                  </a:cubicBezTo>
                  <a:cubicBezTo>
                    <a:pt x="676672" y="99532"/>
                    <a:pt x="693142" y="100524"/>
                    <a:pt x="709613" y="101516"/>
                  </a:cubicBezTo>
                </a:path>
              </a:pathLst>
            </a:custGeom>
            <a:noFill/>
            <a:ln w="6350"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자유형: 도형 16">
              <a:extLst>
                <a:ext uri="{FF2B5EF4-FFF2-40B4-BE49-F238E27FC236}">
                  <a16:creationId xmlns:a16="http://schemas.microsoft.com/office/drawing/2014/main" id="{7769EBF7-A139-EC72-2100-01C11BF46AC5}"/>
                </a:ext>
              </a:extLst>
            </p:cNvPr>
            <p:cNvSpPr/>
            <p:nvPr/>
          </p:nvSpPr>
          <p:spPr>
            <a:xfrm>
              <a:off x="1733940" y="1557185"/>
              <a:ext cx="709613" cy="101516"/>
            </a:xfrm>
            <a:custGeom>
              <a:avLst/>
              <a:gdLst>
                <a:gd name="connsiteX0" fmla="*/ 0 w 709613"/>
                <a:gd name="connsiteY0" fmla="*/ 58654 h 101516"/>
                <a:gd name="connsiteX1" fmla="*/ 147638 w 709613"/>
                <a:gd name="connsiteY1" fmla="*/ 3885 h 101516"/>
                <a:gd name="connsiteX2" fmla="*/ 321469 w 709613"/>
                <a:gd name="connsiteY2" fmla="*/ 13410 h 101516"/>
                <a:gd name="connsiteX3" fmla="*/ 611981 w 709613"/>
                <a:gd name="connsiteY3" fmla="*/ 84848 h 101516"/>
                <a:gd name="connsiteX4" fmla="*/ 709613 w 709613"/>
                <a:gd name="connsiteY4" fmla="*/ 101516 h 10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9613" h="101516">
                  <a:moveTo>
                    <a:pt x="0" y="58654"/>
                  </a:moveTo>
                  <a:cubicBezTo>
                    <a:pt x="47030" y="35040"/>
                    <a:pt x="94060" y="11426"/>
                    <a:pt x="147638" y="3885"/>
                  </a:cubicBezTo>
                  <a:cubicBezTo>
                    <a:pt x="201216" y="-3656"/>
                    <a:pt x="244079" y="-84"/>
                    <a:pt x="321469" y="13410"/>
                  </a:cubicBezTo>
                  <a:cubicBezTo>
                    <a:pt x="398860" y="26904"/>
                    <a:pt x="547290" y="70164"/>
                    <a:pt x="611981" y="84848"/>
                  </a:cubicBezTo>
                  <a:cubicBezTo>
                    <a:pt x="676672" y="99532"/>
                    <a:pt x="693142" y="100524"/>
                    <a:pt x="709613" y="101516"/>
                  </a:cubicBezTo>
                </a:path>
              </a:pathLst>
            </a:custGeom>
            <a:noFill/>
            <a:ln w="6350"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FE00E371-5CDF-75B5-D9F2-75C27207A410}"/>
                </a:ext>
              </a:extLst>
            </p:cNvPr>
            <p:cNvCxnSpPr>
              <a:cxnSpLocks/>
              <a:stCxn id="13" idx="0"/>
              <a:endCxn id="14" idx="0"/>
            </p:cNvCxnSpPr>
            <p:nvPr/>
          </p:nvCxnSpPr>
          <p:spPr>
            <a:xfrm>
              <a:off x="1733940" y="1482208"/>
              <a:ext cx="0" cy="1928813"/>
            </a:xfrm>
            <a:prstGeom prst="line">
              <a:avLst/>
            </a:prstGeom>
            <a:ln w="12700"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83A872EA-E42E-2B67-1AF0-553C01715A79}"/>
                </a:ext>
              </a:extLst>
            </p:cNvPr>
            <p:cNvCxnSpPr>
              <a:cxnSpLocks/>
              <a:stCxn id="13" idx="4"/>
              <a:endCxn id="14" idx="4"/>
            </p:cNvCxnSpPr>
            <p:nvPr/>
          </p:nvCxnSpPr>
          <p:spPr>
            <a:xfrm>
              <a:off x="2443553" y="1525070"/>
              <a:ext cx="0" cy="1928813"/>
            </a:xfrm>
            <a:prstGeom prst="line">
              <a:avLst/>
            </a:prstGeom>
            <a:ln w="12700"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8DE95CED-BB75-3636-0250-E61A4CD030D7}"/>
                </a:ext>
              </a:extLst>
            </p:cNvPr>
            <p:cNvCxnSpPr>
              <a:cxnSpLocks/>
            </p:cNvCxnSpPr>
            <p:nvPr/>
          </p:nvCxnSpPr>
          <p:spPr>
            <a:xfrm>
              <a:off x="1772040" y="1460367"/>
              <a:ext cx="0" cy="1928813"/>
            </a:xfrm>
            <a:prstGeom prst="line">
              <a:avLst/>
            </a:prstGeom>
            <a:ln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62833355-229E-09CF-612F-4DC189A0BC89}"/>
                </a:ext>
              </a:extLst>
            </p:cNvPr>
            <p:cNvCxnSpPr>
              <a:cxnSpLocks/>
            </p:cNvCxnSpPr>
            <p:nvPr/>
          </p:nvCxnSpPr>
          <p:spPr>
            <a:xfrm>
              <a:off x="1814903" y="1448462"/>
              <a:ext cx="0" cy="1928813"/>
            </a:xfrm>
            <a:prstGeom prst="line">
              <a:avLst/>
            </a:prstGeom>
            <a:ln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F9A25E80-048D-C1DA-0F30-29F1EA3DEAEC}"/>
                </a:ext>
              </a:extLst>
            </p:cNvPr>
            <p:cNvCxnSpPr>
              <a:cxnSpLocks/>
            </p:cNvCxnSpPr>
            <p:nvPr/>
          </p:nvCxnSpPr>
          <p:spPr>
            <a:xfrm>
              <a:off x="1860147" y="1425935"/>
              <a:ext cx="0" cy="1928813"/>
            </a:xfrm>
            <a:prstGeom prst="line">
              <a:avLst/>
            </a:prstGeom>
            <a:ln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7161437-5B16-E411-8B82-37631BA383D9}"/>
                </a:ext>
              </a:extLst>
            </p:cNvPr>
            <p:cNvSpPr txBox="1"/>
            <p:nvPr/>
          </p:nvSpPr>
          <p:spPr>
            <a:xfrm>
              <a:off x="1819873" y="2537928"/>
              <a:ext cx="3421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…</a:t>
              </a:r>
              <a:endPara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9842F28-81AB-A777-606C-FD67AB2D18BF}"/>
                </a:ext>
              </a:extLst>
            </p:cNvPr>
            <p:cNvSpPr txBox="1"/>
            <p:nvPr/>
          </p:nvSpPr>
          <p:spPr>
            <a:xfrm rot="5400000">
              <a:off x="1977824" y="1602305"/>
              <a:ext cx="3421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…</a:t>
              </a:r>
              <a:endPara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8A303104-2385-BED9-3250-A317B75E4363}"/>
                </a:ext>
              </a:extLst>
            </p:cNvPr>
            <p:cNvSpPr/>
            <p:nvPr/>
          </p:nvSpPr>
          <p:spPr>
            <a:xfrm>
              <a:off x="4739952" y="1204485"/>
              <a:ext cx="3576734" cy="2865527"/>
            </a:xfrm>
            <a:prstGeom prst="rect">
              <a:avLst/>
            </a:prstGeom>
            <a:noFill/>
            <a:ln>
              <a:solidFill>
                <a:srgbClr val="284866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87498D81-08FE-C655-6554-6A293DFF8161}"/>
                </a:ext>
              </a:extLst>
            </p:cNvPr>
            <p:cNvCxnSpPr>
              <a:cxnSpLocks/>
            </p:cNvCxnSpPr>
            <p:nvPr/>
          </p:nvCxnSpPr>
          <p:spPr>
            <a:xfrm>
              <a:off x="4827281" y="1204485"/>
              <a:ext cx="0" cy="2859306"/>
            </a:xfrm>
            <a:prstGeom prst="line">
              <a:avLst/>
            </a:prstGeom>
            <a:ln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98FE0E79-6BC6-2BBA-B9CD-FC2CFA02E7B0}"/>
                </a:ext>
              </a:extLst>
            </p:cNvPr>
            <p:cNvCxnSpPr>
              <a:cxnSpLocks/>
            </p:cNvCxnSpPr>
            <p:nvPr/>
          </p:nvCxnSpPr>
          <p:spPr>
            <a:xfrm>
              <a:off x="4914366" y="1204485"/>
              <a:ext cx="0" cy="2859306"/>
            </a:xfrm>
            <a:prstGeom prst="line">
              <a:avLst/>
            </a:prstGeom>
            <a:ln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2451EC16-5C4E-6205-1B82-DCECF54E2BD3}"/>
                </a:ext>
              </a:extLst>
            </p:cNvPr>
            <p:cNvCxnSpPr>
              <a:cxnSpLocks/>
            </p:cNvCxnSpPr>
            <p:nvPr/>
          </p:nvCxnSpPr>
          <p:spPr>
            <a:xfrm>
              <a:off x="5001451" y="1204485"/>
              <a:ext cx="0" cy="2859306"/>
            </a:xfrm>
            <a:prstGeom prst="line">
              <a:avLst/>
            </a:prstGeom>
            <a:ln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A8A1E4A5-0503-8C96-EE05-0625B2257112}"/>
                </a:ext>
              </a:extLst>
            </p:cNvPr>
            <p:cNvCxnSpPr>
              <a:cxnSpLocks/>
            </p:cNvCxnSpPr>
            <p:nvPr/>
          </p:nvCxnSpPr>
          <p:spPr>
            <a:xfrm>
              <a:off x="5082317" y="1204485"/>
              <a:ext cx="0" cy="2859306"/>
            </a:xfrm>
            <a:prstGeom prst="line">
              <a:avLst/>
            </a:prstGeom>
            <a:ln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F041AD1C-870B-3BC0-666D-F108658923C7}"/>
                </a:ext>
              </a:extLst>
            </p:cNvPr>
            <p:cNvCxnSpPr>
              <a:cxnSpLocks/>
            </p:cNvCxnSpPr>
            <p:nvPr/>
          </p:nvCxnSpPr>
          <p:spPr>
            <a:xfrm>
              <a:off x="4746416" y="1281121"/>
              <a:ext cx="3570270" cy="0"/>
            </a:xfrm>
            <a:prstGeom prst="line">
              <a:avLst/>
            </a:prstGeom>
            <a:ln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7911424A-4404-40F0-B8D6-EE426AFC091F}"/>
                </a:ext>
              </a:extLst>
            </p:cNvPr>
            <p:cNvCxnSpPr>
              <a:cxnSpLocks/>
            </p:cNvCxnSpPr>
            <p:nvPr/>
          </p:nvCxnSpPr>
          <p:spPr>
            <a:xfrm>
              <a:off x="4746416" y="1368206"/>
              <a:ext cx="3570270" cy="0"/>
            </a:xfrm>
            <a:prstGeom prst="line">
              <a:avLst/>
            </a:prstGeom>
            <a:ln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63461867-7DDD-7228-D5E8-6DE51A84BD21}"/>
                </a:ext>
              </a:extLst>
            </p:cNvPr>
            <p:cNvCxnSpPr>
              <a:cxnSpLocks/>
            </p:cNvCxnSpPr>
            <p:nvPr/>
          </p:nvCxnSpPr>
          <p:spPr>
            <a:xfrm>
              <a:off x="4746416" y="1455292"/>
              <a:ext cx="3570270" cy="0"/>
            </a:xfrm>
            <a:prstGeom prst="line">
              <a:avLst/>
            </a:prstGeom>
            <a:ln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843D4848-2AFC-1C59-71F3-6901869B3A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43553" y="1204485"/>
              <a:ext cx="2296399" cy="320585"/>
            </a:xfrm>
            <a:prstGeom prst="line">
              <a:avLst/>
            </a:prstGeom>
            <a:ln w="127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536E05C8-EE22-455D-38C6-6DD12559C46C}"/>
                </a:ext>
              </a:extLst>
            </p:cNvPr>
            <p:cNvCxnSpPr>
              <a:cxnSpLocks/>
            </p:cNvCxnSpPr>
            <p:nvPr/>
          </p:nvCxnSpPr>
          <p:spPr>
            <a:xfrm>
              <a:off x="2443551" y="3468369"/>
              <a:ext cx="2296400" cy="595422"/>
            </a:xfrm>
            <a:prstGeom prst="line">
              <a:avLst/>
            </a:prstGeom>
            <a:ln w="127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A15CD66-5535-D9D4-5078-F101E05E78B1}"/>
                </a:ext>
              </a:extLst>
            </p:cNvPr>
            <p:cNvSpPr txBox="1"/>
            <p:nvPr/>
          </p:nvSpPr>
          <p:spPr>
            <a:xfrm>
              <a:off x="3861874" y="2537928"/>
              <a:ext cx="4587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C</a:t>
              </a:r>
              <a:r>
                <a:rPr lang="en-US" altLang="ko-KR" sz="1800" i="1" baseline="-2500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ij</a:t>
              </a:r>
              <a:endParaRPr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6716FA63-880A-EEC1-F3DA-A4961A4FAAAF}"/>
                </a:ext>
              </a:extLst>
            </p:cNvPr>
            <p:cNvSpPr/>
            <p:nvPr/>
          </p:nvSpPr>
          <p:spPr>
            <a:xfrm>
              <a:off x="5001451" y="1368206"/>
              <a:ext cx="80856" cy="87084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9AAB3FD6-4E53-F29B-DD6F-D310F8C294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29635" y="1411114"/>
              <a:ext cx="809137" cy="12016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03F55CC-0091-6381-53A4-06300CBD24D9}"/>
                </a:ext>
              </a:extLst>
            </p:cNvPr>
            <p:cNvSpPr txBox="1"/>
            <p:nvPr/>
          </p:nvSpPr>
          <p:spPr>
            <a:xfrm>
              <a:off x="7830452" y="868882"/>
              <a:ext cx="4587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E</a:t>
              </a:r>
              <a:r>
                <a:rPr lang="en-US" altLang="ko-KR" sz="1800" baseline="-2500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c</a:t>
              </a:r>
              <a:endParaRPr lang="ko-KR" altLang="en-US" baseline="-2500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884738B-60F0-50E5-263D-8EA527095B2D}"/>
                </a:ext>
              </a:extLst>
            </p:cNvPr>
            <p:cNvSpPr txBox="1"/>
            <p:nvPr/>
          </p:nvSpPr>
          <p:spPr>
            <a:xfrm>
              <a:off x="7830452" y="4011826"/>
              <a:ext cx="4587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E</a:t>
              </a:r>
              <a:r>
                <a:rPr lang="en-US" altLang="ko-KR" sz="1800" baseline="-2500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v</a:t>
              </a:r>
              <a:endParaRPr lang="ko-KR" altLang="en-US" baseline="-2500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9E0581E-87BC-501D-47B6-0607748F9B2C}"/>
                </a:ext>
              </a:extLst>
            </p:cNvPr>
            <p:cNvSpPr txBox="1"/>
            <p:nvPr/>
          </p:nvSpPr>
          <p:spPr>
            <a:xfrm>
              <a:off x="8506631" y="2476373"/>
              <a:ext cx="4587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E</a:t>
              </a:r>
              <a:r>
                <a:rPr lang="en-US" altLang="ko-KR" sz="1800" baseline="-2500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g</a:t>
              </a:r>
              <a:endParaRPr lang="ko-KR" altLang="en-US" baseline="-25000"/>
            </a:p>
          </p:txBody>
        </p:sp>
        <p:sp>
          <p:nvSpPr>
            <p:cNvPr id="60" name="오른쪽 중괄호 59">
              <a:extLst>
                <a:ext uri="{FF2B5EF4-FFF2-40B4-BE49-F238E27FC236}">
                  <a16:creationId xmlns:a16="http://schemas.microsoft.com/office/drawing/2014/main" id="{C3F08BFF-1D3A-D715-97FA-FBC6777E25AC}"/>
                </a:ext>
              </a:extLst>
            </p:cNvPr>
            <p:cNvSpPr/>
            <p:nvPr/>
          </p:nvSpPr>
          <p:spPr>
            <a:xfrm>
              <a:off x="8316686" y="1204485"/>
              <a:ext cx="242596" cy="2859306"/>
            </a:xfrm>
            <a:prstGeom prst="rightBrace">
              <a:avLst>
                <a:gd name="adj1" fmla="val 163452"/>
                <a:gd name="adj2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1D7C40A-81CA-1A6C-99EE-FE4945B5A5BD}"/>
                </a:ext>
              </a:extLst>
            </p:cNvPr>
            <p:cNvSpPr txBox="1"/>
            <p:nvPr/>
          </p:nvSpPr>
          <p:spPr>
            <a:xfrm rot="5400000">
              <a:off x="6630690" y="1491256"/>
              <a:ext cx="3421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…</a:t>
              </a:r>
              <a:endPara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E21EA7B-B9A0-8F1A-8769-2082D1B76901}"/>
                </a:ext>
              </a:extLst>
            </p:cNvPr>
            <p:cNvSpPr txBox="1"/>
            <p:nvPr/>
          </p:nvSpPr>
          <p:spPr>
            <a:xfrm>
              <a:off x="5087216" y="2568705"/>
              <a:ext cx="3421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…</a:t>
              </a:r>
              <a:endPara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2920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5416A5-C57F-C6CC-F0AF-2663A7E07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Cell Information Methodology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829448-9A2E-DD09-2767-C286C10A1B61}"/>
              </a:ext>
            </a:extLst>
          </p:cNvPr>
          <p:cNvSpPr txBox="1"/>
          <p:nvPr/>
        </p:nvSpPr>
        <p:spPr>
          <a:xfrm>
            <a:off x="718441" y="4808403"/>
            <a:ext cx="23808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arenBoth"/>
            </a:pPr>
            <a:r>
              <a:rPr lang="en-US" altLang="ko-KR" sz="18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Location (i)</a:t>
            </a:r>
          </a:p>
          <a:p>
            <a:pPr marL="457200" indent="-457200">
              <a:buAutoNum type="arabicParenBoth"/>
            </a:pPr>
            <a:r>
              <a:rPr lang="en-US" altLang="ko-KR" sz="18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depth (j)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1043A86-D950-7FD1-431D-C920B0CECE0D}"/>
              </a:ext>
            </a:extLst>
          </p:cNvPr>
          <p:cNvSpPr txBox="1"/>
          <p:nvPr/>
        </p:nvSpPr>
        <p:spPr>
          <a:xfrm>
            <a:off x="341440" y="2413852"/>
            <a:ext cx="4587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</a:t>
            </a:r>
            <a:r>
              <a:rPr lang="en-US" altLang="ko-KR" sz="1800" i="1" baseline="-25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ij</a:t>
            </a:r>
            <a:endParaRPr lang="ko-KR" altLang="en-US"/>
          </a:p>
        </p:txBody>
      </p: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78F4E4C2-D915-D2E8-A956-EFE71A4A00D1}"/>
              </a:ext>
            </a:extLst>
          </p:cNvPr>
          <p:cNvCxnSpPr>
            <a:cxnSpLocks/>
          </p:cNvCxnSpPr>
          <p:nvPr/>
        </p:nvCxnSpPr>
        <p:spPr>
          <a:xfrm flipH="1">
            <a:off x="718441" y="1533893"/>
            <a:ext cx="708031" cy="9077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B3D10FBD-88EA-D72C-9189-3A43C5C045C5}"/>
              </a:ext>
            </a:extLst>
          </p:cNvPr>
          <p:cNvGrpSpPr/>
          <p:nvPr/>
        </p:nvGrpSpPr>
        <p:grpSpPr>
          <a:xfrm>
            <a:off x="1124545" y="991027"/>
            <a:ext cx="4225434" cy="3512276"/>
            <a:chOff x="1517781" y="1915589"/>
            <a:chExt cx="4225434" cy="3512276"/>
          </a:xfrm>
        </p:grpSpPr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5F91EFE1-AE28-D67B-C96B-B8A5EC6D7B20}"/>
                </a:ext>
              </a:extLst>
            </p:cNvPr>
            <p:cNvCxnSpPr>
              <a:cxnSpLocks/>
            </p:cNvCxnSpPr>
            <p:nvPr/>
          </p:nvCxnSpPr>
          <p:spPr>
            <a:xfrm>
              <a:off x="1605110" y="2251192"/>
              <a:ext cx="0" cy="2859306"/>
            </a:xfrm>
            <a:prstGeom prst="line">
              <a:avLst/>
            </a:prstGeom>
            <a:ln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BC7BC17A-C812-8A05-9D96-FFE2FB82D06F}"/>
                </a:ext>
              </a:extLst>
            </p:cNvPr>
            <p:cNvSpPr/>
            <p:nvPr/>
          </p:nvSpPr>
          <p:spPr>
            <a:xfrm>
              <a:off x="1517781" y="2251192"/>
              <a:ext cx="3576734" cy="2865527"/>
            </a:xfrm>
            <a:prstGeom prst="rect">
              <a:avLst/>
            </a:prstGeom>
            <a:noFill/>
            <a:ln>
              <a:solidFill>
                <a:srgbClr val="284866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9707810F-6D12-09FA-E020-0D2F24300FD4}"/>
                </a:ext>
              </a:extLst>
            </p:cNvPr>
            <p:cNvCxnSpPr>
              <a:cxnSpLocks/>
            </p:cNvCxnSpPr>
            <p:nvPr/>
          </p:nvCxnSpPr>
          <p:spPr>
            <a:xfrm>
              <a:off x="1692195" y="2251192"/>
              <a:ext cx="0" cy="2859306"/>
            </a:xfrm>
            <a:prstGeom prst="line">
              <a:avLst/>
            </a:prstGeom>
            <a:ln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0AA1C49F-10C8-3F38-67B2-EE4E816380A1}"/>
                </a:ext>
              </a:extLst>
            </p:cNvPr>
            <p:cNvCxnSpPr>
              <a:cxnSpLocks/>
            </p:cNvCxnSpPr>
            <p:nvPr/>
          </p:nvCxnSpPr>
          <p:spPr>
            <a:xfrm>
              <a:off x="1779280" y="2251192"/>
              <a:ext cx="0" cy="2859306"/>
            </a:xfrm>
            <a:prstGeom prst="line">
              <a:avLst/>
            </a:prstGeom>
            <a:ln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04BF6887-52D2-4787-9BF9-0101C74BF98C}"/>
                </a:ext>
              </a:extLst>
            </p:cNvPr>
            <p:cNvCxnSpPr>
              <a:cxnSpLocks/>
            </p:cNvCxnSpPr>
            <p:nvPr/>
          </p:nvCxnSpPr>
          <p:spPr>
            <a:xfrm>
              <a:off x="1860146" y="2251192"/>
              <a:ext cx="0" cy="2859306"/>
            </a:xfrm>
            <a:prstGeom prst="line">
              <a:avLst/>
            </a:prstGeom>
            <a:ln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38F597C9-7F7F-9EAB-6B86-6B84056D80D3}"/>
                </a:ext>
              </a:extLst>
            </p:cNvPr>
            <p:cNvCxnSpPr>
              <a:cxnSpLocks/>
            </p:cNvCxnSpPr>
            <p:nvPr/>
          </p:nvCxnSpPr>
          <p:spPr>
            <a:xfrm>
              <a:off x="1524245" y="2327828"/>
              <a:ext cx="3570270" cy="0"/>
            </a:xfrm>
            <a:prstGeom prst="line">
              <a:avLst/>
            </a:prstGeom>
            <a:ln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7DEBA5CB-41B1-72CE-4EF3-2968E961A030}"/>
                </a:ext>
              </a:extLst>
            </p:cNvPr>
            <p:cNvCxnSpPr>
              <a:cxnSpLocks/>
            </p:cNvCxnSpPr>
            <p:nvPr/>
          </p:nvCxnSpPr>
          <p:spPr>
            <a:xfrm>
              <a:off x="1524245" y="2414913"/>
              <a:ext cx="3570270" cy="0"/>
            </a:xfrm>
            <a:prstGeom prst="line">
              <a:avLst/>
            </a:prstGeom>
            <a:ln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B51C6038-F222-5DC3-7EF4-1F618036C72D}"/>
                </a:ext>
              </a:extLst>
            </p:cNvPr>
            <p:cNvCxnSpPr>
              <a:cxnSpLocks/>
            </p:cNvCxnSpPr>
            <p:nvPr/>
          </p:nvCxnSpPr>
          <p:spPr>
            <a:xfrm>
              <a:off x="1524245" y="2501999"/>
              <a:ext cx="3570270" cy="0"/>
            </a:xfrm>
            <a:prstGeom prst="line">
              <a:avLst/>
            </a:prstGeom>
            <a:ln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8F7B0A4B-6EFE-F29D-68A3-1FD9EF9E01C6}"/>
                </a:ext>
              </a:extLst>
            </p:cNvPr>
            <p:cNvSpPr/>
            <p:nvPr/>
          </p:nvSpPr>
          <p:spPr>
            <a:xfrm>
              <a:off x="1779280" y="2414913"/>
              <a:ext cx="80856" cy="87084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C8A605D0-687A-3C81-9268-D3CD383E5EFB}"/>
                </a:ext>
              </a:extLst>
            </p:cNvPr>
            <p:cNvSpPr txBox="1"/>
            <p:nvPr/>
          </p:nvSpPr>
          <p:spPr>
            <a:xfrm>
              <a:off x="4608281" y="1915589"/>
              <a:ext cx="4587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E</a:t>
              </a:r>
              <a:r>
                <a:rPr lang="en-US" altLang="ko-KR" sz="1800" baseline="-2500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c</a:t>
              </a:r>
              <a:endParaRPr lang="ko-KR" altLang="en-US" baseline="-2500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EE14E00F-8C44-B2FC-24F8-A585626B7E3B}"/>
                </a:ext>
              </a:extLst>
            </p:cNvPr>
            <p:cNvSpPr txBox="1"/>
            <p:nvPr/>
          </p:nvSpPr>
          <p:spPr>
            <a:xfrm>
              <a:off x="4608281" y="5058533"/>
              <a:ext cx="4587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E</a:t>
              </a:r>
              <a:r>
                <a:rPr lang="en-US" altLang="ko-KR" sz="1800" baseline="-2500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v</a:t>
              </a:r>
              <a:endParaRPr lang="ko-KR" altLang="en-US" baseline="-2500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7C6C9C95-7400-EFF9-F101-9DED8D146F7F}"/>
                </a:ext>
              </a:extLst>
            </p:cNvPr>
            <p:cNvSpPr txBox="1"/>
            <p:nvPr/>
          </p:nvSpPr>
          <p:spPr>
            <a:xfrm>
              <a:off x="5284460" y="3523080"/>
              <a:ext cx="4587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E</a:t>
              </a:r>
              <a:r>
                <a:rPr lang="en-US" altLang="ko-KR" sz="1800" baseline="-2500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g</a:t>
              </a:r>
              <a:endParaRPr lang="ko-KR" altLang="en-US" baseline="-25000"/>
            </a:p>
          </p:txBody>
        </p:sp>
        <p:sp>
          <p:nvSpPr>
            <p:cNvPr id="95" name="오른쪽 중괄호 94">
              <a:extLst>
                <a:ext uri="{FF2B5EF4-FFF2-40B4-BE49-F238E27FC236}">
                  <a16:creationId xmlns:a16="http://schemas.microsoft.com/office/drawing/2014/main" id="{8CCE31F7-8EB9-3AA2-5FAC-3D026966DDAC}"/>
                </a:ext>
              </a:extLst>
            </p:cNvPr>
            <p:cNvSpPr/>
            <p:nvPr/>
          </p:nvSpPr>
          <p:spPr>
            <a:xfrm>
              <a:off x="5094515" y="2251192"/>
              <a:ext cx="242596" cy="2859306"/>
            </a:xfrm>
            <a:prstGeom prst="rightBrace">
              <a:avLst>
                <a:gd name="adj1" fmla="val 163452"/>
                <a:gd name="adj2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E780C60C-89ED-C76C-8AF3-494E3BC53352}"/>
              </a:ext>
            </a:extLst>
          </p:cNvPr>
          <p:cNvCxnSpPr>
            <a:cxnSpLocks/>
          </p:cNvCxnSpPr>
          <p:nvPr/>
        </p:nvCxnSpPr>
        <p:spPr>
          <a:xfrm>
            <a:off x="834508" y="1252582"/>
            <a:ext cx="68424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CB19CDE1-F088-6D59-4525-3371A5338453}"/>
              </a:ext>
            </a:extLst>
          </p:cNvPr>
          <p:cNvCxnSpPr>
            <a:cxnSpLocks/>
          </p:cNvCxnSpPr>
          <p:nvPr/>
        </p:nvCxnSpPr>
        <p:spPr>
          <a:xfrm>
            <a:off x="840728" y="1246362"/>
            <a:ext cx="0" cy="6910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2902D05-AE4F-CB88-F093-2B1B13530051}"/>
              </a:ext>
            </a:extLst>
          </p:cNvPr>
          <p:cNvSpPr txBox="1"/>
          <p:nvPr/>
        </p:nvSpPr>
        <p:spPr>
          <a:xfrm>
            <a:off x="3674706" y="4756079"/>
            <a:ext cx="49514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Used</a:t>
            </a:r>
            <a:r>
              <a:rPr lang="ko-KR" altLang="en-US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for</a:t>
            </a:r>
            <a:r>
              <a:rPr lang="ko-KR" altLang="en-US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cell</a:t>
            </a:r>
            <a:r>
              <a:rPr lang="ko-KR" altLang="en-US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monitoring</a:t>
            </a:r>
          </a:p>
          <a:p>
            <a:endParaRPr lang="en-US" altLang="ko-KR" sz="200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Location &amp; trap depth saved at center point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36E2514-F2F0-3DDA-ED0F-66B2BABE6495}"/>
              </a:ext>
            </a:extLst>
          </p:cNvPr>
          <p:cNvSpPr/>
          <p:nvPr/>
        </p:nvSpPr>
        <p:spPr>
          <a:xfrm>
            <a:off x="7042758" y="1789532"/>
            <a:ext cx="735655" cy="7923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EDFC418-1C8C-FD1B-71A2-695343BD6355}"/>
              </a:ext>
            </a:extLst>
          </p:cNvPr>
          <p:cNvCxnSpPr>
            <a:cxnSpLocks/>
          </p:cNvCxnSpPr>
          <p:nvPr/>
        </p:nvCxnSpPr>
        <p:spPr>
          <a:xfrm>
            <a:off x="6556310" y="2185692"/>
            <a:ext cx="1797698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4CDDEC4-4E83-8972-6CB2-8612FDE787DF}"/>
              </a:ext>
            </a:extLst>
          </p:cNvPr>
          <p:cNvCxnSpPr>
            <a:cxnSpLocks/>
          </p:cNvCxnSpPr>
          <p:nvPr/>
        </p:nvCxnSpPr>
        <p:spPr>
          <a:xfrm>
            <a:off x="7414785" y="1326340"/>
            <a:ext cx="0" cy="173782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타원 7">
            <a:extLst>
              <a:ext uri="{FF2B5EF4-FFF2-40B4-BE49-F238E27FC236}">
                <a16:creationId xmlns:a16="http://schemas.microsoft.com/office/drawing/2014/main" id="{1E25A652-A841-6848-C28A-6232262C3927}"/>
              </a:ext>
            </a:extLst>
          </p:cNvPr>
          <p:cNvSpPr/>
          <p:nvPr/>
        </p:nvSpPr>
        <p:spPr>
          <a:xfrm flipV="1">
            <a:off x="7356002" y="2131108"/>
            <a:ext cx="109166" cy="10916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195DAA-7D8E-B268-E932-8C18BE376CCB}"/>
              </a:ext>
            </a:extLst>
          </p:cNvPr>
          <p:cNvSpPr txBox="1"/>
          <p:nvPr/>
        </p:nvSpPr>
        <p:spPr>
          <a:xfrm>
            <a:off x="7150987" y="3079122"/>
            <a:ext cx="5191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</a:t>
            </a:r>
            <a:r>
              <a:rPr lang="en-US" altLang="ko-KR" sz="2000" i="1" baseline="-25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</a:t>
            </a:r>
            <a:endParaRPr lang="ko-KR" altLang="en-US" sz="2000" i="1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54C592-8FCC-5DBD-DA72-F4469449485D}"/>
              </a:ext>
            </a:extLst>
          </p:cNvPr>
          <p:cNvSpPr txBox="1"/>
          <p:nvPr/>
        </p:nvSpPr>
        <p:spPr>
          <a:xfrm>
            <a:off x="779763" y="899525"/>
            <a:ext cx="5191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</a:t>
            </a:r>
            <a:endParaRPr lang="ko-KR" altLang="en-US" sz="2000" i="1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37705C-793E-B8D8-988C-B1F140C7BF2E}"/>
              </a:ext>
            </a:extLst>
          </p:cNvPr>
          <p:cNvSpPr txBox="1"/>
          <p:nvPr/>
        </p:nvSpPr>
        <p:spPr>
          <a:xfrm>
            <a:off x="405091" y="1351671"/>
            <a:ext cx="5191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</a:t>
            </a:r>
            <a:r>
              <a:rPr lang="en-US" altLang="ko-KR" sz="2000" baseline="-25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</a:t>
            </a:r>
            <a:endParaRPr lang="ko-KR" altLang="en-US" sz="2000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ACCA0A-78F8-ED23-CE44-3153F9A25A75}"/>
              </a:ext>
            </a:extLst>
          </p:cNvPr>
          <p:cNvSpPr txBox="1"/>
          <p:nvPr/>
        </p:nvSpPr>
        <p:spPr>
          <a:xfrm>
            <a:off x="6013124" y="1985636"/>
            <a:ext cx="6011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</a:t>
            </a:r>
            <a:r>
              <a:rPr lang="en-US" altLang="ko-KR" sz="2000" baseline="-25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</a:t>
            </a:r>
            <a:r>
              <a:rPr lang="en-US" altLang="ko-KR" sz="2000" i="1" baseline="-25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j</a:t>
            </a:r>
            <a:endParaRPr lang="ko-KR" altLang="en-US" sz="2000" i="1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B0F88C6B-01B8-BC4A-4B2A-A9E3D6C367D3}"/>
              </a:ext>
            </a:extLst>
          </p:cNvPr>
          <p:cNvCxnSpPr>
            <a:cxnSpLocks/>
            <a:stCxn id="90" idx="0"/>
          </p:cNvCxnSpPr>
          <p:nvPr/>
        </p:nvCxnSpPr>
        <p:spPr>
          <a:xfrm>
            <a:off x="1426472" y="1490351"/>
            <a:ext cx="5002009" cy="20561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83C88F69-5480-ED86-36E3-31CD09D4F158}"/>
              </a:ext>
            </a:extLst>
          </p:cNvPr>
          <p:cNvCxnSpPr>
            <a:cxnSpLocks/>
          </p:cNvCxnSpPr>
          <p:nvPr/>
        </p:nvCxnSpPr>
        <p:spPr>
          <a:xfrm>
            <a:off x="1485255" y="1583934"/>
            <a:ext cx="4884443" cy="117234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7931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B448A4-A849-9CAD-10D8-7992D88BE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Cell Information Methodology</a:t>
            </a:r>
            <a:endParaRPr lang="ko-KR" altLang="en-US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9A8AEC78-81A3-8912-BD8E-EA97DD4F4DBB}"/>
              </a:ext>
            </a:extLst>
          </p:cNvPr>
          <p:cNvGrpSpPr/>
          <p:nvPr/>
        </p:nvGrpSpPr>
        <p:grpSpPr>
          <a:xfrm>
            <a:off x="1943464" y="2094151"/>
            <a:ext cx="2395685" cy="4264090"/>
            <a:chOff x="1084170" y="962166"/>
            <a:chExt cx="2395685" cy="426409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DC4CFD23-C2F8-FEB8-7689-3F74B77318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4170" y="962166"/>
              <a:ext cx="2395685" cy="4264090"/>
            </a:xfrm>
            <a:prstGeom prst="rect">
              <a:avLst/>
            </a:prstGeom>
          </p:spPr>
        </p:pic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56E78018-AA0D-7DE8-6B2A-31BD20E74E67}"/>
                </a:ext>
              </a:extLst>
            </p:cNvPr>
            <p:cNvSpPr/>
            <p:nvPr/>
          </p:nvSpPr>
          <p:spPr>
            <a:xfrm>
              <a:off x="1733940" y="1423554"/>
              <a:ext cx="709613" cy="101516"/>
            </a:xfrm>
            <a:custGeom>
              <a:avLst/>
              <a:gdLst>
                <a:gd name="connsiteX0" fmla="*/ 0 w 709613"/>
                <a:gd name="connsiteY0" fmla="*/ 58654 h 101516"/>
                <a:gd name="connsiteX1" fmla="*/ 147638 w 709613"/>
                <a:gd name="connsiteY1" fmla="*/ 3885 h 101516"/>
                <a:gd name="connsiteX2" fmla="*/ 321469 w 709613"/>
                <a:gd name="connsiteY2" fmla="*/ 13410 h 101516"/>
                <a:gd name="connsiteX3" fmla="*/ 611981 w 709613"/>
                <a:gd name="connsiteY3" fmla="*/ 84848 h 101516"/>
                <a:gd name="connsiteX4" fmla="*/ 709613 w 709613"/>
                <a:gd name="connsiteY4" fmla="*/ 101516 h 10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9613" h="101516">
                  <a:moveTo>
                    <a:pt x="0" y="58654"/>
                  </a:moveTo>
                  <a:cubicBezTo>
                    <a:pt x="47030" y="35040"/>
                    <a:pt x="94060" y="11426"/>
                    <a:pt x="147638" y="3885"/>
                  </a:cubicBezTo>
                  <a:cubicBezTo>
                    <a:pt x="201216" y="-3656"/>
                    <a:pt x="244079" y="-84"/>
                    <a:pt x="321469" y="13410"/>
                  </a:cubicBezTo>
                  <a:cubicBezTo>
                    <a:pt x="398860" y="26904"/>
                    <a:pt x="547290" y="70164"/>
                    <a:pt x="611981" y="84848"/>
                  </a:cubicBezTo>
                  <a:cubicBezTo>
                    <a:pt x="676672" y="99532"/>
                    <a:pt x="693142" y="100524"/>
                    <a:pt x="709613" y="101516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자유형: 도형 5">
              <a:extLst>
                <a:ext uri="{FF2B5EF4-FFF2-40B4-BE49-F238E27FC236}">
                  <a16:creationId xmlns:a16="http://schemas.microsoft.com/office/drawing/2014/main" id="{84C8A4B7-418C-F7F4-10FC-8C0A4623FA78}"/>
                </a:ext>
              </a:extLst>
            </p:cNvPr>
            <p:cNvSpPr/>
            <p:nvPr/>
          </p:nvSpPr>
          <p:spPr>
            <a:xfrm>
              <a:off x="1733940" y="3352367"/>
              <a:ext cx="709613" cy="101516"/>
            </a:xfrm>
            <a:custGeom>
              <a:avLst/>
              <a:gdLst>
                <a:gd name="connsiteX0" fmla="*/ 0 w 709613"/>
                <a:gd name="connsiteY0" fmla="*/ 58654 h 101516"/>
                <a:gd name="connsiteX1" fmla="*/ 147638 w 709613"/>
                <a:gd name="connsiteY1" fmla="*/ 3885 h 101516"/>
                <a:gd name="connsiteX2" fmla="*/ 321469 w 709613"/>
                <a:gd name="connsiteY2" fmla="*/ 13410 h 101516"/>
                <a:gd name="connsiteX3" fmla="*/ 611981 w 709613"/>
                <a:gd name="connsiteY3" fmla="*/ 84848 h 101516"/>
                <a:gd name="connsiteX4" fmla="*/ 709613 w 709613"/>
                <a:gd name="connsiteY4" fmla="*/ 101516 h 10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9613" h="101516">
                  <a:moveTo>
                    <a:pt x="0" y="58654"/>
                  </a:moveTo>
                  <a:cubicBezTo>
                    <a:pt x="47030" y="35040"/>
                    <a:pt x="94060" y="11426"/>
                    <a:pt x="147638" y="3885"/>
                  </a:cubicBezTo>
                  <a:cubicBezTo>
                    <a:pt x="201216" y="-3656"/>
                    <a:pt x="244079" y="-84"/>
                    <a:pt x="321469" y="13410"/>
                  </a:cubicBezTo>
                  <a:cubicBezTo>
                    <a:pt x="398860" y="26904"/>
                    <a:pt x="547290" y="70164"/>
                    <a:pt x="611981" y="84848"/>
                  </a:cubicBezTo>
                  <a:cubicBezTo>
                    <a:pt x="676672" y="99532"/>
                    <a:pt x="693142" y="100524"/>
                    <a:pt x="709613" y="101516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자유형: 도형 6">
              <a:extLst>
                <a:ext uri="{FF2B5EF4-FFF2-40B4-BE49-F238E27FC236}">
                  <a16:creationId xmlns:a16="http://schemas.microsoft.com/office/drawing/2014/main" id="{1963DC3C-751F-61F3-311A-32F4BEAD55D8}"/>
                </a:ext>
              </a:extLst>
            </p:cNvPr>
            <p:cNvSpPr/>
            <p:nvPr/>
          </p:nvSpPr>
          <p:spPr>
            <a:xfrm>
              <a:off x="1733940" y="1460367"/>
              <a:ext cx="709613" cy="101516"/>
            </a:xfrm>
            <a:custGeom>
              <a:avLst/>
              <a:gdLst>
                <a:gd name="connsiteX0" fmla="*/ 0 w 709613"/>
                <a:gd name="connsiteY0" fmla="*/ 58654 h 101516"/>
                <a:gd name="connsiteX1" fmla="*/ 147638 w 709613"/>
                <a:gd name="connsiteY1" fmla="*/ 3885 h 101516"/>
                <a:gd name="connsiteX2" fmla="*/ 321469 w 709613"/>
                <a:gd name="connsiteY2" fmla="*/ 13410 h 101516"/>
                <a:gd name="connsiteX3" fmla="*/ 611981 w 709613"/>
                <a:gd name="connsiteY3" fmla="*/ 84848 h 101516"/>
                <a:gd name="connsiteX4" fmla="*/ 709613 w 709613"/>
                <a:gd name="connsiteY4" fmla="*/ 101516 h 10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9613" h="101516">
                  <a:moveTo>
                    <a:pt x="0" y="58654"/>
                  </a:moveTo>
                  <a:cubicBezTo>
                    <a:pt x="47030" y="35040"/>
                    <a:pt x="94060" y="11426"/>
                    <a:pt x="147638" y="3885"/>
                  </a:cubicBezTo>
                  <a:cubicBezTo>
                    <a:pt x="201216" y="-3656"/>
                    <a:pt x="244079" y="-84"/>
                    <a:pt x="321469" y="13410"/>
                  </a:cubicBezTo>
                  <a:cubicBezTo>
                    <a:pt x="398860" y="26904"/>
                    <a:pt x="547290" y="70164"/>
                    <a:pt x="611981" y="84848"/>
                  </a:cubicBezTo>
                  <a:cubicBezTo>
                    <a:pt x="676672" y="99532"/>
                    <a:pt x="693142" y="100524"/>
                    <a:pt x="709613" y="101516"/>
                  </a:cubicBezTo>
                </a:path>
              </a:pathLst>
            </a:custGeom>
            <a:noFill/>
            <a:ln w="6350"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B15C11C9-1034-502E-BEE3-9D5BFF46C577}"/>
                </a:ext>
              </a:extLst>
            </p:cNvPr>
            <p:cNvSpPr/>
            <p:nvPr/>
          </p:nvSpPr>
          <p:spPr>
            <a:xfrm>
              <a:off x="1733940" y="1510584"/>
              <a:ext cx="709613" cy="101516"/>
            </a:xfrm>
            <a:custGeom>
              <a:avLst/>
              <a:gdLst>
                <a:gd name="connsiteX0" fmla="*/ 0 w 709613"/>
                <a:gd name="connsiteY0" fmla="*/ 58654 h 101516"/>
                <a:gd name="connsiteX1" fmla="*/ 147638 w 709613"/>
                <a:gd name="connsiteY1" fmla="*/ 3885 h 101516"/>
                <a:gd name="connsiteX2" fmla="*/ 321469 w 709613"/>
                <a:gd name="connsiteY2" fmla="*/ 13410 h 101516"/>
                <a:gd name="connsiteX3" fmla="*/ 611981 w 709613"/>
                <a:gd name="connsiteY3" fmla="*/ 84848 h 101516"/>
                <a:gd name="connsiteX4" fmla="*/ 709613 w 709613"/>
                <a:gd name="connsiteY4" fmla="*/ 101516 h 10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9613" h="101516">
                  <a:moveTo>
                    <a:pt x="0" y="58654"/>
                  </a:moveTo>
                  <a:cubicBezTo>
                    <a:pt x="47030" y="35040"/>
                    <a:pt x="94060" y="11426"/>
                    <a:pt x="147638" y="3885"/>
                  </a:cubicBezTo>
                  <a:cubicBezTo>
                    <a:pt x="201216" y="-3656"/>
                    <a:pt x="244079" y="-84"/>
                    <a:pt x="321469" y="13410"/>
                  </a:cubicBezTo>
                  <a:cubicBezTo>
                    <a:pt x="398860" y="26904"/>
                    <a:pt x="547290" y="70164"/>
                    <a:pt x="611981" y="84848"/>
                  </a:cubicBezTo>
                  <a:cubicBezTo>
                    <a:pt x="676672" y="99532"/>
                    <a:pt x="693142" y="100524"/>
                    <a:pt x="709613" y="101516"/>
                  </a:cubicBezTo>
                </a:path>
              </a:pathLst>
            </a:custGeom>
            <a:noFill/>
            <a:ln w="6350"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AFABE3BA-A6E7-7155-E27E-27DBFD194C11}"/>
                </a:ext>
              </a:extLst>
            </p:cNvPr>
            <p:cNvSpPr/>
            <p:nvPr/>
          </p:nvSpPr>
          <p:spPr>
            <a:xfrm>
              <a:off x="1733940" y="1557185"/>
              <a:ext cx="709613" cy="101516"/>
            </a:xfrm>
            <a:custGeom>
              <a:avLst/>
              <a:gdLst>
                <a:gd name="connsiteX0" fmla="*/ 0 w 709613"/>
                <a:gd name="connsiteY0" fmla="*/ 58654 h 101516"/>
                <a:gd name="connsiteX1" fmla="*/ 147638 w 709613"/>
                <a:gd name="connsiteY1" fmla="*/ 3885 h 101516"/>
                <a:gd name="connsiteX2" fmla="*/ 321469 w 709613"/>
                <a:gd name="connsiteY2" fmla="*/ 13410 h 101516"/>
                <a:gd name="connsiteX3" fmla="*/ 611981 w 709613"/>
                <a:gd name="connsiteY3" fmla="*/ 84848 h 101516"/>
                <a:gd name="connsiteX4" fmla="*/ 709613 w 709613"/>
                <a:gd name="connsiteY4" fmla="*/ 101516 h 10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9613" h="101516">
                  <a:moveTo>
                    <a:pt x="0" y="58654"/>
                  </a:moveTo>
                  <a:cubicBezTo>
                    <a:pt x="47030" y="35040"/>
                    <a:pt x="94060" y="11426"/>
                    <a:pt x="147638" y="3885"/>
                  </a:cubicBezTo>
                  <a:cubicBezTo>
                    <a:pt x="201216" y="-3656"/>
                    <a:pt x="244079" y="-84"/>
                    <a:pt x="321469" y="13410"/>
                  </a:cubicBezTo>
                  <a:cubicBezTo>
                    <a:pt x="398860" y="26904"/>
                    <a:pt x="547290" y="70164"/>
                    <a:pt x="611981" y="84848"/>
                  </a:cubicBezTo>
                  <a:cubicBezTo>
                    <a:pt x="676672" y="99532"/>
                    <a:pt x="693142" y="100524"/>
                    <a:pt x="709613" y="101516"/>
                  </a:cubicBezTo>
                </a:path>
              </a:pathLst>
            </a:custGeom>
            <a:noFill/>
            <a:ln w="6350"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61EF13B4-E768-D637-ED86-215461282D6D}"/>
                </a:ext>
              </a:extLst>
            </p:cNvPr>
            <p:cNvCxnSpPr>
              <a:cxnSpLocks/>
              <a:stCxn id="5" idx="0"/>
              <a:endCxn id="6" idx="0"/>
            </p:cNvCxnSpPr>
            <p:nvPr/>
          </p:nvCxnSpPr>
          <p:spPr>
            <a:xfrm>
              <a:off x="1733940" y="1482208"/>
              <a:ext cx="0" cy="1928813"/>
            </a:xfrm>
            <a:prstGeom prst="line">
              <a:avLst/>
            </a:prstGeom>
            <a:ln w="12700"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2F9962A6-E837-1F6D-0452-A3730F66EAD2}"/>
                </a:ext>
              </a:extLst>
            </p:cNvPr>
            <p:cNvCxnSpPr>
              <a:cxnSpLocks/>
              <a:stCxn id="5" idx="4"/>
              <a:endCxn id="6" idx="4"/>
            </p:cNvCxnSpPr>
            <p:nvPr/>
          </p:nvCxnSpPr>
          <p:spPr>
            <a:xfrm>
              <a:off x="2443553" y="1525070"/>
              <a:ext cx="0" cy="1928813"/>
            </a:xfrm>
            <a:prstGeom prst="line">
              <a:avLst/>
            </a:prstGeom>
            <a:ln w="12700"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42C4AB74-7C27-7ADC-A830-DC977EA2A57E}"/>
                </a:ext>
              </a:extLst>
            </p:cNvPr>
            <p:cNvCxnSpPr>
              <a:cxnSpLocks/>
            </p:cNvCxnSpPr>
            <p:nvPr/>
          </p:nvCxnSpPr>
          <p:spPr>
            <a:xfrm>
              <a:off x="1772040" y="1460367"/>
              <a:ext cx="0" cy="1928813"/>
            </a:xfrm>
            <a:prstGeom prst="line">
              <a:avLst/>
            </a:prstGeom>
            <a:ln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09F3FA44-9246-6544-BD16-0DA0DE9B9735}"/>
                </a:ext>
              </a:extLst>
            </p:cNvPr>
            <p:cNvCxnSpPr>
              <a:cxnSpLocks/>
            </p:cNvCxnSpPr>
            <p:nvPr/>
          </p:nvCxnSpPr>
          <p:spPr>
            <a:xfrm>
              <a:off x="1814903" y="1448462"/>
              <a:ext cx="0" cy="1928813"/>
            </a:xfrm>
            <a:prstGeom prst="line">
              <a:avLst/>
            </a:prstGeom>
            <a:ln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6B08BB0-7C11-65DF-D172-679118E469B7}"/>
                </a:ext>
              </a:extLst>
            </p:cNvPr>
            <p:cNvCxnSpPr>
              <a:cxnSpLocks/>
            </p:cNvCxnSpPr>
            <p:nvPr/>
          </p:nvCxnSpPr>
          <p:spPr>
            <a:xfrm>
              <a:off x="1860147" y="1425935"/>
              <a:ext cx="0" cy="1928813"/>
            </a:xfrm>
            <a:prstGeom prst="line">
              <a:avLst/>
            </a:prstGeom>
            <a:ln>
              <a:solidFill>
                <a:srgbClr val="2848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7907D94-4F6C-72A5-ACA0-CD4CDE7D9F5F}"/>
                </a:ext>
              </a:extLst>
            </p:cNvPr>
            <p:cNvSpPr txBox="1"/>
            <p:nvPr/>
          </p:nvSpPr>
          <p:spPr>
            <a:xfrm>
              <a:off x="1819873" y="2537928"/>
              <a:ext cx="3421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…</a:t>
              </a:r>
              <a:endPara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2B9003F-9BAB-5B4E-D5E9-56261641B73B}"/>
                </a:ext>
              </a:extLst>
            </p:cNvPr>
            <p:cNvSpPr txBox="1"/>
            <p:nvPr/>
          </p:nvSpPr>
          <p:spPr>
            <a:xfrm rot="5400000">
              <a:off x="1977824" y="1602305"/>
              <a:ext cx="3421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…</a:t>
              </a:r>
              <a:endPara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</p:grpSp>
      <p:pic>
        <p:nvPicPr>
          <p:cNvPr id="40" name="그림 39">
            <a:extLst>
              <a:ext uri="{FF2B5EF4-FFF2-40B4-BE49-F238E27FC236}">
                <a16:creationId xmlns:a16="http://schemas.microsoft.com/office/drawing/2014/main" id="{ABFFEE75-EF69-D7A1-1FDF-6E506AD4F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548199" y="3100341"/>
            <a:ext cx="2643940" cy="2399060"/>
          </a:xfrm>
          <a:prstGeom prst="rect">
            <a:avLst/>
          </a:prstGeom>
        </p:spPr>
      </p:pic>
      <p:sp>
        <p:nvSpPr>
          <p:cNvPr id="42" name="자유형: 도형 41">
            <a:extLst>
              <a:ext uri="{FF2B5EF4-FFF2-40B4-BE49-F238E27FC236}">
                <a16:creationId xmlns:a16="http://schemas.microsoft.com/office/drawing/2014/main" id="{F9423432-D649-5116-BC02-D2B0D1CC1BE8}"/>
              </a:ext>
            </a:extLst>
          </p:cNvPr>
          <p:cNvSpPr/>
          <p:nvPr/>
        </p:nvSpPr>
        <p:spPr>
          <a:xfrm>
            <a:off x="5719714" y="3499695"/>
            <a:ext cx="452438" cy="59531"/>
          </a:xfrm>
          <a:custGeom>
            <a:avLst/>
            <a:gdLst>
              <a:gd name="connsiteX0" fmla="*/ 0 w 452438"/>
              <a:gd name="connsiteY0" fmla="*/ 59531 h 59531"/>
              <a:gd name="connsiteX1" fmla="*/ 273844 w 452438"/>
              <a:gd name="connsiteY1" fmla="*/ 59531 h 59531"/>
              <a:gd name="connsiteX2" fmla="*/ 452438 w 452438"/>
              <a:gd name="connsiteY2" fmla="*/ 0 h 59531"/>
              <a:gd name="connsiteX3" fmla="*/ 4763 w 452438"/>
              <a:gd name="connsiteY3" fmla="*/ 0 h 59531"/>
              <a:gd name="connsiteX4" fmla="*/ 0 w 452438"/>
              <a:gd name="connsiteY4" fmla="*/ 59531 h 59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2438" h="59531">
                <a:moveTo>
                  <a:pt x="0" y="59531"/>
                </a:moveTo>
                <a:lnTo>
                  <a:pt x="273844" y="59531"/>
                </a:lnTo>
                <a:lnTo>
                  <a:pt x="452438" y="0"/>
                </a:lnTo>
                <a:lnTo>
                  <a:pt x="4763" y="0"/>
                </a:lnTo>
                <a:lnTo>
                  <a:pt x="0" y="5953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B9DE556-6A76-09A0-99A5-21D8818E8CF7}"/>
              </a:ext>
            </a:extLst>
          </p:cNvPr>
          <p:cNvSpPr txBox="1"/>
          <p:nvPr/>
        </p:nvSpPr>
        <p:spPr>
          <a:xfrm>
            <a:off x="511628" y="1015373"/>
            <a:ext cx="54910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arenBoth" startAt="3"/>
            </a:pPr>
            <a:r>
              <a:rPr lang="en-US" altLang="ko-KR" sz="18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concentration</a:t>
            </a:r>
          </a:p>
          <a:p>
            <a:endParaRPr lang="en-US" altLang="ko-KR" sz="180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 local trap concentration based on location &amp; trap depth</a:t>
            </a:r>
            <a:endParaRPr lang="en-US" altLang="ko-KR" sz="180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1BA798FB-ED2C-7A82-C2CE-4F09E798624B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2716876" y="2694081"/>
            <a:ext cx="2953763" cy="805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E1F64FDE-91CB-B814-1204-82CA25A0400F}"/>
              </a:ext>
            </a:extLst>
          </p:cNvPr>
          <p:cNvSpPr/>
          <p:nvPr/>
        </p:nvSpPr>
        <p:spPr>
          <a:xfrm>
            <a:off x="2671157" y="2656916"/>
            <a:ext cx="45719" cy="50679"/>
          </a:xfrm>
          <a:custGeom>
            <a:avLst/>
            <a:gdLst>
              <a:gd name="connsiteX0" fmla="*/ 0 w 59532"/>
              <a:gd name="connsiteY0" fmla="*/ 14287 h 71437"/>
              <a:gd name="connsiteX1" fmla="*/ 0 w 59532"/>
              <a:gd name="connsiteY1" fmla="*/ 71437 h 71437"/>
              <a:gd name="connsiteX2" fmla="*/ 59532 w 59532"/>
              <a:gd name="connsiteY2" fmla="*/ 52387 h 71437"/>
              <a:gd name="connsiteX3" fmla="*/ 59532 w 59532"/>
              <a:gd name="connsiteY3" fmla="*/ 0 h 71437"/>
              <a:gd name="connsiteX4" fmla="*/ 0 w 59532"/>
              <a:gd name="connsiteY4" fmla="*/ 14287 h 71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532" h="71437">
                <a:moveTo>
                  <a:pt x="0" y="14287"/>
                </a:moveTo>
                <a:lnTo>
                  <a:pt x="0" y="71437"/>
                </a:lnTo>
                <a:lnTo>
                  <a:pt x="59532" y="52387"/>
                </a:lnTo>
                <a:lnTo>
                  <a:pt x="59532" y="0"/>
                </a:lnTo>
                <a:lnTo>
                  <a:pt x="0" y="14287"/>
                </a:lnTo>
                <a:close/>
              </a:path>
            </a:pathLst>
          </a:cu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E696ACF-B4B2-8EFF-BC26-41CA9FD96849}"/>
                  </a:ext>
                </a:extLst>
              </p:cNvPr>
              <p:cNvSpPr txBox="1"/>
              <p:nvPr/>
            </p:nvSpPr>
            <p:spPr>
              <a:xfrm>
                <a:off x="5072867" y="2243206"/>
                <a:ext cx="2817845" cy="4118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 ∫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𝐷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𝑑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𝐸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E696ACF-B4B2-8EFF-BC26-41CA9FD96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2867" y="2243206"/>
                <a:ext cx="2817845" cy="4118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DEB5D9C-0C32-D274-487C-9AED39E1D867}"/>
                  </a:ext>
                </a:extLst>
              </p:cNvPr>
              <p:cNvSpPr txBox="1"/>
              <p:nvPr/>
            </p:nvSpPr>
            <p:spPr>
              <a:xfrm>
                <a:off x="6648841" y="3302870"/>
                <a:ext cx="2059730" cy="424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0,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𝑗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𝐷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𝑑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𝐸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DEB5D9C-0C32-D274-487C-9AED39E1D8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8841" y="3302870"/>
                <a:ext cx="2059730" cy="4247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3124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914936-11EA-F5CE-8E76-5C567FF4C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Cell Information Methodology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52FE5F-30BA-2EB9-7CC5-F7251D54FDCA}"/>
              </a:ext>
            </a:extLst>
          </p:cNvPr>
          <p:cNvSpPr txBox="1"/>
          <p:nvPr/>
        </p:nvSpPr>
        <p:spPr>
          <a:xfrm>
            <a:off x="617376" y="1122126"/>
            <a:ext cx="45813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arenBoth" startAt="4"/>
            </a:pPr>
            <a:r>
              <a:rPr lang="en-US" altLang="ko-KR" sz="18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Emission rate to channel direction</a:t>
            </a:r>
          </a:p>
          <a:p>
            <a:r>
              <a:rPr lang="en-US" altLang="ko-KR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(5) Emission rate to wordline direction</a:t>
            </a:r>
            <a:endParaRPr lang="en-US" altLang="ko-KR" sz="180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0930D91-8526-4A16-BB24-E81201B9C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813" y="1928885"/>
            <a:ext cx="3934374" cy="3124636"/>
          </a:xfrm>
          <a:prstGeom prst="rect">
            <a:avLst/>
          </a:prstGeom>
        </p:spPr>
      </p:pic>
      <p:sp>
        <p:nvSpPr>
          <p:cNvPr id="7" name="곱하기 기호 6">
            <a:extLst>
              <a:ext uri="{FF2B5EF4-FFF2-40B4-BE49-F238E27FC236}">
                <a16:creationId xmlns:a16="http://schemas.microsoft.com/office/drawing/2014/main" id="{3F315F9E-1D00-5F67-9227-B196489E8F4B}"/>
              </a:ext>
            </a:extLst>
          </p:cNvPr>
          <p:cNvSpPr/>
          <p:nvPr/>
        </p:nvSpPr>
        <p:spPr>
          <a:xfrm>
            <a:off x="4211216" y="3141307"/>
            <a:ext cx="217714" cy="217714"/>
          </a:xfrm>
          <a:prstGeom prst="mathMultiply">
            <a:avLst>
              <a:gd name="adj1" fmla="val 6378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8AC9D17-8A3B-BFD3-5F7F-DEE30276D883}"/>
              </a:ext>
            </a:extLst>
          </p:cNvPr>
          <p:cNvCxnSpPr/>
          <p:nvPr/>
        </p:nvCxnSpPr>
        <p:spPr>
          <a:xfrm flipH="1">
            <a:off x="2195804" y="3250164"/>
            <a:ext cx="201541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C047AC9E-A696-4B21-3C1F-6D9C90DB3020}"/>
              </a:ext>
            </a:extLst>
          </p:cNvPr>
          <p:cNvCxnSpPr>
            <a:cxnSpLocks/>
          </p:cNvCxnSpPr>
          <p:nvPr/>
        </p:nvCxnSpPr>
        <p:spPr>
          <a:xfrm>
            <a:off x="4397827" y="3250164"/>
            <a:ext cx="2264230" cy="0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B13381C-C84F-8FCD-92C7-1BB61D66FB78}"/>
              </a:ext>
            </a:extLst>
          </p:cNvPr>
          <p:cNvSpPr txBox="1"/>
          <p:nvPr/>
        </p:nvSpPr>
        <p:spPr>
          <a:xfrm>
            <a:off x="1566004" y="4571444"/>
            <a:ext cx="11134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channel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124355-DF34-9970-6E3A-63EB5D908072}"/>
              </a:ext>
            </a:extLst>
          </p:cNvPr>
          <p:cNvSpPr txBox="1"/>
          <p:nvPr/>
        </p:nvSpPr>
        <p:spPr>
          <a:xfrm>
            <a:off x="6417119" y="4430042"/>
            <a:ext cx="11134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WL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84ACF9D-4B42-6305-F64D-275C217228D6}"/>
              </a:ext>
            </a:extLst>
          </p:cNvPr>
          <p:cNvSpPr/>
          <p:nvPr/>
        </p:nvSpPr>
        <p:spPr>
          <a:xfrm>
            <a:off x="6288832" y="4787708"/>
            <a:ext cx="256575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74937CA-AB43-0934-3829-07C7E5977311}"/>
                  </a:ext>
                </a:extLst>
              </p:cNvPr>
              <p:cNvSpPr txBox="1"/>
              <p:nvPr/>
            </p:nvSpPr>
            <p:spPr>
              <a:xfrm>
                <a:off x="2357535" y="2846901"/>
                <a:ext cx="221446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𝑐h</m:t>
                        </m:r>
                      </m:sub>
                    </m:sSub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𝑐h</m:t>
                        </m:r>
                      </m:sub>
                    </m:sSub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𝑇𝐶</m:t>
                            </m:r>
                          </m:e>
                        </m:d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𝑐h</m:t>
                        </m:r>
                      </m:sub>
                    </m:sSub>
                  </m:oMath>
                </a14:m>
                <a:r>
                  <a:rPr lang="ko-KR" altLang="en-US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74937CA-AB43-0934-3829-07C7E59773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7535" y="2846901"/>
                <a:ext cx="2214465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4F1F49D-E588-26CE-83CE-456222134EBD}"/>
                  </a:ext>
                </a:extLst>
              </p:cNvPr>
              <p:cNvSpPr txBox="1"/>
              <p:nvPr/>
            </p:nvSpPr>
            <p:spPr>
              <a:xfrm>
                <a:off x="4491903" y="2846901"/>
                <a:ext cx="221446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𝑊𝐿</m:t>
                        </m:r>
                      </m:sub>
                    </m:sSub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𝑊𝐿</m:t>
                        </m:r>
                      </m:sub>
                    </m:sSub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𝑇𝐶</m:t>
                            </m:r>
                          </m:e>
                        </m:d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𝑊𝐿</m:t>
                        </m:r>
                      </m:sub>
                    </m:sSub>
                  </m:oMath>
                </a14:m>
                <a:r>
                  <a:rPr lang="ko-KR" altLang="en-US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4F1F49D-E588-26CE-83CE-456222134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1903" y="2846901"/>
                <a:ext cx="2214465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8FD06F8-6321-5E7F-EC1A-B81D767DA3D0}"/>
              </a:ext>
            </a:extLst>
          </p:cNvPr>
          <p:cNvSpPr txBox="1"/>
          <p:nvPr/>
        </p:nvSpPr>
        <p:spPr>
          <a:xfrm>
            <a:off x="403558" y="2742332"/>
            <a:ext cx="16056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Electron emission</a:t>
            </a:r>
            <a:b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</a:br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 channel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99210F-B25A-6072-580A-1DB1CDA2CA44}"/>
              </a:ext>
            </a:extLst>
          </p:cNvPr>
          <p:cNvSpPr txBox="1"/>
          <p:nvPr/>
        </p:nvSpPr>
        <p:spPr>
          <a:xfrm>
            <a:off x="6786465" y="2742332"/>
            <a:ext cx="16056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Electron emission</a:t>
            </a:r>
            <a:b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</a:br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 wordline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4810F05-3EC5-AD78-9320-CEC550FBF79E}"/>
                  </a:ext>
                </a:extLst>
              </p:cNvPr>
              <p:cNvSpPr txBox="1"/>
              <p:nvPr/>
            </p:nvSpPr>
            <p:spPr>
              <a:xfrm>
                <a:off x="814872" y="5538496"/>
                <a:ext cx="7508034" cy="7958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𝑛</m:t>
                          </m:r>
                        </m:e>
                        <m:sub>
                          <m:r>
                            <a:rPr lang="en-US" altLang="ko-KR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𝑖</m:t>
                          </m:r>
                          <m:r>
                            <a:rPr lang="en-US" altLang="ko-KR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, </m:t>
                          </m:r>
                          <m:r>
                            <a:rPr lang="en-US" altLang="ko-KR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𝑡</m:t>
                              </m:r>
                              <m:r>
                                <a:rPr lang="en-US" altLang="ko-KR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ko-KR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𝑖</m:t>
                              </m:r>
                              <m:r>
                                <a:rPr lang="en-US" altLang="ko-KR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ko-KR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altLang="ko-KR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𝑖</m:t>
                          </m:r>
                          <m:r>
                            <a:rPr lang="en-US" altLang="ko-KR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, </m:t>
                          </m:r>
                          <m:r>
                            <a:rPr lang="en-US" altLang="ko-KR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𝑡</m:t>
                              </m:r>
                              <m:r>
                                <a:rPr lang="en-US" altLang="ko-KR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0</m:t>
                              </m:r>
                              <m: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𝑖</m:t>
                              </m:r>
                              <m: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ko-KR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ko-KR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ko-KR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b="0" i="0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ko-KR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𝑒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𝑐h</m:t>
                                          </m:r>
                                          <m:r>
                                            <a:rPr lang="en-US" altLang="ko-KR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ko-KR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ko-KR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ko-KR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altLang="ko-KR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 </m:t>
                                      </m:r>
                                      <m:r>
                                        <a:rPr lang="en-US" altLang="ko-KR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US" altLang="ko-KR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+</m:t>
                                  </m:r>
                                  <m:func>
                                    <m:funcPr>
                                      <m:ctrlPr>
                                        <a:rPr lang="en-US" altLang="ko-KR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altLang="ko-KR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ko-KR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ko-KR" b="0" i="1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ko-KR" b="0" i="1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𝑒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ko-KR" b="0" i="1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𝑊𝐿</m:t>
                                              </m:r>
                                              <m:r>
                                                <a:rPr lang="en-US" altLang="ko-KR" b="0" i="1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altLang="ko-KR" b="0" i="1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altLang="ko-KR" b="0" i="1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altLang="ko-KR" b="0" i="1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ko-KR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 </m:t>
                                          </m:r>
                                          <m:r>
                                            <a:rPr lang="en-US" altLang="ko-KR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func>
                            </m:e>
                          </m:d>
                        </m:e>
                      </m:nary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4810F05-3EC5-AD78-9320-CEC550FBF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72" y="5538496"/>
                <a:ext cx="7508034" cy="79585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4338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17E19F-73FF-2229-13A1-45C5D3C2A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Equivalent Circuit</a:t>
            </a:r>
            <a:endParaRPr lang="ko-KR" altLang="en-US"/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4AB0D551-1437-079D-F273-6F0265287353}"/>
              </a:ext>
            </a:extLst>
          </p:cNvPr>
          <p:cNvSpPr/>
          <p:nvPr/>
        </p:nvSpPr>
        <p:spPr>
          <a:xfrm>
            <a:off x="5784981" y="2655945"/>
            <a:ext cx="1586205" cy="634481"/>
          </a:xfrm>
          <a:custGeom>
            <a:avLst/>
            <a:gdLst>
              <a:gd name="connsiteX0" fmla="*/ 0 w 777551"/>
              <a:gd name="connsiteY0" fmla="*/ 311020 h 311020"/>
              <a:gd name="connsiteX1" fmla="*/ 167951 w 777551"/>
              <a:gd name="connsiteY1" fmla="*/ 311020 h 311020"/>
              <a:gd name="connsiteX2" fmla="*/ 167951 w 777551"/>
              <a:gd name="connsiteY2" fmla="*/ 0 h 311020"/>
              <a:gd name="connsiteX3" fmla="*/ 622040 w 777551"/>
              <a:gd name="connsiteY3" fmla="*/ 0 h 311020"/>
              <a:gd name="connsiteX4" fmla="*/ 622040 w 777551"/>
              <a:gd name="connsiteY4" fmla="*/ 311020 h 311020"/>
              <a:gd name="connsiteX5" fmla="*/ 777551 w 777551"/>
              <a:gd name="connsiteY5" fmla="*/ 311020 h 311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7551" h="311020">
                <a:moveTo>
                  <a:pt x="0" y="311020"/>
                </a:moveTo>
                <a:lnTo>
                  <a:pt x="167951" y="311020"/>
                </a:lnTo>
                <a:lnTo>
                  <a:pt x="167951" y="0"/>
                </a:lnTo>
                <a:lnTo>
                  <a:pt x="622040" y="0"/>
                </a:lnTo>
                <a:lnTo>
                  <a:pt x="622040" y="311020"/>
                </a:lnTo>
                <a:lnTo>
                  <a:pt x="777551" y="311020"/>
                </a:lnTo>
              </a:path>
            </a:pathLst>
          </a:cu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3DA06BC-A389-760F-14DE-48D3187ADE97}"/>
              </a:ext>
            </a:extLst>
          </p:cNvPr>
          <p:cNvCxnSpPr>
            <a:cxnSpLocks/>
          </p:cNvCxnSpPr>
          <p:nvPr/>
        </p:nvCxnSpPr>
        <p:spPr>
          <a:xfrm>
            <a:off x="6123994" y="2572678"/>
            <a:ext cx="923729" cy="0"/>
          </a:xfrm>
          <a:prstGeom prst="line">
            <a:avLst/>
          </a:prstGeom>
          <a:ln w="12700">
            <a:solidFill>
              <a:srgbClr val="2848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4A58A15-205D-DE58-B681-4436743F7DD3}"/>
              </a:ext>
            </a:extLst>
          </p:cNvPr>
          <p:cNvCxnSpPr>
            <a:cxnSpLocks/>
          </p:cNvCxnSpPr>
          <p:nvPr/>
        </p:nvCxnSpPr>
        <p:spPr>
          <a:xfrm>
            <a:off x="6131769" y="2479371"/>
            <a:ext cx="915954" cy="0"/>
          </a:xfrm>
          <a:prstGeom prst="line">
            <a:avLst/>
          </a:prstGeom>
          <a:ln w="12700">
            <a:solidFill>
              <a:srgbClr val="2848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E5B1876B-D751-70CC-055C-FFAB3EC39D82}"/>
              </a:ext>
            </a:extLst>
          </p:cNvPr>
          <p:cNvCxnSpPr>
            <a:cxnSpLocks/>
          </p:cNvCxnSpPr>
          <p:nvPr/>
        </p:nvCxnSpPr>
        <p:spPr>
          <a:xfrm>
            <a:off x="6598298" y="1994179"/>
            <a:ext cx="0" cy="485192"/>
          </a:xfrm>
          <a:prstGeom prst="line">
            <a:avLst/>
          </a:prstGeom>
          <a:ln w="12700">
            <a:solidFill>
              <a:srgbClr val="2848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그림 32">
            <a:extLst>
              <a:ext uri="{FF2B5EF4-FFF2-40B4-BE49-F238E27FC236}">
                <a16:creationId xmlns:a16="http://schemas.microsoft.com/office/drawing/2014/main" id="{F5318922-39A8-EB13-0C9B-F023971B2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198" y="1718600"/>
            <a:ext cx="3802297" cy="2079989"/>
          </a:xfrm>
          <a:prstGeom prst="rect">
            <a:avLst/>
          </a:prstGeom>
        </p:spPr>
      </p:pic>
      <p:sp>
        <p:nvSpPr>
          <p:cNvPr id="34" name="타원 33">
            <a:extLst>
              <a:ext uri="{FF2B5EF4-FFF2-40B4-BE49-F238E27FC236}">
                <a16:creationId xmlns:a16="http://schemas.microsoft.com/office/drawing/2014/main" id="{51F2AAA8-97CE-79EE-9DF0-9F2BA6F16E66}"/>
              </a:ext>
            </a:extLst>
          </p:cNvPr>
          <p:cNvSpPr/>
          <p:nvPr/>
        </p:nvSpPr>
        <p:spPr>
          <a:xfrm>
            <a:off x="5734451" y="2739436"/>
            <a:ext cx="240300" cy="240300"/>
          </a:xfrm>
          <a:prstGeom prst="ellipse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F671EE9D-4A33-5E8F-13EB-CA311F228EEC}"/>
              </a:ext>
            </a:extLst>
          </p:cNvPr>
          <p:cNvCxnSpPr>
            <a:stCxn id="34" idx="2"/>
            <a:endCxn id="34" idx="6"/>
          </p:cNvCxnSpPr>
          <p:nvPr/>
        </p:nvCxnSpPr>
        <p:spPr>
          <a:xfrm>
            <a:off x="5734451" y="2859586"/>
            <a:ext cx="240300" cy="0"/>
          </a:xfrm>
          <a:prstGeom prst="line">
            <a:avLst/>
          </a:prstGeom>
          <a:ln>
            <a:solidFill>
              <a:srgbClr val="2848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이등변 삼각형 36">
            <a:extLst>
              <a:ext uri="{FF2B5EF4-FFF2-40B4-BE49-F238E27FC236}">
                <a16:creationId xmlns:a16="http://schemas.microsoft.com/office/drawing/2014/main" id="{941E3FC2-33F2-3507-9A82-1516B0F9372B}"/>
              </a:ext>
            </a:extLst>
          </p:cNvPr>
          <p:cNvSpPr/>
          <p:nvPr/>
        </p:nvSpPr>
        <p:spPr>
          <a:xfrm rot="10800000">
            <a:off x="5356550" y="2758098"/>
            <a:ext cx="88309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B71B90AB-ECD3-A94A-BE13-B0E71F0170F9}"/>
              </a:ext>
            </a:extLst>
          </p:cNvPr>
          <p:cNvSpPr/>
          <p:nvPr/>
        </p:nvSpPr>
        <p:spPr>
          <a:xfrm>
            <a:off x="5398732" y="2572678"/>
            <a:ext cx="459581" cy="185737"/>
          </a:xfrm>
          <a:custGeom>
            <a:avLst/>
            <a:gdLst>
              <a:gd name="connsiteX0" fmla="*/ 459581 w 459581"/>
              <a:gd name="connsiteY0" fmla="*/ 161925 h 185737"/>
              <a:gd name="connsiteX1" fmla="*/ 459581 w 459581"/>
              <a:gd name="connsiteY1" fmla="*/ 0 h 185737"/>
              <a:gd name="connsiteX2" fmla="*/ 0 w 459581"/>
              <a:gd name="connsiteY2" fmla="*/ 0 h 185737"/>
              <a:gd name="connsiteX3" fmla="*/ 0 w 459581"/>
              <a:gd name="connsiteY3" fmla="*/ 185737 h 185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581" h="185737">
                <a:moveTo>
                  <a:pt x="459581" y="161925"/>
                </a:moveTo>
                <a:lnTo>
                  <a:pt x="459581" y="0"/>
                </a:lnTo>
                <a:lnTo>
                  <a:pt x="0" y="0"/>
                </a:lnTo>
                <a:lnTo>
                  <a:pt x="0" y="185737"/>
                </a:lnTo>
              </a:path>
            </a:pathLst>
          </a:cu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7281D9B0-C6EE-4556-59ED-56741E0B81B1}"/>
              </a:ext>
            </a:extLst>
          </p:cNvPr>
          <p:cNvCxnSpPr>
            <a:cxnSpLocks/>
            <a:stCxn id="34" idx="4"/>
          </p:cNvCxnSpPr>
          <p:nvPr/>
        </p:nvCxnSpPr>
        <p:spPr>
          <a:xfrm>
            <a:off x="5854601" y="2979736"/>
            <a:ext cx="0" cy="310690"/>
          </a:xfrm>
          <a:prstGeom prst="line">
            <a:avLst/>
          </a:prstGeom>
          <a:ln w="12700">
            <a:solidFill>
              <a:srgbClr val="2848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타원 45">
            <a:extLst>
              <a:ext uri="{FF2B5EF4-FFF2-40B4-BE49-F238E27FC236}">
                <a16:creationId xmlns:a16="http://schemas.microsoft.com/office/drawing/2014/main" id="{4646B0E3-F266-4151-BC34-AB609BDDCCD6}"/>
              </a:ext>
            </a:extLst>
          </p:cNvPr>
          <p:cNvSpPr/>
          <p:nvPr/>
        </p:nvSpPr>
        <p:spPr>
          <a:xfrm>
            <a:off x="7261497" y="2450899"/>
            <a:ext cx="240300" cy="240300"/>
          </a:xfrm>
          <a:prstGeom prst="ellipse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4AE6B5B6-C4F8-DA51-808E-14CBB5896612}"/>
              </a:ext>
            </a:extLst>
          </p:cNvPr>
          <p:cNvCxnSpPr>
            <a:cxnSpLocks/>
            <a:stCxn id="46" idx="2"/>
            <a:endCxn id="46" idx="6"/>
          </p:cNvCxnSpPr>
          <p:nvPr/>
        </p:nvCxnSpPr>
        <p:spPr>
          <a:xfrm>
            <a:off x="7261497" y="2571049"/>
            <a:ext cx="240300" cy="0"/>
          </a:xfrm>
          <a:prstGeom prst="line">
            <a:avLst/>
          </a:prstGeom>
          <a:ln>
            <a:solidFill>
              <a:srgbClr val="2848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이등변 삼각형 47">
            <a:extLst>
              <a:ext uri="{FF2B5EF4-FFF2-40B4-BE49-F238E27FC236}">
                <a16:creationId xmlns:a16="http://schemas.microsoft.com/office/drawing/2014/main" id="{C2FAFD92-72E4-1761-128C-087BEAA1ABCF}"/>
              </a:ext>
            </a:extLst>
          </p:cNvPr>
          <p:cNvSpPr/>
          <p:nvPr/>
        </p:nvSpPr>
        <p:spPr>
          <a:xfrm rot="10800000">
            <a:off x="7331272" y="2865760"/>
            <a:ext cx="88309" cy="45719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C2F63086-3506-37F9-76CB-2D7FD1A27DD2}"/>
              </a:ext>
            </a:extLst>
          </p:cNvPr>
          <p:cNvSpPr/>
          <p:nvPr/>
        </p:nvSpPr>
        <p:spPr>
          <a:xfrm>
            <a:off x="6916428" y="2293532"/>
            <a:ext cx="459581" cy="185737"/>
          </a:xfrm>
          <a:custGeom>
            <a:avLst/>
            <a:gdLst>
              <a:gd name="connsiteX0" fmla="*/ 459581 w 459581"/>
              <a:gd name="connsiteY0" fmla="*/ 161925 h 185737"/>
              <a:gd name="connsiteX1" fmla="*/ 459581 w 459581"/>
              <a:gd name="connsiteY1" fmla="*/ 0 h 185737"/>
              <a:gd name="connsiteX2" fmla="*/ 0 w 459581"/>
              <a:gd name="connsiteY2" fmla="*/ 0 h 185737"/>
              <a:gd name="connsiteX3" fmla="*/ 0 w 459581"/>
              <a:gd name="connsiteY3" fmla="*/ 185737 h 185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581" h="185737">
                <a:moveTo>
                  <a:pt x="459581" y="161925"/>
                </a:moveTo>
                <a:lnTo>
                  <a:pt x="459581" y="0"/>
                </a:lnTo>
                <a:lnTo>
                  <a:pt x="0" y="0"/>
                </a:lnTo>
                <a:lnTo>
                  <a:pt x="0" y="185737"/>
                </a:lnTo>
              </a:path>
            </a:pathLst>
          </a:cu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BFFA6255-11AA-0D7F-3AA0-C0B411569F0D}"/>
              </a:ext>
            </a:extLst>
          </p:cNvPr>
          <p:cNvCxnSpPr>
            <a:cxnSpLocks/>
          </p:cNvCxnSpPr>
          <p:nvPr/>
        </p:nvCxnSpPr>
        <p:spPr>
          <a:xfrm>
            <a:off x="7377407" y="2691199"/>
            <a:ext cx="0" cy="168387"/>
          </a:xfrm>
          <a:prstGeom prst="line">
            <a:avLst/>
          </a:prstGeom>
          <a:ln w="12700">
            <a:solidFill>
              <a:srgbClr val="2848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DE75CE5A-1333-4438-27ED-9FA19D2C9721}"/>
              </a:ext>
            </a:extLst>
          </p:cNvPr>
          <p:cNvCxnSpPr>
            <a:cxnSpLocks/>
          </p:cNvCxnSpPr>
          <p:nvPr/>
        </p:nvCxnSpPr>
        <p:spPr>
          <a:xfrm flipV="1">
            <a:off x="5641911" y="2678485"/>
            <a:ext cx="0" cy="3622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F5B75DBC-9CF3-0236-6ED9-D4C818F06EED}"/>
              </a:ext>
            </a:extLst>
          </p:cNvPr>
          <p:cNvCxnSpPr>
            <a:cxnSpLocks/>
          </p:cNvCxnSpPr>
          <p:nvPr/>
        </p:nvCxnSpPr>
        <p:spPr>
          <a:xfrm>
            <a:off x="7582678" y="2381991"/>
            <a:ext cx="0" cy="408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D9660667-BC14-A8AB-BD94-2BF99BE003BE}"/>
              </a:ext>
            </a:extLst>
          </p:cNvPr>
          <p:cNvSpPr txBox="1"/>
          <p:nvPr/>
        </p:nvSpPr>
        <p:spPr>
          <a:xfrm>
            <a:off x="5382428" y="2863621"/>
            <a:ext cx="4921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i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</a:t>
            </a:r>
            <a:r>
              <a:rPr lang="en-US" altLang="ko-KR" sz="2000" i="1" baseline="-25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ch</a:t>
            </a:r>
            <a:endParaRPr lang="ko-KR" altLang="en-US" sz="2000" i="1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1C34668-647B-D0FE-46A0-A65E6581BE16}"/>
              </a:ext>
            </a:extLst>
          </p:cNvPr>
          <p:cNvSpPr txBox="1"/>
          <p:nvPr/>
        </p:nvSpPr>
        <p:spPr>
          <a:xfrm>
            <a:off x="7576456" y="2356797"/>
            <a:ext cx="4921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i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</a:t>
            </a:r>
            <a:r>
              <a:rPr lang="en-US" altLang="ko-KR" sz="2000" i="1" baseline="-25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G</a:t>
            </a:r>
            <a:endParaRPr lang="ko-KR" altLang="en-US" sz="2000" i="1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A9C7F20-7AFB-94D8-BEAF-4D83A5F2C812}"/>
                  </a:ext>
                </a:extLst>
              </p:cNvPr>
              <p:cNvSpPr txBox="1"/>
              <p:nvPr/>
            </p:nvSpPr>
            <p:spPr>
              <a:xfrm>
                <a:off x="468966" y="3798589"/>
                <a:ext cx="8403058" cy="17867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 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𝑖</m:t>
                            </m:r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 </m:t>
                        </m:r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0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𝑖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𝑗</m:t>
                            </m:r>
                          </m:sub>
                        </m:s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ko-KR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𝑒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𝑐h</m:t>
                                        </m:r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𝑖</m:t>
                                        </m:r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 </m:t>
                                    </m:r>
                                    <m: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𝑒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𝑊𝐿</m:t>
                                            </m:r>
                                            <m: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 </m:t>
                                        </m:r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</m:func>
                          </m:e>
                        </m:d>
                      </m:e>
                    </m:nary>
                  </m:oMath>
                </a14:m>
                <a:r>
                  <a:rPr lang="ko-KR" altLang="en-US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endParaRPr lang="en-US" altLang="ko-KR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𝑐h</m:t>
                        </m:r>
                      </m:sub>
                    </m:sSub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𝑞</m:t>
                    </m:r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 </m:t>
                            </m:r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𝑐h</m:t>
                            </m:r>
                          </m:sub>
                        </m:sSub>
                      </m:num>
                      <m:den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𝑑𝑡</m:t>
                        </m:r>
                      </m:den>
                    </m:f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𝑞</m:t>
                    </m:r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</m:t>
                        </m:r>
                      </m:num>
                      <m:den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𝑑𝑡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 </m:t>
                        </m:r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0,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𝑖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𝑗</m:t>
                            </m:r>
                          </m:sub>
                        </m:sSub>
                        <m:func>
                          <m:funcPr>
                            <m:ctrlP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𝑐h</m:t>
                                    </m:r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𝑖</m:t>
                                    </m:r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 </m:t>
                                </m:r>
                                <m: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</m:e>
                    </m:nary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𝑞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 </m:t>
                        </m:r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𝑐h</m:t>
                            </m:r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𝑖</m:t>
                            </m:r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0,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𝑖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𝑗</m:t>
                            </m:r>
                          </m:sub>
                        </m:sSub>
                        <m:func>
                          <m:funcPr>
                            <m:ctrlP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𝑐h</m:t>
                                    </m:r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𝑖</m:t>
                                    </m:r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 </m:t>
                                </m:r>
                                <m: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</m:e>
                    </m:nary>
                  </m:oMath>
                </a14:m>
                <a:r>
                  <a:rPr lang="en-US" altLang="ko-KR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  <a:p>
                <a:endParaRPr lang="en-US" altLang="ko-KR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𝐺</m:t>
                        </m:r>
                      </m:sub>
                    </m:sSub>
                    <m:r>
                      <a:rPr lang="en-US" altLang="ko-KR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r>
                      <a:rPr lang="en-US" altLang="ko-KR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𝑞</m:t>
                    </m:r>
                    <m:f>
                      <m:fPr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 </m:t>
                            </m:r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𝐺</m:t>
                            </m:r>
                          </m:sub>
                        </m:sSub>
                      </m:num>
                      <m:den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𝑑𝑡</m:t>
                        </m:r>
                      </m:den>
                    </m:f>
                    <m:r>
                      <a:rPr lang="en-US" altLang="ko-KR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r>
                      <a:rPr lang="en-US" altLang="ko-KR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𝑞</m:t>
                    </m:r>
                    <m:f>
                      <m:fPr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</m:t>
                        </m:r>
                      </m:num>
                      <m:den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𝑑𝑡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 </m:t>
                        </m:r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0,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𝑖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𝑗</m:t>
                            </m:r>
                          </m:sub>
                        </m:sSub>
                        <m:func>
                          <m:funcPr>
                            <m:ctrlP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𝐺</m:t>
                                    </m:r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𝑖</m:t>
                                    </m:r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 </m:t>
                                </m:r>
                                <m: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</m:e>
                    </m:nary>
                    <m:r>
                      <a:rPr lang="en-US" altLang="ko-KR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𝑞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 </m:t>
                        </m:r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𝐺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𝑖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0,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𝑖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𝑗</m:t>
                            </m:r>
                          </m:sub>
                        </m:sSub>
                        <m:func>
                          <m:funcPr>
                            <m:ctrlP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𝐺</m:t>
                                    </m:r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𝑖</m:t>
                                    </m:r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 </m:t>
                                </m:r>
                                <m: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</m:e>
                    </m:nary>
                  </m:oMath>
                </a14:m>
                <a:r>
                  <a:rPr lang="ko-KR" altLang="en-US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</a:t>
                </a:r>
                <a:endParaRPr lang="ko-KR" altLang="en-US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A9C7F20-7AFB-94D8-BEAF-4D83A5F2C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966" y="3798589"/>
                <a:ext cx="8403058" cy="17867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4BE5BF04-80EB-431E-0B24-FF9CDC88664A}"/>
              </a:ext>
            </a:extLst>
          </p:cNvPr>
          <p:cNvSpPr txBox="1"/>
          <p:nvPr/>
        </p:nvSpPr>
        <p:spPr>
          <a:xfrm>
            <a:off x="634482" y="1062789"/>
            <a:ext cx="80865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Equivalent circuit modeling as </a:t>
            </a:r>
            <a:r>
              <a:rPr lang="en-US" altLang="ko-KR" sz="2000" b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dependent current source</a:t>
            </a:r>
            <a:endParaRPr lang="ko-KR" altLang="en-US" sz="2000" b="1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092716B-13A6-6847-5743-816AFCAFF8AD}"/>
              </a:ext>
            </a:extLst>
          </p:cNvPr>
          <p:cNvSpPr txBox="1"/>
          <p:nvPr/>
        </p:nvSpPr>
        <p:spPr>
          <a:xfrm>
            <a:off x="5382428" y="1803918"/>
            <a:ext cx="766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endParaRPr lang="ko-KR" altLang="en-US" sz="2000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B122CFC5-2A3E-60A5-5A3E-180C9CB50B16}"/>
              </a:ext>
            </a:extLst>
          </p:cNvPr>
          <p:cNvCxnSpPr/>
          <p:nvPr/>
        </p:nvCxnSpPr>
        <p:spPr>
          <a:xfrm flipH="1" flipV="1">
            <a:off x="5928049" y="2204028"/>
            <a:ext cx="195945" cy="367021"/>
          </a:xfrm>
          <a:prstGeom prst="line">
            <a:avLst/>
          </a:prstGeom>
          <a:ln>
            <a:solidFill>
              <a:srgbClr val="2848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433F0BB4-6BC4-F349-8CE9-1ACBE9710B68}"/>
              </a:ext>
            </a:extLst>
          </p:cNvPr>
          <p:cNvSpPr txBox="1"/>
          <p:nvPr/>
        </p:nvSpPr>
        <p:spPr>
          <a:xfrm>
            <a:off x="1897224" y="5882733"/>
            <a:ext cx="57960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=&gt; Modeling by leakage current is on progress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15730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ln w="9525">
              <a:solidFill>
                <a:schemeClr val="tx1">
                  <a:alpha val="29000"/>
                </a:schemeClr>
              </a:solidFill>
            </a:ln>
            <a:latin typeface="Times New Roman"/>
            <a:ea typeface="맑은 고딕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</TotalTime>
  <Words>227</Words>
  <Application>Microsoft Office PowerPoint</Application>
  <PresentationFormat>화면 슬라이드 쇼(4:3)</PresentationFormat>
  <Paragraphs>62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맑은 고딕</vt:lpstr>
      <vt:lpstr>Arial</vt:lpstr>
      <vt:lpstr>Calibri</vt:lpstr>
      <vt:lpstr>Cambria Math</vt:lpstr>
      <vt:lpstr>Times New Roman</vt:lpstr>
      <vt:lpstr>Office 테마</vt:lpstr>
      <vt:lpstr>Modeling Methodology of CTN Detrapping  CTN Cell Information Method</vt:lpstr>
      <vt:lpstr>Remind) Detailed Poisson Solution</vt:lpstr>
      <vt:lpstr>Cell Information Methodology</vt:lpstr>
      <vt:lpstr>Cell Information Methodology</vt:lpstr>
      <vt:lpstr>Cell Information Methodology</vt:lpstr>
      <vt:lpstr>Cell Information Methodology</vt:lpstr>
      <vt:lpstr>Equivalent Circuit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</dc:creator>
  <cp:lastModifiedBy>MYUNG JIN</cp:lastModifiedBy>
  <cp:revision>964</cp:revision>
  <dcterms:created xsi:type="dcterms:W3CDTF">2016-06-02T05:19:04Z</dcterms:created>
  <dcterms:modified xsi:type="dcterms:W3CDTF">2025-12-30T14:43:43Z</dcterms:modified>
  <cp:version/>
</cp:coreProperties>
</file>