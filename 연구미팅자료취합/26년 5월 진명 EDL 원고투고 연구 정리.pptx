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3"/>
  </p:notesMasterIdLst>
  <p:sldIdLst>
    <p:sldId id="314" r:id="rId2"/>
    <p:sldId id="315" r:id="rId3"/>
    <p:sldId id="320" r:id="rId4"/>
    <p:sldId id="322" r:id="rId5"/>
    <p:sldId id="324" r:id="rId6"/>
    <p:sldId id="323" r:id="rId7"/>
    <p:sldId id="321" r:id="rId8"/>
    <p:sldId id="325" r:id="rId9"/>
    <p:sldId id="326" r:id="rId10"/>
    <p:sldId id="328" r:id="rId11"/>
    <p:sldId id="327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9" autoAdjust="0"/>
    <p:restoredTop sz="97300" autoAdjust="0"/>
  </p:normalViewPr>
  <p:slideViewPr>
    <p:cSldViewPr snapToGrid="0">
      <p:cViewPr varScale="1">
        <p:scale>
          <a:sx n="106" d="100"/>
          <a:sy n="106" d="100"/>
        </p:scale>
        <p:origin x="1470" y="90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53BFC8FB-F919-4A98-9A97-F1BAF11238D4}"/>
    <pc:docChg chg="undo redo custSel addSld delSld modSld sldOrd modMainMaster">
      <pc:chgData name="MYUNG JIN" userId="89f3fa32ababedc4" providerId="LiveId" clId="{53BFC8FB-F919-4A98-9A97-F1BAF11238D4}" dt="2026-07-06T03:44:41.534" v="4305" actId="20577"/>
      <pc:docMkLst>
        <pc:docMk/>
      </pc:docMkLst>
      <pc:sldChg chg="modSp new mod">
        <pc:chgData name="MYUNG JIN" userId="89f3fa32ababedc4" providerId="LiveId" clId="{53BFC8FB-F919-4A98-9A97-F1BAF11238D4}" dt="2026-07-06T03:44:41.534" v="4305" actId="20577"/>
        <pc:sldMkLst>
          <pc:docMk/>
          <pc:sldMk cId="2684335660" sldId="328"/>
        </pc:sldMkLst>
        <pc:spChg chg="mod">
          <ac:chgData name="MYUNG JIN" userId="89f3fa32ababedc4" providerId="LiveId" clId="{53BFC8FB-F919-4A98-9A97-F1BAF11238D4}" dt="2026-07-06T03:44:41.534" v="4305" actId="20577"/>
          <ac:spMkLst>
            <pc:docMk/>
            <pc:sldMk cId="2684335660" sldId="328"/>
            <ac:spMk id="2" creationId="{FB51B074-14AA-D1D3-2BED-7349DDDADC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Time-step-free Physics-Based Modeling of Retention Loss in Cryogenic 3-D NAND Flash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Myung Jin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D68C67-112F-D59D-798A-61F8EF6A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580103" y="963561"/>
            <a:ext cx="5781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Potential Solution: Poisson equation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269352-53A1-F43B-BC43-3E1D2437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4327871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32E6C7-A2AF-6132-94DB-8B32FB601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5069227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1A7A15-DD41-20BB-F2BE-2717748BB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2560218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8D1F3B-22D4-E4A9-9940-9ACEFFA2A103}"/>
              </a:ext>
            </a:extLst>
          </p:cNvPr>
          <p:cNvSpPr txBox="1"/>
          <p:nvPr/>
        </p:nvSpPr>
        <p:spPr>
          <a:xfrm>
            <a:off x="5879689" y="1953034"/>
            <a:ext cx="2517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15ADC-A943-7868-73AE-F3A6F75CFDC0}"/>
              </a:ext>
            </a:extLst>
          </p:cNvPr>
          <p:cNvSpPr txBox="1"/>
          <p:nvPr/>
        </p:nvSpPr>
        <p:spPr>
          <a:xfrm>
            <a:off x="1405304" y="3770993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Solution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9DE84A4D-FA64-C446-F2F2-C9AFF8A348AD}"/>
              </a:ext>
            </a:extLst>
          </p:cNvPr>
          <p:cNvSpPr/>
          <p:nvPr/>
        </p:nvSpPr>
        <p:spPr>
          <a:xfrm>
            <a:off x="4864932" y="2353144"/>
            <a:ext cx="356707" cy="3447888"/>
          </a:xfrm>
          <a:prstGeom prst="leftBrace">
            <a:avLst>
              <a:gd name="adj1" fmla="val 8027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Q-ΔV</a:t>
            </a:r>
            <a:r>
              <a:rPr lang="en-US" altLang="ko-KR" baseline="-25000"/>
              <a:t>th</a:t>
            </a:r>
            <a:r>
              <a:rPr lang="en-US" altLang="ko-KR"/>
              <a:t> Relation</a:t>
            </a:r>
            <a:endParaRPr lang="ko-KR" altLang="en-US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276" y="1050177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05" y="1743261"/>
            <a:ext cx="2370953" cy="5869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2721821"/>
            <a:ext cx="3813982" cy="433598"/>
          </a:xfrm>
          <a:prstGeom prst="rect">
            <a:avLst/>
          </a:prstGeom>
        </p:spPr>
      </p:pic>
      <p:pic>
        <p:nvPicPr>
          <p:cNvPr id="12" name="그림 11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90E4FD-57D2-E219-C7E8-D9662129D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514" y="3405680"/>
            <a:ext cx="5613595" cy="24306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455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Equivalent channel field intensity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1836896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By Cramer’s rule,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&amp; Parameters</a:t>
            </a:r>
            <a:endParaRPr lang="ko-KR" altLang="en-US" dirty="0"/>
          </a:p>
        </p:txBody>
      </p:sp>
      <p:pic>
        <p:nvPicPr>
          <p:cNvPr id="169" name="그림 168">
            <a:extLst>
              <a:ext uri="{FF2B5EF4-FFF2-40B4-BE49-F238E27FC236}">
                <a16:creationId xmlns:a16="http://schemas.microsoft.com/office/drawing/2014/main" id="{12D9807E-0DD0-8618-FE8C-60D90ADA8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7" y="1651807"/>
            <a:ext cx="4519546" cy="4253692"/>
          </a:xfrm>
          <a:prstGeom prst="rect">
            <a:avLst/>
          </a:prstGeom>
        </p:spPr>
      </p:pic>
      <p:pic>
        <p:nvPicPr>
          <p:cNvPr id="196" name="그림 195">
            <a:extLst>
              <a:ext uri="{FF2B5EF4-FFF2-40B4-BE49-F238E27FC236}">
                <a16:creationId xmlns:a16="http://schemas.microsoft.com/office/drawing/2014/main" id="{A95D2BDD-9402-5E1F-D59E-27A9345FF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893" y="1390764"/>
            <a:ext cx="4077826" cy="45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9EBAB40-DF68-1C55-F411-6EF90C330B79}"/>
              </a:ext>
            </a:extLst>
          </p:cNvPr>
          <p:cNvCxnSpPr>
            <a:cxnSpLocks/>
          </p:cNvCxnSpPr>
          <p:nvPr/>
        </p:nvCxnSpPr>
        <p:spPr>
          <a:xfrm flipH="1">
            <a:off x="5715000" y="2576839"/>
            <a:ext cx="774700" cy="3210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10">
            <a:extLst>
              <a:ext uri="{FF2B5EF4-FFF2-40B4-BE49-F238E27FC236}">
                <a16:creationId xmlns:a16="http://schemas.microsoft.com/office/drawing/2014/main" id="{CAD10C1F-D58C-1390-7520-D765C6608A24}"/>
              </a:ext>
            </a:extLst>
          </p:cNvPr>
          <p:cNvSpPr/>
          <p:nvPr/>
        </p:nvSpPr>
        <p:spPr>
          <a:xfrm>
            <a:off x="4975557" y="5924055"/>
            <a:ext cx="4061101" cy="485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비용은 final retention time 자체가 아니라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trap bin 수와 evaluated time point 수에 의해 결정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A9A292C-1EB9-1AA8-FC46-AEC906E07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8" y="2465655"/>
            <a:ext cx="4781669" cy="1848912"/>
          </a:xfrm>
          <a:prstGeom prst="rect">
            <a:avLst/>
          </a:prstGeom>
        </p:spPr>
      </p:pic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06A91F-EB43-550F-B4D1-43300861B55A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128"/>
          <a:stretch>
            <a:fillRect/>
          </a:stretch>
        </p:blipFill>
        <p:spPr>
          <a:xfrm>
            <a:off x="505165" y="4391000"/>
            <a:ext cx="4948352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72"/>
          <a:stretch>
            <a:fillRect/>
          </a:stretch>
        </p:blipFill>
        <p:spPr>
          <a:xfrm>
            <a:off x="94129" y="3308745"/>
            <a:ext cx="5743704" cy="192545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7D2F6AC-3555-A4C6-508B-B9D90BA65DCE}"/>
              </a:ext>
            </a:extLst>
          </p:cNvPr>
          <p:cNvSpPr/>
          <p:nvPr/>
        </p:nvSpPr>
        <p:spPr>
          <a:xfrm>
            <a:off x="3708400" y="5792590"/>
            <a:ext cx="5328259" cy="6171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computation</a:t>
            </a:r>
            <a:r>
              <a:rPr lang="ko-KR" alt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resource</a:t>
            </a:r>
            <a:r>
              <a:rPr lang="ko-KR" alt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retention time 자체가 아니라</a:t>
            </a:r>
            <a:endParaRPr lang="en-US" sz="1450" dirty="0"/>
          </a:p>
          <a:p>
            <a:pPr marL="0" indent="0" algn="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trap bin 수와 evaluated time point 수에 의해 결정</a:t>
            </a:r>
            <a:endParaRPr lang="en-US" sz="14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E19DA4-6125-82C1-82C9-423A53008687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996952" y="5405026"/>
            <a:ext cx="142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state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405026"/>
            <a:ext cx="2640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/>
          <p:nvPr/>
        </p:nvCxnSpPr>
        <p:spPr>
          <a:xfrm flipH="1">
            <a:off x="2120900" y="4965700"/>
            <a:ext cx="609600" cy="474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35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F3F79-6A8A-8036-C0EA-5795BB8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Calibration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0C03B-AB43-3256-A1E2-5EEE9F5EB919}"/>
              </a:ext>
            </a:extLst>
          </p:cNvPr>
          <p:cNvSpPr txBox="1"/>
          <p:nvPr/>
        </p:nvSpPr>
        <p:spPr>
          <a:xfrm>
            <a:off x="683046" y="1034073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E3B60B-6694-A2A6-F560-C9BB3B56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78" y="1434183"/>
            <a:ext cx="5515526" cy="3418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D8035-BA60-EBB1-D663-6D0EA6820F51}"/>
              </a:ext>
            </a:extLst>
          </p:cNvPr>
          <p:cNvSpPr txBox="1"/>
          <p:nvPr/>
        </p:nvSpPr>
        <p:spPr>
          <a:xfrm>
            <a:off x="751437" y="4763430"/>
            <a:ext cx="77950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 condition (~ 4.2K) : physical 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from vertical retention loss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677947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Calibration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524CB-0BFA-BD3E-FCE4-F8C1890EFAE4}"/>
              </a:ext>
            </a:extLst>
          </p:cNvPr>
          <p:cNvSpPr txBox="1"/>
          <p:nvPr/>
        </p:nvSpPr>
        <p:spPr>
          <a:xfrm>
            <a:off x="683046" y="1034073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501025"/>
              </p:ext>
            </p:extLst>
          </p:nvPr>
        </p:nvGraphicFramePr>
        <p:xfrm>
          <a:off x="3833310" y="210677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33310" y="210677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946794"/>
              </p:ext>
            </p:extLst>
          </p:nvPr>
        </p:nvGraphicFramePr>
        <p:xfrm>
          <a:off x="329810" y="210677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10677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188515" y="2849477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354198" y="3618934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838200" y="1891587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– TCAD calibration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430227"/>
            <a:ext cx="400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cryogenic: σ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448299" y="1891587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 – TCAD match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4840400" y="5430227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Iteration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</TotalTime>
  <Words>392</Words>
  <Application>Microsoft Office PowerPoint</Application>
  <PresentationFormat>화면 슬라이드 쇼(4:3)</PresentationFormat>
  <Paragraphs>86</Paragraphs>
  <Slides>11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CJK KR</vt:lpstr>
      <vt:lpstr>맑은 고딕</vt:lpstr>
      <vt:lpstr>Arial</vt:lpstr>
      <vt:lpstr>Calibri</vt:lpstr>
      <vt:lpstr>Times New Roman</vt:lpstr>
      <vt:lpstr>Office 테마</vt:lpstr>
      <vt:lpstr>Graph</vt:lpstr>
      <vt:lpstr>Time-step-free Physics-Based Modeling of Retention Loss in Cryogenic 3-D NAND Flash  Myung Jin</vt:lpstr>
      <vt:lpstr>Detailed Poisson Solution</vt:lpstr>
      <vt:lpstr>Q-ΔVth Relation</vt:lpstr>
      <vt:lpstr>Visualization &amp; Parameters</vt:lpstr>
      <vt:lpstr>Time-step-free Physics-based Modeling</vt:lpstr>
      <vt:lpstr>Time-step-free Physics-based Modeling</vt:lpstr>
      <vt:lpstr>Time-step-free Physics-based Modeling</vt:lpstr>
      <vt:lpstr>Cryogenic Calibration</vt:lpstr>
      <vt:lpstr>Cryogenic Calibration</vt:lpstr>
      <vt:lpstr>Iteration Test</vt:lpstr>
      <vt:lpstr>Computational Impact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966</cp:revision>
  <dcterms:created xsi:type="dcterms:W3CDTF">2016-06-02T05:19:04Z</dcterms:created>
  <dcterms:modified xsi:type="dcterms:W3CDTF">2026-07-06T03:44:44Z</dcterms:modified>
  <cp:version/>
</cp:coreProperties>
</file>