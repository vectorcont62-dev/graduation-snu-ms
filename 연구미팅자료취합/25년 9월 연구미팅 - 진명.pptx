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8"/>
  </p:notesMasterIdLst>
  <p:sldIdLst>
    <p:sldId id="314" r:id="rId2"/>
    <p:sldId id="320" r:id="rId3"/>
    <p:sldId id="321" r:id="rId4"/>
    <p:sldId id="318" r:id="rId5"/>
    <p:sldId id="317" r:id="rId6"/>
    <p:sldId id="316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C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6" d="100"/>
          <a:sy n="106" d="100"/>
        </p:scale>
        <p:origin x="1470" y="9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3BFC8FB-F919-4A98-9A97-F1BAF11238D4}"/>
    <pc:docChg chg="undo custSel modSld">
      <pc:chgData name="MYUNG JIN" userId="89f3fa32ababedc4" providerId="LiveId" clId="{53BFC8FB-F919-4A98-9A97-F1BAF11238D4}" dt="2026-04-28T02:22:48.736" v="2" actId="1076"/>
      <pc:docMkLst>
        <pc:docMk/>
      </pc:docMkLst>
      <pc:sldChg chg="modSp mod">
        <pc:chgData name="MYUNG JIN" userId="89f3fa32ababedc4" providerId="LiveId" clId="{53BFC8FB-F919-4A98-9A97-F1BAF11238D4}" dt="2026-04-28T02:22:48.736" v="2" actId="1076"/>
        <pc:sldMkLst>
          <pc:docMk/>
          <pc:sldMk cId="2509487926" sldId="318"/>
        </pc:sldMkLst>
        <pc:spChg chg="mod">
          <ac:chgData name="MYUNG JIN" userId="89f3fa32ababedc4" providerId="LiveId" clId="{53BFC8FB-F919-4A98-9A97-F1BAF11238D4}" dt="2026-04-28T02:22:48.736" v="2" actId="1076"/>
          <ac:spMkLst>
            <pc:docMk/>
            <pc:sldMk cId="2509487926" sldId="318"/>
            <ac:spMk id="8" creationId="{000CC341-56C7-53ED-B1CD-18F0A9DDAF8B}"/>
          </ac:spMkLst>
        </pc:spChg>
      </pc:sldChg>
      <pc:sldChg chg="addSp delSp modSp mod">
        <pc:chgData name="MYUNG JIN" userId="89f3fa32ababedc4" providerId="LiveId" clId="{53BFC8FB-F919-4A98-9A97-F1BAF11238D4}" dt="2026-04-28T01:36:59.691" v="1" actId="27309"/>
        <pc:sldMkLst>
          <pc:docMk/>
          <pc:sldMk cId="2513005319" sldId="320"/>
        </pc:sldMkLst>
        <pc:graphicFrameChg chg="add del modGraphic">
          <ac:chgData name="MYUNG JIN" userId="89f3fa32ababedc4" providerId="LiveId" clId="{53BFC8FB-F919-4A98-9A97-F1BAF11238D4}" dt="2026-04-28T01:36:59.691" v="1" actId="27309"/>
          <ac:graphicFrameMkLst>
            <pc:docMk/>
            <pc:sldMk cId="2513005319" sldId="320"/>
            <ac:graphicFrameMk id="15" creationId="{373E34D0-C70A-255D-BFB5-EA44CCDD6CB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5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1.png"/><Relationship Id="rId4" Type="http://schemas.openxmlformats.org/officeDocument/2006/relationships/image" Target="../media/image5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Electron Vertical Tunneling Emission by Detrapping from CTN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그림 83">
            <a:extLst>
              <a:ext uri="{FF2B5EF4-FFF2-40B4-BE49-F238E27FC236}">
                <a16:creationId xmlns:a16="http://schemas.microsoft.com/office/drawing/2014/main" id="{102DA768-EB57-1ACE-A148-977DABEC3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92" y="3914291"/>
            <a:ext cx="2706859" cy="22447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C83E2A1-D6E4-BAE5-6A13-453C9CC3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ko-KR" altLang="en-US" dirty="0"/>
              <a:t> </a:t>
            </a:r>
            <a:r>
              <a:rPr lang="en-US" altLang="ko-KR" dirty="0"/>
              <a:t>from BETOX and CTN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25A5AE7-3FC6-EDFD-E893-E32EF8462B72}"/>
              </a:ext>
            </a:extLst>
          </p:cNvPr>
          <p:cNvGrpSpPr/>
          <p:nvPr/>
        </p:nvGrpSpPr>
        <p:grpSpPr>
          <a:xfrm>
            <a:off x="5205903" y="1641013"/>
            <a:ext cx="2916906" cy="3575974"/>
            <a:chOff x="5852826" y="858418"/>
            <a:chExt cx="2916906" cy="357597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9A0380F-9722-D1FD-60FD-E375098D7F9F}"/>
                </a:ext>
              </a:extLst>
            </p:cNvPr>
            <p:cNvGrpSpPr/>
            <p:nvPr/>
          </p:nvGrpSpPr>
          <p:grpSpPr>
            <a:xfrm>
              <a:off x="6075006" y="858418"/>
              <a:ext cx="2694726" cy="3448856"/>
              <a:chOff x="1633635" y="1219201"/>
              <a:chExt cx="2694726" cy="3448856"/>
            </a:xfrm>
          </p:grpSpPr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15FD41CF-F426-8DBF-D1C5-BEB69AAD1337}"/>
                  </a:ext>
                </a:extLst>
              </p:cNvPr>
              <p:cNvSpPr/>
              <p:nvPr/>
            </p:nvSpPr>
            <p:spPr>
              <a:xfrm>
                <a:off x="1633635" y="1582058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177312B0-8F50-4E9B-816F-6E0AE69670DF}"/>
                  </a:ext>
                </a:extLst>
              </p:cNvPr>
              <p:cNvCxnSpPr/>
              <p:nvPr/>
            </p:nvCxnSpPr>
            <p:spPr>
              <a:xfrm>
                <a:off x="2937766" y="1859077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41B98895-9A43-E166-8D6A-4B2F4D63F7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11535" y="3587861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DF353E2A-296A-C2EA-FF65-3937F2D6FE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9283" y="3743436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7DFD37-B3C6-F573-54F1-24118BF9D184}"/>
                  </a:ext>
                </a:extLst>
              </p:cNvPr>
              <p:cNvSpPr txBox="1"/>
              <p:nvPr/>
            </p:nvSpPr>
            <p:spPr>
              <a:xfrm>
                <a:off x="1859283" y="2349309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ox1 layer </a:t>
                </a:r>
                <a:endParaRPr lang="ko-KR" altLang="en-US" sz="14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546EB6-8480-7FDD-7D9A-30421EB7BBFE}"/>
                  </a:ext>
                </a:extLst>
              </p:cNvPr>
              <p:cNvSpPr txBox="1"/>
              <p:nvPr/>
            </p:nvSpPr>
            <p:spPr>
              <a:xfrm>
                <a:off x="2601168" y="2596799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4B02B1-3998-4DF6-09EF-CAFB9EC8CF7C}"/>
                  </a:ext>
                </a:extLst>
              </p:cNvPr>
              <p:cNvSpPr txBox="1"/>
              <p:nvPr/>
            </p:nvSpPr>
            <p:spPr>
              <a:xfrm>
                <a:off x="3143170" y="2348975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ox2 layer </a:t>
                </a:r>
                <a:endParaRPr lang="ko-KR" altLang="en-US" sz="9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D70733-9F82-2AC6-60D3-0E158474B3D3}"/>
                  </a:ext>
                </a:extLst>
              </p:cNvPr>
              <p:cNvSpPr txBox="1"/>
              <p:nvPr/>
            </p:nvSpPr>
            <p:spPr>
              <a:xfrm>
                <a:off x="3711964" y="1945882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0BD3008D-F4E3-5154-0DEE-EAACA236E4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1489787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656BAD-B9C3-D266-6030-978A994CBF39}"/>
                  </a:ext>
                </a:extLst>
              </p:cNvPr>
              <p:cNvSpPr txBox="1"/>
              <p:nvPr/>
            </p:nvSpPr>
            <p:spPr>
              <a:xfrm>
                <a:off x="2202025" y="1219201"/>
                <a:ext cx="1441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F21D9BB6-65D2-658F-04A9-29358647F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2261" y="3373779"/>
                <a:ext cx="1789703" cy="747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97A41D00-4299-3B17-419E-BD0C841EBC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635" y="4668057"/>
                <a:ext cx="45642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2BE65986-16AE-FB6B-6619-E74C34B70A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18761" y="3109300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B8392E6-5C58-1683-92C8-35275B4AE348}"/>
                    </a:ext>
                  </a:extLst>
                </p:cNvPr>
                <p:cNvSpPr txBox="1"/>
                <p:nvPr/>
              </p:nvSpPr>
              <p:spPr>
                <a:xfrm>
                  <a:off x="5876382" y="2716472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CTN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B8392E6-5C58-1683-92C8-35275B4AE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6382" y="2716472"/>
                  <a:ext cx="671805" cy="2689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B820F4-B3FB-25F3-F950-E3832B5D7A00}"/>
                    </a:ext>
                  </a:extLst>
                </p:cNvPr>
                <p:cNvSpPr txBox="1"/>
                <p:nvPr/>
              </p:nvSpPr>
              <p:spPr>
                <a:xfrm>
                  <a:off x="5852826" y="3096890"/>
                  <a:ext cx="671805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 </m:t>
                          </m:r>
                          <m:r>
                            <m:rPr>
                              <m:lit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BETOX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B820F4-B3FB-25F3-F950-E3832B5D7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096890"/>
                  <a:ext cx="671805" cy="2766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825259A-AA41-4D69-AA9A-57B4879DD085}"/>
                    </a:ext>
                  </a:extLst>
                </p:cNvPr>
                <p:cNvSpPr txBox="1"/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84F0A8D-B8BF-2D0A-DC2F-6B7E686C6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D9509615-69F5-26A1-EE8C-1E9957A546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169" y="4038831"/>
            <a:ext cx="242894" cy="24289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3CED5A4-CFA3-A96A-CB00-F1803A1351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4020" y="3674144"/>
            <a:ext cx="242894" cy="242894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3ED1F86-3110-8E2F-DD35-5D330E477188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852932" y="2840208"/>
            <a:ext cx="1376527" cy="793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BEE45FF-495C-8E5E-0CBD-F56C0B0040CA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893050" y="4017792"/>
            <a:ext cx="1312853" cy="1068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52E17D-00F0-20A3-2481-4BB0FF1A0336}"/>
                  </a:ext>
                </a:extLst>
              </p:cNvPr>
              <p:cNvSpPr txBox="1"/>
              <p:nvPr/>
            </p:nvSpPr>
            <p:spPr>
              <a:xfrm>
                <a:off x="588236" y="5295009"/>
                <a:ext cx="671805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 </m:t>
                        </m:r>
                        <m:r>
                          <m:rPr>
                            <m:lit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BETOX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52E17D-00F0-20A3-2481-4BB0FF1A0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6" y="5295009"/>
                <a:ext cx="671805" cy="2766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68C7079-152C-5B34-CF72-F3F609A12943}"/>
                  </a:ext>
                </a:extLst>
              </p:cNvPr>
              <p:cNvSpPr txBox="1"/>
              <p:nvPr/>
            </p:nvSpPr>
            <p:spPr>
              <a:xfrm>
                <a:off x="1477755" y="6028240"/>
                <a:ext cx="671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68C7079-152C-5B34-CF72-F3F609A1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55" y="6028240"/>
                <a:ext cx="671805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C14045D6-0531-94B9-A000-ED66490DEF71}"/>
              </a:ext>
            </a:extLst>
          </p:cNvPr>
          <p:cNvSpPr txBox="1"/>
          <p:nvPr/>
        </p:nvSpPr>
        <p:spPr>
          <a:xfrm>
            <a:off x="3140752" y="1449577"/>
            <a:ext cx="546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2582984-CE13-5405-DE16-7903CD0FF3B8}"/>
              </a:ext>
            </a:extLst>
          </p:cNvPr>
          <p:cNvCxnSpPr>
            <a:cxnSpLocks/>
          </p:cNvCxnSpPr>
          <p:nvPr/>
        </p:nvCxnSpPr>
        <p:spPr>
          <a:xfrm flipH="1">
            <a:off x="3154050" y="2686954"/>
            <a:ext cx="609600" cy="31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81F765-AB5A-BE7C-712C-D575F6EB4964}"/>
                  </a:ext>
                </a:extLst>
              </p:cNvPr>
              <p:cNvSpPr txBox="1"/>
              <p:nvPr/>
            </p:nvSpPr>
            <p:spPr>
              <a:xfrm>
                <a:off x="863799" y="2580950"/>
                <a:ext cx="671805" cy="268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CTN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81F765-AB5A-BE7C-712C-D575F6EB4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99" y="2580950"/>
                <a:ext cx="671805" cy="268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409CD-B562-EA7E-A385-312D7F01CEAA}"/>
                  </a:ext>
                </a:extLst>
              </p:cNvPr>
              <p:cNvSpPr txBox="1"/>
              <p:nvPr/>
            </p:nvSpPr>
            <p:spPr>
              <a:xfrm>
                <a:off x="1477755" y="3633559"/>
                <a:ext cx="6718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409CD-B562-EA7E-A385-312D7F01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55" y="3633559"/>
                <a:ext cx="671805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9BE05266-B6D3-0B48-5C87-49700765E7E4}"/>
              </a:ext>
            </a:extLst>
          </p:cNvPr>
          <p:cNvCxnSpPr>
            <a:cxnSpLocks/>
          </p:cNvCxnSpPr>
          <p:nvPr/>
        </p:nvCxnSpPr>
        <p:spPr>
          <a:xfrm flipH="1">
            <a:off x="1440024" y="5861997"/>
            <a:ext cx="16421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E906BC9-6C0D-3D89-DB34-82D1D4A98106}"/>
              </a:ext>
            </a:extLst>
          </p:cNvPr>
          <p:cNvSpPr txBox="1"/>
          <p:nvPr/>
        </p:nvSpPr>
        <p:spPr>
          <a:xfrm>
            <a:off x="1551992" y="5591411"/>
            <a:ext cx="1441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BE-TOX (ONO)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2304EC6B-D231-58ED-52D3-52FE716C51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7262" y="1496830"/>
            <a:ext cx="2560542" cy="22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0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FD00-1D54-26CB-DDCA-CB92D750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14116-93FF-E22F-89A3-C68C679B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of </a:t>
            </a:r>
            <a:r>
              <a:rPr lang="en-US" altLang="ko-KR" dirty="0" err="1"/>
              <a:t>Detrapping</a:t>
            </a:r>
            <a:r>
              <a:rPr lang="en-US" altLang="ko-KR" dirty="0"/>
              <a:t> from BETOX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6B9DB0F-2161-AF0E-FB76-495D8FBCD1E2}"/>
              </a:ext>
            </a:extLst>
          </p:cNvPr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D8A6B7-D864-B590-FDEF-12F59BF461FF}"/>
              </a:ext>
            </a:extLst>
          </p:cNvPr>
          <p:cNvSpPr txBox="1"/>
          <p:nvPr/>
        </p:nvSpPr>
        <p:spPr>
          <a:xfrm>
            <a:off x="6176409" y="6162092"/>
            <a:ext cx="2741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[1] Jin,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TED,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2025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C0ED40-E3CD-ED2B-C18A-F2F46028BCFD}"/>
              </a:ext>
            </a:extLst>
          </p:cNvPr>
          <p:cNvGrpSpPr/>
          <p:nvPr/>
        </p:nvGrpSpPr>
        <p:grpSpPr>
          <a:xfrm>
            <a:off x="1082057" y="2010728"/>
            <a:ext cx="2847062" cy="3575974"/>
            <a:chOff x="5852826" y="858418"/>
            <a:chExt cx="2847062" cy="357597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21D891D-FFF6-665E-7E32-E6A2EAE539BD}"/>
                </a:ext>
              </a:extLst>
            </p:cNvPr>
            <p:cNvGrpSpPr/>
            <p:nvPr/>
          </p:nvGrpSpPr>
          <p:grpSpPr>
            <a:xfrm>
              <a:off x="6075006" y="858418"/>
              <a:ext cx="2624882" cy="3448856"/>
              <a:chOff x="1633635" y="1219201"/>
              <a:chExt cx="2624882" cy="3448856"/>
            </a:xfrm>
          </p:grpSpPr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9DEF832F-760C-C0B7-55FC-400CD9BD9C3A}"/>
                  </a:ext>
                </a:extLst>
              </p:cNvPr>
              <p:cNvSpPr/>
              <p:nvPr/>
            </p:nvSpPr>
            <p:spPr>
              <a:xfrm>
                <a:off x="1633635" y="1582058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C154CD91-6E67-D5B6-F49A-56AE703B2ED3}"/>
                  </a:ext>
                </a:extLst>
              </p:cNvPr>
              <p:cNvCxnSpPr/>
              <p:nvPr/>
            </p:nvCxnSpPr>
            <p:spPr>
              <a:xfrm>
                <a:off x="2937766" y="1859077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2D44C168-35D0-B3E3-4990-5C234A957A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11535" y="3587861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0CEE9452-F246-E641-034C-16771715A4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25841" y="3621989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16840742-44EC-907E-5212-BDD6DD1CD951}"/>
                  </a:ext>
                </a:extLst>
              </p:cNvPr>
              <p:cNvCxnSpPr>
                <a:cxnSpLocks/>
                <a:stCxn id="19" idx="1"/>
              </p:cNvCxnSpPr>
              <p:nvPr/>
            </p:nvCxnSpPr>
            <p:spPr>
              <a:xfrm flipH="1">
                <a:off x="1859283" y="3743436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B39682-2F34-E58F-25ED-89FD9A564541}"/>
                  </a:ext>
                </a:extLst>
              </p:cNvPr>
              <p:cNvSpPr txBox="1"/>
              <p:nvPr/>
            </p:nvSpPr>
            <p:spPr>
              <a:xfrm>
                <a:off x="1859283" y="2349309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ox1 layer </a:t>
                </a:r>
                <a:endParaRPr lang="ko-KR" altLang="en-US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2B1B2F-4ECB-3A82-5DA2-7C7C1672BB9A}"/>
                  </a:ext>
                </a:extLst>
              </p:cNvPr>
              <p:cNvSpPr txBox="1"/>
              <p:nvPr/>
            </p:nvSpPr>
            <p:spPr>
              <a:xfrm>
                <a:off x="2601168" y="2596799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46E3D462-03C0-40F6-4D09-BB2CE74A8102}"/>
                  </a:ext>
                </a:extLst>
              </p:cNvPr>
              <p:cNvSpPr/>
              <p:nvPr/>
            </p:nvSpPr>
            <p:spPr>
              <a:xfrm>
                <a:off x="2090057" y="2687217"/>
                <a:ext cx="522515" cy="1063690"/>
              </a:xfrm>
              <a:custGeom>
                <a:avLst/>
                <a:gdLst>
                  <a:gd name="connsiteX0" fmla="*/ 6221 w 522515"/>
                  <a:gd name="connsiteY0" fmla="*/ 740229 h 1063690"/>
                  <a:gd name="connsiteX1" fmla="*/ 0 w 522515"/>
                  <a:gd name="connsiteY1" fmla="*/ 1063690 h 1063690"/>
                  <a:gd name="connsiteX2" fmla="*/ 516294 w 522515"/>
                  <a:gd name="connsiteY2" fmla="*/ 1051249 h 1063690"/>
                  <a:gd name="connsiteX3" fmla="*/ 522515 w 522515"/>
                  <a:gd name="connsiteY3" fmla="*/ 0 h 1063690"/>
                  <a:gd name="connsiteX4" fmla="*/ 6221 w 522515"/>
                  <a:gd name="connsiteY4" fmla="*/ 740229 h 1063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515" h="1063690">
                    <a:moveTo>
                      <a:pt x="6221" y="740229"/>
                    </a:moveTo>
                    <a:lnTo>
                      <a:pt x="0" y="1063690"/>
                    </a:lnTo>
                    <a:lnTo>
                      <a:pt x="516294" y="1051249"/>
                    </a:lnTo>
                    <a:cubicBezTo>
                      <a:pt x="518368" y="700833"/>
                      <a:pt x="520441" y="350416"/>
                      <a:pt x="522515" y="0"/>
                    </a:cubicBezTo>
                    <a:lnTo>
                      <a:pt x="6221" y="740229"/>
                    </a:lnTo>
                    <a:close/>
                  </a:path>
                </a:pathLst>
              </a:custGeom>
              <a:solidFill>
                <a:srgbClr val="7DB4D9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2AF0EA49-6472-FA7B-5F19-6D3DA6150476}"/>
                  </a:ext>
                </a:extLst>
              </p:cNvPr>
              <p:cNvSpPr/>
              <p:nvPr/>
            </p:nvSpPr>
            <p:spPr>
              <a:xfrm>
                <a:off x="2611017" y="3023119"/>
                <a:ext cx="337457" cy="715347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DCFC0F-EF0E-BAD1-7B49-61BFC57B6CB3}"/>
                  </a:ext>
                </a:extLst>
              </p:cNvPr>
              <p:cNvSpPr txBox="1"/>
              <p:nvPr/>
            </p:nvSpPr>
            <p:spPr>
              <a:xfrm>
                <a:off x="3143170" y="2348975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ox2 layer </a:t>
                </a:r>
                <a:endParaRPr lang="ko-KR" altLang="en-US" sz="9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222849-9040-C22B-68E9-3D15F6834F24}"/>
                  </a:ext>
                </a:extLst>
              </p:cNvPr>
              <p:cNvSpPr txBox="1"/>
              <p:nvPr/>
            </p:nvSpPr>
            <p:spPr>
              <a:xfrm>
                <a:off x="3711964" y="1945882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F906DF77-D973-96D6-F601-BA59142B56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1489787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102B126-1062-93B2-6DC1-44AEF3365E7B}"/>
                  </a:ext>
                </a:extLst>
              </p:cNvPr>
              <p:cNvSpPr txBox="1"/>
              <p:nvPr/>
            </p:nvSpPr>
            <p:spPr>
              <a:xfrm>
                <a:off x="2202025" y="1219201"/>
                <a:ext cx="1441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38681A4B-24C5-AA21-4EDE-A7850CC079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635" y="4668057"/>
                <a:ext cx="45642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4D94C814-CEC9-843C-62EC-A30CCFB1C55D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H="1">
                <a:off x="1747358" y="3726657"/>
                <a:ext cx="158678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C816061-0FE3-CD45-FE21-1A5DE26E4C19}"/>
                    </a:ext>
                  </a:extLst>
                </p:cNvPr>
                <p:cNvSpPr txBox="1"/>
                <p:nvPr/>
              </p:nvSpPr>
              <p:spPr>
                <a:xfrm>
                  <a:off x="5852826" y="3096890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1EADB6-784F-DA3B-3DA7-C895682E9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096890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F4060A-A9E4-FD61-9055-65C529B0348F}"/>
                    </a:ext>
                  </a:extLst>
                </p:cNvPr>
                <p:cNvSpPr txBox="1"/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654F946-D8A3-7ECC-0AB9-30DB5AF55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EDFB8C0-CECA-A482-289E-1230FDE8C24B}"/>
                    </a:ext>
                  </a:extLst>
                </p:cNvPr>
                <p:cNvSpPr txBox="1"/>
                <p:nvPr/>
              </p:nvSpPr>
              <p:spPr>
                <a:xfrm>
                  <a:off x="7429305" y="3369897"/>
                  <a:ext cx="671805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trap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2293AB-0BA9-AFE8-4C57-44AEB74F8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305" y="3369897"/>
                  <a:ext cx="671805" cy="2766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B47EFE-A6E1-C673-14FC-C8E5EC02A2D9}"/>
                  </a:ext>
                </a:extLst>
              </p:cNvPr>
              <p:cNvSpPr txBox="1"/>
              <p:nvPr/>
            </p:nvSpPr>
            <p:spPr>
              <a:xfrm>
                <a:off x="496853" y="1010734"/>
                <a:ext cx="8150291" cy="713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+1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B47EFE-A6E1-C673-14FC-C8E5EC02A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3" y="1010734"/>
                <a:ext cx="8150291" cy="7138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그림 35">
            <a:extLst>
              <a:ext uri="{FF2B5EF4-FFF2-40B4-BE49-F238E27FC236}">
                <a16:creationId xmlns:a16="http://schemas.microsoft.com/office/drawing/2014/main" id="{6D285A0A-B24F-B997-67D0-03C0F2AF7B0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5529"/>
          <a:stretch>
            <a:fillRect/>
          </a:stretch>
        </p:blipFill>
        <p:spPr>
          <a:xfrm>
            <a:off x="4221973" y="3762375"/>
            <a:ext cx="4194075" cy="107958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F290EDE-3311-1BC2-2DB6-F6F46ABA2D4B}"/>
              </a:ext>
            </a:extLst>
          </p:cNvPr>
          <p:cNvSpPr/>
          <p:nvPr/>
        </p:nvSpPr>
        <p:spPr>
          <a:xfrm>
            <a:off x="4381500" y="2412181"/>
            <a:ext cx="266700" cy="25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A2F1D4F-90F1-04B9-ECC9-FD6FC69B4D3D}"/>
              </a:ext>
            </a:extLst>
          </p:cNvPr>
          <p:cNvSpPr/>
          <p:nvPr/>
        </p:nvSpPr>
        <p:spPr>
          <a:xfrm>
            <a:off x="6398774" y="3641427"/>
            <a:ext cx="266700" cy="144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7C07054-A60E-1546-FCB0-B863A1DD3089}"/>
              </a:ext>
            </a:extLst>
          </p:cNvPr>
          <p:cNvSpPr/>
          <p:nvPr/>
        </p:nvSpPr>
        <p:spPr>
          <a:xfrm>
            <a:off x="4381500" y="3641427"/>
            <a:ext cx="266700" cy="144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EE317B-70C8-E622-49DC-2BDE2F32D9F9}"/>
              </a:ext>
            </a:extLst>
          </p:cNvPr>
          <p:cNvSpPr/>
          <p:nvPr/>
        </p:nvSpPr>
        <p:spPr>
          <a:xfrm>
            <a:off x="4381500" y="4697191"/>
            <a:ext cx="266700" cy="144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F69610-E8A0-7425-5642-B71A8CB28C52}"/>
              </a:ext>
            </a:extLst>
          </p:cNvPr>
          <p:cNvSpPr/>
          <p:nvPr/>
        </p:nvSpPr>
        <p:spPr>
          <a:xfrm>
            <a:off x="6319010" y="4697191"/>
            <a:ext cx="266700" cy="144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9F1678-7195-673B-3478-3E64240A56E3}"/>
              </a:ext>
            </a:extLst>
          </p:cNvPr>
          <p:cNvSpPr txBox="1"/>
          <p:nvPr/>
        </p:nvSpPr>
        <p:spPr>
          <a:xfrm>
            <a:off x="4306060" y="5185176"/>
            <a:ext cx="4341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Good agreement with model-TCAD [1]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7F09773D-94BE-AD5A-E1E1-E24021F227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5711" y="2730429"/>
            <a:ext cx="2101002" cy="1044943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8838E7-F7BB-DF26-0F45-54D36DFD0A2E}"/>
              </a:ext>
            </a:extLst>
          </p:cNvPr>
          <p:cNvSpPr/>
          <p:nvPr/>
        </p:nvSpPr>
        <p:spPr>
          <a:xfrm>
            <a:off x="5359589" y="3633978"/>
            <a:ext cx="266700" cy="144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09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A2C9-2107-2BC5-3AA8-332C0B4B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75410-F9BE-0B1B-1EF6-D0059D6D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of </a:t>
            </a:r>
            <a:r>
              <a:rPr lang="en-US" altLang="ko-KR" dirty="0" err="1"/>
              <a:t>Detrapping</a:t>
            </a:r>
            <a:r>
              <a:rPr lang="en-US" altLang="ko-KR" dirty="0"/>
              <a:t> from BETOX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5393C62-4160-C7D5-C516-ED357F2FE9B5}"/>
              </a:ext>
            </a:extLst>
          </p:cNvPr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F9E77C-E63E-DC62-F2E6-A138A15E477D}"/>
              </a:ext>
            </a:extLst>
          </p:cNvPr>
          <p:cNvSpPr txBox="1"/>
          <p:nvPr/>
        </p:nvSpPr>
        <p:spPr>
          <a:xfrm>
            <a:off x="645821" y="1076427"/>
            <a:ext cx="7850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Used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990AC4-EF78-6DB0-9137-0DE81FF3F3E9}"/>
                  </a:ext>
                </a:extLst>
              </p:cNvPr>
              <p:cNvSpPr txBox="1"/>
              <p:nvPr/>
            </p:nvSpPr>
            <p:spPr>
              <a:xfrm>
                <a:off x="233072" y="1724284"/>
                <a:ext cx="4931777" cy="2040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990AC4-EF78-6DB0-9137-0DE81FF3F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724284"/>
                <a:ext cx="4931777" cy="2040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7D57E4-2FBF-1C27-E251-D19C6C7870BD}"/>
                  </a:ext>
                </a:extLst>
              </p:cNvPr>
              <p:cNvSpPr txBox="1"/>
              <p:nvPr/>
            </p:nvSpPr>
            <p:spPr>
              <a:xfrm>
                <a:off x="112832" y="3853123"/>
                <a:ext cx="8855826" cy="1679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7D57E4-2FBF-1C27-E251-D19C6C787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32" y="3853123"/>
                <a:ext cx="8855826" cy="1679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0CC341-56C7-53ED-B1CD-18F0A9DDAF8B}"/>
                  </a:ext>
                </a:extLst>
              </p:cNvPr>
              <p:cNvSpPr txBox="1"/>
              <p:nvPr/>
            </p:nvSpPr>
            <p:spPr>
              <a:xfrm>
                <a:off x="6308771" y="1476537"/>
                <a:ext cx="3521085" cy="2507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0CC341-56C7-53ED-B1CD-18F0A9DDA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71" y="1476537"/>
                <a:ext cx="3521085" cy="25070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2CEFFF-C588-D505-F6E9-11776520F16E}"/>
                  </a:ext>
                </a:extLst>
              </p:cNvPr>
              <p:cNvSpPr txBox="1"/>
              <p:nvPr/>
            </p:nvSpPr>
            <p:spPr>
              <a:xfrm>
                <a:off x="278983" y="5808209"/>
                <a:ext cx="6367769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2CEFFF-C588-D505-F6E9-11776520F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3" y="5808209"/>
                <a:ext cx="6367769" cy="474425"/>
              </a:xfrm>
              <a:prstGeom prst="rect">
                <a:avLst/>
              </a:prstGeom>
              <a:blipFill>
                <a:blip r:embed="rId5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21D8795-D8AF-57FC-9226-7913A50C4BB7}"/>
              </a:ext>
            </a:extLst>
          </p:cNvPr>
          <p:cNvSpPr txBox="1"/>
          <p:nvPr/>
        </p:nvSpPr>
        <p:spPr>
          <a:xfrm>
            <a:off x="6176409" y="6162092"/>
            <a:ext cx="2741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[1] Jin,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TED,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2025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948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8C7A-527C-E001-E9E9-3656DE43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7C624-F44A-996C-9222-99158251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Charge Uniform Distribution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C8AFB8F-0B29-2AB3-D0F4-0A59537D7A5A}"/>
              </a:ext>
            </a:extLst>
          </p:cNvPr>
          <p:cNvGrpSpPr/>
          <p:nvPr/>
        </p:nvGrpSpPr>
        <p:grpSpPr>
          <a:xfrm>
            <a:off x="1287624" y="2401871"/>
            <a:ext cx="6394582" cy="3215949"/>
            <a:chOff x="1038808" y="989045"/>
            <a:chExt cx="6394582" cy="3215949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DC66C205-F920-4A61-3E85-8DE3344BE2A4}"/>
                </a:ext>
              </a:extLst>
            </p:cNvPr>
            <p:cNvCxnSpPr/>
            <p:nvPr/>
          </p:nvCxnSpPr>
          <p:spPr>
            <a:xfrm>
              <a:off x="1038808" y="3806888"/>
              <a:ext cx="134982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24E511E0-05FE-3C02-4C3E-D95CBD554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3756" y="2034072"/>
              <a:ext cx="12441" cy="17728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F68FF41-5A10-E874-9A7B-A822EE320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756" y="1542660"/>
              <a:ext cx="385664" cy="5038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4A9ADEC-53F7-2A91-3F53-57FFB0C1C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9420" y="1831909"/>
              <a:ext cx="416765" cy="2519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9F9D039-111E-2C30-0855-DAA269219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628" y="989045"/>
              <a:ext cx="208382" cy="3047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1135EA3-04F5-B3EB-2BF3-8D8B3246BB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9420" y="1542660"/>
              <a:ext cx="0" cy="5536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CC1846D-CE07-9DFF-4CD3-81437BDE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65" y="1287624"/>
              <a:ext cx="0" cy="5536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1EBFCA6-4755-94A2-57AE-ADFDC8EBA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3010" y="989045"/>
              <a:ext cx="0" cy="1237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01A245A1-57C7-2C87-BE5B-917CD57DFB11}"/>
                </a:ext>
              </a:extLst>
            </p:cNvPr>
            <p:cNvSpPr/>
            <p:nvPr/>
          </p:nvSpPr>
          <p:spPr>
            <a:xfrm>
              <a:off x="3371463" y="1830869"/>
              <a:ext cx="1878563" cy="601309"/>
            </a:xfrm>
            <a:custGeom>
              <a:avLst/>
              <a:gdLst>
                <a:gd name="connsiteX0" fmla="*/ 0 w 1878563"/>
                <a:gd name="connsiteY0" fmla="*/ 383595 h 601309"/>
                <a:gd name="connsiteX1" fmla="*/ 802432 w 1878563"/>
                <a:gd name="connsiteY1" fmla="*/ 4150 h 601309"/>
                <a:gd name="connsiteX2" fmla="*/ 1878563 w 1878563"/>
                <a:gd name="connsiteY2" fmla="*/ 601309 h 60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78563" h="601309">
                  <a:moveTo>
                    <a:pt x="0" y="383595"/>
                  </a:moveTo>
                  <a:cubicBezTo>
                    <a:pt x="244669" y="175729"/>
                    <a:pt x="489338" y="-32136"/>
                    <a:pt x="802432" y="4150"/>
                  </a:cubicBezTo>
                  <a:cubicBezTo>
                    <a:pt x="1115526" y="40436"/>
                    <a:pt x="1497044" y="320872"/>
                    <a:pt x="1878563" y="60130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4A96328-8913-2A76-86D5-C696B2EBAD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1120" y="2432178"/>
              <a:ext cx="12441" cy="17728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1874C4F-7734-B96D-CBEF-C7222A3342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9134" y="1183947"/>
              <a:ext cx="831986" cy="124823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3300FC4-BCED-5CFB-16A9-3C0EECF38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9134" y="1183947"/>
              <a:ext cx="0" cy="1237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13DE3FA-3F1E-B762-BF50-5751AF9FFBFD}"/>
                </a:ext>
              </a:extLst>
            </p:cNvPr>
            <p:cNvCxnSpPr/>
            <p:nvPr/>
          </p:nvCxnSpPr>
          <p:spPr>
            <a:xfrm>
              <a:off x="6083561" y="4204994"/>
              <a:ext cx="134982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7FACE95-9ACD-895F-BE67-13309401364E}"/>
              </a:ext>
            </a:extLst>
          </p:cNvPr>
          <p:cNvSpPr txBox="1"/>
          <p:nvPr/>
        </p:nvSpPr>
        <p:spPr>
          <a:xfrm>
            <a:off x="1377820" y="5224484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EAB178-6FA5-48DC-11A5-2B4489D71F51}"/>
              </a:ext>
            </a:extLst>
          </p:cNvPr>
          <p:cNvSpPr txBox="1"/>
          <p:nvPr/>
        </p:nvSpPr>
        <p:spPr>
          <a:xfrm>
            <a:off x="6332377" y="5211488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269A58-937F-1316-DD72-F982E1B2A39E}"/>
              </a:ext>
            </a:extLst>
          </p:cNvPr>
          <p:cNvSpPr txBox="1"/>
          <p:nvPr/>
        </p:nvSpPr>
        <p:spPr>
          <a:xfrm>
            <a:off x="2547256" y="3658932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E52EA-F3F9-C403-F7A2-BA74296C3CDD}"/>
              </a:ext>
            </a:extLst>
          </p:cNvPr>
          <p:cNvSpPr txBox="1"/>
          <p:nvPr/>
        </p:nvSpPr>
        <p:spPr>
          <a:xfrm>
            <a:off x="3969397" y="3989179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61B521-D617-3AC5-68B0-34192E797277}"/>
              </a:ext>
            </a:extLst>
          </p:cNvPr>
          <p:cNvSpPr txBox="1"/>
          <p:nvPr/>
        </p:nvSpPr>
        <p:spPr>
          <a:xfrm>
            <a:off x="5319225" y="3989179"/>
            <a:ext cx="116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7E46C18-18EE-D2FB-0674-9F055EF0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126" y="4611197"/>
            <a:ext cx="242894" cy="24289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17B9B1F-8FFF-4EA3-F334-23336FA1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749" y="4102749"/>
            <a:ext cx="242894" cy="24289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1348CEBD-E9E0-063C-18C7-A1A401F7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98" y="4432996"/>
            <a:ext cx="242894" cy="242894"/>
          </a:xfrm>
          <a:prstGeom prst="rect">
            <a:avLst/>
          </a:prstGeom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DF21A75-83C7-BA9E-8A30-D7A1744C712A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1791477" y="4732644"/>
            <a:ext cx="1324649" cy="0"/>
          </a:xfrm>
          <a:prstGeom prst="straightConnector1">
            <a:avLst/>
          </a:prstGeom>
          <a:ln w="28575"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F9B316D-7514-15A7-B3EC-A0CF1767F135}"/>
              </a:ext>
            </a:extLst>
          </p:cNvPr>
          <p:cNvCxnSpPr>
            <a:cxnSpLocks/>
          </p:cNvCxnSpPr>
          <p:nvPr/>
        </p:nvCxnSpPr>
        <p:spPr>
          <a:xfrm flipH="1">
            <a:off x="2202024" y="4228100"/>
            <a:ext cx="1704725" cy="0"/>
          </a:xfrm>
          <a:prstGeom prst="straightConnector1">
            <a:avLst/>
          </a:prstGeom>
          <a:ln w="28575"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898C968-1162-7593-CFA1-860588A3453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313392" y="4554443"/>
            <a:ext cx="1292681" cy="3904"/>
          </a:xfrm>
          <a:prstGeom prst="straightConnector1">
            <a:avLst/>
          </a:prstGeom>
          <a:ln w="28575"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C3E5CC7-E131-CABA-E244-4C9A97C069C4}"/>
              </a:ext>
            </a:extLst>
          </p:cNvPr>
          <p:cNvSpPr txBox="1"/>
          <p:nvPr/>
        </p:nvSpPr>
        <p:spPr>
          <a:xfrm>
            <a:off x="55915" y="4712784"/>
            <a:ext cx="2476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[1]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423CC-024E-98E0-F4A7-2C4D7EF89B6E}"/>
              </a:ext>
            </a:extLst>
          </p:cNvPr>
          <p:cNvSpPr txBox="1"/>
          <p:nvPr/>
        </p:nvSpPr>
        <p:spPr>
          <a:xfrm>
            <a:off x="491992" y="3579384"/>
            <a:ext cx="208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channel (Ch)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5CA1B0-C07C-D5A2-C6DD-B3E8D4E3C886}"/>
              </a:ext>
            </a:extLst>
          </p:cNvPr>
          <p:cNvSpPr txBox="1"/>
          <p:nvPr/>
        </p:nvSpPr>
        <p:spPr>
          <a:xfrm>
            <a:off x="6234247" y="4125610"/>
            <a:ext cx="208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③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wordline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(WL)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76F748-D73E-C3B1-7C33-704068044783}"/>
              </a:ext>
            </a:extLst>
          </p:cNvPr>
          <p:cNvSpPr txBox="1"/>
          <p:nvPr/>
        </p:nvSpPr>
        <p:spPr>
          <a:xfrm>
            <a:off x="491992" y="1233406"/>
            <a:ext cx="844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mechanisms in retention of 3-D NAND flash vertical cross section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DA77072-5C98-683F-3230-2E7AF2E9FF3D}"/>
              </a:ext>
            </a:extLst>
          </p:cNvPr>
          <p:cNvSpPr txBox="1"/>
          <p:nvPr/>
        </p:nvSpPr>
        <p:spPr>
          <a:xfrm>
            <a:off x="6176409" y="6162092"/>
            <a:ext cx="2741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[1] Jin,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TED,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2025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67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5364F-B6B3-618A-237F-716EF918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Electron Emission Simulation Method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15BBF2-D393-1C7A-41CA-6BDC06AD54CF}"/>
              </a:ext>
            </a:extLst>
          </p:cNvPr>
          <p:cNvGrpSpPr/>
          <p:nvPr/>
        </p:nvGrpSpPr>
        <p:grpSpPr>
          <a:xfrm>
            <a:off x="4021935" y="1862125"/>
            <a:ext cx="1635085" cy="1311448"/>
            <a:chOff x="4963681" y="1139278"/>
            <a:chExt cx="1635085" cy="1311448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0AC9E4-F86A-B1F6-B2E7-A264E8238A3B}"/>
                </a:ext>
              </a:extLst>
            </p:cNvPr>
            <p:cNvGrpSpPr/>
            <p:nvPr/>
          </p:nvGrpSpPr>
          <p:grpSpPr>
            <a:xfrm>
              <a:off x="5517604" y="1139278"/>
              <a:ext cx="1081162" cy="1134839"/>
              <a:chOff x="4136975" y="1526434"/>
              <a:chExt cx="1081162" cy="1134839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AB22B230-10E3-3D42-D9DC-661F223C56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3994" y="2206535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3D66F0EF-99BF-4A3D-BBCB-19218B3AE9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36975" y="1526434"/>
                <a:ext cx="1021702" cy="448684"/>
              </a:xfrm>
              <a:prstGeom prst="line">
                <a:avLst/>
              </a:prstGeom>
              <a:ln w="1905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1EA05913-858A-DBD1-AD3D-BE2A8DD6D9E7}"/>
                  </a:ext>
                </a:extLst>
              </p:cNvPr>
              <p:cNvSpPr/>
              <p:nvPr/>
            </p:nvSpPr>
            <p:spPr>
              <a:xfrm>
                <a:off x="4136975" y="1869154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EE68937D-ED5C-E8EB-8238-76E6234B8F60}"/>
                  </a:ext>
                </a:extLst>
              </p:cNvPr>
              <p:cNvSpPr/>
              <p:nvPr/>
            </p:nvSpPr>
            <p:spPr>
              <a:xfrm>
                <a:off x="4488654" y="1725142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18D9D816-4A9C-B29E-A1AB-D311D09993B1}"/>
                  </a:ext>
                </a:extLst>
              </p:cNvPr>
              <p:cNvSpPr/>
              <p:nvPr/>
            </p:nvSpPr>
            <p:spPr>
              <a:xfrm>
                <a:off x="4838430" y="1560836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F61BDF5-E169-33C4-4BE6-84B4CE625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474" y="2071278"/>
              <a:ext cx="242894" cy="24289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87FB85D-C6C7-B9BA-F1FA-DC830FF5D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6153" y="1925171"/>
              <a:ext cx="242894" cy="24289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5097BAC-CA12-8B56-29AD-E30330C50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640" y="1792763"/>
              <a:ext cx="242894" cy="242894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6DF9883-7AB2-1027-ED73-21B6BA51A8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192725"/>
              <a:ext cx="580763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5A75AB7-4438-37F0-E235-8F1B2DD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035657"/>
              <a:ext cx="96247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C69EA4C1-CC13-6BF5-3540-D0AE2DB8A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1878057"/>
              <a:ext cx="1322959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EDBFEC5-694B-EEA4-AF8C-DCBC7C4D8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6776" y="1569739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0DD009E-6FE8-13C9-8D26-0E8C74002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219" y="1419020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B1FA4AD-DCA5-BADC-84A9-B2E7F714D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74" y="1249118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B380E58-1FCB-857B-3356-8A2099D6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51" y="1152546"/>
            <a:ext cx="2706859" cy="2244754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FC60BF8-63E1-AF43-FA01-461653145C19}"/>
              </a:ext>
            </a:extLst>
          </p:cNvPr>
          <p:cNvCxnSpPr>
            <a:cxnSpLocks/>
          </p:cNvCxnSpPr>
          <p:nvPr/>
        </p:nvCxnSpPr>
        <p:spPr>
          <a:xfrm flipV="1">
            <a:off x="1930478" y="1721173"/>
            <a:ext cx="2214754" cy="468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B9296B0-2C85-9DB6-E047-007F2A008D68}"/>
              </a:ext>
            </a:extLst>
          </p:cNvPr>
          <p:cNvCxnSpPr>
            <a:cxnSpLocks/>
          </p:cNvCxnSpPr>
          <p:nvPr/>
        </p:nvCxnSpPr>
        <p:spPr>
          <a:xfrm>
            <a:off x="1916118" y="2738483"/>
            <a:ext cx="2266328" cy="588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9C75DE-4792-DEFB-904A-F08288FA552A}"/>
              </a:ext>
            </a:extLst>
          </p:cNvPr>
          <p:cNvSpPr txBox="1"/>
          <p:nvPr/>
        </p:nvSpPr>
        <p:spPr>
          <a:xfrm>
            <a:off x="5872064" y="1667069"/>
            <a:ext cx="31778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From Last Research…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Vertical Partition Method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Uniform field assumption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C8DD9AB-7238-F947-73FE-7405F5E74EE3}"/>
              </a:ext>
            </a:extLst>
          </p:cNvPr>
          <p:cNvGrpSpPr/>
          <p:nvPr/>
        </p:nvGrpSpPr>
        <p:grpSpPr>
          <a:xfrm>
            <a:off x="735868" y="4021225"/>
            <a:ext cx="2823506" cy="2445592"/>
            <a:chOff x="4459265" y="3813784"/>
            <a:chExt cx="2823506" cy="244559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682470-BE06-BF0C-CFB9-17047130A74F}"/>
                </a:ext>
              </a:extLst>
            </p:cNvPr>
            <p:cNvSpPr txBox="1"/>
            <p:nvPr/>
          </p:nvSpPr>
          <p:spPr>
            <a:xfrm>
              <a:off x="6736218" y="3813784"/>
              <a:ext cx="546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B21278C-6F20-A7AB-C665-9C483E1540C6}"/>
                    </a:ext>
                  </a:extLst>
                </p:cNvPr>
                <p:cNvSpPr txBox="1"/>
                <p:nvPr/>
              </p:nvSpPr>
              <p:spPr>
                <a:xfrm>
                  <a:off x="4459265" y="4945157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CTN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B21278C-6F20-A7AB-C665-9C483E154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9265" y="4945157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7DCC3F5-262B-E883-32C1-BFA7D17C1E14}"/>
                    </a:ext>
                  </a:extLst>
                </p:cNvPr>
                <p:cNvSpPr txBox="1"/>
                <p:nvPr/>
              </p:nvSpPr>
              <p:spPr>
                <a:xfrm>
                  <a:off x="5073221" y="5997766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7DCC3F5-262B-E883-32C1-BFA7D17C1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3221" y="5997766"/>
                  <a:ext cx="671805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918EF1FF-4D8A-86C1-205A-FDD4EAED6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32728" y="3861037"/>
              <a:ext cx="2560542" cy="2271221"/>
            </a:xfrm>
            <a:prstGeom prst="rect">
              <a:avLst/>
            </a:prstGeom>
          </p:spPr>
        </p:pic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E0A16B0-5F5D-3EB8-31E7-C060DDDAD3AA}"/>
              </a:ext>
            </a:extLst>
          </p:cNvPr>
          <p:cNvCxnSpPr>
            <a:cxnSpLocks/>
          </p:cNvCxnSpPr>
          <p:nvPr/>
        </p:nvCxnSpPr>
        <p:spPr>
          <a:xfrm>
            <a:off x="3334943" y="5394071"/>
            <a:ext cx="977373" cy="66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D1322EC-0FB1-2542-1444-38406ED6CA77}"/>
              </a:ext>
            </a:extLst>
          </p:cNvPr>
          <p:cNvCxnSpPr>
            <a:cxnSpLocks/>
          </p:cNvCxnSpPr>
          <p:nvPr/>
        </p:nvCxnSpPr>
        <p:spPr>
          <a:xfrm flipV="1">
            <a:off x="3315010" y="4338209"/>
            <a:ext cx="933529" cy="38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6829A91-1B8E-A395-E388-F17FE4A3DFB7}"/>
              </a:ext>
            </a:extLst>
          </p:cNvPr>
          <p:cNvGrpSpPr/>
          <p:nvPr/>
        </p:nvGrpSpPr>
        <p:grpSpPr>
          <a:xfrm>
            <a:off x="4021935" y="4301065"/>
            <a:ext cx="1635085" cy="1479178"/>
            <a:chOff x="5054522" y="3800669"/>
            <a:chExt cx="1635085" cy="1479178"/>
          </a:xfrm>
        </p:grpSpPr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907753DF-1096-AE12-CB20-8CF9621890B1}"/>
                </a:ext>
              </a:extLst>
            </p:cNvPr>
            <p:cNvSpPr/>
            <p:nvPr/>
          </p:nvSpPr>
          <p:spPr>
            <a:xfrm>
              <a:off x="6305550" y="3805238"/>
              <a:ext cx="347663" cy="1019175"/>
            </a:xfrm>
            <a:custGeom>
              <a:avLst/>
              <a:gdLst>
                <a:gd name="connsiteX0" fmla="*/ 0 w 347663"/>
                <a:gd name="connsiteY0" fmla="*/ 1019175 h 1019175"/>
                <a:gd name="connsiteX1" fmla="*/ 347663 w 347663"/>
                <a:gd name="connsiteY1" fmla="*/ 866775 h 1019175"/>
                <a:gd name="connsiteX2" fmla="*/ 347663 w 347663"/>
                <a:gd name="connsiteY2" fmla="*/ 0 h 1019175"/>
                <a:gd name="connsiteX3" fmla="*/ 4763 w 347663"/>
                <a:gd name="connsiteY3" fmla="*/ 85725 h 1019175"/>
                <a:gd name="connsiteX4" fmla="*/ 4763 w 347663"/>
                <a:gd name="connsiteY4" fmla="*/ 1004887 h 1019175"/>
                <a:gd name="connsiteX5" fmla="*/ 0 w 347663"/>
                <a:gd name="connsiteY5" fmla="*/ 101917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663" h="1019175">
                  <a:moveTo>
                    <a:pt x="0" y="1019175"/>
                  </a:moveTo>
                  <a:lnTo>
                    <a:pt x="347663" y="866775"/>
                  </a:lnTo>
                  <a:lnTo>
                    <a:pt x="347663" y="0"/>
                  </a:lnTo>
                  <a:lnTo>
                    <a:pt x="4763" y="85725"/>
                  </a:lnTo>
                  <a:lnTo>
                    <a:pt x="4763" y="1004887"/>
                  </a:lnTo>
                  <a:lnTo>
                    <a:pt x="0" y="1019175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F89DA8AA-D0CF-2675-647C-E6A605A4BB72}"/>
                </a:ext>
              </a:extLst>
            </p:cNvPr>
            <p:cNvSpPr/>
            <p:nvPr/>
          </p:nvSpPr>
          <p:spPr>
            <a:xfrm>
              <a:off x="5924550" y="3886200"/>
              <a:ext cx="366713" cy="1114425"/>
            </a:xfrm>
            <a:custGeom>
              <a:avLst/>
              <a:gdLst>
                <a:gd name="connsiteX0" fmla="*/ 9525 w 366713"/>
                <a:gd name="connsiteY0" fmla="*/ 1104900 h 1114425"/>
                <a:gd name="connsiteX1" fmla="*/ 366713 w 366713"/>
                <a:gd name="connsiteY1" fmla="*/ 952500 h 1114425"/>
                <a:gd name="connsiteX2" fmla="*/ 366713 w 366713"/>
                <a:gd name="connsiteY2" fmla="*/ 0 h 1114425"/>
                <a:gd name="connsiteX3" fmla="*/ 133350 w 366713"/>
                <a:gd name="connsiteY3" fmla="*/ 114300 h 1114425"/>
                <a:gd name="connsiteX4" fmla="*/ 0 w 366713"/>
                <a:gd name="connsiteY4" fmla="*/ 195263 h 1114425"/>
                <a:gd name="connsiteX5" fmla="*/ 0 w 366713"/>
                <a:gd name="connsiteY5" fmla="*/ 1114425 h 1114425"/>
                <a:gd name="connsiteX6" fmla="*/ 9525 w 366713"/>
                <a:gd name="connsiteY6" fmla="*/ 1104900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713" h="1114425">
                  <a:moveTo>
                    <a:pt x="9525" y="1104900"/>
                  </a:moveTo>
                  <a:lnTo>
                    <a:pt x="366713" y="952500"/>
                  </a:lnTo>
                  <a:lnTo>
                    <a:pt x="366713" y="0"/>
                  </a:lnTo>
                  <a:lnTo>
                    <a:pt x="133350" y="114300"/>
                  </a:lnTo>
                  <a:lnTo>
                    <a:pt x="0" y="195263"/>
                  </a:lnTo>
                  <a:lnTo>
                    <a:pt x="0" y="1114425"/>
                  </a:lnTo>
                  <a:lnTo>
                    <a:pt x="9525" y="110490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DF8815A2-0D5F-F470-A8F2-CF1313561CFF}"/>
                </a:ext>
              </a:extLst>
            </p:cNvPr>
            <p:cNvSpPr/>
            <p:nvPr/>
          </p:nvSpPr>
          <p:spPr>
            <a:xfrm>
              <a:off x="5624513" y="4090988"/>
              <a:ext cx="290512" cy="1028700"/>
            </a:xfrm>
            <a:custGeom>
              <a:avLst/>
              <a:gdLst>
                <a:gd name="connsiteX0" fmla="*/ 290512 w 290512"/>
                <a:gd name="connsiteY0" fmla="*/ 904875 h 1028700"/>
                <a:gd name="connsiteX1" fmla="*/ 0 w 290512"/>
                <a:gd name="connsiteY1" fmla="*/ 1028700 h 1028700"/>
                <a:gd name="connsiteX2" fmla="*/ 0 w 290512"/>
                <a:gd name="connsiteY2" fmla="*/ 319087 h 1028700"/>
                <a:gd name="connsiteX3" fmla="*/ 180975 w 290512"/>
                <a:gd name="connsiteY3" fmla="*/ 85725 h 1028700"/>
                <a:gd name="connsiteX4" fmla="*/ 280987 w 290512"/>
                <a:gd name="connsiteY4" fmla="*/ 0 h 1028700"/>
                <a:gd name="connsiteX5" fmla="*/ 280987 w 290512"/>
                <a:gd name="connsiteY5" fmla="*/ 904875 h 1028700"/>
                <a:gd name="connsiteX6" fmla="*/ 290512 w 290512"/>
                <a:gd name="connsiteY6" fmla="*/ 904875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0512" h="1028700">
                  <a:moveTo>
                    <a:pt x="290512" y="904875"/>
                  </a:moveTo>
                  <a:lnTo>
                    <a:pt x="0" y="1028700"/>
                  </a:lnTo>
                  <a:lnTo>
                    <a:pt x="0" y="319087"/>
                  </a:lnTo>
                  <a:lnTo>
                    <a:pt x="180975" y="85725"/>
                  </a:lnTo>
                  <a:lnTo>
                    <a:pt x="280987" y="0"/>
                  </a:lnTo>
                  <a:lnTo>
                    <a:pt x="280987" y="904875"/>
                  </a:lnTo>
                  <a:lnTo>
                    <a:pt x="290512" y="904875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76B96073-E5C9-EB23-A124-EB3C1BF34962}"/>
                </a:ext>
              </a:extLst>
            </p:cNvPr>
            <p:cNvGrpSpPr/>
            <p:nvPr/>
          </p:nvGrpSpPr>
          <p:grpSpPr>
            <a:xfrm>
              <a:off x="5054522" y="3837813"/>
              <a:ext cx="1635085" cy="1442034"/>
              <a:chOff x="4963681" y="983812"/>
              <a:chExt cx="1635085" cy="1442034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43C837D4-048E-FB38-72AA-946C052B43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623" y="1819379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0A517446-E5C3-417C-E1C8-EFEE1B9D2E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74474" y="2071278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C46B4558-B657-8B58-83B1-E3E296DDD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6153" y="1925171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43" name="그림 42">
                <a:extLst>
                  <a:ext uri="{FF2B5EF4-FFF2-40B4-BE49-F238E27FC236}">
                    <a16:creationId xmlns:a16="http://schemas.microsoft.com/office/drawing/2014/main" id="{134A9B0F-EFB5-85A7-E9DB-B6CE5D9BDF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86640" y="1792763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74E82D4F-5966-A157-655D-DB1B4D6784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192725"/>
                <a:ext cx="580763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C8496161-8D3E-6590-0144-8F782D4C5C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035657"/>
                <a:ext cx="962472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1C337C9D-E399-4BF7-5DE4-8F61533FC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1878057"/>
                <a:ext cx="1322959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8754603A-549B-C20C-9942-A4CB2E05EF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6776" y="1394140"/>
                <a:ext cx="0" cy="103170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B54B5098-1813-EDE7-C01F-56BDBA0372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32219" y="1111856"/>
                <a:ext cx="0" cy="1188151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AF8EF2E9-354E-E39F-9B3F-806D2B6242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2874" y="983812"/>
                <a:ext cx="0" cy="1146293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8407ED8F-2E4C-CD6D-D0DA-7B987DAFE6D6}"/>
                </a:ext>
              </a:extLst>
            </p:cNvPr>
            <p:cNvSpPr/>
            <p:nvPr/>
          </p:nvSpPr>
          <p:spPr>
            <a:xfrm>
              <a:off x="5604588" y="3800669"/>
              <a:ext cx="1013926" cy="622041"/>
            </a:xfrm>
            <a:custGeom>
              <a:avLst/>
              <a:gdLst>
                <a:gd name="connsiteX0" fmla="*/ 0 w 1013926"/>
                <a:gd name="connsiteY0" fmla="*/ 622041 h 622041"/>
                <a:gd name="connsiteX1" fmla="*/ 416767 w 1013926"/>
                <a:gd name="connsiteY1" fmla="*/ 199053 h 622041"/>
                <a:gd name="connsiteX2" fmla="*/ 1013926 w 1013926"/>
                <a:gd name="connsiteY2" fmla="*/ 0 h 622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926" h="622041">
                  <a:moveTo>
                    <a:pt x="0" y="622041"/>
                  </a:moveTo>
                  <a:cubicBezTo>
                    <a:pt x="123889" y="462383"/>
                    <a:pt x="247779" y="302726"/>
                    <a:pt x="416767" y="199053"/>
                  </a:cubicBezTo>
                  <a:cubicBezTo>
                    <a:pt x="585755" y="95380"/>
                    <a:pt x="799840" y="47690"/>
                    <a:pt x="101392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AEEE0592-505A-38C3-3E69-9BDD2B542189}"/>
              </a:ext>
            </a:extLst>
          </p:cNvPr>
          <p:cNvSpPr txBox="1"/>
          <p:nvPr/>
        </p:nvSpPr>
        <p:spPr>
          <a:xfrm>
            <a:off x="5988050" y="4175113"/>
            <a:ext cx="29257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Same Implementation!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Vertical Partition Method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Non-uniform field!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A02DA1-A497-41E5-C2D1-5767BDC4865E}"/>
              </a:ext>
            </a:extLst>
          </p:cNvPr>
          <p:cNvSpPr txBox="1"/>
          <p:nvPr/>
        </p:nvSpPr>
        <p:spPr>
          <a:xfrm>
            <a:off x="169645" y="883096"/>
            <a:ext cx="2476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[1]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E1FDFC-A428-E747-B745-CD420CCB9F2C}"/>
              </a:ext>
            </a:extLst>
          </p:cNvPr>
          <p:cNvSpPr txBox="1"/>
          <p:nvPr/>
        </p:nvSpPr>
        <p:spPr>
          <a:xfrm>
            <a:off x="154821" y="3570136"/>
            <a:ext cx="3160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25D7FF-8E5F-7B8B-9128-45FA3CC7FB61}"/>
              </a:ext>
            </a:extLst>
          </p:cNvPr>
          <p:cNvSpPr txBox="1"/>
          <p:nvPr/>
        </p:nvSpPr>
        <p:spPr>
          <a:xfrm>
            <a:off x="154820" y="3925991"/>
            <a:ext cx="3160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③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WL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519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346</Words>
  <Application>Microsoft Office PowerPoint</Application>
  <PresentationFormat>화면 슬라이드 쇼(4:3)</PresentationFormat>
  <Paragraphs>71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Cambria Math</vt:lpstr>
      <vt:lpstr>Times New Roman</vt:lpstr>
      <vt:lpstr>Office 테마</vt:lpstr>
      <vt:lpstr>Electron Vertical Tunneling Emission by Detrapping from CTN</vt:lpstr>
      <vt:lpstr>Detrapping from BETOX and CTN</vt:lpstr>
      <vt:lpstr>Review of Detrapping from BETOX</vt:lpstr>
      <vt:lpstr>Review of Detrapping from BETOX</vt:lpstr>
      <vt:lpstr>CTN Trapped Charge Uniform Distribution</vt:lpstr>
      <vt:lpstr>CTN Electron Emission Simulation Method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965</cp:revision>
  <dcterms:created xsi:type="dcterms:W3CDTF">2016-06-02T05:19:04Z</dcterms:created>
  <dcterms:modified xsi:type="dcterms:W3CDTF">2026-04-28T02:23:00Z</dcterms:modified>
  <cp:version/>
</cp:coreProperties>
</file>