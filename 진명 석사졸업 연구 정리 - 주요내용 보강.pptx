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>
  <p:sldMasterIdLst>
    <p:sldMasterId id="2147483672" r:id="rId1"/>
  </p:sldMasterIdLst>
  <p:notesMasterIdLst>
    <p:notesMasterId r:id="rId25"/>
  </p:notesMasterIdLst>
  <p:sldIdLst>
    <p:sldId id="341" r:id="rId2"/>
    <p:sldId id="350" r:id="rId3"/>
    <p:sldId id="334" r:id="rId4"/>
    <p:sldId id="329" r:id="rId5"/>
    <p:sldId id="331" r:id="rId6"/>
    <p:sldId id="347" r:id="rId7"/>
    <p:sldId id="344" r:id="rId8"/>
    <p:sldId id="322" r:id="rId9"/>
    <p:sldId id="333" r:id="rId10"/>
    <p:sldId id="320" r:id="rId11"/>
    <p:sldId id="324" r:id="rId12"/>
    <p:sldId id="339" r:id="rId13"/>
    <p:sldId id="323" r:id="rId14"/>
    <p:sldId id="321" r:id="rId15"/>
    <p:sldId id="328" r:id="rId16"/>
    <p:sldId id="326" r:id="rId17"/>
    <p:sldId id="345" r:id="rId18"/>
    <p:sldId id="349" r:id="rId19"/>
    <p:sldId id="346" r:id="rId20"/>
    <p:sldId id="327" r:id="rId21"/>
    <p:sldId id="348" r:id="rId22"/>
    <p:sldId id="338" r:id="rId23"/>
    <p:sldId id="351" r:id="rId24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505"/>
    <a:srgbClr val="284866"/>
    <a:srgbClr val="BF768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7" autoAdjust="0"/>
    <p:restoredTop sz="97300" autoAdjust="0"/>
  </p:normalViewPr>
  <p:slideViewPr>
    <p:cSldViewPr snapToGrid="0">
      <p:cViewPr varScale="1">
        <p:scale>
          <a:sx n="151" d="100"/>
          <a:sy n="151" d="100"/>
        </p:scale>
        <p:origin x="1914" y="108"/>
      </p:cViewPr>
      <p:guideLst>
        <p:guide orient="horz" pos="2183"/>
        <p:guide pos="1474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>
      <p:cViewPr varScale="1">
        <p:scale>
          <a:sx n="121" d="100"/>
          <a:sy n="121" d="100"/>
        </p:scale>
        <p:origin x="502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8180F2F1-247D-439A-AE1A-1AD18BF0EBC5}" type="datetime1">
              <a:rPr lang="ko-KR" altLang="en-US"/>
              <a:pPr lvl="0">
                <a:defRPr/>
              </a:pPr>
              <a:t>2026-09-21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ko-KR" altLang="en-US"/>
              <a:t>마스터 텍스트 스타일 편집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969D8441-CF3E-4C34-A420-65ADD8A7BB05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2741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  <p:sp>
        <p:nvSpPr>
          <p:cNvPr id="3" name="슬라이드 번호 개체 틀 1">
            <a:extLst>
              <a:ext uri="{FF2B5EF4-FFF2-40B4-BE49-F238E27FC236}">
                <a16:creationId xmlns:a16="http://schemas.microsoft.com/office/drawing/2014/main" id="{2CD00562-DF9D-CABC-715B-747888280836}"/>
              </a:ext>
            </a:extLst>
          </p:cNvPr>
          <p:cNvSpPr txBox="1">
            <a:spLocks/>
          </p:cNvSpPr>
          <p:nvPr userDrawn="1"/>
        </p:nvSpPr>
        <p:spPr>
          <a:xfrm>
            <a:off x="4125611" y="6467849"/>
            <a:ext cx="89089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r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1F989CB1-DA8A-44BB-A4A9-D7F9352F01ED}" type="slidenum">
              <a:rPr lang="ko-KR" altLang="en-US" sz="1800" smtClean="0">
                <a:solidFill>
                  <a:srgbClr val="FFFFFF"/>
                </a:solidFill>
              </a:rPr>
              <a:pPr algn="ctr">
                <a:defRPr/>
              </a:pPr>
              <a:t>‹#›</a:t>
            </a:fld>
            <a:r>
              <a:rPr lang="ko-KR" altLang="en-US" sz="1800" dirty="0">
                <a:solidFill>
                  <a:srgbClr val="FFFFFF"/>
                </a:solidFill>
              </a:rPr>
              <a:t> </a:t>
            </a:r>
            <a:r>
              <a:rPr lang="en-US" altLang="ko-KR" sz="1800" dirty="0">
                <a:solidFill>
                  <a:srgbClr val="FFFFFF"/>
                </a:solidFill>
              </a:rPr>
              <a:t>/ 22</a:t>
            </a:r>
            <a:endParaRPr lang="ko-KR" altLang="en-US" sz="1800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73710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C47ACFDF-210B-4108-EB77-9160E7834DA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kumimoji="1" lang="en-US" sz="3200" b="1" dirty="0">
                <a:solidFill>
                  <a:srgbClr val="0000FF"/>
                </a:solidFill>
                <a:effectLst/>
                <a:latin typeface="Calibri"/>
                <a:ea typeface="굴림"/>
                <a:cs typeface="굴림"/>
              </a:defRPr>
            </a:lvl1pPr>
          </a:lstStyle>
          <a:p>
            <a:pPr lvl="0" algn="ctr"/>
            <a:r>
              <a:rPr lang="ko-KR" altLang="en-US" dirty="0"/>
              <a:t>제목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진명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6372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본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2B732FBD-70BB-590B-EED9-6BA8F8E915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65556"/>
            <a:ext cx="8955742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 algn="ctr">
              <a:defRPr lang="en-US" sz="36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</a:lstStyle>
          <a:p>
            <a:pPr marL="0" lvl="0" algn="ctr"/>
            <a:endParaRPr lang="en-US" dirty="0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A68D360D-C118-14A3-C8B6-E639F8DD026C}"/>
              </a:ext>
            </a:extLst>
          </p:cNvPr>
          <p:cNvCxnSpPr/>
          <p:nvPr userDrawn="1"/>
        </p:nvCxnSpPr>
        <p:spPr>
          <a:xfrm>
            <a:off x="456818" y="877735"/>
            <a:ext cx="868718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oval" w="med" len="med"/>
            <a:tailEnd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1723303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34A334C5-B9FA-4ED1-A744-F408B6777B24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800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9E5042A7-DF43-46DE-92FC-CFB97544BBB3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6779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916D5AD-5A6F-454C-9545-6885344E280D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3163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3F7BB00-28E5-4A3B-9E5F-1F4BB3A8F165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5328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2CEAC59B-C817-48F5-8ACE-D9D17C2470A4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4692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B3B0509C-DF52-4D9E-B08B-80FF4BADBE5B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1618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7E32654-65AB-44C2-B15A-24814E9FAC6C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393437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A4443EB-2E16-4E63-8781-456863843F67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1259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C33B04AE-6A3D-446A-BA2E-D60D9DF7E98F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87923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2F9506-E5DD-4FE8-0BB7-EACC1C8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329156"/>
            <a:ext cx="7886700" cy="2199687"/>
          </a:xfrm>
          <a:prstGeom prst="rect">
            <a:avLst/>
          </a:prstGeo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25DBDE6-F08E-5E13-9BC0-67987A6A885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DDA8C695-F3F3-4DFA-BE8E-F96FA1E20C9A}" type="datetime1">
              <a:rPr lang="ko-KR" altLang="en-US" smtClean="0"/>
              <a:t>2026-09-21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7BAB051-DD19-19B3-C999-DD1B7F47C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796CDF9-9319-B249-5F10-09AFE0D96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F989CB1-DA8A-44BB-A4A9-D7F9352F01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81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7706" y="2329156"/>
            <a:ext cx="7886700" cy="21996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ctr" latinLnBrk="1">
              <a:defRPr/>
            </a:pPr>
            <a:endParaRPr kumimoji="1" lang="ko-KR" altLang="en-US" sz="4400" b="1" dirty="0">
              <a:solidFill>
                <a:srgbClr val="0000FF"/>
              </a:solidFill>
              <a:effectLst/>
              <a:latin typeface="Calibri"/>
              <a:ea typeface="굴림"/>
              <a:cs typeface="굴림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5B2251B-B63B-3A95-4A71-181753A1254A}"/>
              </a:ext>
            </a:extLst>
          </p:cNvPr>
          <p:cNvSpPr/>
          <p:nvPr userDrawn="1"/>
        </p:nvSpPr>
        <p:spPr>
          <a:xfrm>
            <a:off x="-10765" y="6476626"/>
            <a:ext cx="9163643" cy="390252"/>
          </a:xfrm>
          <a:prstGeom prst="rect">
            <a:avLst/>
          </a:prstGeom>
          <a:solidFill>
            <a:srgbClr val="00397F"/>
          </a:solidFill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 vert="horz" wrap="non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ctr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kumimoji="1" lang="ko-KR" altLang="en-US" sz="1600" b="0" i="0" u="none" strike="noStrike" cap="none" normalizeH="0">
              <a:solidFill>
                <a:schemeClr val="tx1"/>
              </a:solidFill>
              <a:effectLst/>
              <a:latin typeface="Times New Roman"/>
              <a:ea typeface="맑은 고딕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5AE41EA-423B-2D50-1B61-33F790630545}"/>
              </a:ext>
            </a:extLst>
          </p:cNvPr>
          <p:cNvSpPr/>
          <p:nvPr userDrawn="1"/>
        </p:nvSpPr>
        <p:spPr>
          <a:xfrm>
            <a:off x="5104660" y="6547575"/>
            <a:ext cx="4039339" cy="236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lnSpc>
                <a:spcPct val="85000"/>
              </a:lnSpc>
              <a:spcBef>
                <a:spcPct val="20000"/>
              </a:spcBef>
              <a:buClr>
                <a:schemeClr val="accent1"/>
              </a:buClr>
              <a:buSzPct val="70000"/>
              <a:defRPr/>
            </a:pPr>
            <a:r>
              <a:rPr lang="en-US" altLang="ko-KR" sz="1100" b="1" i="1">
                <a:solidFill>
                  <a:schemeClr val="bg1">
                    <a:lumMod val="75000"/>
                  </a:schemeClr>
                </a:solidFill>
                <a:latin typeface="Times New Roman"/>
                <a:ea typeface="맑은 고딕"/>
                <a:cs typeface="Times New Roman"/>
              </a:rPr>
              <a:t>School of Electrical Engineering, Seoul National University</a:t>
            </a:r>
            <a:endParaRPr lang="en-US" altLang="ko-KR" sz="1100" b="1" kern="0">
              <a:solidFill>
                <a:schemeClr val="bg1">
                  <a:lumMod val="75000"/>
                </a:schemeClr>
              </a:solidFill>
              <a:latin typeface="Times New Roman"/>
              <a:ea typeface="맑은 고딕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E44581E-9BA8-E469-247F-0330F2662E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6"/>
          <a:stretch>
            <a:fillRect/>
          </a:stretch>
        </p:blipFill>
        <p:spPr>
          <a:xfrm>
            <a:off x="278983" y="6525344"/>
            <a:ext cx="1023426" cy="287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22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4" r:id="rId3"/>
    <p:sldLayoutId id="2147483675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3" r:id="rId14"/>
  </p:sldLayoutIdLst>
  <p:hf hdr="0" ftr="0" dt="0"/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7.png"/><Relationship Id="rId4" Type="http://schemas.openxmlformats.org/officeDocument/2006/relationships/image" Target="../media/image5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2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3.png"/><Relationship Id="rId5" Type="http://schemas.openxmlformats.org/officeDocument/2006/relationships/image" Target="../media/image19.png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7.emf"/><Relationship Id="rId4" Type="http://schemas.openxmlformats.org/officeDocument/2006/relationships/oleObject" Target="../embeddings/oleObject4.bin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7" Type="http://schemas.openxmlformats.org/officeDocument/2006/relationships/image" Target="../media/image3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emf"/><Relationship Id="rId5" Type="http://schemas.openxmlformats.org/officeDocument/2006/relationships/oleObject" Target="../embeddings/oleObject5.bin"/><Relationship Id="rId4" Type="http://schemas.openxmlformats.org/officeDocument/2006/relationships/image" Target="../media/image39.emf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e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emf"/><Relationship Id="rId4" Type="http://schemas.openxmlformats.org/officeDocument/2006/relationships/oleObject" Target="../embeddings/oleObject7.bin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13" Type="http://schemas.openxmlformats.org/officeDocument/2006/relationships/image" Target="../media/image54.png"/><Relationship Id="rId3" Type="http://schemas.openxmlformats.org/officeDocument/2006/relationships/image" Target="../media/image46.png"/><Relationship Id="rId7" Type="http://schemas.openxmlformats.org/officeDocument/2006/relationships/image" Target="../media/image470.png"/><Relationship Id="rId12" Type="http://schemas.openxmlformats.org/officeDocument/2006/relationships/image" Target="../media/image53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0.png"/><Relationship Id="rId11" Type="http://schemas.openxmlformats.org/officeDocument/2006/relationships/image" Target="../media/image52.png"/><Relationship Id="rId5" Type="http://schemas.openxmlformats.org/officeDocument/2006/relationships/image" Target="../media/image48.png"/><Relationship Id="rId15" Type="http://schemas.openxmlformats.org/officeDocument/2006/relationships/image" Target="../media/image56.png"/><Relationship Id="rId10" Type="http://schemas.openxmlformats.org/officeDocument/2006/relationships/image" Target="../media/image51.png"/><Relationship Id="rId4" Type="http://schemas.openxmlformats.org/officeDocument/2006/relationships/image" Target="../media/image47.png"/><Relationship Id="rId9" Type="http://schemas.openxmlformats.org/officeDocument/2006/relationships/image" Target="../media/image50.png"/><Relationship Id="rId14" Type="http://schemas.openxmlformats.org/officeDocument/2006/relationships/image" Target="../media/image55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image" Target="../media/image490.png"/><Relationship Id="rId7" Type="http://schemas.openxmlformats.org/officeDocument/2006/relationships/image" Target="../media/image520.png"/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0.png"/><Relationship Id="rId5" Type="http://schemas.openxmlformats.org/officeDocument/2006/relationships/image" Target="../media/image500.png"/><Relationship Id="rId10" Type="http://schemas.openxmlformats.org/officeDocument/2006/relationships/image" Target="../media/image57.png"/><Relationship Id="rId4" Type="http://schemas.openxmlformats.org/officeDocument/2006/relationships/image" Target="../media/image46.png"/><Relationship Id="rId9" Type="http://schemas.openxmlformats.org/officeDocument/2006/relationships/image" Target="../media/image54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1.bin"/><Relationship Id="rId3" Type="http://schemas.openxmlformats.org/officeDocument/2006/relationships/image" Target="../media/image47.emf"/><Relationship Id="rId7" Type="http://schemas.openxmlformats.org/officeDocument/2006/relationships/image" Target="../media/image4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Relationship Id="rId6" Type="http://schemas.openxmlformats.org/officeDocument/2006/relationships/oleObject" Target="../embeddings/oleObject10.bin"/><Relationship Id="rId5" Type="http://schemas.openxmlformats.org/officeDocument/2006/relationships/image" Target="../media/image48.emf"/><Relationship Id="rId4" Type="http://schemas.openxmlformats.org/officeDocument/2006/relationships/oleObject" Target="../embeddings/oleObject9.bin"/><Relationship Id="rId9" Type="http://schemas.openxmlformats.org/officeDocument/2006/relationships/image" Target="../media/image50.em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emf"/><Relationship Id="rId2" Type="http://schemas.openxmlformats.org/officeDocument/2006/relationships/oleObject" Target="../embeddings/oleObject12.bin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AD9BE-B151-7AAD-E452-D503C03C0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44450" y="739963"/>
            <a:ext cx="9232900" cy="2199687"/>
          </a:xfrm>
        </p:spPr>
        <p:txBody>
          <a:bodyPr/>
          <a:lstStyle/>
          <a:p>
            <a:pPr>
              <a:lnSpc>
                <a:spcPct val="114000"/>
              </a:lnSpc>
              <a:spcBef>
                <a:spcPts val="0"/>
              </a:spcBef>
            </a:pP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Physics-based Modeling and Efficient 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Computational Frameworks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of </a:t>
            </a:r>
            <a:r>
              <a:rPr kumimoji="0" lang="en-US" altLang="ko-KR" sz="4000" dirty="0" err="1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Detrapping</a:t>
            </a:r>
            <a:r>
              <a:rPr kumimoji="0" lang="en-US" altLang="ko-KR" sz="400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4000" i="0" u="none" strike="noStrike" kern="1200" cap="none" spc="0" normalizeH="0" baseline="0" noProof="0" dirty="0">
                <a:ln>
                  <a:solidFill>
                    <a:srgbClr val="00397F">
                      <a:alpha val="30000"/>
                    </a:srgbClr>
                  </a:solidFill>
                </a:ln>
                <a:solidFill>
                  <a:srgbClr val="00397F"/>
                </a:solidFill>
                <a:effectLst/>
                <a:uLnTx/>
                <a:uFillTx/>
                <a:latin typeface="Arial" panose="020B0604020202020204" pitchFamily="34" charset="0"/>
                <a:ea typeface="맑은 고딕" panose="020B0503020000020004" pitchFamily="50" charset="-127"/>
                <a:cs typeface="+mn-cs"/>
              </a:rPr>
              <a:t>in 3-D NAND Flash </a:t>
            </a:r>
            <a:endParaRPr lang="ko-KR" altLang="en-US" sz="36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FB1B79B-E8A0-4133-BFF3-3E14AF3D2439}"/>
              </a:ext>
            </a:extLst>
          </p:cNvPr>
          <p:cNvSpPr txBox="1">
            <a:spLocks/>
          </p:cNvSpPr>
          <p:nvPr/>
        </p:nvSpPr>
        <p:spPr>
          <a:xfrm>
            <a:off x="1151792" y="4683491"/>
            <a:ext cx="6858000" cy="1224940"/>
          </a:xfr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altLang="ko-KR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2026. 09. 21</a:t>
            </a: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석사과정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ctr">
              <a:buNone/>
            </a:pPr>
            <a:r>
              <a:rPr lang="ko-KR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진 명</a:t>
            </a:r>
            <a:endParaRPr lang="en-US" altLang="ko-KR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4B3F3CA-58AA-91BB-A047-308EF26AD10A}"/>
              </a:ext>
            </a:extLst>
          </p:cNvPr>
          <p:cNvSpPr/>
          <p:nvPr/>
        </p:nvSpPr>
        <p:spPr>
          <a:xfrm>
            <a:off x="615460" y="3144045"/>
            <a:ext cx="8159261" cy="11887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914400" fontAlgn="base" latinLnBrk="1">
              <a:lnSpc>
                <a:spcPct val="85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70000"/>
              <a:defRPr/>
            </a:pPr>
            <a:endParaRPr kumimoji="1" lang="en-US" altLang="ko-KR" sz="2500" b="1" kern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Electrical and Computer Engineering</a:t>
            </a:r>
          </a:p>
          <a:p>
            <a:pPr algn="ctr"/>
            <a:r>
              <a:rPr lang="en-US" altLang="ko-KR" sz="2500" b="1" kern="0" dirty="0">
                <a:solidFill>
                  <a:schemeClr val="tx1">
                    <a:lumMod val="50000"/>
                    <a:lumOff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Seoul National University</a:t>
            </a:r>
            <a:endParaRPr lang="ko-KR" altLang="en-US" sz="2500" b="1" kern="0" dirty="0">
              <a:solidFill>
                <a:schemeClr val="tx1">
                  <a:lumMod val="50000"/>
                  <a:lumOff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3851576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8E0DC3-8292-1214-4A26-242A1DE72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인품 및 태도</a:t>
            </a:r>
          </a:p>
        </p:txBody>
      </p:sp>
    </p:spTree>
    <p:extLst>
      <p:ext uri="{BB962C8B-B14F-4D97-AF65-F5344CB8AC3E}">
        <p14:creationId xmlns:p14="http://schemas.microsoft.com/office/powerpoint/2010/main" val="107137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130EB-119C-CF9B-60C4-3E5F31E09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4534FF-2A4F-8DDE-7E26-13F638DD3D8E}"/>
              </a:ext>
            </a:extLst>
          </p:cNvPr>
          <p:cNvSpPr txBox="1"/>
          <p:nvPr/>
        </p:nvSpPr>
        <p:spPr>
          <a:xfrm>
            <a:off x="506314" y="1136124"/>
            <a:ext cx="7776446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Introduction: 3-D NAND Flash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Loss</a:t>
            </a:r>
          </a:p>
          <a:p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 </a:t>
            </a:r>
            <a:r>
              <a:rPr lang="en-US" altLang="ko-KR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Physics-Based Retention 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Various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63074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B6771-B904-D06D-3F1E-BC95E197E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Introduction</a:t>
            </a:r>
            <a:endParaRPr lang="ko-KR" alt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ED6AAE71-58AD-D1BB-55DE-F3B54D84314F}"/>
              </a:ext>
            </a:extLst>
          </p:cNvPr>
          <p:cNvSpPr txBox="1"/>
          <p:nvPr/>
        </p:nvSpPr>
        <p:spPr>
          <a:xfrm>
            <a:off x="3127118" y="1690062"/>
            <a:ext cx="576227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3-D NAND Flash memory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charge-trap stack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내부에 저장된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통해 정보를 저장함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증가하면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trapped electron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인해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Cylindrical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내부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arbitrary trapped electron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고려하기 위한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physics-based modeling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필요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2" name="TextBox 311">
            <a:extLst>
              <a:ext uri="{FF2B5EF4-FFF2-40B4-BE49-F238E27FC236}">
                <a16:creationId xmlns:a16="http://schemas.microsoft.com/office/drawing/2014/main" id="{2D96CCE7-A280-B373-6CB7-767DEE18E9E2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A8A1AACC-D995-3921-A447-F6F0B5598086}"/>
              </a:ext>
            </a:extLst>
          </p:cNvPr>
          <p:cNvGrpSpPr/>
          <p:nvPr/>
        </p:nvGrpSpPr>
        <p:grpSpPr>
          <a:xfrm>
            <a:off x="625316" y="1566952"/>
            <a:ext cx="2302341" cy="3689196"/>
            <a:chOff x="625316" y="1412405"/>
            <a:chExt cx="2302341" cy="3689196"/>
          </a:xfrm>
        </p:grpSpPr>
        <p:pic>
          <p:nvPicPr>
            <p:cNvPr id="211" name="그림 210" descr="로고, 그래픽, 디자인이(가) 표시된 사진&#10;&#10;자동 생성된 설명">
              <a:extLst>
                <a:ext uri="{FF2B5EF4-FFF2-40B4-BE49-F238E27FC236}">
                  <a16:creationId xmlns:a16="http://schemas.microsoft.com/office/drawing/2014/main" id="{20E526E3-9043-CED4-08E9-9DE1295EC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8303" t="12315" r="12187"/>
            <a:stretch/>
          </p:blipFill>
          <p:spPr>
            <a:xfrm>
              <a:off x="625316" y="2205492"/>
              <a:ext cx="2064544" cy="2577269"/>
            </a:xfrm>
            <a:prstGeom prst="rect">
              <a:avLst/>
            </a:prstGeom>
          </p:spPr>
        </p:pic>
        <p:sp>
          <p:nvSpPr>
            <p:cNvPr id="221" name="TextBox 220">
              <a:extLst>
                <a:ext uri="{FF2B5EF4-FFF2-40B4-BE49-F238E27FC236}">
                  <a16:creationId xmlns:a16="http://schemas.microsoft.com/office/drawing/2014/main" id="{D6E6291A-5098-30EC-CE55-4904DD2AD286}"/>
                </a:ext>
              </a:extLst>
            </p:cNvPr>
            <p:cNvSpPr txBox="1"/>
            <p:nvPr/>
          </p:nvSpPr>
          <p:spPr>
            <a:xfrm>
              <a:off x="703153" y="4793824"/>
              <a:ext cx="16874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dirty="0"/>
                <a:t>Trapped</a:t>
              </a:r>
              <a:r>
                <a:rPr lang="ko-KR" altLang="en-US" sz="1400" dirty="0"/>
                <a:t> </a:t>
              </a:r>
              <a:r>
                <a:rPr lang="en-US" altLang="ko-KR" sz="1400" dirty="0"/>
                <a:t>Electrons</a:t>
              </a:r>
              <a:endParaRPr lang="ko-KR" altLang="en-US" sz="1400" dirty="0"/>
            </a:p>
          </p:txBody>
        </p:sp>
        <p:cxnSp>
          <p:nvCxnSpPr>
            <p:cNvPr id="222" name="직선 연결선 221">
              <a:extLst>
                <a:ext uri="{FF2B5EF4-FFF2-40B4-BE49-F238E27FC236}">
                  <a16:creationId xmlns:a16="http://schemas.microsoft.com/office/drawing/2014/main" id="{384FD8E0-8B22-B661-A154-AEAD7A52D28C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>
              <a:off x="1439704" y="4127520"/>
              <a:ext cx="107156" cy="66630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3" name="직선 연결선 222">
              <a:extLst>
                <a:ext uri="{FF2B5EF4-FFF2-40B4-BE49-F238E27FC236}">
                  <a16:creationId xmlns:a16="http://schemas.microsoft.com/office/drawing/2014/main" id="{D3D91B11-9F4C-7339-FB02-8BD8F41E62AF}"/>
                </a:ext>
              </a:extLst>
            </p:cNvPr>
            <p:cNvCxnSpPr>
              <a:cxnSpLocks/>
              <a:endCxn id="221" idx="0"/>
            </p:cNvCxnSpPr>
            <p:nvPr/>
          </p:nvCxnSpPr>
          <p:spPr>
            <a:xfrm flipH="1">
              <a:off x="1546860" y="4137587"/>
              <a:ext cx="39287" cy="65623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4" name="직선 연결선 223">
              <a:extLst>
                <a:ext uri="{FF2B5EF4-FFF2-40B4-BE49-F238E27FC236}">
                  <a16:creationId xmlns:a16="http://schemas.microsoft.com/office/drawing/2014/main" id="{514A09F0-556C-F0DA-D395-2E3A51E11DC2}"/>
                </a:ext>
              </a:extLst>
            </p:cNvPr>
            <p:cNvCxnSpPr>
              <a:cxnSpLocks/>
            </p:cNvCxnSpPr>
            <p:nvPr/>
          </p:nvCxnSpPr>
          <p:spPr>
            <a:xfrm>
              <a:off x="750332" y="2127308"/>
              <a:ext cx="0" cy="2333364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5" name="직선 연결선 224">
              <a:extLst>
                <a:ext uri="{FF2B5EF4-FFF2-40B4-BE49-F238E27FC236}">
                  <a16:creationId xmlns:a16="http://schemas.microsoft.com/office/drawing/2014/main" id="{E971E9B3-EEB0-045E-77D1-9A95134D755F}"/>
                </a:ext>
              </a:extLst>
            </p:cNvPr>
            <p:cNvCxnSpPr>
              <a:cxnSpLocks/>
            </p:cNvCxnSpPr>
            <p:nvPr/>
          </p:nvCxnSpPr>
          <p:spPr>
            <a:xfrm>
              <a:off x="1361443" y="2172220"/>
              <a:ext cx="0" cy="433682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직선 연결선 225">
              <a:extLst>
                <a:ext uri="{FF2B5EF4-FFF2-40B4-BE49-F238E27FC236}">
                  <a16:creationId xmlns:a16="http://schemas.microsoft.com/office/drawing/2014/main" id="{A9FDE615-9E6E-C667-8CEB-EE0C2EDC663E}"/>
                </a:ext>
              </a:extLst>
            </p:cNvPr>
            <p:cNvCxnSpPr>
              <a:cxnSpLocks/>
            </p:cNvCxnSpPr>
            <p:nvPr/>
          </p:nvCxnSpPr>
          <p:spPr>
            <a:xfrm>
              <a:off x="1601205" y="2172220"/>
              <a:ext cx="0" cy="46047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7" name="직선 연결선 226">
              <a:extLst>
                <a:ext uri="{FF2B5EF4-FFF2-40B4-BE49-F238E27FC236}">
                  <a16:creationId xmlns:a16="http://schemas.microsoft.com/office/drawing/2014/main" id="{DA19623C-9C73-8BA2-4C99-310E32D02858}"/>
                </a:ext>
              </a:extLst>
            </p:cNvPr>
            <p:cNvCxnSpPr>
              <a:cxnSpLocks/>
            </p:cNvCxnSpPr>
            <p:nvPr/>
          </p:nvCxnSpPr>
          <p:spPr>
            <a:xfrm>
              <a:off x="2178636" y="2172220"/>
              <a:ext cx="0" cy="59039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A79E245E-07EE-543F-65EA-417903A97819}"/>
                </a:ext>
              </a:extLst>
            </p:cNvPr>
            <p:cNvCxnSpPr>
              <a:cxnSpLocks/>
            </p:cNvCxnSpPr>
            <p:nvPr/>
          </p:nvCxnSpPr>
          <p:spPr>
            <a:xfrm>
              <a:off x="1751224" y="2172220"/>
              <a:ext cx="0" cy="55311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직선 연결선 236">
              <a:extLst>
                <a:ext uri="{FF2B5EF4-FFF2-40B4-BE49-F238E27FC236}">
                  <a16:creationId xmlns:a16="http://schemas.microsoft.com/office/drawing/2014/main" id="{EA6ED4FB-439C-BD3B-3B49-2107F5462E36}"/>
                </a:ext>
              </a:extLst>
            </p:cNvPr>
            <p:cNvCxnSpPr>
              <a:cxnSpLocks/>
            </p:cNvCxnSpPr>
            <p:nvPr/>
          </p:nvCxnSpPr>
          <p:spPr>
            <a:xfrm>
              <a:off x="1932199" y="2172220"/>
              <a:ext cx="0" cy="572167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9" name="TextBox 278">
              <a:extLst>
                <a:ext uri="{FF2B5EF4-FFF2-40B4-BE49-F238E27FC236}">
                  <a16:creationId xmlns:a16="http://schemas.microsoft.com/office/drawing/2014/main" id="{F2597E20-58D8-FA05-FCB6-80DCF10EE5B5}"/>
                </a:ext>
              </a:extLst>
            </p:cNvPr>
            <p:cNvSpPr txBox="1"/>
            <p:nvPr/>
          </p:nvSpPr>
          <p:spPr>
            <a:xfrm>
              <a:off x="828785" y="2422178"/>
              <a:ext cx="41657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filler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BF043AFA-66B6-668E-E15F-51DCBE267CA7}"/>
                </a:ext>
              </a:extLst>
            </p:cNvPr>
            <p:cNvSpPr txBox="1"/>
            <p:nvPr/>
          </p:nvSpPr>
          <p:spPr>
            <a:xfrm>
              <a:off x="1243574" y="141240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channel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2" name="TextBox 281">
              <a:extLst>
                <a:ext uri="{FF2B5EF4-FFF2-40B4-BE49-F238E27FC236}">
                  <a16:creationId xmlns:a16="http://schemas.microsoft.com/office/drawing/2014/main" id="{5F3AAB7A-8D0D-43E6-9770-7BADED14D656}"/>
                </a:ext>
              </a:extLst>
            </p:cNvPr>
            <p:cNvSpPr txBox="1"/>
            <p:nvPr/>
          </p:nvSpPr>
          <p:spPr>
            <a:xfrm>
              <a:off x="1762029" y="1595720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BETOX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C025F4E-C1FF-CCA5-9550-AFD410C81D93}"/>
                </a:ext>
              </a:extLst>
            </p:cNvPr>
            <p:cNvSpPr txBox="1"/>
            <p:nvPr/>
          </p:nvSpPr>
          <p:spPr>
            <a:xfrm>
              <a:off x="1955481" y="1770775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CTN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sp>
          <p:nvSpPr>
            <p:cNvPr id="284" name="TextBox 283">
              <a:extLst>
                <a:ext uri="{FF2B5EF4-FFF2-40B4-BE49-F238E27FC236}">
                  <a16:creationId xmlns:a16="http://schemas.microsoft.com/office/drawing/2014/main" id="{504F71FC-466C-DDEF-2C91-25CC717B1DCB}"/>
                </a:ext>
              </a:extLst>
            </p:cNvPr>
            <p:cNvSpPr txBox="1"/>
            <p:nvPr/>
          </p:nvSpPr>
          <p:spPr>
            <a:xfrm>
              <a:off x="2299119" y="1966432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BOX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287" name="직선 화살표 연결선 286">
              <a:extLst>
                <a:ext uri="{FF2B5EF4-FFF2-40B4-BE49-F238E27FC236}">
                  <a16:creationId xmlns:a16="http://schemas.microsoft.com/office/drawing/2014/main" id="{15B0EF47-B033-D9C7-CCD8-5F91DF32369E}"/>
                </a:ext>
              </a:extLst>
            </p:cNvPr>
            <p:cNvCxnSpPr>
              <a:cxnSpLocks/>
            </p:cNvCxnSpPr>
            <p:nvPr/>
          </p:nvCxnSpPr>
          <p:spPr>
            <a:xfrm>
              <a:off x="1679115" y="1721113"/>
              <a:ext cx="158893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9" name="직선 화살표 연결선 288">
              <a:extLst>
                <a:ext uri="{FF2B5EF4-FFF2-40B4-BE49-F238E27FC236}">
                  <a16:creationId xmlns:a16="http://schemas.microsoft.com/office/drawing/2014/main" id="{7D685740-6A5A-5851-E175-12DEDAFCB5D2}"/>
                </a:ext>
              </a:extLst>
            </p:cNvPr>
            <p:cNvCxnSpPr>
              <a:cxnSpLocks/>
            </p:cNvCxnSpPr>
            <p:nvPr/>
          </p:nvCxnSpPr>
          <p:spPr>
            <a:xfrm>
              <a:off x="1854991" y="1897326"/>
              <a:ext cx="171551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0" name="직선 화살표 연결선 289">
              <a:extLst>
                <a:ext uri="{FF2B5EF4-FFF2-40B4-BE49-F238E27FC236}">
                  <a16:creationId xmlns:a16="http://schemas.microsoft.com/office/drawing/2014/main" id="{2AE7640F-F59B-4118-1378-2C2CAE547F4C}"/>
                </a:ext>
              </a:extLst>
            </p:cNvPr>
            <p:cNvCxnSpPr>
              <a:cxnSpLocks/>
            </p:cNvCxnSpPr>
            <p:nvPr/>
          </p:nvCxnSpPr>
          <p:spPr>
            <a:xfrm>
              <a:off x="2089785" y="2089543"/>
              <a:ext cx="282726" cy="0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7" name="직선 화살표 연결선 296">
              <a:extLst>
                <a:ext uri="{FF2B5EF4-FFF2-40B4-BE49-F238E27FC236}">
                  <a16:creationId xmlns:a16="http://schemas.microsoft.com/office/drawing/2014/main" id="{89538A71-88D9-E8B1-41CC-8D112A2B40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67413" y="1658626"/>
              <a:ext cx="0" cy="513594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9" name="직선 화살표 연결선 298">
              <a:extLst>
                <a:ext uri="{FF2B5EF4-FFF2-40B4-BE49-F238E27FC236}">
                  <a16:creationId xmlns:a16="http://schemas.microsoft.com/office/drawing/2014/main" id="{6597BB9F-2C9D-14B4-9A0D-D354B58578A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79587" y="1720275"/>
              <a:ext cx="0" cy="492378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직선 화살표 연결선 300">
              <a:extLst>
                <a:ext uri="{FF2B5EF4-FFF2-40B4-BE49-F238E27FC236}">
                  <a16:creationId xmlns:a16="http://schemas.microsoft.com/office/drawing/2014/main" id="{9E32A56A-F006-A54A-CBCA-D338A04B5FF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849567" y="1893885"/>
              <a:ext cx="0" cy="375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직선 화살표 연결선 302">
              <a:extLst>
                <a:ext uri="{FF2B5EF4-FFF2-40B4-BE49-F238E27FC236}">
                  <a16:creationId xmlns:a16="http://schemas.microsoft.com/office/drawing/2014/main" id="{4A274FDA-4DA0-4DC6-5765-6922987E42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089785" y="2089542"/>
              <a:ext cx="0" cy="269723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1" name="TextBox 310">
              <a:extLst>
                <a:ext uri="{FF2B5EF4-FFF2-40B4-BE49-F238E27FC236}">
                  <a16:creationId xmlns:a16="http://schemas.microsoft.com/office/drawing/2014/main" id="{8FD311D3-9D28-3880-7D83-BBA441596096}"/>
                </a:ext>
              </a:extLst>
            </p:cNvPr>
            <p:cNvSpPr txBox="1"/>
            <p:nvPr/>
          </p:nvSpPr>
          <p:spPr>
            <a:xfrm>
              <a:off x="2113200" y="3409811"/>
              <a:ext cx="62853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Arial" panose="020B0604020202020204" pitchFamily="34" charset="0"/>
                  <a:ea typeface="맑은 고딕"/>
                  <a:cs typeface="Arial" panose="020B0604020202020204" pitchFamily="34" charset="0"/>
                </a:rPr>
                <a:t>WL</a:t>
              </a:r>
              <a:endParaRPr lang="ko-KR" altLang="en-US" sz="1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endParaRPr>
            </a:p>
          </p:txBody>
        </p:sp>
        <p:cxnSp>
          <p:nvCxnSpPr>
            <p:cNvPr id="3" name="직선 화살표 연결선 2">
              <a:extLst>
                <a:ext uri="{FF2B5EF4-FFF2-40B4-BE49-F238E27FC236}">
                  <a16:creationId xmlns:a16="http://schemas.microsoft.com/office/drawing/2014/main" id="{8557ABA5-7680-ABCC-E903-BC38D3F540E3}"/>
                </a:ext>
              </a:extLst>
            </p:cNvPr>
            <p:cNvCxnSpPr/>
            <p:nvPr/>
          </p:nvCxnSpPr>
          <p:spPr>
            <a:xfrm flipH="1" flipV="1">
              <a:off x="1302867" y="402143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직선 화살표 연결선 3">
              <a:extLst>
                <a:ext uri="{FF2B5EF4-FFF2-40B4-BE49-F238E27FC236}">
                  <a16:creationId xmlns:a16="http://schemas.microsoft.com/office/drawing/2014/main" id="{8E580F8D-3297-EE0F-130D-21EB1E98D1BC}"/>
                </a:ext>
              </a:extLst>
            </p:cNvPr>
            <p:cNvCxnSpPr/>
            <p:nvPr/>
          </p:nvCxnSpPr>
          <p:spPr>
            <a:xfrm flipH="1" flipV="1">
              <a:off x="1302867" y="3939282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직선 화살표 연결선 4">
              <a:extLst>
                <a:ext uri="{FF2B5EF4-FFF2-40B4-BE49-F238E27FC236}">
                  <a16:creationId xmlns:a16="http://schemas.microsoft.com/office/drawing/2014/main" id="{C35DDF68-9830-E57A-5FAE-3B090ADF0091}"/>
                </a:ext>
              </a:extLst>
            </p:cNvPr>
            <p:cNvCxnSpPr/>
            <p:nvPr/>
          </p:nvCxnSpPr>
          <p:spPr>
            <a:xfrm flipH="1" flipV="1">
              <a:off x="1302867" y="3857129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직선 화살표 연결선 5">
              <a:extLst>
                <a:ext uri="{FF2B5EF4-FFF2-40B4-BE49-F238E27FC236}">
                  <a16:creationId xmlns:a16="http://schemas.microsoft.com/office/drawing/2014/main" id="{33C3006B-DBF8-18B3-2F7B-646A490F90F5}"/>
                </a:ext>
              </a:extLst>
            </p:cNvPr>
            <p:cNvCxnSpPr/>
            <p:nvPr/>
          </p:nvCxnSpPr>
          <p:spPr>
            <a:xfrm flipH="1" flipV="1">
              <a:off x="1302867" y="377497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2385ED26-D5F2-0715-25F7-DD515645B863}"/>
                </a:ext>
              </a:extLst>
            </p:cNvPr>
            <p:cNvCxnSpPr/>
            <p:nvPr/>
          </p:nvCxnSpPr>
          <p:spPr>
            <a:xfrm flipH="1" flipV="1">
              <a:off x="1302867" y="3692823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화살표 연결선 7">
              <a:extLst>
                <a:ext uri="{FF2B5EF4-FFF2-40B4-BE49-F238E27FC236}">
                  <a16:creationId xmlns:a16="http://schemas.microsoft.com/office/drawing/2014/main" id="{4DDD404D-6C69-7730-BF4B-998E0F350BB2}"/>
                </a:ext>
              </a:extLst>
            </p:cNvPr>
            <p:cNvCxnSpPr/>
            <p:nvPr/>
          </p:nvCxnSpPr>
          <p:spPr>
            <a:xfrm flipH="1" flipV="1">
              <a:off x="1302867" y="3604966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B6799101-8D2D-7390-4852-97F91DF4343D}"/>
                </a:ext>
              </a:extLst>
            </p:cNvPr>
            <p:cNvCxnSpPr/>
            <p:nvPr/>
          </p:nvCxnSpPr>
          <p:spPr>
            <a:xfrm flipH="1" flipV="1">
              <a:off x="1302867" y="3529584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D9423BDF-DB07-A356-8389-EEE89B97C777}"/>
                </a:ext>
              </a:extLst>
            </p:cNvPr>
            <p:cNvCxnSpPr/>
            <p:nvPr/>
          </p:nvCxnSpPr>
          <p:spPr>
            <a:xfrm flipH="1" flipV="1">
              <a:off x="1302867" y="3455855"/>
              <a:ext cx="126668" cy="38384"/>
            </a:xfrm>
            <a:prstGeom prst="straightConnector1">
              <a:avLst/>
            </a:prstGeom>
            <a:ln>
              <a:solidFill>
                <a:srgbClr val="BF7687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37FADE82-12F8-9B83-DDE6-65BBBBA3092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416353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7896BFB9-0B4A-C5E5-D6D0-2D8A22F01E6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548152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42E369B9-A19F-6C09-CCAE-8C1043C0E8C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679951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65B411AF-FC04-512F-F9FA-A975E53E996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811750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7FDCE58-E30B-D0D6-8FAF-15EA4BEDDE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326291" y="3943549"/>
              <a:ext cx="257025" cy="77886"/>
            </a:xfrm>
            <a:prstGeom prst="straightConnector1">
              <a:avLst/>
            </a:prstGeom>
            <a:ln>
              <a:solidFill>
                <a:srgbClr val="FFFF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직선 화살표 연결선 15">
              <a:extLst>
                <a:ext uri="{FF2B5EF4-FFF2-40B4-BE49-F238E27FC236}">
                  <a16:creationId xmlns:a16="http://schemas.microsoft.com/office/drawing/2014/main" id="{3AD5945A-7541-1EC8-141A-9576B5E669F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631113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직선 화살표 연결선 16">
              <a:extLst>
                <a:ext uri="{FF2B5EF4-FFF2-40B4-BE49-F238E27FC236}">
                  <a16:creationId xmlns:a16="http://schemas.microsoft.com/office/drawing/2014/main" id="{3DE328A6-0FB7-67FD-08DF-1E218E5E920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790102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직선 화살표 연결선 17">
              <a:extLst>
                <a:ext uri="{FF2B5EF4-FFF2-40B4-BE49-F238E27FC236}">
                  <a16:creationId xmlns:a16="http://schemas.microsoft.com/office/drawing/2014/main" id="{6861D00B-AC07-BD1C-3733-88252F79A8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19207" y="3949091"/>
              <a:ext cx="326431" cy="98918"/>
            </a:xfrm>
            <a:prstGeom prst="straightConnector1">
              <a:avLst/>
            </a:prstGeom>
            <a:ln>
              <a:solidFill>
                <a:srgbClr val="FFFF00"/>
              </a:solidFill>
              <a:headEnd type="triangl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486335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623DB-6BD2-709E-782E-22837D9C5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29" y="193256"/>
            <a:ext cx="8955742" cy="535531"/>
          </a:xfrm>
        </p:spPr>
        <p:txBody>
          <a:bodyPr/>
          <a:lstStyle/>
          <a:p>
            <a:r>
              <a:rPr lang="en-US" altLang="ko-KR" sz="3200" dirty="0"/>
              <a:t>BETOX Trapped Electron </a:t>
            </a:r>
            <a:r>
              <a:rPr lang="en-US" altLang="ko-KR" sz="3200" dirty="0" err="1"/>
              <a:t>Detrapping</a:t>
            </a:r>
            <a:r>
              <a:rPr lang="en-US" altLang="ko-KR" sz="3200" dirty="0"/>
              <a:t> Modeling</a:t>
            </a:r>
            <a:endParaRPr lang="ko-KR" altLang="en-US" sz="32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3654E95-7B48-71F3-9382-573C6053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1" y="4475550"/>
            <a:ext cx="2438927" cy="4126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0E53AB0-8193-AD84-2947-BC2CA446A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06" y="4915294"/>
            <a:ext cx="3918517" cy="69907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F5FF37E-6AED-5563-AB75-CD3E193D9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06" y="5684604"/>
            <a:ext cx="3558106" cy="52069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3E5B9C51-92F8-FA00-5CCD-CC60ED6BB9C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273"/>
          <a:stretch>
            <a:fillRect/>
          </a:stretch>
        </p:blipFill>
        <p:spPr>
          <a:xfrm>
            <a:off x="4306926" y="5614372"/>
            <a:ext cx="3805756" cy="59093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D8566E-2EFC-6A1F-56BA-277D634C0D9C}"/>
              </a:ext>
            </a:extLst>
          </p:cNvPr>
          <p:cNvSpPr txBox="1"/>
          <p:nvPr/>
        </p:nvSpPr>
        <p:spPr>
          <a:xfrm>
            <a:off x="188536" y="3978111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모델링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결과식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(Jin, TED 2025)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3918E0-4C48-EBB1-6175-3A4CB2D2CA67}"/>
              </a:ext>
            </a:extLst>
          </p:cNvPr>
          <p:cNvSpPr txBox="1"/>
          <p:nvPr/>
        </p:nvSpPr>
        <p:spPr>
          <a:xfrm>
            <a:off x="188536" y="974452"/>
            <a:ext cx="8795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O/N/O/N/O 5-layer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Poisson solution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6B928F-72AE-53C1-1CBB-4DD6B6AE0364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/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𝑁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𝑐𝑡𝑛</m:t>
                            </m:r>
                          </m:sub>
                        </m:sSub>
                      </m:num>
                      <m:den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p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e>
                    </m:d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</m:sSub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=</m:t>
                    </m:r>
                    <m:sSub>
                      <m:sSub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𝑔</m:t>
                        </m:r>
                      </m:sub>
                    </m:sSub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unc>
                      <m:func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1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𝑏𝑜𝑥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den>
                        </m:f>
                      </m:e>
                    </m:func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57CC26-D0CA-579C-DD96-07EA142042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3072" y="1327792"/>
                <a:ext cx="4931777" cy="13991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/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𝑉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𝑔</m:t>
                            </m:r>
                          </m:sub>
                        </m:sSub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𝑂</m:t>
                                </m:r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𝑂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 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  <m:d>
                          <m:d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e>
                        </m:d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𝛼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−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𝐶𝑇𝑁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sSubSup>
                              <m:sSubSup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Sup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𝑡𝑜𝑥</m:t>
                                </m:r>
                              </m:sub>
                              <m:sup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</m:sup>
                            </m:sSubSup>
                          </m:den>
                        </m:f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𝑡𝑜𝑥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sub>
                            </m:sSub>
                          </m:den>
                        </m:f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+</m:t>
                        </m:r>
                        <m:f>
                          <m:f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sSubPr>
                              <m:e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𝑜𝑥</m:t>
                                </m:r>
                              </m:sub>
                            </m:sSub>
                          </m:den>
                        </m:f>
                        <m:func>
                          <m:funcPr>
                            <m:ctrl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105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f>
                              <m:fPr>
                                <m:ctrlPr>
                                  <a:rPr lang="en-US" altLang="ko-KR" sz="105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𝑏𝑜𝑥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US" altLang="ko-KR" sz="105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𝐶𝑇𝑁</m:t>
                                    </m:r>
                                  </m:sub>
                                </m:sSub>
                              </m:den>
                            </m:f>
                          </m:e>
                        </m:func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 </m:t>
                        </m:r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sSubSup>
                      <m:sSubSup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  <m: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</m:oMath>
                </a14:m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en-US" altLang="ko-KR" sz="105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3</m:t>
                        </m:r>
                      </m:sub>
                    </m:sSub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−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sSubSup>
                      <m:sSubSup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Sup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𝑡𝑜𝑥</m:t>
                        </m:r>
                      </m:sub>
                      <m: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,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e>
                      <m:sub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4</m:t>
                        </m:r>
                      </m:sub>
                    </m:sSub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𝐾</m:t>
                    </m:r>
                    <m:r>
                      <a:rPr lang="en-US" altLang="ko-KR" sz="1050" i="1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𝑡𝑛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𝑂</m:t>
                            </m:r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  <m:r>
                      <a:rPr lang="en-US" altLang="ko-KR" sz="105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</m:e>
                      <m:sub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𝑡</m:t>
                        </m:r>
                        <m:r>
                          <m:rPr>
                            <m:lit/>
                          </m:rP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_</m:t>
                        </m:r>
                        <m:r>
                          <a:rPr lang="en-US" altLang="ko-KR" sz="105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  <m:sup>
                            <m:r>
                              <a:rPr lang="en-US" altLang="ko-KR" sz="105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  <m:r>
                          <a:rPr lang="en-US" altLang="ko-KR" sz="105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− </m:t>
                        </m:r>
                        <m:sSubSup>
                          <m:sSubSupPr>
                            <m:ctrlP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SupPr>
                          <m:e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𝑟</m:t>
                            </m:r>
                          </m:e>
                          <m:sub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𝑡𝑜𝑥</m:t>
                            </m:r>
                          </m:sub>
                          <m:sup>
                            <m:r>
                              <a:rPr lang="en-US" altLang="ko-KR" sz="105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ko-KR" altLang="en-US" sz="105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092A3E4-9359-43FD-FE18-6B4B1B8224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321" y="2727061"/>
                <a:ext cx="8560732" cy="84138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/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𝐾</m:t>
                        </m:r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𝑛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𝑡𝑛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𝑂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𝐶𝑇𝑁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3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𝑞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𝑡</m:t>
                            </m:r>
                            <m:r>
                              <m:rPr>
                                <m:lit/>
                              </m:r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_</m:t>
                            </m:r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𝐶𝑇𝑁</m:t>
                            </m:r>
                          </m:sub>
                        </m:sSub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𝑟</m:t>
                    </m:r>
                  </m:oMath>
                </a14:m>
                <a:r>
                  <a: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𝐹</m:t>
                        </m:r>
                      </m:e>
                      <m:sub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𝑏𝑜𝑥</m:t>
                        </m:r>
                      </m:sub>
                    </m:sSub>
                    <m:d>
                      <m:d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e>
                    </m:d>
                    <m:r>
                      <a:rPr lang="en-US" altLang="ko-KR" sz="12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=−</m:t>
                    </m:r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𝐾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4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2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𝑟</m:t>
                        </m:r>
                      </m:den>
                    </m:f>
                  </m:oMath>
                </a14:m>
                <a:r>
                  <a:rPr lang="en-US" altLang="ko-KR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6BDA0D8-D123-884F-5FA7-AE2E947422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8721" y="1248385"/>
                <a:ext cx="2340242" cy="151772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/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𝛼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n</m:t>
                            </m:r>
                            <m: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𝑛</m:t>
                            </m:r>
                          </m:sub>
                        </m:sSub>
                      </m:den>
                    </m:f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tox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+</m:t>
                    </m:r>
                    <m:f>
                      <m:fPr>
                        <m:ctrlP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11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a:rPr lang="en-US" altLang="ko-KR" sz="1100" i="1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𝜀</m:t>
                            </m:r>
                          </m:e>
                          <m:sub>
                            <m:r>
                              <a:rPr lang="en-US" altLang="ko-KR" sz="11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𝑜𝑥</m:t>
                            </m:r>
                          </m:sub>
                        </m:sSub>
                      </m:den>
                    </m:f>
                    <m: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ln</m:t>
                    </m:r>
                    <m:f>
                      <m:fPr>
                        <m:ctrlPr>
                          <a:rPr lang="en-US" altLang="ko-KR" sz="11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box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r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ko-KR" sz="11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ctn</m:t>
                            </m:r>
                          </m:sub>
                        </m:sSub>
                      </m:den>
                    </m:f>
                  </m:oMath>
                </a14:m>
                <a:r>
                  <a:rPr lang="ko-KR" altLang="en-US" sz="11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22DF6FB-8710-1CC3-ADB0-5F96955AA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835" y="3595542"/>
                <a:ext cx="3491725" cy="260841"/>
              </a:xfrm>
              <a:prstGeom prst="rect">
                <a:avLst/>
              </a:prstGeom>
              <a:blipFill>
                <a:blip r:embed="rId9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6" name="그림 95">
            <a:extLst>
              <a:ext uri="{FF2B5EF4-FFF2-40B4-BE49-F238E27FC236}">
                <a16:creationId xmlns:a16="http://schemas.microsoft.com/office/drawing/2014/main" id="{834A3055-3E03-AD39-93F2-DA88F6032FE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8797" y="3465186"/>
            <a:ext cx="1873747" cy="18883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1277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그림 71">
            <a:extLst>
              <a:ext uri="{FF2B5EF4-FFF2-40B4-BE49-F238E27FC236}">
                <a16:creationId xmlns:a16="http://schemas.microsoft.com/office/drawing/2014/main" id="{F0BEE190-DACD-B4AB-1C56-9AA8E79DB2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716" y="1677989"/>
            <a:ext cx="4416385" cy="1025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5F3EC57-E921-CD90-BC00-4EFF77CA9E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66" name="개체 65">
            <a:extLst>
              <a:ext uri="{FF2B5EF4-FFF2-40B4-BE49-F238E27FC236}">
                <a16:creationId xmlns:a16="http://schemas.microsoft.com/office/drawing/2014/main" id="{6A81A7D2-A638-1D61-8BB8-F03EB3BE6BC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88958272"/>
              </p:ext>
            </p:extLst>
          </p:nvPr>
        </p:nvGraphicFramePr>
        <p:xfrm>
          <a:off x="4668009" y="3112013"/>
          <a:ext cx="4701424" cy="20879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3" imgW="3734796" imgH="1658983" progId="Origin50.Graph">
                  <p:embed/>
                </p:oleObj>
              </mc:Choice>
              <mc:Fallback>
                <p:oleObj name="Graph" r:id="rId3" imgW="3734796" imgH="1658983" progId="Origin50.Graph">
                  <p:embed/>
                  <p:pic>
                    <p:nvPicPr>
                      <p:cNvPr id="41" name="개체 40">
                        <a:extLst>
                          <a:ext uri="{FF2B5EF4-FFF2-40B4-BE49-F238E27FC236}">
                            <a16:creationId xmlns:a16="http://schemas.microsoft.com/office/drawing/2014/main" id="{D95AEE82-4B04-14C0-058E-928BFDE0B28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68009" y="3112013"/>
                        <a:ext cx="4701424" cy="20879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48CED8AA-659D-FE4F-6DD0-ED1E57E7C4C6}"/>
              </a:ext>
            </a:extLst>
          </p:cNvPr>
          <p:cNvCxnSpPr>
            <a:cxnSpLocks/>
          </p:cNvCxnSpPr>
          <p:nvPr/>
        </p:nvCxnSpPr>
        <p:spPr>
          <a:xfrm flipV="1">
            <a:off x="7277100" y="3000390"/>
            <a:ext cx="0" cy="2354580"/>
          </a:xfrm>
          <a:prstGeom prst="line">
            <a:avLst/>
          </a:prstGeom>
          <a:ln w="22225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0B42913F-177F-4B65-2690-C9156CB96408}"/>
              </a:ext>
            </a:extLst>
          </p:cNvPr>
          <p:cNvSpPr/>
          <p:nvPr/>
        </p:nvSpPr>
        <p:spPr>
          <a:xfrm>
            <a:off x="1110568" y="2038665"/>
            <a:ext cx="431259" cy="2654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C908AC-D37F-7356-5ECF-6EB1F1A84CCB}"/>
              </a:ext>
            </a:extLst>
          </p:cNvPr>
          <p:cNvSpPr txBox="1"/>
          <p:nvPr/>
        </p:nvSpPr>
        <p:spPr>
          <a:xfrm>
            <a:off x="411480" y="1104900"/>
            <a:ext cx="30059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조형준 박사 학위논문 中 </a:t>
            </a:r>
          </a:p>
        </p:txBody>
      </p:sp>
      <p:pic>
        <p:nvPicPr>
          <p:cNvPr id="74" name="그림 73">
            <a:extLst>
              <a:ext uri="{FF2B5EF4-FFF2-40B4-BE49-F238E27FC236}">
                <a16:creationId xmlns:a16="http://schemas.microsoft.com/office/drawing/2014/main" id="{C47661DF-14A1-B592-80FA-4AFDA34060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614" y="3063897"/>
            <a:ext cx="4416386" cy="1875250"/>
          </a:xfrm>
          <a:prstGeom prst="rect">
            <a:avLst/>
          </a:prstGeom>
        </p:spPr>
      </p:pic>
      <p:sp>
        <p:nvSpPr>
          <p:cNvPr id="75" name="TextBox 74">
            <a:extLst>
              <a:ext uri="{FF2B5EF4-FFF2-40B4-BE49-F238E27FC236}">
                <a16:creationId xmlns:a16="http://schemas.microsoft.com/office/drawing/2014/main" id="{C56C21A8-5D69-CECE-11E7-B6A34DB435EA}"/>
              </a:ext>
            </a:extLst>
          </p:cNvPr>
          <p:cNvSpPr txBox="1"/>
          <p:nvPr/>
        </p:nvSpPr>
        <p:spPr>
          <a:xfrm rot="5400000">
            <a:off x="2208932" y="2676145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D0C0283-257B-2E45-D77A-18B07AFD0967}"/>
              </a:ext>
            </a:extLst>
          </p:cNvPr>
          <p:cNvSpPr txBox="1"/>
          <p:nvPr/>
        </p:nvSpPr>
        <p:spPr>
          <a:xfrm>
            <a:off x="411480" y="5299823"/>
            <a:ext cx="790812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20ms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이내에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역방향 전압 인가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dependency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남은 전자에 의한 영향</a:t>
            </a:r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69440B7B-2059-B7E8-FAAA-4185C25FA5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5799" y="1024433"/>
            <a:ext cx="2567138" cy="1975957"/>
          </a:xfrm>
          <a:prstGeom prst="rect">
            <a:avLst/>
          </a:prstGeom>
        </p:spPr>
      </p:pic>
      <p:sp>
        <p:nvSpPr>
          <p:cNvPr id="79" name="TextBox 78">
            <a:extLst>
              <a:ext uri="{FF2B5EF4-FFF2-40B4-BE49-F238E27FC236}">
                <a16:creationId xmlns:a16="http://schemas.microsoft.com/office/drawing/2014/main" id="{71AF7B37-0A2D-0837-B938-E14743A86609}"/>
              </a:ext>
            </a:extLst>
          </p:cNvPr>
          <p:cNvSpPr txBox="1"/>
          <p:nvPr/>
        </p:nvSpPr>
        <p:spPr>
          <a:xfrm>
            <a:off x="6185754" y="5096847"/>
            <a:ext cx="29582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~20 </a:t>
            </a:r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ms</a:t>
            </a:r>
            <a:endParaRPr lang="en-US" altLang="ko-KR" sz="16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ctr"/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Electrons left in BETOX!</a:t>
            </a:r>
            <a:endParaRPr lang="ko-KR" altLang="en-US" sz="2000" b="1" u="sng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0E0AFB0-F835-71F5-6552-BC32FEBD2BB2}"/>
              </a:ext>
            </a:extLst>
          </p:cNvPr>
          <p:cNvSpPr txBox="1"/>
          <p:nvPr/>
        </p:nvSpPr>
        <p:spPr>
          <a:xfrm>
            <a:off x="7610354" y="1412331"/>
            <a:ext cx="16579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dependent region</a:t>
            </a:r>
          </a:p>
          <a:p>
            <a:endParaRPr lang="en-US" altLang="ko-KR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Jo, TED (2023)</a:t>
            </a:r>
          </a:p>
          <a:p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:trap-assisted tunneling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F22CA9C8-9A46-825E-8AD0-311FB9B74EEA}"/>
              </a:ext>
            </a:extLst>
          </p:cNvPr>
          <p:cNvSpPr/>
          <p:nvPr/>
        </p:nvSpPr>
        <p:spPr>
          <a:xfrm>
            <a:off x="4785799" y="1905000"/>
            <a:ext cx="1723315" cy="836321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연결선: 꺾임 89">
            <a:extLst>
              <a:ext uri="{FF2B5EF4-FFF2-40B4-BE49-F238E27FC236}">
                <a16:creationId xmlns:a16="http://schemas.microsoft.com/office/drawing/2014/main" id="{0147BFC8-5A30-22AA-57A7-ECC819D200CD}"/>
              </a:ext>
            </a:extLst>
          </p:cNvPr>
          <p:cNvCxnSpPr>
            <a:cxnSpLocks/>
            <a:endCxn id="99" idx="1"/>
          </p:cNvCxnSpPr>
          <p:nvPr/>
        </p:nvCxnSpPr>
        <p:spPr>
          <a:xfrm flipV="1">
            <a:off x="6438900" y="1933606"/>
            <a:ext cx="1068584" cy="566837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왼쪽 중괄호 98">
            <a:extLst>
              <a:ext uri="{FF2B5EF4-FFF2-40B4-BE49-F238E27FC236}">
                <a16:creationId xmlns:a16="http://schemas.microsoft.com/office/drawing/2014/main" id="{4A9E06EC-E4D3-2E8F-0779-B52A76A4D397}"/>
              </a:ext>
            </a:extLst>
          </p:cNvPr>
          <p:cNvSpPr/>
          <p:nvPr/>
        </p:nvSpPr>
        <p:spPr>
          <a:xfrm>
            <a:off x="7507484" y="1505011"/>
            <a:ext cx="102870" cy="857190"/>
          </a:xfrm>
          <a:prstGeom prst="leftBrace">
            <a:avLst>
              <a:gd name="adj1" fmla="val 117156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1598AC-375F-6604-0E5F-8B6EB54EBB7F}"/>
              </a:ext>
            </a:extLst>
          </p:cNvPr>
          <p:cNvSpPr txBox="1"/>
          <p:nvPr/>
        </p:nvSpPr>
        <p:spPr>
          <a:xfrm>
            <a:off x="7729098" y="4966042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TED 2025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E8D59-291F-8002-6BD5-A0DC2ACBDC8B}"/>
              </a:ext>
            </a:extLst>
          </p:cNvPr>
          <p:cNvSpPr txBox="1"/>
          <p:nvPr/>
        </p:nvSpPr>
        <p:spPr>
          <a:xfrm>
            <a:off x="6875739" y="2711108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Jo, TED 2023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027755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F01C8-6523-AED5-8002-4F5DF85A4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Alignment with Previous Studies</a:t>
            </a:r>
            <a:endParaRPr lang="ko-KR" altLang="en-US" dirty="0"/>
          </a:p>
        </p:txBody>
      </p:sp>
      <p:graphicFrame>
        <p:nvGraphicFramePr>
          <p:cNvPr id="4" name="개체 3">
            <a:extLst>
              <a:ext uri="{FF2B5EF4-FFF2-40B4-BE49-F238E27FC236}">
                <a16:creationId xmlns:a16="http://schemas.microsoft.com/office/drawing/2014/main" id="{80609AFF-CF88-69DC-BADA-D810DCF68E11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40974826"/>
              </p:ext>
            </p:extLst>
          </p:nvPr>
        </p:nvGraphicFramePr>
        <p:xfrm>
          <a:off x="4748342" y="1837585"/>
          <a:ext cx="4714529" cy="33297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1724" imgH="4833106" progId="Origin50.Graph">
                  <p:embed/>
                </p:oleObj>
              </mc:Choice>
              <mc:Fallback>
                <p:oleObj name="Graph" r:id="rId2" imgW="6841724" imgH="4833106" progId="Origin50.Graph">
                  <p:embed/>
                  <p:pic>
                    <p:nvPicPr>
                      <p:cNvPr id="4" name="개체 3">
                        <a:extLst>
                          <a:ext uri="{FF2B5EF4-FFF2-40B4-BE49-F238E27FC236}">
                            <a16:creationId xmlns:a16="http://schemas.microsoft.com/office/drawing/2014/main" id="{80609AFF-CF88-69DC-BADA-D810DCF68E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748342" y="1837585"/>
                        <a:ext cx="4714529" cy="33297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61C73F9-C15A-3F01-9FA1-C53DF0B5CA9B}"/>
              </a:ext>
            </a:extLst>
          </p:cNvPr>
          <p:cNvSpPr txBox="1"/>
          <p:nvPr/>
        </p:nvSpPr>
        <p:spPr>
          <a:xfrm>
            <a:off x="4629351" y="1107491"/>
            <a:ext cx="41336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P/E cycle region 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 비교</a:t>
            </a:r>
            <a:b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</a:b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(Jo, TED 2023)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945B94-1091-57B0-9F8D-87162319591D}"/>
              </a:ext>
            </a:extLst>
          </p:cNvPr>
          <p:cNvSpPr txBox="1"/>
          <p:nvPr/>
        </p:nvSpPr>
        <p:spPr>
          <a:xfrm>
            <a:off x="206414" y="1107491"/>
            <a:ext cx="21802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 상황 구현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C10CFE-7E33-4379-8F91-7139F71C259B}"/>
              </a:ext>
            </a:extLst>
          </p:cNvPr>
          <p:cNvSpPr txBox="1"/>
          <p:nvPr/>
        </p:nvSpPr>
        <p:spPr>
          <a:xfrm>
            <a:off x="7495792" y="1626426"/>
            <a:ext cx="16482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200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(confidential)</a:t>
            </a:r>
            <a:endParaRPr lang="ko-KR" altLang="en-US" sz="2000" b="1" i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52B8D9F6-63E2-8688-76A0-1835D9D4013A}"/>
              </a:ext>
            </a:extLst>
          </p:cNvPr>
          <p:cNvCxnSpPr>
            <a:cxnSpLocks/>
          </p:cNvCxnSpPr>
          <p:nvPr/>
        </p:nvCxnSpPr>
        <p:spPr>
          <a:xfrm>
            <a:off x="2662681" y="4162511"/>
            <a:ext cx="1697038" cy="0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51FFA321-5743-BA39-B725-9D7CDEE343E7}"/>
              </a:ext>
            </a:extLst>
          </p:cNvPr>
          <p:cNvCxnSpPr>
            <a:cxnSpLocks/>
          </p:cNvCxnSpPr>
          <p:nvPr/>
        </p:nvCxnSpPr>
        <p:spPr>
          <a:xfrm>
            <a:off x="2805335" y="4162511"/>
            <a:ext cx="1225550" cy="11038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91351000-6F10-361B-8CFA-02303C1B56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9" y="3786104"/>
            <a:ext cx="2228965" cy="171566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1534DB8-4DB8-FD01-FC60-0F7B72C1D6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6414" y="1590263"/>
            <a:ext cx="4416386" cy="1875250"/>
          </a:xfrm>
          <a:prstGeom prst="rect">
            <a:avLst/>
          </a:prstGeom>
        </p:spPr>
      </p:pic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2D26084-B421-12EB-B1D9-B6FFBB503ECA}"/>
              </a:ext>
            </a:extLst>
          </p:cNvPr>
          <p:cNvCxnSpPr>
            <a:cxnSpLocks/>
          </p:cNvCxnSpPr>
          <p:nvPr/>
        </p:nvCxnSpPr>
        <p:spPr>
          <a:xfrm>
            <a:off x="671194" y="2747550"/>
            <a:ext cx="3830956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BEE2B822-3DAF-22AF-19C8-A61923A43219}"/>
              </a:ext>
            </a:extLst>
          </p:cNvPr>
          <p:cNvCxnSpPr>
            <a:cxnSpLocks/>
          </p:cNvCxnSpPr>
          <p:nvPr/>
        </p:nvCxnSpPr>
        <p:spPr>
          <a:xfrm>
            <a:off x="3695700" y="1795050"/>
            <a:ext cx="8763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E8546B0F-E62B-83E5-840B-E1303E8FE4BB}"/>
              </a:ext>
            </a:extLst>
          </p:cNvPr>
          <p:cNvCxnSpPr>
            <a:cxnSpLocks/>
          </p:cNvCxnSpPr>
          <p:nvPr/>
        </p:nvCxnSpPr>
        <p:spPr>
          <a:xfrm>
            <a:off x="330200" y="2137950"/>
            <a:ext cx="274320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6D6FCE67-6C2C-B946-0769-3396780ACEEF}"/>
              </a:ext>
            </a:extLst>
          </p:cNvPr>
          <p:cNvSpPr txBox="1"/>
          <p:nvPr/>
        </p:nvSpPr>
        <p:spPr>
          <a:xfrm>
            <a:off x="282575" y="5795228"/>
            <a:ext cx="4041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0V ~ -5V WL voltage sweep in 2ms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866D59-9929-7AD6-59AD-9AAD4E5FDE60}"/>
              </a:ext>
            </a:extLst>
          </p:cNvPr>
          <p:cNvSpPr txBox="1"/>
          <p:nvPr/>
        </p:nvSpPr>
        <p:spPr>
          <a:xfrm rot="2451768">
            <a:off x="4053726" y="5155803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0F1228-E26A-5D86-9A90-53AC9C33523F}"/>
              </a:ext>
            </a:extLst>
          </p:cNvPr>
          <p:cNvSpPr txBox="1"/>
          <p:nvPr/>
        </p:nvSpPr>
        <p:spPr>
          <a:xfrm>
            <a:off x="2416955" y="3877120"/>
            <a:ext cx="4458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 V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4CCAD84-25AC-157F-5FAF-A55516506735}"/>
              </a:ext>
            </a:extLst>
          </p:cNvPr>
          <p:cNvSpPr txBox="1"/>
          <p:nvPr/>
        </p:nvSpPr>
        <p:spPr>
          <a:xfrm>
            <a:off x="3543638" y="5202978"/>
            <a:ext cx="50520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-5 V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6B153B87-FD61-C01D-7C12-38FE41F59C34}"/>
              </a:ext>
            </a:extLst>
          </p:cNvPr>
          <p:cNvCxnSpPr>
            <a:cxnSpLocks/>
          </p:cNvCxnSpPr>
          <p:nvPr/>
        </p:nvCxnSpPr>
        <p:spPr>
          <a:xfrm>
            <a:off x="3897871" y="3964941"/>
            <a:ext cx="1406" cy="1282808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E599C0A3-5A49-6350-31F7-7445622BCAAC}"/>
              </a:ext>
            </a:extLst>
          </p:cNvPr>
          <p:cNvCxnSpPr>
            <a:cxnSpLocks/>
          </p:cNvCxnSpPr>
          <p:nvPr/>
        </p:nvCxnSpPr>
        <p:spPr>
          <a:xfrm>
            <a:off x="2799321" y="3944313"/>
            <a:ext cx="0" cy="395341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226AC711-04F1-7F68-B860-0EBEFBC16C4F}"/>
              </a:ext>
            </a:extLst>
          </p:cNvPr>
          <p:cNvCxnSpPr>
            <a:cxnSpLocks/>
          </p:cNvCxnSpPr>
          <p:nvPr/>
        </p:nvCxnSpPr>
        <p:spPr>
          <a:xfrm>
            <a:off x="2797046" y="4032273"/>
            <a:ext cx="1100825" cy="0"/>
          </a:xfrm>
          <a:prstGeom prst="line">
            <a:avLst/>
          </a:prstGeom>
          <a:ln w="9525">
            <a:solidFill>
              <a:schemeClr val="bg1">
                <a:lumMod val="6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651AEA2D-4B4E-DEAC-D6D9-BC8ACA1D23BE}"/>
              </a:ext>
            </a:extLst>
          </p:cNvPr>
          <p:cNvSpPr txBox="1"/>
          <p:nvPr/>
        </p:nvSpPr>
        <p:spPr>
          <a:xfrm>
            <a:off x="3031026" y="3763550"/>
            <a:ext cx="627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~2 </a:t>
            </a:r>
            <a:r>
              <a:rPr lang="en-US" altLang="ko-KR" sz="1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ms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왼쪽 중괄호 42">
            <a:extLst>
              <a:ext uri="{FF2B5EF4-FFF2-40B4-BE49-F238E27FC236}">
                <a16:creationId xmlns:a16="http://schemas.microsoft.com/office/drawing/2014/main" id="{5531B181-4500-1562-FA6E-F0585E59533B}"/>
              </a:ext>
            </a:extLst>
          </p:cNvPr>
          <p:cNvSpPr/>
          <p:nvPr/>
        </p:nvSpPr>
        <p:spPr>
          <a:xfrm rot="16200000">
            <a:off x="692258" y="5115804"/>
            <a:ext cx="103645" cy="835945"/>
          </a:xfrm>
          <a:prstGeom prst="leftBrace">
            <a:avLst>
              <a:gd name="adj1" fmla="val 49317"/>
              <a:gd name="adj2" fmla="val 46962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B5CB4BB4-C8D6-A9F7-2B05-53238FBB4C0C}"/>
              </a:ext>
            </a:extLst>
          </p:cNvPr>
          <p:cNvCxnSpPr>
            <a:cxnSpLocks/>
          </p:cNvCxnSpPr>
          <p:nvPr/>
        </p:nvCxnSpPr>
        <p:spPr>
          <a:xfrm>
            <a:off x="719923" y="5750924"/>
            <a:ext cx="199506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4BB308DD-F5FA-9853-BFDA-14524E0C376B}"/>
              </a:ext>
            </a:extLst>
          </p:cNvPr>
          <p:cNvCxnSpPr>
            <a:cxnSpLocks/>
          </p:cNvCxnSpPr>
          <p:nvPr/>
        </p:nvCxnSpPr>
        <p:spPr>
          <a:xfrm flipV="1">
            <a:off x="2708553" y="5060250"/>
            <a:ext cx="154293" cy="690674"/>
          </a:xfrm>
          <a:prstGeom prst="line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045CC29F-9DCE-FADE-7D40-481B41A2AB24}"/>
              </a:ext>
            </a:extLst>
          </p:cNvPr>
          <p:cNvCxnSpPr>
            <a:cxnSpLocks/>
          </p:cNvCxnSpPr>
          <p:nvPr/>
        </p:nvCxnSpPr>
        <p:spPr>
          <a:xfrm>
            <a:off x="314203" y="5167290"/>
            <a:ext cx="0" cy="395341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79F9E001-0D27-3B3A-5FD0-341C37D45FF5}"/>
              </a:ext>
            </a:extLst>
          </p:cNvPr>
          <p:cNvCxnSpPr>
            <a:cxnSpLocks/>
          </p:cNvCxnSpPr>
          <p:nvPr/>
        </p:nvCxnSpPr>
        <p:spPr>
          <a:xfrm>
            <a:off x="1174741" y="5167290"/>
            <a:ext cx="0" cy="395341"/>
          </a:xfrm>
          <a:prstGeom prst="line">
            <a:avLst/>
          </a:prstGeom>
          <a:ln w="952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ADDC7029-46DB-DA26-F2F3-28063C2CF60D}"/>
              </a:ext>
            </a:extLst>
          </p:cNvPr>
          <p:cNvCxnSpPr>
            <a:cxnSpLocks/>
            <a:endCxn id="43" idx="1"/>
          </p:cNvCxnSpPr>
          <p:nvPr/>
        </p:nvCxnSpPr>
        <p:spPr>
          <a:xfrm flipV="1">
            <a:off x="718684" y="5585599"/>
            <a:ext cx="0" cy="171635"/>
          </a:xfrm>
          <a:prstGeom prst="line">
            <a:avLst/>
          </a:prstGeom>
          <a:ln w="1270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EEBC2505-DF4C-4CFD-3B40-0D6FEF93B8D7}"/>
              </a:ext>
            </a:extLst>
          </p:cNvPr>
          <p:cNvSpPr txBox="1"/>
          <p:nvPr/>
        </p:nvSpPr>
        <p:spPr>
          <a:xfrm>
            <a:off x="2776964" y="4718744"/>
            <a:ext cx="7360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</a:t>
            </a:r>
            <a:r>
              <a:rPr lang="en-US" altLang="ko-KR" sz="16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Sel</a:t>
            </a:r>
            <a:r>
              <a:rPr lang="en-US" altLang="ko-KR" sz="16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.</a:t>
            </a:r>
            <a:r>
              <a:rPr lang="en-US" altLang="ko-KR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(t)</a:t>
            </a:r>
            <a:endParaRPr lang="ko-KR" altLang="en-US" sz="1600" baseline="-25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A892C4D-91D8-D858-BC0F-C2882F0E4465}"/>
              </a:ext>
            </a:extLst>
          </p:cNvPr>
          <p:cNvSpPr txBox="1"/>
          <p:nvPr/>
        </p:nvSpPr>
        <p:spPr>
          <a:xfrm>
            <a:off x="4102301" y="3907898"/>
            <a:ext cx="4603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</a:t>
            </a:r>
            <a:endParaRPr lang="ko-KR" altLang="en-US" sz="12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F705523-E483-5903-828B-88E077BD0468}"/>
              </a:ext>
            </a:extLst>
          </p:cNvPr>
          <p:cNvSpPr txBox="1"/>
          <p:nvPr/>
        </p:nvSpPr>
        <p:spPr>
          <a:xfrm>
            <a:off x="4851476" y="5403291"/>
            <a:ext cx="45147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 D P/E cycle dependency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구현 가능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313E5880-798B-2790-84C9-D8AA9E9D5E3C}"/>
              </a:ext>
            </a:extLst>
          </p:cNvPr>
          <p:cNvCxnSpPr>
            <a:cxnSpLocks/>
          </p:cNvCxnSpPr>
          <p:nvPr/>
        </p:nvCxnSpPr>
        <p:spPr>
          <a:xfrm flipH="1">
            <a:off x="927100" y="2760291"/>
            <a:ext cx="1466031" cy="2020731"/>
          </a:xfrm>
          <a:prstGeom prst="line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21764503-8FB4-28D9-EE2B-543336D360F0}"/>
              </a:ext>
            </a:extLst>
          </p:cNvPr>
          <p:cNvSpPr txBox="1"/>
          <p:nvPr/>
        </p:nvSpPr>
        <p:spPr>
          <a:xfrm>
            <a:off x="2342900" y="2712942"/>
            <a:ext cx="148951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D-F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인가 조건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1C5CACD-81FA-4C37-700E-4C23D6CF604C}"/>
              </a:ext>
            </a:extLst>
          </p:cNvPr>
          <p:cNvSpPr txBox="1"/>
          <p:nvPr/>
        </p:nvSpPr>
        <p:spPr>
          <a:xfrm>
            <a:off x="2693437" y="3529822"/>
            <a:ext cx="13022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Region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381484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FFB13-C180-6B13-EB4E-EE5BC2755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D7508F-D494-EA77-A7ED-80849A6253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Visualization of</a:t>
            </a:r>
            <a:r>
              <a:rPr lang="ko-KR" altLang="en-US" dirty="0"/>
              <a:t> </a:t>
            </a:r>
            <a:r>
              <a:rPr lang="en-US" altLang="ko-KR" dirty="0"/>
              <a:t>Charge Node Analysis</a:t>
            </a:r>
            <a:endParaRPr lang="ko-KR" altLang="en-US" dirty="0"/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B72A503D-4225-61B0-474A-CC164636B134}"/>
              </a:ext>
            </a:extLst>
          </p:cNvPr>
          <p:cNvGrpSpPr/>
          <p:nvPr/>
        </p:nvGrpSpPr>
        <p:grpSpPr>
          <a:xfrm>
            <a:off x="1833988" y="1328020"/>
            <a:ext cx="5493333" cy="2506307"/>
            <a:chOff x="625200" y="3911201"/>
            <a:chExt cx="2751706" cy="1255453"/>
          </a:xfrm>
        </p:grpSpPr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BF1E2ABC-C9B8-3D46-318C-8AD81EFDBFA8}"/>
                </a:ext>
              </a:extLst>
            </p:cNvPr>
            <p:cNvSpPr/>
            <p:nvPr/>
          </p:nvSpPr>
          <p:spPr>
            <a:xfrm>
              <a:off x="710049" y="4215920"/>
              <a:ext cx="571304" cy="571304"/>
            </a:xfrm>
            <a:prstGeom prst="ellipse">
              <a:avLst/>
            </a:prstGeom>
            <a:gradFill flip="none" rotWithShape="1">
              <a:gsLst>
                <a:gs pos="0">
                  <a:srgbClr val="FFFF00"/>
                </a:gs>
                <a:gs pos="68000">
                  <a:schemeClr val="bg1">
                    <a:lumMod val="87000"/>
                  </a:schemeClr>
                </a:gs>
                <a:gs pos="100000">
                  <a:schemeClr val="accent1">
                    <a:lumMod val="10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944E6AA6-09F2-B256-F6D5-60031729195C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4" name="타원 43">
              <a:extLst>
                <a:ext uri="{FF2B5EF4-FFF2-40B4-BE49-F238E27FC236}">
                  <a16:creationId xmlns:a16="http://schemas.microsoft.com/office/drawing/2014/main" id="{F1FF53F1-0B71-2141-F311-CF9EBE51FABD}"/>
                </a:ext>
              </a:extLst>
            </p:cNvPr>
            <p:cNvSpPr/>
            <p:nvPr/>
          </p:nvSpPr>
          <p:spPr>
            <a:xfrm>
              <a:off x="1595454" y="4360656"/>
              <a:ext cx="272853" cy="272853"/>
            </a:xfrm>
            <a:prstGeom prst="ellipse">
              <a:avLst/>
            </a:prstGeom>
            <a:solidFill>
              <a:srgbClr val="FFE38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D004AE03-CDAC-6ED7-099F-ABCD9A2798FF}"/>
                </a:ext>
              </a:extLst>
            </p:cNvPr>
            <p:cNvSpPr/>
            <p:nvPr/>
          </p:nvSpPr>
          <p:spPr>
            <a:xfrm>
              <a:off x="2009950" y="4350409"/>
              <a:ext cx="309600" cy="309600"/>
            </a:xfrm>
            <a:prstGeom prst="ellipse">
              <a:avLst/>
            </a:prstGeom>
            <a:solidFill>
              <a:srgbClr val="FFD85B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BF12D6C0-9E67-B27E-253F-7E6D353D7EB9}"/>
                </a:ext>
              </a:extLst>
            </p:cNvPr>
            <p:cNvSpPr/>
            <p:nvPr/>
          </p:nvSpPr>
          <p:spPr>
            <a:xfrm>
              <a:off x="2796877" y="4219557"/>
              <a:ext cx="571304" cy="571304"/>
            </a:xfrm>
            <a:prstGeom prst="ellipse">
              <a:avLst/>
            </a:prstGeom>
            <a:solidFill>
              <a:srgbClr val="9FD6EF"/>
            </a:solidFill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CDF4464B-0025-9B09-9AC9-1BD207967929}"/>
                </a:ext>
              </a:extLst>
            </p:cNvPr>
            <p:cNvSpPr txBox="1"/>
            <p:nvPr/>
          </p:nvSpPr>
          <p:spPr>
            <a:xfrm>
              <a:off x="756460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Q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2213377B-3561-31E0-6E15-C96C1F1CBA06}"/>
                </a:ext>
              </a:extLst>
            </p:cNvPr>
            <p:cNvSpPr txBox="1"/>
            <p:nvPr/>
          </p:nvSpPr>
          <p:spPr>
            <a:xfrm>
              <a:off x="143750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21E37DE-6D2C-C53A-53D8-EAB71F63A7C9}"/>
                </a:ext>
              </a:extLst>
            </p:cNvPr>
            <p:cNvSpPr txBox="1"/>
            <p:nvPr/>
          </p:nvSpPr>
          <p:spPr>
            <a:xfrm>
              <a:off x="1870373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0DDCF5-76E4-9558-CF10-3B8D22796B86}"/>
                </a:ext>
              </a:extLst>
            </p:cNvPr>
            <p:cNvSpPr txBox="1"/>
            <p:nvPr/>
          </p:nvSpPr>
          <p:spPr>
            <a:xfrm>
              <a:off x="2788152" y="4017428"/>
              <a:ext cx="588754" cy="1850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728D366-DEB5-080C-6A65-A468ABB1D3E3}"/>
                </a:ext>
              </a:extLst>
            </p:cNvPr>
            <p:cNvSpPr txBox="1"/>
            <p:nvPr/>
          </p:nvSpPr>
          <p:spPr>
            <a:xfrm>
              <a:off x="1134091" y="3999966"/>
              <a:ext cx="494704" cy="2004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20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2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15A3B90-B63B-F803-3693-717F63402E82}"/>
                </a:ext>
              </a:extLst>
            </p:cNvPr>
            <p:cNvSpPr txBox="1"/>
            <p:nvPr/>
          </p:nvSpPr>
          <p:spPr>
            <a:xfrm>
              <a:off x="1700963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86252F50-1631-5B29-2A18-7BDC43B266D4}"/>
                </a:ext>
              </a:extLst>
            </p:cNvPr>
            <p:cNvSpPr txBox="1"/>
            <p:nvPr/>
          </p:nvSpPr>
          <p:spPr>
            <a:xfrm>
              <a:off x="2124311" y="4033302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3026A5-DDAC-D7EE-68A7-92F5D6553221}"/>
                </a:ext>
              </a:extLst>
            </p:cNvPr>
            <p:cNvSpPr txBox="1"/>
            <p:nvPr/>
          </p:nvSpPr>
          <p:spPr>
            <a:xfrm>
              <a:off x="2625737" y="4032817"/>
              <a:ext cx="49470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01F24E6-1E0E-1147-8211-E3AACD8F7652}"/>
                </a:ext>
              </a:extLst>
            </p:cNvPr>
            <p:cNvSpPr txBox="1"/>
            <p:nvPr/>
          </p:nvSpPr>
          <p:spPr>
            <a:xfrm>
              <a:off x="2375024" y="3911201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E62F419-C190-E18E-7944-F700E3BF2619}"/>
                </a:ext>
              </a:extLst>
            </p:cNvPr>
            <p:cNvSpPr txBox="1"/>
            <p:nvPr/>
          </p:nvSpPr>
          <p:spPr>
            <a:xfrm>
              <a:off x="1187590" y="4303226"/>
              <a:ext cx="494704" cy="3854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4400"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endParaRPr lang="ko-KR" altLang="en-US" sz="4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F6512F1-727F-32A1-B75A-FC65130F7B43}"/>
                </a:ext>
              </a:extLst>
            </p:cNvPr>
            <p:cNvSpPr txBox="1"/>
            <p:nvPr/>
          </p:nvSpPr>
          <p:spPr>
            <a:xfrm>
              <a:off x="1688837" y="4354617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 dirty="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7B13DF1-5F42-0DF2-401A-E32B39C6C329}"/>
                </a:ext>
              </a:extLst>
            </p:cNvPr>
            <p:cNvSpPr txBox="1"/>
            <p:nvPr/>
          </p:nvSpPr>
          <p:spPr>
            <a:xfrm>
              <a:off x="2143363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412C1B8-B923-577D-46BC-0774954889FA}"/>
                </a:ext>
              </a:extLst>
            </p:cNvPr>
            <p:cNvSpPr txBox="1"/>
            <p:nvPr/>
          </p:nvSpPr>
          <p:spPr>
            <a:xfrm>
              <a:off x="2478696" y="4352544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+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8D77D7BF-FC50-9F7E-353D-5DD679B438A1}"/>
                </a:ext>
              </a:extLst>
            </p:cNvPr>
            <p:cNvSpPr txBox="1"/>
            <p:nvPr/>
          </p:nvSpPr>
          <p:spPr>
            <a:xfrm>
              <a:off x="2311029" y="4302815"/>
              <a:ext cx="494704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32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3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9513EDBE-7793-1B39-8300-A41624EC7A7D}"/>
                </a:ext>
              </a:extLst>
            </p:cNvPr>
            <p:cNvSpPr txBox="1"/>
            <p:nvPr/>
          </p:nvSpPr>
          <p:spPr>
            <a:xfrm>
              <a:off x="155664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400" b="1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0E2F39DA-FF1A-DB0B-87C2-45831DBE2228}"/>
                </a:ext>
              </a:extLst>
            </p:cNvPr>
            <p:cNvSpPr txBox="1"/>
            <p:nvPr/>
          </p:nvSpPr>
          <p:spPr>
            <a:xfrm>
              <a:off x="1989519" y="4425387"/>
              <a:ext cx="35046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719E4998-4D5D-A9B0-90AE-2BC43D625B08}"/>
                </a:ext>
              </a:extLst>
            </p:cNvPr>
            <p:cNvSpPr txBox="1"/>
            <p:nvPr/>
          </p:nvSpPr>
          <p:spPr>
            <a:xfrm>
              <a:off x="2883383" y="4425387"/>
              <a:ext cx="398292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 b="1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400" b="1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400" b="1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28" name="타원 127">
              <a:extLst>
                <a:ext uri="{FF2B5EF4-FFF2-40B4-BE49-F238E27FC236}">
                  <a16:creationId xmlns:a16="http://schemas.microsoft.com/office/drawing/2014/main" id="{02A82083-6E71-0834-8D5B-8DD96D28D6A2}"/>
                </a:ext>
              </a:extLst>
            </p:cNvPr>
            <p:cNvSpPr/>
            <p:nvPr/>
          </p:nvSpPr>
          <p:spPr>
            <a:xfrm>
              <a:off x="859275" y="4365146"/>
              <a:ext cx="272853" cy="272853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29" name="타원 128">
              <a:extLst>
                <a:ext uri="{FF2B5EF4-FFF2-40B4-BE49-F238E27FC236}">
                  <a16:creationId xmlns:a16="http://schemas.microsoft.com/office/drawing/2014/main" id="{8A205626-EB9F-CA81-66D7-3C648846320B}"/>
                </a:ext>
              </a:extLst>
            </p:cNvPr>
            <p:cNvSpPr/>
            <p:nvPr/>
          </p:nvSpPr>
          <p:spPr>
            <a:xfrm>
              <a:off x="840901" y="4346772"/>
              <a:ext cx="309600" cy="309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0" name="타원 129">
              <a:extLst>
                <a:ext uri="{FF2B5EF4-FFF2-40B4-BE49-F238E27FC236}">
                  <a16:creationId xmlns:a16="http://schemas.microsoft.com/office/drawing/2014/main" id="{D1BFAB3F-C7E4-AC7B-38FC-6604EE5FF48C}"/>
                </a:ext>
              </a:extLst>
            </p:cNvPr>
            <p:cNvSpPr/>
            <p:nvPr/>
          </p:nvSpPr>
          <p:spPr>
            <a:xfrm>
              <a:off x="710049" y="4221336"/>
              <a:ext cx="571304" cy="560472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1" name="타원 130">
              <a:extLst>
                <a:ext uri="{FF2B5EF4-FFF2-40B4-BE49-F238E27FC236}">
                  <a16:creationId xmlns:a16="http://schemas.microsoft.com/office/drawing/2014/main" id="{C0CC2DAF-2B4C-3E6F-CD64-527850716A0B}"/>
                </a:ext>
              </a:extLst>
            </p:cNvPr>
            <p:cNvSpPr/>
            <p:nvPr/>
          </p:nvSpPr>
          <p:spPr>
            <a:xfrm>
              <a:off x="822901" y="4328772"/>
              <a:ext cx="345600" cy="345600"/>
            </a:xfrm>
            <a:prstGeom prst="ellipse">
              <a:avLst/>
            </a:prstGeom>
            <a:noFill/>
            <a:ln w="6350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BF4586BB-44DE-C8E5-B7A2-DFE6A6C01CE0}"/>
                </a:ext>
              </a:extLst>
            </p:cNvPr>
            <p:cNvSpPr txBox="1"/>
            <p:nvPr/>
          </p:nvSpPr>
          <p:spPr>
            <a:xfrm rot="19046009">
              <a:off x="1023784" y="4253832"/>
              <a:ext cx="257962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600">
                  <a:latin typeface="Arial" panose="020B0604020202020204" pitchFamily="34" charset="0"/>
                  <a:cs typeface="Arial" panose="020B0604020202020204" pitchFamily="34" charset="0"/>
                </a:rPr>
                <a:t>...</a:t>
              </a:r>
              <a:endParaRPr lang="ko-KR" altLang="en-US" sz="16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9A1607F9-BC49-9687-6799-E8E8058567DF}"/>
                </a:ext>
              </a:extLst>
            </p:cNvPr>
            <p:cNvSpPr txBox="1"/>
            <p:nvPr/>
          </p:nvSpPr>
          <p:spPr>
            <a:xfrm>
              <a:off x="625200" y="4777741"/>
              <a:ext cx="756243" cy="1541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400">
                  <a:latin typeface="Arial" panose="020B0604020202020204" pitchFamily="34" charset="0"/>
                  <a:cs typeface="Arial" panose="020B0604020202020204" pitchFamily="34" charset="0"/>
                </a:rPr>
                <a:t>CTN charge</a:t>
              </a:r>
              <a:endParaRPr lang="ko-KR" altLang="en-US" sz="14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58588313-F35B-1178-BCFB-4C7A872BF863}"/>
                </a:ext>
              </a:extLst>
            </p:cNvPr>
            <p:cNvSpPr txBox="1"/>
            <p:nvPr/>
          </p:nvSpPr>
          <p:spPr>
            <a:xfrm>
              <a:off x="1563412" y="4734879"/>
              <a:ext cx="970554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600" baseline="-250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</a:t>
              </a:r>
              <a:r>
                <a:rPr lang="en-US" altLang="ko-KR" sz="16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π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r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baseline="30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(n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-n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94ADB8C6-FDD0-C787-E999-2383A62828B3}"/>
                </a:ext>
              </a:extLst>
            </p:cNvPr>
            <p:cNvSpPr txBox="1"/>
            <p:nvPr/>
          </p:nvSpPr>
          <p:spPr>
            <a:xfrm>
              <a:off x="2552466" y="4873730"/>
              <a:ext cx="629362" cy="2929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t,0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</a:p>
            <a:p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r>
                <a:rPr lang="en-US" altLang="ko-KR" sz="16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t,N+1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 = 0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03E8EF53-FE5E-5A30-49C4-7915B2D4A067}"/>
                </a:ext>
              </a:extLst>
            </p:cNvPr>
            <p:cNvSpPr txBox="1"/>
            <p:nvPr/>
          </p:nvSpPr>
          <p:spPr>
            <a:xfrm>
              <a:off x="1657154" y="4948827"/>
              <a:ext cx="857565" cy="1695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where, </a:t>
              </a:r>
              <a:r>
                <a:rPr lang="en-US" altLang="ko-KR" sz="1600" dirty="0" err="1">
                  <a:latin typeface="Arial" panose="020B0604020202020204" pitchFamily="34" charset="0"/>
                  <a:cs typeface="Arial" panose="020B0604020202020204" pitchFamily="34" charset="0"/>
                </a:rPr>
                <a:t>i</a:t>
              </a:r>
              <a:r>
                <a:rPr lang="en-US" altLang="ko-KR" sz="1600" dirty="0">
                  <a:latin typeface="Arial" panose="020B0604020202020204" pitchFamily="34" charset="0"/>
                  <a:cs typeface="Arial" panose="020B0604020202020204" pitchFamily="34" charset="0"/>
                </a:rPr>
                <a:t>=1-N</a:t>
              </a:r>
              <a:endParaRPr lang="ko-KR" altLang="en-US" sz="1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7" name="왼쪽 중괄호 136">
              <a:extLst>
                <a:ext uri="{FF2B5EF4-FFF2-40B4-BE49-F238E27FC236}">
                  <a16:creationId xmlns:a16="http://schemas.microsoft.com/office/drawing/2014/main" id="{84F40FA2-D013-5416-4527-699E2367FDB0}"/>
                </a:ext>
              </a:extLst>
            </p:cNvPr>
            <p:cNvSpPr/>
            <p:nvPr/>
          </p:nvSpPr>
          <p:spPr>
            <a:xfrm>
              <a:off x="2504776" y="4937390"/>
              <a:ext cx="61691" cy="200055"/>
            </a:xfrm>
            <a:prstGeom prst="leftBrace">
              <a:avLst>
                <a:gd name="adj1" fmla="val 36719"/>
                <a:gd name="adj2" fmla="val 50000"/>
              </a:avLst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ko-KR" altLang="en-US" sz="4400"/>
            </a:p>
          </p:txBody>
        </p:sp>
      </p:grpSp>
      <p:grpSp>
        <p:nvGrpSpPr>
          <p:cNvPr id="263" name="그룹 262">
            <a:extLst>
              <a:ext uri="{FF2B5EF4-FFF2-40B4-BE49-F238E27FC236}">
                <a16:creationId xmlns:a16="http://schemas.microsoft.com/office/drawing/2014/main" id="{D6A2E9DC-6D22-B21D-001D-086A824010F0}"/>
              </a:ext>
            </a:extLst>
          </p:cNvPr>
          <p:cNvGrpSpPr/>
          <p:nvPr/>
        </p:nvGrpSpPr>
        <p:grpSpPr>
          <a:xfrm>
            <a:off x="896745" y="5001403"/>
            <a:ext cx="6169658" cy="815352"/>
            <a:chOff x="2303921" y="4527578"/>
            <a:chExt cx="6169658" cy="815352"/>
          </a:xfrm>
        </p:grpSpPr>
        <p:cxnSp>
          <p:nvCxnSpPr>
            <p:cNvPr id="173" name="직선 연결선 172">
              <a:extLst>
                <a:ext uri="{FF2B5EF4-FFF2-40B4-BE49-F238E27FC236}">
                  <a16:creationId xmlns:a16="http://schemas.microsoft.com/office/drawing/2014/main" id="{18DFE411-7B4A-0A32-3DB3-90D3CEF354B5}"/>
                </a:ext>
              </a:extLst>
            </p:cNvPr>
            <p:cNvCxnSpPr>
              <a:cxnSpLocks/>
            </p:cNvCxnSpPr>
            <p:nvPr/>
          </p:nvCxnSpPr>
          <p:spPr>
            <a:xfrm>
              <a:off x="2303921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4" name="그룹 173">
              <a:extLst>
                <a:ext uri="{FF2B5EF4-FFF2-40B4-BE49-F238E27FC236}">
                  <a16:creationId xmlns:a16="http://schemas.microsoft.com/office/drawing/2014/main" id="{9DC431EA-C7E3-E1FE-48D9-332E28BDB02F}"/>
                </a:ext>
              </a:extLst>
            </p:cNvPr>
            <p:cNvGrpSpPr/>
            <p:nvPr/>
          </p:nvGrpSpPr>
          <p:grpSpPr>
            <a:xfrm>
              <a:off x="2915777" y="4771606"/>
              <a:ext cx="143736" cy="465698"/>
              <a:chOff x="1663538" y="2271752"/>
              <a:chExt cx="33334" cy="233443"/>
            </a:xfrm>
          </p:grpSpPr>
          <p:cxnSp>
            <p:nvCxnSpPr>
              <p:cNvPr id="221" name="직선 연결선 220">
                <a:extLst>
                  <a:ext uri="{FF2B5EF4-FFF2-40B4-BE49-F238E27FC236}">
                    <a16:creationId xmlns:a16="http://schemas.microsoft.com/office/drawing/2014/main" id="{8F325648-A6A7-4CA8-F94A-2EB51B3376D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직선 연결선 221">
                <a:extLst>
                  <a:ext uri="{FF2B5EF4-FFF2-40B4-BE49-F238E27FC236}">
                    <a16:creationId xmlns:a16="http://schemas.microsoft.com/office/drawing/2014/main" id="{5EB1EE71-6C77-568A-F10B-CFAA63F6FF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5" name="직선 연결선 174">
              <a:extLst>
                <a:ext uri="{FF2B5EF4-FFF2-40B4-BE49-F238E27FC236}">
                  <a16:creationId xmlns:a16="http://schemas.microsoft.com/office/drawing/2014/main" id="{83D528CD-A108-601C-6635-5C785C6F0D99}"/>
                </a:ext>
              </a:extLst>
            </p:cNvPr>
            <p:cNvCxnSpPr>
              <a:cxnSpLocks/>
            </p:cNvCxnSpPr>
            <p:nvPr/>
          </p:nvCxnSpPr>
          <p:spPr>
            <a:xfrm>
              <a:off x="3059513" y="5004457"/>
              <a:ext cx="6118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6" name="그룹 175">
              <a:extLst>
                <a:ext uri="{FF2B5EF4-FFF2-40B4-BE49-F238E27FC236}">
                  <a16:creationId xmlns:a16="http://schemas.microsoft.com/office/drawing/2014/main" id="{411D78AC-74E1-B90E-7346-B59D4F2DB195}"/>
                </a:ext>
              </a:extLst>
            </p:cNvPr>
            <p:cNvGrpSpPr/>
            <p:nvPr/>
          </p:nvGrpSpPr>
          <p:grpSpPr>
            <a:xfrm>
              <a:off x="3879966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9" name="직선 연결선 218">
                <a:extLst>
                  <a:ext uri="{FF2B5EF4-FFF2-40B4-BE49-F238E27FC236}">
                    <a16:creationId xmlns:a16="http://schemas.microsoft.com/office/drawing/2014/main" id="{B0942312-9F5E-1815-1FDA-4F48384CB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0" name="직선 연결선 219">
                <a:extLst>
                  <a:ext uri="{FF2B5EF4-FFF2-40B4-BE49-F238E27FC236}">
                    <a16:creationId xmlns:a16="http://schemas.microsoft.com/office/drawing/2014/main" id="{89295952-40F9-707E-51B8-E53F657703D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7" name="직선 연결선 176">
              <a:extLst>
                <a:ext uri="{FF2B5EF4-FFF2-40B4-BE49-F238E27FC236}">
                  <a16:creationId xmlns:a16="http://schemas.microsoft.com/office/drawing/2014/main" id="{11A1DE4B-1435-8F22-5949-F0103E2B4DF9}"/>
                </a:ext>
              </a:extLst>
            </p:cNvPr>
            <p:cNvCxnSpPr>
              <a:cxnSpLocks/>
            </p:cNvCxnSpPr>
            <p:nvPr/>
          </p:nvCxnSpPr>
          <p:spPr>
            <a:xfrm>
              <a:off x="3677136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직선 연결선 177">
              <a:extLst>
                <a:ext uri="{FF2B5EF4-FFF2-40B4-BE49-F238E27FC236}">
                  <a16:creationId xmlns:a16="http://schemas.microsoft.com/office/drawing/2014/main" id="{C778AC04-0711-4503-F986-7D06BCF8B2ED}"/>
                </a:ext>
              </a:extLst>
            </p:cNvPr>
            <p:cNvCxnSpPr>
              <a:cxnSpLocks/>
            </p:cNvCxnSpPr>
            <p:nvPr/>
          </p:nvCxnSpPr>
          <p:spPr>
            <a:xfrm>
              <a:off x="402729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9" name="그룹 178">
              <a:extLst>
                <a:ext uri="{FF2B5EF4-FFF2-40B4-BE49-F238E27FC236}">
                  <a16:creationId xmlns:a16="http://schemas.microsoft.com/office/drawing/2014/main" id="{1433180F-DDF2-AF88-461D-2DB381DA8CE0}"/>
                </a:ext>
              </a:extLst>
            </p:cNvPr>
            <p:cNvGrpSpPr/>
            <p:nvPr/>
          </p:nvGrpSpPr>
          <p:grpSpPr>
            <a:xfrm>
              <a:off x="4435153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7" name="직선 연결선 216">
                <a:extLst>
                  <a:ext uri="{FF2B5EF4-FFF2-40B4-BE49-F238E27FC236}">
                    <a16:creationId xmlns:a16="http://schemas.microsoft.com/office/drawing/2014/main" id="{0F78B2AC-AB48-CAB4-1090-1E0EAE68605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8" name="직선 연결선 217">
                <a:extLst>
                  <a:ext uri="{FF2B5EF4-FFF2-40B4-BE49-F238E27FC236}">
                    <a16:creationId xmlns:a16="http://schemas.microsoft.com/office/drawing/2014/main" id="{DF0802A3-95AD-16A9-B6AB-8E04C7E44DA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0" name="직선 연결선 179">
              <a:extLst>
                <a:ext uri="{FF2B5EF4-FFF2-40B4-BE49-F238E27FC236}">
                  <a16:creationId xmlns:a16="http://schemas.microsoft.com/office/drawing/2014/main" id="{4F262ED2-7C5E-BCE2-00D4-8E974839AABF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24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직선 연결선 180">
              <a:extLst>
                <a:ext uri="{FF2B5EF4-FFF2-40B4-BE49-F238E27FC236}">
                  <a16:creationId xmlns:a16="http://schemas.microsoft.com/office/drawing/2014/main" id="{CE1E3E79-5C2D-4232-AD9A-19B77838B532}"/>
                </a:ext>
              </a:extLst>
            </p:cNvPr>
            <p:cNvCxnSpPr>
              <a:cxnSpLocks/>
            </p:cNvCxnSpPr>
            <p:nvPr/>
          </p:nvCxnSpPr>
          <p:spPr>
            <a:xfrm>
              <a:off x="4582482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2" name="그룹 181">
              <a:extLst>
                <a:ext uri="{FF2B5EF4-FFF2-40B4-BE49-F238E27FC236}">
                  <a16:creationId xmlns:a16="http://schemas.microsoft.com/office/drawing/2014/main" id="{B9D5BA19-7DE3-73E4-D866-7911D79622D2}"/>
                </a:ext>
              </a:extLst>
            </p:cNvPr>
            <p:cNvGrpSpPr/>
            <p:nvPr/>
          </p:nvGrpSpPr>
          <p:grpSpPr>
            <a:xfrm>
              <a:off x="4989371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5" name="직선 연결선 214">
                <a:extLst>
                  <a:ext uri="{FF2B5EF4-FFF2-40B4-BE49-F238E27FC236}">
                    <a16:creationId xmlns:a16="http://schemas.microsoft.com/office/drawing/2014/main" id="{F4CAE543-DF6D-7A56-EA78-B3CC8B18372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6" name="직선 연결선 215">
                <a:extLst>
                  <a:ext uri="{FF2B5EF4-FFF2-40B4-BE49-F238E27FC236}">
                    <a16:creationId xmlns:a16="http://schemas.microsoft.com/office/drawing/2014/main" id="{1257E854-1F91-5FC6-75DC-5F093215D57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3" name="직선 연결선 182">
              <a:extLst>
                <a:ext uri="{FF2B5EF4-FFF2-40B4-BE49-F238E27FC236}">
                  <a16:creationId xmlns:a16="http://schemas.microsoft.com/office/drawing/2014/main" id="{8C30F5CD-52D8-AA86-EAC3-5B58CFA8A07E}"/>
                </a:ext>
              </a:extLst>
            </p:cNvPr>
            <p:cNvCxnSpPr>
              <a:cxnSpLocks/>
            </p:cNvCxnSpPr>
            <p:nvPr/>
          </p:nvCxnSpPr>
          <p:spPr>
            <a:xfrm>
              <a:off x="4786545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직선 연결선 183">
              <a:extLst>
                <a:ext uri="{FF2B5EF4-FFF2-40B4-BE49-F238E27FC236}">
                  <a16:creationId xmlns:a16="http://schemas.microsoft.com/office/drawing/2014/main" id="{5423709A-B85C-3CDD-6CD3-931DEA31B2B9}"/>
                </a:ext>
              </a:extLst>
            </p:cNvPr>
            <p:cNvCxnSpPr>
              <a:cxnSpLocks/>
            </p:cNvCxnSpPr>
            <p:nvPr/>
          </p:nvCxnSpPr>
          <p:spPr>
            <a:xfrm>
              <a:off x="5136700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56879D9-2002-8341-7D0C-F09BEB90746A}"/>
                </a:ext>
              </a:extLst>
            </p:cNvPr>
            <p:cNvGrpSpPr/>
            <p:nvPr/>
          </p:nvGrpSpPr>
          <p:grpSpPr>
            <a:xfrm>
              <a:off x="6611644" y="4772228"/>
              <a:ext cx="143736" cy="465698"/>
              <a:chOff x="1663538" y="2271752"/>
              <a:chExt cx="33334" cy="233443"/>
            </a:xfrm>
          </p:grpSpPr>
          <p:cxnSp>
            <p:nvCxnSpPr>
              <p:cNvPr id="213" name="직선 연결선 212">
                <a:extLst>
                  <a:ext uri="{FF2B5EF4-FFF2-40B4-BE49-F238E27FC236}">
                    <a16:creationId xmlns:a16="http://schemas.microsoft.com/office/drawing/2014/main" id="{6C8F499A-7792-CD9F-8FA3-DA640C61F8F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4" name="직선 연결선 213">
                <a:extLst>
                  <a:ext uri="{FF2B5EF4-FFF2-40B4-BE49-F238E27FC236}">
                    <a16:creationId xmlns:a16="http://schemas.microsoft.com/office/drawing/2014/main" id="{A5F8ED73-9C2D-A491-35F0-1A1A9D88724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F51E93D9-D7C6-A6D1-8AB3-7BB4A5B1EC12}"/>
                </a:ext>
              </a:extLst>
            </p:cNvPr>
            <p:cNvCxnSpPr>
              <a:cxnSpLocks/>
            </p:cNvCxnSpPr>
            <p:nvPr/>
          </p:nvCxnSpPr>
          <p:spPr>
            <a:xfrm>
              <a:off x="6408818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직선 연결선 186">
              <a:extLst>
                <a:ext uri="{FF2B5EF4-FFF2-40B4-BE49-F238E27FC236}">
                  <a16:creationId xmlns:a16="http://schemas.microsoft.com/office/drawing/2014/main" id="{06ADA5CB-494E-07A6-7E6F-1D96ED4EDEE5}"/>
                </a:ext>
              </a:extLst>
            </p:cNvPr>
            <p:cNvCxnSpPr>
              <a:cxnSpLocks/>
            </p:cNvCxnSpPr>
            <p:nvPr/>
          </p:nvCxnSpPr>
          <p:spPr>
            <a:xfrm>
              <a:off x="675897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직선 연결선 187">
              <a:extLst>
                <a:ext uri="{FF2B5EF4-FFF2-40B4-BE49-F238E27FC236}">
                  <a16:creationId xmlns:a16="http://schemas.microsoft.com/office/drawing/2014/main" id="{4B68A440-8C7E-C465-6FEB-65E1514950C8}"/>
                </a:ext>
              </a:extLst>
            </p:cNvPr>
            <p:cNvCxnSpPr>
              <a:cxnSpLocks/>
            </p:cNvCxnSpPr>
            <p:nvPr/>
          </p:nvCxnSpPr>
          <p:spPr>
            <a:xfrm>
              <a:off x="6936234" y="5004457"/>
              <a:ext cx="70718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9" name="그룹 188">
              <a:extLst>
                <a:ext uri="{FF2B5EF4-FFF2-40B4-BE49-F238E27FC236}">
                  <a16:creationId xmlns:a16="http://schemas.microsoft.com/office/drawing/2014/main" id="{638334FD-B7DF-E730-DA92-52771638644C}"/>
                </a:ext>
              </a:extLst>
            </p:cNvPr>
            <p:cNvGrpSpPr/>
            <p:nvPr/>
          </p:nvGrpSpPr>
          <p:grpSpPr>
            <a:xfrm>
              <a:off x="7646221" y="4771606"/>
              <a:ext cx="143736" cy="465698"/>
              <a:chOff x="1663538" y="2271752"/>
              <a:chExt cx="33334" cy="233443"/>
            </a:xfrm>
          </p:grpSpPr>
          <p:cxnSp>
            <p:nvCxnSpPr>
              <p:cNvPr id="211" name="직선 연결선 210">
                <a:extLst>
                  <a:ext uri="{FF2B5EF4-FFF2-40B4-BE49-F238E27FC236}">
                    <a16:creationId xmlns:a16="http://schemas.microsoft.com/office/drawing/2014/main" id="{12493DEA-4BB1-BE3D-2695-A9E60C0E4C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96872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2" name="직선 연결선 211">
                <a:extLst>
                  <a:ext uri="{FF2B5EF4-FFF2-40B4-BE49-F238E27FC236}">
                    <a16:creationId xmlns:a16="http://schemas.microsoft.com/office/drawing/2014/main" id="{4A5A6AFF-0B29-749F-238F-EE2BC7B31E0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663538" y="2271752"/>
                <a:ext cx="0" cy="233443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743974C2-B322-DE55-9B4C-F1FC7A504214}"/>
                </a:ext>
              </a:extLst>
            </p:cNvPr>
            <p:cNvCxnSpPr>
              <a:cxnSpLocks/>
            </p:cNvCxnSpPr>
            <p:nvPr/>
          </p:nvCxnSpPr>
          <p:spPr>
            <a:xfrm>
              <a:off x="7790555" y="5004457"/>
              <a:ext cx="68302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/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𝐓𝐎𝐗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 dirty="0"/>
                </a:p>
              </p:txBody>
            </p:sp>
          </mc:Choice>
          <mc:Fallback xmlns="">
            <p:sp>
              <p:nvSpPr>
                <p:cNvPr id="191" name="TextBox 190">
                  <a:extLst>
                    <a:ext uri="{FF2B5EF4-FFF2-40B4-BE49-F238E27FC236}">
                      <a16:creationId xmlns:a16="http://schemas.microsoft.com/office/drawing/2014/main" id="{D9C0D60D-A841-B617-4DCC-FF29293E2C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87501" y="4527578"/>
                  <a:ext cx="412998" cy="215443"/>
                </a:xfrm>
                <a:prstGeom prst="rect">
                  <a:avLst/>
                </a:prstGeom>
                <a:blipFill>
                  <a:blip r:embed="rId2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/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2" name="TextBox 191">
                  <a:extLst>
                    <a:ext uri="{FF2B5EF4-FFF2-40B4-BE49-F238E27FC236}">
                      <a16:creationId xmlns:a16="http://schemas.microsoft.com/office/drawing/2014/main" id="{11FD9BF9-B663-1C1B-1894-078C1D9CE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9944" y="4527578"/>
                  <a:ext cx="231857" cy="215443"/>
                </a:xfrm>
                <a:prstGeom prst="rect">
                  <a:avLst/>
                </a:prstGeom>
                <a:blipFill>
                  <a:blip r:embed="rId3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/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3" name="TextBox 192">
                  <a:extLst>
                    <a:ext uri="{FF2B5EF4-FFF2-40B4-BE49-F238E27FC236}">
                      <a16:creationId xmlns:a16="http://schemas.microsoft.com/office/drawing/2014/main" id="{96FE84B9-8AD2-92F0-ADAE-94F2C3F8DF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4716" y="4527578"/>
                  <a:ext cx="231857" cy="215443"/>
                </a:xfrm>
                <a:prstGeom prst="rect">
                  <a:avLst/>
                </a:prstGeom>
                <a:blipFill>
                  <a:blip r:embed="rId4"/>
                  <a:stretch>
                    <a:fillRect l="-28947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/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1" smtClean="0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4" name="TextBox 193">
                  <a:extLst>
                    <a:ext uri="{FF2B5EF4-FFF2-40B4-BE49-F238E27FC236}">
                      <a16:creationId xmlns:a16="http://schemas.microsoft.com/office/drawing/2014/main" id="{6A7406FE-6856-026D-382C-4F31FED57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7680" y="4527578"/>
                  <a:ext cx="231857" cy="215443"/>
                </a:xfrm>
                <a:prstGeom prst="rect">
                  <a:avLst/>
                </a:prstGeom>
                <a:blipFill>
                  <a:blip r:embed="rId5"/>
                  <a:stretch>
                    <a:fillRect l="-26316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/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𝐍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5" name="TextBox 194">
                  <a:extLst>
                    <a:ext uri="{FF2B5EF4-FFF2-40B4-BE49-F238E27FC236}">
                      <a16:creationId xmlns:a16="http://schemas.microsoft.com/office/drawing/2014/main" id="{64DE1BBB-7A83-BBAE-7085-375F85F94A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654" y="4527578"/>
                  <a:ext cx="244683" cy="215443"/>
                </a:xfrm>
                <a:prstGeom prst="rect">
                  <a:avLst/>
                </a:prstGeom>
                <a:blipFill>
                  <a:blip r:embed="rId6"/>
                  <a:stretch>
                    <a:fillRect l="-25000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/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>
                          <m:sSubPr>
                            <m:ctrlP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en-US" altLang="ko-KR" sz="1400" b="1" i="0" smtClean="0">
                                <a:latin typeface="Cambria Math" panose="02040503050406030204" pitchFamily="18" charset="0"/>
                              </a:rPr>
                              <m:t>𝐁𝐎𝐗</m:t>
                            </m:r>
                          </m:sub>
                        </m:sSub>
                      </m:oMath>
                    </m:oMathPara>
                  </a14:m>
                  <a:endParaRPr lang="ko-KR" altLang="en-US" sz="1400" b="1"/>
                </a:p>
              </p:txBody>
            </p:sp>
          </mc:Choice>
          <mc:Fallback xmlns="">
            <p:sp>
              <p:nvSpPr>
                <p:cNvPr id="197" name="TextBox 196">
                  <a:extLst>
                    <a:ext uri="{FF2B5EF4-FFF2-40B4-BE49-F238E27FC236}">
                      <a16:creationId xmlns:a16="http://schemas.microsoft.com/office/drawing/2014/main" id="{2320E5BC-61E5-3416-2B2D-C2BB5047AC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9668" y="4527578"/>
                  <a:ext cx="414602" cy="215443"/>
                </a:xfrm>
                <a:prstGeom prst="rect">
                  <a:avLst/>
                </a:prstGeom>
                <a:blipFill>
                  <a:blip r:embed="rId7"/>
                  <a:stretch>
                    <a:fillRect l="-13235" b="-14286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38CE6D35-2932-CD2F-A863-1CF7105BC775}"/>
                </a:ext>
              </a:extLst>
            </p:cNvPr>
            <p:cNvSpPr txBox="1"/>
            <p:nvPr/>
          </p:nvSpPr>
          <p:spPr>
            <a:xfrm>
              <a:off x="311211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0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FC26A3AE-6AD2-A403-FB08-3F2DD6B1178C}"/>
                </a:ext>
              </a:extLst>
            </p:cNvPr>
            <p:cNvSpPr txBox="1"/>
            <p:nvPr/>
          </p:nvSpPr>
          <p:spPr>
            <a:xfrm>
              <a:off x="367680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EE9C6097-8E69-8DE8-64AD-3697D416946F}"/>
                </a:ext>
              </a:extLst>
            </p:cNvPr>
            <p:cNvSpPr txBox="1"/>
            <p:nvPr/>
          </p:nvSpPr>
          <p:spPr>
            <a:xfrm>
              <a:off x="4241496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83CDD3E1-3FDB-F509-B562-811D09B701A4}"/>
                </a:ext>
              </a:extLst>
            </p:cNvPr>
            <p:cNvSpPr txBox="1"/>
            <p:nvPr/>
          </p:nvSpPr>
          <p:spPr>
            <a:xfrm>
              <a:off x="4806185" y="5065931"/>
              <a:ext cx="103384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B790F642-9D41-397B-0EBB-68B4A44E09D6}"/>
                </a:ext>
              </a:extLst>
            </p:cNvPr>
            <p:cNvSpPr txBox="1"/>
            <p:nvPr/>
          </p:nvSpPr>
          <p:spPr>
            <a:xfrm>
              <a:off x="5587940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N-1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CFE36130-CEF3-04FD-2A61-B1AF97904B11}"/>
                </a:ext>
              </a:extLst>
            </p:cNvPr>
            <p:cNvSpPr txBox="1"/>
            <p:nvPr/>
          </p:nvSpPr>
          <p:spPr>
            <a:xfrm>
              <a:off x="6254789" y="5065931"/>
              <a:ext cx="13336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200">
                  <a:latin typeface="Arial" panose="020B0604020202020204" pitchFamily="34" charset="0"/>
                  <a:cs typeface="Arial" panose="020B0604020202020204" pitchFamily="34" charset="0"/>
                </a:rPr>
                <a:t>ΔQ</a:t>
              </a:r>
              <a:r>
                <a:rPr lang="en-US" altLang="ko-KR" sz="1200" baseline="-25000"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ko-KR" altLang="en-US" sz="1200" baseline="-250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4" name="타원 203">
              <a:extLst>
                <a:ext uri="{FF2B5EF4-FFF2-40B4-BE49-F238E27FC236}">
                  <a16:creationId xmlns:a16="http://schemas.microsoft.com/office/drawing/2014/main" id="{1E9A8437-3A4F-6831-B4C1-59530E141D03}"/>
                </a:ext>
              </a:extLst>
            </p:cNvPr>
            <p:cNvSpPr/>
            <p:nvPr/>
          </p:nvSpPr>
          <p:spPr>
            <a:xfrm>
              <a:off x="3632223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5" name="타원 204">
              <a:extLst>
                <a:ext uri="{FF2B5EF4-FFF2-40B4-BE49-F238E27FC236}">
                  <a16:creationId xmlns:a16="http://schemas.microsoft.com/office/drawing/2014/main" id="{656A9055-AF82-3884-0CCC-461DDB3D1A53}"/>
                </a:ext>
              </a:extLst>
            </p:cNvPr>
            <p:cNvSpPr/>
            <p:nvPr/>
          </p:nvSpPr>
          <p:spPr>
            <a:xfrm>
              <a:off x="419691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6" name="타원 205">
              <a:extLst>
                <a:ext uri="{FF2B5EF4-FFF2-40B4-BE49-F238E27FC236}">
                  <a16:creationId xmlns:a16="http://schemas.microsoft.com/office/drawing/2014/main" id="{B43A9A5D-610A-AF7B-C51F-021E0A9FB38D}"/>
                </a:ext>
              </a:extLst>
            </p:cNvPr>
            <p:cNvSpPr/>
            <p:nvPr/>
          </p:nvSpPr>
          <p:spPr>
            <a:xfrm>
              <a:off x="473284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7" name="타원 206">
              <a:extLst>
                <a:ext uri="{FF2B5EF4-FFF2-40B4-BE49-F238E27FC236}">
                  <a16:creationId xmlns:a16="http://schemas.microsoft.com/office/drawing/2014/main" id="{9B6B4969-CEB7-7E95-03CF-DC9C2F6DF9F2}"/>
                </a:ext>
              </a:extLst>
            </p:cNvPr>
            <p:cNvSpPr/>
            <p:nvPr/>
          </p:nvSpPr>
          <p:spPr>
            <a:xfrm>
              <a:off x="5291638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8" name="타원 207">
              <a:extLst>
                <a:ext uri="{FF2B5EF4-FFF2-40B4-BE49-F238E27FC236}">
                  <a16:creationId xmlns:a16="http://schemas.microsoft.com/office/drawing/2014/main" id="{DF772A4E-3C93-E5A7-7A95-7F079DE2031E}"/>
                </a:ext>
              </a:extLst>
            </p:cNvPr>
            <p:cNvSpPr/>
            <p:nvPr/>
          </p:nvSpPr>
          <p:spPr>
            <a:xfrm>
              <a:off x="6386686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sp>
          <p:nvSpPr>
            <p:cNvPr id="209" name="타원 208">
              <a:extLst>
                <a:ext uri="{FF2B5EF4-FFF2-40B4-BE49-F238E27FC236}">
                  <a16:creationId xmlns:a16="http://schemas.microsoft.com/office/drawing/2014/main" id="{7D3B397A-A258-9578-6D31-D2BE6073AF71}"/>
                </a:ext>
              </a:extLst>
            </p:cNvPr>
            <p:cNvSpPr/>
            <p:nvPr/>
          </p:nvSpPr>
          <p:spPr>
            <a:xfrm>
              <a:off x="6919475" y="4978272"/>
              <a:ext cx="71098" cy="71098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4000"/>
            </a:p>
          </p:txBody>
        </p:sp>
        <p:cxnSp>
          <p:nvCxnSpPr>
            <p:cNvPr id="210" name="직선 연결선 209">
              <a:extLst>
                <a:ext uri="{FF2B5EF4-FFF2-40B4-BE49-F238E27FC236}">
                  <a16:creationId xmlns:a16="http://schemas.microsoft.com/office/drawing/2014/main" id="{546F02D3-E684-0037-2575-1E6AA71BAFA6}"/>
                </a:ext>
              </a:extLst>
            </p:cNvPr>
            <p:cNvCxnSpPr>
              <a:cxnSpLocks/>
            </p:cNvCxnSpPr>
            <p:nvPr/>
          </p:nvCxnSpPr>
          <p:spPr>
            <a:xfrm>
              <a:off x="6161733" y="5005076"/>
              <a:ext cx="21732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5" name="TextBox 264">
            <a:extLst>
              <a:ext uri="{FF2B5EF4-FFF2-40B4-BE49-F238E27FC236}">
                <a16:creationId xmlns:a16="http://schemas.microsoft.com/office/drawing/2014/main" id="{40E80BAA-3C7A-7931-AAAE-9CDD49C27053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6B118A-05C6-64C9-E2F7-DD109F0125FB}"/>
              </a:ext>
            </a:extLst>
          </p:cNvPr>
          <p:cNvSpPr txBox="1"/>
          <p:nvPr/>
        </p:nvSpPr>
        <p:spPr>
          <a:xfrm>
            <a:off x="409443" y="1097965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영역을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radial charge cell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분할</a:t>
            </a:r>
          </a:p>
        </p:txBody>
      </p:sp>
      <p:sp>
        <p:nvSpPr>
          <p:cNvPr id="5" name="화살표: 아래쪽 4">
            <a:extLst>
              <a:ext uri="{FF2B5EF4-FFF2-40B4-BE49-F238E27FC236}">
                <a16:creationId xmlns:a16="http://schemas.microsoft.com/office/drawing/2014/main" id="{F5CC9C04-7F95-140B-5AF0-81EF27621DBB}"/>
              </a:ext>
            </a:extLst>
          </p:cNvPr>
          <p:cNvSpPr/>
          <p:nvPr/>
        </p:nvSpPr>
        <p:spPr>
          <a:xfrm>
            <a:off x="4167077" y="3738026"/>
            <a:ext cx="765318" cy="584774"/>
          </a:xfrm>
          <a:prstGeom prst="down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F4C1DF-32FF-30D5-ED42-B3DFFFA0091A}"/>
              </a:ext>
            </a:extLst>
          </p:cNvPr>
          <p:cNvSpPr txBox="1"/>
          <p:nvPr/>
        </p:nvSpPr>
        <p:spPr>
          <a:xfrm>
            <a:off x="409443" y="4397193"/>
            <a:ext cx="864042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각각의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equivalent charge node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ΔQ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표현할 수 있음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84EB86A7-0275-51D1-B097-7F004E84F20C}"/>
              </a:ext>
            </a:extLst>
          </p:cNvPr>
          <p:cNvGrpSpPr/>
          <p:nvPr/>
        </p:nvGrpSpPr>
        <p:grpSpPr>
          <a:xfrm>
            <a:off x="7320881" y="5068122"/>
            <a:ext cx="947738" cy="886470"/>
            <a:chOff x="6105526" y="1766242"/>
            <a:chExt cx="947738" cy="886470"/>
          </a:xfrm>
        </p:grpSpPr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375D809-35E2-12E3-B627-6B0E9D992FDC}"/>
                </a:ext>
              </a:extLst>
            </p:cNvPr>
            <p:cNvSpPr/>
            <p:nvPr/>
          </p:nvSpPr>
          <p:spPr>
            <a:xfrm>
              <a:off x="6105526" y="1766888"/>
              <a:ext cx="885824" cy="885824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7581E6AD-496E-5D32-54E3-4238C219E1E8}"/>
                </a:ext>
              </a:extLst>
            </p:cNvPr>
            <p:cNvSpPr/>
            <p:nvPr/>
          </p:nvSpPr>
          <p:spPr>
            <a:xfrm>
              <a:off x="6338275" y="1999637"/>
              <a:ext cx="420326" cy="420326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" name="직선 화살표 연결선 20">
              <a:extLst>
                <a:ext uri="{FF2B5EF4-FFF2-40B4-BE49-F238E27FC236}">
                  <a16:creationId xmlns:a16="http://schemas.microsoft.com/office/drawing/2014/main" id="{D71CB48E-5CA4-01D2-6BDB-9545F5075268}"/>
                </a:ext>
              </a:extLst>
            </p:cNvPr>
            <p:cNvCxnSpPr>
              <a:endCxn id="20" idx="7"/>
            </p:cNvCxnSpPr>
            <p:nvPr/>
          </p:nvCxnSpPr>
          <p:spPr>
            <a:xfrm flipV="1">
              <a:off x="6553200" y="2061192"/>
              <a:ext cx="143846" cy="15813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직선 화살표 연결선 21">
              <a:extLst>
                <a:ext uri="{FF2B5EF4-FFF2-40B4-BE49-F238E27FC236}">
                  <a16:creationId xmlns:a16="http://schemas.microsoft.com/office/drawing/2014/main" id="{2F084445-8377-4A54-9298-249E151DAD11}"/>
                </a:ext>
              </a:extLst>
            </p:cNvPr>
            <p:cNvCxnSpPr>
              <a:cxnSpLocks/>
              <a:endCxn id="19" idx="6"/>
            </p:cNvCxnSpPr>
            <p:nvPr/>
          </p:nvCxnSpPr>
          <p:spPr>
            <a:xfrm flipV="1">
              <a:off x="6548438" y="2209800"/>
              <a:ext cx="442912" cy="9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직선 연결선 22">
              <a:extLst>
                <a:ext uri="{FF2B5EF4-FFF2-40B4-BE49-F238E27FC236}">
                  <a16:creationId xmlns:a16="http://schemas.microsoft.com/office/drawing/2014/main" id="{E2A3BDB0-7A89-CE83-2BA8-66BAEF52CB65}"/>
                </a:ext>
              </a:extLst>
            </p:cNvPr>
            <p:cNvCxnSpPr/>
            <p:nvPr/>
          </p:nvCxnSpPr>
          <p:spPr>
            <a:xfrm>
              <a:off x="6448425" y="1853230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BA61BF6-D801-DE29-141E-C8A3B15478EF}"/>
                </a:ext>
              </a:extLst>
            </p:cNvPr>
            <p:cNvCxnSpPr/>
            <p:nvPr/>
          </p:nvCxnSpPr>
          <p:spPr>
            <a:xfrm>
              <a:off x="6448425" y="1907205"/>
              <a:ext cx="200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연결선 24">
              <a:extLst>
                <a:ext uri="{FF2B5EF4-FFF2-40B4-BE49-F238E27FC236}">
                  <a16:creationId xmlns:a16="http://schemas.microsoft.com/office/drawing/2014/main" id="{7619C340-66EA-9C8F-A919-4416D50F6105}"/>
                </a:ext>
              </a:extLst>
            </p:cNvPr>
            <p:cNvCxnSpPr>
              <a:cxnSpLocks/>
              <a:stCxn id="20" idx="0"/>
            </p:cNvCxnSpPr>
            <p:nvPr/>
          </p:nvCxnSpPr>
          <p:spPr>
            <a:xfrm flipV="1">
              <a:off x="6548438" y="1914786"/>
              <a:ext cx="0" cy="8485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26D3A822-8FDD-62BC-C451-D2287DA021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48437" y="1766242"/>
              <a:ext cx="0" cy="8761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179A447-FF43-A2B1-1EC8-C8000FA928F8}"/>
                    </a:ext>
                  </a:extLst>
                </p:cNvPr>
                <p:cNvSpPr txBox="1"/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𝑎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14D1E24-7CC3-76F6-BEA4-E42EE728E4A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3343" y="1961263"/>
                  <a:ext cx="336551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C74366-3F40-4483-E634-DB4EF6861ADD}"/>
                    </a:ext>
                  </a:extLst>
                </p:cNvPr>
                <p:cNvSpPr txBox="1"/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ko-KR" sz="1050" b="0" i="1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𝑏</m:t>
                      </m:r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4E1D0FB-CE49-6B85-C3E8-E3F33F71F3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6713" y="2157595"/>
                  <a:ext cx="336551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/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baseline="-3000" dirty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𝐶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6298AFF6-3B25-1AB7-F068-52BB7CA734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27787" y="4977768"/>
                <a:ext cx="546754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/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𝐶</m:t>
                    </m:r>
                    <m:r>
                      <a:rPr lang="en-US" altLang="ko-KR" sz="2000" b="0" i="1" dirty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>
                      <m:fPr>
                        <m:ctrlP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dirty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𝜋𝜀</m:t>
                        </m:r>
                      </m:num>
                      <m:den>
                        <m:func>
                          <m:funcPr>
                            <m:ctrl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ko-KR" sz="2000" b="0" i="0" dirty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ln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𝑏</m:t>
                                </m:r>
                                <m:r>
                                  <m:rPr>
                                    <m:lit/>
                                  </m:rP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/</m:t>
                                </m:r>
                                <m:r>
                                  <a:rPr lang="en-US" altLang="ko-KR" sz="2000" b="0" i="1" dirty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𝑎</m:t>
                                </m:r>
                              </m:e>
                            </m:d>
                          </m:e>
                        </m:func>
                      </m:den>
                    </m:f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061CD819-364E-9D7B-97F8-0E52D49D2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7834" y="4397193"/>
                <a:ext cx="1579612" cy="56688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9400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6EED9-289A-C75D-E259-CC1987405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5C5F83-BEED-3220-1ABB-195354AA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Detailed Poisson Solution</a:t>
            </a:r>
            <a:endParaRPr lang="ko-KR" altLang="en-US" dirty="0"/>
          </a:p>
        </p:txBody>
      </p:sp>
      <p:pic>
        <p:nvPicPr>
          <p:cNvPr id="4" name="그림 3" descr="텍스트, 폰트, 친필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57F814-81C0-B11D-82BA-3C10AE605C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505" y="1362634"/>
            <a:ext cx="4309835" cy="165722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05B187-72BA-F9FE-A791-B18A4C829D83}"/>
              </a:ext>
            </a:extLst>
          </p:cNvPr>
          <p:cNvSpPr txBox="1"/>
          <p:nvPr/>
        </p:nvSpPr>
        <p:spPr>
          <a:xfrm>
            <a:off x="580103" y="963561"/>
            <a:ext cx="33422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N+2 layer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전위 분포 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6F4FE7-A57F-6A32-681A-2E4753E47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6016" y="3879798"/>
            <a:ext cx="1495634" cy="46679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D250DDF5-DA6E-192F-24F4-DF6B5E8F2B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240" y="4621154"/>
            <a:ext cx="3755923" cy="380809"/>
          </a:xfrm>
          <a:prstGeom prst="rect">
            <a:avLst/>
          </a:prstGeom>
        </p:spPr>
      </p:pic>
      <p:pic>
        <p:nvPicPr>
          <p:cNvPr id="12" name="그림 11" descr="텍스트, 도표, 폰트, 친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AEC66E-9B73-0F63-EB4A-185634E426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4115" y="1570745"/>
            <a:ext cx="3755923" cy="314648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38A7378-CDF4-68F4-07FE-EFADAA096305}"/>
              </a:ext>
            </a:extLst>
          </p:cNvPr>
          <p:cNvSpPr txBox="1"/>
          <p:nvPr/>
        </p:nvSpPr>
        <p:spPr>
          <a:xfrm>
            <a:off x="5306231" y="963561"/>
            <a:ext cx="26842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경계조건 행렬식 정리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F19C8A-DB6C-16EB-E305-67194412DE18}"/>
              </a:ext>
            </a:extLst>
          </p:cNvPr>
          <p:cNvSpPr txBox="1"/>
          <p:nvPr/>
        </p:nvSpPr>
        <p:spPr>
          <a:xfrm>
            <a:off x="1405304" y="3322920"/>
            <a:ext cx="25170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선형방정식</a:t>
            </a:r>
          </a:p>
        </p:txBody>
      </p:sp>
      <p:sp>
        <p:nvSpPr>
          <p:cNvPr id="15" name="왼쪽 중괄호 14">
            <a:extLst>
              <a:ext uri="{FF2B5EF4-FFF2-40B4-BE49-F238E27FC236}">
                <a16:creationId xmlns:a16="http://schemas.microsoft.com/office/drawing/2014/main" id="{40FB273B-07DE-550B-C6ED-5B1B98A01187}"/>
              </a:ext>
            </a:extLst>
          </p:cNvPr>
          <p:cNvSpPr/>
          <p:nvPr/>
        </p:nvSpPr>
        <p:spPr>
          <a:xfrm>
            <a:off x="4864932" y="1363671"/>
            <a:ext cx="356707" cy="3447888"/>
          </a:xfrm>
          <a:prstGeom prst="leftBrace">
            <a:avLst>
              <a:gd name="adj1" fmla="val 80279"/>
              <a:gd name="adj2" fmla="val 65858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18E10C-866D-D215-EA54-6985C98C0068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59550E-6915-D59A-CE8E-8A031A181A7D}"/>
              </a:ext>
            </a:extLst>
          </p:cNvPr>
          <p:cNvSpPr txBox="1"/>
          <p:nvPr/>
        </p:nvSpPr>
        <p:spPr>
          <a:xfrm>
            <a:off x="580104" y="5410986"/>
            <a:ext cx="27192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역행렬</a:t>
            </a:r>
            <a:r>
              <a:rPr lang="ko-KR" altLang="en-US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계산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…?	x = A</a:t>
            </a:r>
            <a:r>
              <a:rPr lang="en-US" altLang="ko-KR" sz="24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-1</a:t>
            </a:r>
            <a:r>
              <a:rPr lang="en-US" altLang="ko-KR" sz="2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 ..?</a:t>
            </a:r>
            <a:endParaRPr lang="ko-KR" altLang="en-US" sz="2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459E2C-4E16-26A4-071A-63101296EA36}"/>
              </a:ext>
            </a:extLst>
          </p:cNvPr>
          <p:cNvSpPr txBox="1"/>
          <p:nvPr/>
        </p:nvSpPr>
        <p:spPr>
          <a:xfrm>
            <a:off x="4572000" y="5664511"/>
            <a:ext cx="376784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구하는데 있어 모든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coefficient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계산은 불필요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DF34F1C-3C4D-D660-97C8-C53D17206B4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099250" y="6018454"/>
            <a:ext cx="147275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1372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FC4F5-1BC0-444C-80AE-9E166FBE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E13666-3AEC-DBB1-B987-49885C8D7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Q-</a:t>
            </a:r>
            <a:r>
              <a:rPr lang="en-US" altLang="ko-KR" dirty="0" err="1"/>
              <a:t>ΔV</a:t>
            </a:r>
            <a:r>
              <a:rPr lang="en-US" altLang="ko-KR" baseline="-25000" dirty="0" err="1"/>
              <a:t>th</a:t>
            </a:r>
            <a:r>
              <a:rPr lang="en-US" altLang="ko-KR" dirty="0"/>
              <a:t> Optimized Calculation</a:t>
            </a:r>
            <a:endParaRPr lang="ko-KR" altLang="en-US" dirty="0"/>
          </a:p>
        </p:txBody>
      </p:sp>
      <p:pic>
        <p:nvPicPr>
          <p:cNvPr id="5" name="그림 4" descr="폰트, 텍스트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08BDE1-8A43-FEC0-E8C1-EE714D441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977" y="1770233"/>
            <a:ext cx="2410161" cy="733527"/>
          </a:xfrm>
          <a:prstGeom prst="rect">
            <a:avLst/>
          </a:prstGeom>
        </p:spPr>
      </p:pic>
      <p:pic>
        <p:nvPicPr>
          <p:cNvPr id="6" name="그림 5" descr="폰트, 텍스트, 라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5F27606-0963-B914-E944-35FAE9B57F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550" y="2638123"/>
            <a:ext cx="2160900" cy="53498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0CEA32D-CC1D-4CEB-E725-A5295A65ED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9753" y="2805917"/>
            <a:ext cx="2624851" cy="298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B0153A1-F69A-C98F-D4B9-96EA751DAB8F}"/>
              </a:ext>
            </a:extLst>
          </p:cNvPr>
          <p:cNvSpPr txBox="1"/>
          <p:nvPr/>
        </p:nvSpPr>
        <p:spPr>
          <a:xfrm>
            <a:off x="530941" y="1196664"/>
            <a:ext cx="50203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: channel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에서의 전기장의 세기가 중요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B7EB8B-F728-D4C4-2DBF-EC64979A3A84}"/>
              </a:ext>
            </a:extLst>
          </p:cNvPr>
          <p:cNvSpPr txBox="1"/>
          <p:nvPr/>
        </p:nvSpPr>
        <p:spPr>
          <a:xfrm>
            <a:off x="530941" y="2744853"/>
            <a:ext cx="350028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Cramer’s rule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따르면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EDD3E0A-E53D-607A-4FF3-2A882D3950FC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7" name="그림 6" descr="텍스트, 도표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FCC1F5-C0A9-FA93-07A8-C0C1C143A7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1977" y="3571780"/>
            <a:ext cx="3629756" cy="15716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148E05-C795-3D57-D309-5023DCBB2510}"/>
              </a:ext>
            </a:extLst>
          </p:cNvPr>
          <p:cNvSpPr txBox="1"/>
          <p:nvPr/>
        </p:nvSpPr>
        <p:spPr>
          <a:xfrm>
            <a:off x="4175806" y="1783053"/>
            <a:ext cx="45670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K</a:t>
            </a:r>
            <a:r>
              <a:rPr lang="en-US" altLang="ko-KR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값을 </a:t>
            </a:r>
            <a:r>
              <a:rPr lang="ko-KR" altLang="en-US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일치시키는게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구하는 핵심 과정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!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2146A9C4-EFCA-2894-B40D-A521D8730E6F}"/>
              </a:ext>
            </a:extLst>
          </p:cNvPr>
          <p:cNvSpPr/>
          <p:nvPr/>
        </p:nvSpPr>
        <p:spPr>
          <a:xfrm>
            <a:off x="3212538" y="2014917"/>
            <a:ext cx="890124" cy="303119"/>
          </a:xfrm>
          <a:prstGeom prst="righ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/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/>
                        </a:rPr>
                        <m:t>∴</m:t>
                      </m:r>
                      <m: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Δ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𝑉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𝑡ℎ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=−</m:t>
                      </m:r>
                      <m:func>
                        <m:funcPr>
                          <m:ctrl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ko-KR" sz="2000" b="0" i="0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altLang="ko-KR" sz="200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ko-KR" sz="2000" b="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  <m:t>𝑏</m:t>
                                  </m:r>
                                  <m:d>
                                    <m:dPr>
                                      <m:ctrl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</m:ctrlPr>
                                    </m:d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altLang="ko-KR" sz="2000" b="0" i="0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Δ</m:t>
                                      </m:r>
                                      <m:sSub>
                                        <m:sSubPr>
                                          <m:ctrlP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𝑄</m:t>
                                          </m:r>
                                        </m:e>
                                        <m:sub>
                                          <m:r>
                                            <a:rPr lang="en-US" altLang="ko-KR" sz="2000" b="0" i="1" smtClean="0">
                                              <a:ln w="9525">
                                                <a:solidFill>
                                                  <a:schemeClr val="tx1">
                                                    <a:alpha val="29000"/>
                                                  </a:schemeClr>
                                                </a:solidFill>
                                              </a:ln>
                                              <a:latin typeface="Cambria Math" panose="02040503050406030204" pitchFamily="18" charset="0"/>
                                              <a:ea typeface="맑은 고딕"/>
                                              <a:cs typeface="Times New Roman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altLang="ko-KR" sz="2000" b="0" i="1" smtClean="0">
                                          <a:ln w="9525">
                                            <a:solidFill>
                                              <a:schemeClr val="tx1">
                                                <a:alpha val="29000"/>
                                              </a:schemeClr>
                                            </a:solidFill>
                                          </a:ln>
                                          <a:latin typeface="Cambria Math" panose="02040503050406030204" pitchFamily="18" charset="0"/>
                                          <a:ea typeface="맑은 고딕"/>
                                          <a:cs typeface="Times New Roman"/>
                                        </a:rPr>
                                        <m:t>,0</m:t>
                                      </m:r>
                                    </m:e>
                                  </m:d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 −</m:t>
                      </m:r>
                      <m:r>
                        <m:rPr>
                          <m:sty m:val="p"/>
                        </m:rPr>
                        <a:rPr lang="en-US" altLang="ko-KR" sz="2000" b="0" i="0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det</m:t>
                      </m:r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99B68F-56A8-91FE-A3C1-038EDFCDB3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774727" y="5545921"/>
                <a:ext cx="7816906" cy="45204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/>
              <p:nvPr/>
            </p:nvSpPr>
            <p:spPr>
              <a:xfrm>
                <a:off x="5041340" y="3419306"/>
                <a:ext cx="3686924" cy="265758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ko-KR" altLang="en-US" sz="200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ko-KR" altLang="en-US" sz="200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mP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0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sz="200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Δ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𝑄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num>
                                      <m:den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−1</m:t>
                                    </m:r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0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</m:m>
                            </m:e>
                          </m:mr>
                          <m:mr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⋱</m:t>
                              </m:r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>
                                        <m:f>
                                          <m:fPr>
                                            <m:ctrlPr>
                                              <a:rPr lang="en-US" altLang="ko-KR" sz="200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fPr>
                                          <m:num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sz="200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Δ</m:t>
                                            </m:r>
                                            <m:sSub>
                                              <m:sSubPr>
                                                <m:ctrlPr>
                                                  <a:rPr lang="en-US" altLang="ko-KR" sz="2000" i="1">
                                                    <a:ln w="9525">
                                                      <a:solidFill>
                                                        <a:schemeClr val="tx1">
                                                          <a:alpha val="29000"/>
                                                        </a:schemeClr>
                                                      </a:solidFill>
                                                    </a:ln>
                                                    <a:latin typeface="Cambria Math" panose="02040503050406030204" pitchFamily="18" charset="0"/>
                                                    <a:ea typeface="맑은 고딕"/>
                                                    <a:cs typeface="Times New Roman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en-US" altLang="ko-KR" sz="2000" i="1">
                                                    <a:ln w="9525">
                                                      <a:solidFill>
                                                        <a:schemeClr val="tx1">
                                                          <a:alpha val="29000"/>
                                                        </a:schemeClr>
                                                      </a:solidFill>
                                                    </a:ln>
                                                    <a:latin typeface="Cambria Math" panose="02040503050406030204" pitchFamily="18" charset="0"/>
                                                    <a:ea typeface="맑은 고딕"/>
                                                    <a:cs typeface="Times New Roman"/>
                                                  </a:rPr>
                                                  <m:t>𝑄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en-US" altLang="ko-KR" sz="2000" b="0" i="1" smtClean="0">
                                                    <a:ln w="9525">
                                                      <a:solidFill>
                                                        <a:schemeClr val="tx1">
                                                          <a:alpha val="29000"/>
                                                        </a:schemeClr>
                                                      </a:solidFill>
                                                    </a:ln>
                                                    <a:latin typeface="Cambria Math" panose="02040503050406030204" pitchFamily="18" charset="0"/>
                                                    <a:ea typeface="맑은 고딕"/>
                                                    <a:cs typeface="Times New Roman"/>
                                                  </a:rPr>
                                                  <m:t>𝑁</m:t>
                                                </m:r>
                                              </m:sub>
                                            </m:sSub>
                                          </m:num>
                                          <m:den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𝜋</m:t>
                                            </m:r>
                                          </m:den>
                                        </m:f>
                                      </m:e>
                                      <m:e/>
                                    </m:eqAr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0</m:t>
                                    </m:r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  <m:e>
                              <m:r>
                                <a:rPr lang="ko-KR" altLang="en-US" sz="200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⋯</m:t>
                              </m:r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ko-KR" altLang="en-US" sz="2000" i="1" smtClean="0">
                                      <a:ln w="9525">
                                        <a:solidFill>
                                          <a:schemeClr val="tx1">
                                            <a:alpha val="29000"/>
                                          </a:schemeClr>
                                        </a:solidFill>
                                      </a:ln>
                                      <a:latin typeface="Cambria Math" panose="02040503050406030204" pitchFamily="18" charset="0"/>
                                      <a:ea typeface="맑은 고딕"/>
                                      <a:cs typeface="Times New Roman"/>
                                    </a:rPr>
                                  </m:ctrlPr>
                                </m:mPr>
                                <m:mr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e>
                                      <m:e/>
                                    </m:eqArr>
                                  </m:e>
                                  <m:e>
                                    <m:eqArr>
                                      <m:eqArrPr>
                                        <m:ctrlPr>
                                          <a:rPr lang="en-US" altLang="ko-KR" sz="2000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eqArrPr>
                                      <m:e/>
                                      <m:e>
                                        <m:r>
                                          <a:rPr lang="en-US" altLang="ko-KR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e>
                                      <m:e/>
                                    </m:eqArr>
                                  </m:e>
                                </m:mr>
                                <m:mr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𝑁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  <m:e>
                                    <m:f>
                                      <m:fPr>
                                        <m:ctrlP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2</m:t>
                                        </m:r>
                                        <m:r>
                                          <a:rPr lang="en-US" altLang="ko-KR" sz="2000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𝜋</m:t>
                                        </m:r>
                                      </m:num>
                                      <m:den>
                                        <m:sSub>
                                          <m:sSubPr>
                                            <m:ctrlP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altLang="ko-KR" sz="2000" i="1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sz="2000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𝐵𝑂𝑋</m:t>
                                            </m:r>
                                          </m:sub>
                                        </m:sSub>
                                      </m:den>
                                    </m:f>
                                  </m:e>
                                </m:mr>
                              </m:m>
                            </m:e>
                          </m:mr>
                        </m:m>
                      </m:e>
                    </m:d>
                  </m:oMath>
                </a14:m>
                <a:r>
                  <a:rPr lang="ko-KR" alt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873099C-7DE6-B5BF-E46D-61FA2C280C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1340" y="3419306"/>
                <a:ext cx="3686924" cy="26575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7241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3ADB9-34DA-B950-A802-3A43A8BED5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7F58E887-E832-99FA-0F24-A9AFF8C1C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75A4D3-247C-22B1-F1AE-B86974CCBE78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0B019CFC-82C9-105D-FCDD-B75465C27C5D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15A7DFE3-C15B-860D-119E-F34640D54D2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8311B41D-60B9-2619-8B99-9242345E3C1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BADA6501-2D63-D31A-2E5E-0221B93D84B6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D5066E75-AF93-E9A3-9676-300154B024F9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AEF8090E-1CBF-ECCD-AB9E-F978D8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95" y="1854072"/>
            <a:ext cx="5496708" cy="3860024"/>
          </a:xfrm>
          <a:prstGeom prst="rect">
            <a:avLst/>
          </a:prstGeom>
        </p:spPr>
      </p:pic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7EACCCCB-6BCA-1872-D756-495F8CC939D3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1CCC6D7-D585-2B55-CEDB-2857EAD6F2D7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CF5BBB-2D30-00D7-79F5-405AED2EA63C}"/>
              </a:ext>
            </a:extLst>
          </p:cNvPr>
          <p:cNvSpPr txBox="1"/>
          <p:nvPr/>
        </p:nvSpPr>
        <p:spPr>
          <a:xfrm>
            <a:off x="1541143" y="5761990"/>
            <a:ext cx="7509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비용은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1988DD71-58A4-C0F7-7D4B-BA19C07038AA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28F921A-9011-3F85-500D-0EB173CEC725}"/>
              </a:ext>
            </a:extLst>
          </p:cNvPr>
          <p:cNvSpPr txBox="1"/>
          <p:nvPr/>
        </p:nvSpPr>
        <p:spPr>
          <a:xfrm>
            <a:off x="806823" y="3679576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27BCF5-2405-5B72-05BF-C4316D65EF91}"/>
              </a:ext>
            </a:extLst>
          </p:cNvPr>
          <p:cNvSpPr txBox="1"/>
          <p:nvPr/>
        </p:nvSpPr>
        <p:spPr>
          <a:xfrm>
            <a:off x="344242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076E66-0C5F-6E31-9940-F4C00432FE22}"/>
              </a:ext>
            </a:extLst>
          </p:cNvPr>
          <p:cNvSpPr txBox="1"/>
          <p:nvPr/>
        </p:nvSpPr>
        <p:spPr>
          <a:xfrm>
            <a:off x="1367564" y="4157188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3F96E6-0A68-3A23-64B1-5B337DD34AC3}"/>
              </a:ext>
            </a:extLst>
          </p:cNvPr>
          <p:cNvSpPr txBox="1"/>
          <p:nvPr/>
        </p:nvSpPr>
        <p:spPr>
          <a:xfrm>
            <a:off x="-97824" y="3510050"/>
            <a:ext cx="9013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Si-channel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C52228B-9112-3A34-8731-54BE8A79F6D3}"/>
              </a:ext>
            </a:extLst>
          </p:cNvPr>
          <p:cNvSpPr txBox="1"/>
          <p:nvPr/>
        </p:nvSpPr>
        <p:spPr>
          <a:xfrm>
            <a:off x="1840902" y="3404795"/>
            <a:ext cx="7960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WL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11134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D9860-FE47-EE4D-586C-5252C3DE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00F9AB-425E-FA11-7964-DA92B4B82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graphicFrame>
        <p:nvGraphicFramePr>
          <p:cNvPr id="9" name="개체 8">
            <a:extLst>
              <a:ext uri="{FF2B5EF4-FFF2-40B4-BE49-F238E27FC236}">
                <a16:creationId xmlns:a16="http://schemas.microsoft.com/office/drawing/2014/main" id="{E214A776-0BA0-6D9B-EE09-CF6C8122E84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9089150"/>
              </p:ext>
            </p:extLst>
          </p:nvPr>
        </p:nvGraphicFramePr>
        <p:xfrm>
          <a:off x="94129" y="2477565"/>
          <a:ext cx="3272867" cy="23132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851068" imgH="3429000" progId="Origin50.Graph">
                  <p:embed/>
                </p:oleObj>
              </mc:Choice>
              <mc:Fallback>
                <p:oleObj name="Graph" r:id="rId2" imgW="4851068" imgH="3429000" progId="Origin50.Graph">
                  <p:embed/>
                  <p:pic>
                    <p:nvPicPr>
                      <p:cNvPr id="9" name="개체 8">
                        <a:extLst>
                          <a:ext uri="{FF2B5EF4-FFF2-40B4-BE49-F238E27FC236}">
                            <a16:creationId xmlns:a16="http://schemas.microsoft.com/office/drawing/2014/main" id="{E214A776-0BA0-6D9B-EE09-CF6C8122E84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4129" y="2477565"/>
                        <a:ext cx="3272867" cy="23132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개체 10">
            <a:extLst>
              <a:ext uri="{FF2B5EF4-FFF2-40B4-BE49-F238E27FC236}">
                <a16:creationId xmlns:a16="http://schemas.microsoft.com/office/drawing/2014/main" id="{5D5268AF-0DA4-A78D-FBBD-A716375A91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41827693"/>
              </p:ext>
            </p:extLst>
          </p:nvPr>
        </p:nvGraphicFramePr>
        <p:xfrm>
          <a:off x="3079377" y="2477565"/>
          <a:ext cx="3272870" cy="231252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852293" imgH="3429000" progId="Origin50.Graph">
                  <p:embed/>
                </p:oleObj>
              </mc:Choice>
              <mc:Fallback>
                <p:oleObj name="Graph" r:id="rId4" imgW="4852293" imgH="3429000" progId="Origin50.Graph">
                  <p:embed/>
                  <p:pic>
                    <p:nvPicPr>
                      <p:cNvPr id="11" name="개체 10">
                        <a:extLst>
                          <a:ext uri="{FF2B5EF4-FFF2-40B4-BE49-F238E27FC236}">
                            <a16:creationId xmlns:a16="http://schemas.microsoft.com/office/drawing/2014/main" id="{5D5268AF-0DA4-A78D-FBBD-A716375A9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079377" y="2477565"/>
                        <a:ext cx="3272870" cy="231252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EA3E0D-66BC-97CB-2974-B02824AC9B4F}"/>
              </a:ext>
            </a:extLst>
          </p:cNvPr>
          <p:cNvSpPr txBox="1"/>
          <p:nvPr/>
        </p:nvSpPr>
        <p:spPr>
          <a:xfrm>
            <a:off x="290596" y="1937786"/>
            <a:ext cx="81324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Numerical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상관관계 실험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ED5578-D548-FAD6-E0CD-87F45C626CD9}"/>
              </a:ext>
            </a:extLst>
          </p:cNvPr>
          <p:cNvSpPr txBox="1"/>
          <p:nvPr/>
        </p:nvSpPr>
        <p:spPr>
          <a:xfrm>
            <a:off x="170117" y="4977911"/>
            <a:ext cx="32329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</a:t>
            </a: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10-140 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100</a:t>
            </a:r>
            <a:r>
              <a:rPr lang="ko-KR" altLang="en-US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DD621D-D424-F110-3C45-0440816845D3}"/>
              </a:ext>
            </a:extLst>
          </p:cNvPr>
          <p:cNvSpPr txBox="1"/>
          <p:nvPr/>
        </p:nvSpPr>
        <p:spPr>
          <a:xfrm>
            <a:off x="3403079" y="4978666"/>
            <a:ext cx="28091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 slice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5-50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등분하여 비교 테스트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등분 이상부터 수렴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3" name="Shape 4">
            <a:extLst>
              <a:ext uri="{FF2B5EF4-FFF2-40B4-BE49-F238E27FC236}">
                <a16:creationId xmlns:a16="http://schemas.microsoft.com/office/drawing/2014/main" id="{C108074A-5398-A5EE-1C42-93ABBC6AA34F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26928542-BF00-FA00-B0C1-85E590104E3A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616A4D45-15EB-9A15-5890-816F64A32EA5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6" name="Text 7">
            <a:extLst>
              <a:ext uri="{FF2B5EF4-FFF2-40B4-BE49-F238E27FC236}">
                <a16:creationId xmlns:a16="http://schemas.microsoft.com/office/drawing/2014/main" id="{0746F2A7-0A8B-91A9-BF93-19E3F7248752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91C3DD21-A8F3-AE5E-2E0D-B2186A0D3AC4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81F6EF07-2A81-EEC2-8EFF-F92E71A4F92D}"/>
              </a:ext>
            </a:extLst>
          </p:cNvPr>
          <p:cNvCxnSpPr>
            <a:cxnSpLocks/>
          </p:cNvCxnSpPr>
          <p:nvPr/>
        </p:nvCxnSpPr>
        <p:spPr>
          <a:xfrm flipH="1">
            <a:off x="5588000" y="1901775"/>
            <a:ext cx="901700" cy="339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B03260FF-CD2F-D451-3738-A9A7E20B535D}"/>
              </a:ext>
            </a:extLst>
          </p:cNvPr>
          <p:cNvCxnSpPr>
            <a:cxnSpLocks/>
          </p:cNvCxnSpPr>
          <p:nvPr/>
        </p:nvCxnSpPr>
        <p:spPr>
          <a:xfrm flipH="1">
            <a:off x="6046586" y="2576839"/>
            <a:ext cx="443114" cy="316069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C7B55EE-D75B-E80E-A93D-48427165EAE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E2A6B0-2BB0-DDE9-59BA-F5EF06917DC1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</p:spTree>
    <p:extLst>
      <p:ext uri="{BB962C8B-B14F-4D97-AF65-F5344CB8AC3E}">
        <p14:creationId xmlns:p14="http://schemas.microsoft.com/office/powerpoint/2010/main" val="39126568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제목 1">
            <a:extLst>
              <a:ext uri="{FF2B5EF4-FFF2-40B4-BE49-F238E27FC236}">
                <a16:creationId xmlns:a16="http://schemas.microsoft.com/office/drawing/2014/main" id="{69A62632-E77A-3927-5FF5-36F3D48481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63" y="165100"/>
            <a:ext cx="8956675" cy="592138"/>
          </a:xfrm>
        </p:spPr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sp>
        <p:nvSpPr>
          <p:cNvPr id="19" name="Shape 4">
            <a:extLst>
              <a:ext uri="{FF2B5EF4-FFF2-40B4-BE49-F238E27FC236}">
                <a16:creationId xmlns:a16="http://schemas.microsoft.com/office/drawing/2014/main" id="{4B12687F-16DE-0115-C6A4-52E374D80ADA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5">
            <a:extLst>
              <a:ext uri="{FF2B5EF4-FFF2-40B4-BE49-F238E27FC236}">
                <a16:creationId xmlns:a16="http://schemas.microsoft.com/office/drawing/2014/main" id="{1ACA70EC-8205-C076-89B9-19A20CDEC131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6">
            <a:extLst>
              <a:ext uri="{FF2B5EF4-FFF2-40B4-BE49-F238E27FC236}">
                <a16:creationId xmlns:a16="http://schemas.microsoft.com/office/drawing/2014/main" id="{D85A6764-C53E-AE99-4112-60BB60EFD33A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CD9D4F22-0BD8-C767-6471-0D1BF4AE26E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3" name="Text 8">
            <a:extLst>
              <a:ext uri="{FF2B5EF4-FFF2-40B4-BE49-F238E27FC236}">
                <a16:creationId xmlns:a16="http://schemas.microsoft.com/office/drawing/2014/main" id="{2602DC4E-8168-9EC4-84C7-2DA8A78AE552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pic>
        <p:nvPicPr>
          <p:cNvPr id="24" name="Image 0">
            <a:extLst>
              <a:ext uri="{FF2B5EF4-FFF2-40B4-BE49-F238E27FC236}">
                <a16:creationId xmlns:a16="http://schemas.microsoft.com/office/drawing/2014/main" id="{F767B7CD-BAE3-34B5-A4FA-06E18284752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594" t="61128" r="14538"/>
          <a:stretch>
            <a:fillRect/>
          </a:stretch>
        </p:blipFill>
        <p:spPr>
          <a:xfrm>
            <a:off x="1652622" y="4350119"/>
            <a:ext cx="3605719" cy="1413205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109F6592-A71C-39DA-CBD2-234513F82200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95841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4D90DDE-2D84-9963-E550-2C0D76C46C27}"/>
              </a:ext>
            </a:extLst>
          </p:cNvPr>
          <p:cNvCxnSpPr>
            <a:cxnSpLocks/>
          </p:cNvCxnSpPr>
          <p:nvPr/>
        </p:nvCxnSpPr>
        <p:spPr>
          <a:xfrm flipH="1">
            <a:off x="5453517" y="3968319"/>
            <a:ext cx="1036183" cy="205148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37FB1475-1299-9D16-CE2C-045210718D6B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B765071B-98C4-1AFE-696F-48E64ECF1D5B}"/>
              </a:ext>
            </a:extLst>
          </p:cNvPr>
          <p:cNvGrpSpPr/>
          <p:nvPr/>
        </p:nvGrpSpPr>
        <p:grpSpPr>
          <a:xfrm>
            <a:off x="962958" y="1828348"/>
            <a:ext cx="4351370" cy="1689118"/>
            <a:chOff x="1008979" y="2324100"/>
            <a:chExt cx="4351370" cy="1689118"/>
          </a:xfrm>
        </p:grpSpPr>
        <mc:AlternateContent xmlns:mc="http://schemas.openxmlformats.org/markup-compatibility/2006" xmlns:a14="http://schemas.microsoft.com/office/drawing/2010/main">
          <mc:Choice Requires="a14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3" imgW="6012550" imgH="2335684" progId="Origin50.Graph">
                        <p:embed/>
                      </p:oleObj>
                    </mc:Choice>
                    <mc:Fallback>
                      <p:oleObj name="Graph" r:id="rId3" imgW="6012550" imgH="2335684" progId="Origin50.Graph">
                        <p:embed/>
                        <p:pic>
                          <p:nvPicPr>
                            <p:cNvPr id="2" name="개체 1">
                              <a:extLst>
                                <a:ext uri="{FF2B5EF4-FFF2-40B4-BE49-F238E27FC236}">
                                  <a16:creationId xmlns:a16="http://schemas.microsoft.com/office/drawing/2014/main" id="{5A8CC464-9F64-C3DA-DC18-C10744D49F0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 xmlns="">
            <p:graphicFrame>
              <p:nvGraphicFramePr>
                <p:cNvPr id="2" name="개체 1">
                  <a:extLst>
                    <a:ext uri="{FF2B5EF4-FFF2-40B4-BE49-F238E27FC236}">
                      <a16:creationId xmlns:a16="http://schemas.microsoft.com/office/drawing/2014/main" id="{5A8CC464-9F64-C3DA-DC18-C10744D49F08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069609160"/>
                    </p:ext>
                  </p:extLst>
                </p:nvPr>
              </p:nvGraphicFramePr>
              <p:xfrm>
                <a:off x="1008979" y="2324100"/>
                <a:ext cx="4351370" cy="1689118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name="Graph" r:id="rId5" imgW="6012550" imgH="2335684" progId="Origin50.Graph">
                        <p:embed/>
                      </p:oleObj>
                    </mc:Choice>
                    <mc:Fallback>
                      <p:oleObj name="Graph" r:id="rId5" imgW="6012550" imgH="2335684" progId="Origin50.Graph">
                        <p:embed/>
                        <p:pic>
                          <p:nvPicPr>
                            <p:cNvPr id="66" name="개체 65">
                              <a:extLst>
                                <a:ext uri="{FF2B5EF4-FFF2-40B4-BE49-F238E27FC236}">
                                  <a16:creationId xmlns:a16="http://schemas.microsoft.com/office/drawing/2014/main" id="{53425263-3E34-2652-799F-E0AC3F4F1EC8}"/>
                                </a:ext>
                              </a:extLst>
                            </p:cNvPr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008979" y="2324100"/>
                              <a:ext cx="4351370" cy="1689118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/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  <m:r>
                        <a:rPr lang="en-US" altLang="ko-KR" sz="105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sSub>
                        <m:sSubPr>
                          <m:ctrlP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</m:ctrlPr>
                            </m:dPr>
                            <m:e>
                              <m:r>
                                <a:rPr lang="en-US" altLang="ko-KR" sz="1050" b="0" i="1" smtClean="0">
                                  <a:ln w="9525">
                                    <a:solidFill>
                                      <a:schemeClr val="tx1">
                                        <a:alpha val="29000"/>
                                      </a:schemeClr>
                                    </a:solidFill>
                                  </a:ln>
                                  <a:latin typeface="Cambria Math" panose="02040503050406030204" pitchFamily="18" charset="0"/>
                                  <a:ea typeface="맑은 고딕"/>
                                  <a:cs typeface="Times New Roman"/>
                                </a:rPr>
                                <m:t>𝑇𝐶</m:t>
                              </m:r>
                            </m:e>
                          </m:d>
                        </m:e>
                        <m:sub>
                          <m:r>
                            <a:rPr lang="en-US" altLang="ko-KR" sz="105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𝑐ℎ</m:t>
                          </m:r>
                        </m:sub>
                      </m:sSub>
                    </m:oMath>
                  </a14:m>
                  <a:r>
                    <a:rPr lang="ko-KR" altLang="en-US" sz="105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 panose="02020603050405020304" pitchFamily="18" charset="0"/>
                      <a:ea typeface="맑은 고딕"/>
                      <a:cs typeface="Times New Roman" panose="02020603050405020304" pitchFamily="18" charset="0"/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8F019DA1-A28F-0AAB-A173-B21E7AC7EC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8187" y="3028603"/>
                  <a:ext cx="1691465" cy="2539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곱하기 기호 5">
              <a:extLst>
                <a:ext uri="{FF2B5EF4-FFF2-40B4-BE49-F238E27FC236}">
                  <a16:creationId xmlns:a16="http://schemas.microsoft.com/office/drawing/2014/main" id="{8951DCAA-6CC8-B760-13EE-B7B98F210ED1}"/>
                </a:ext>
              </a:extLst>
            </p:cNvPr>
            <p:cNvSpPr/>
            <p:nvPr/>
          </p:nvSpPr>
          <p:spPr>
            <a:xfrm>
              <a:off x="2902427" y="2960108"/>
              <a:ext cx="172873" cy="172873"/>
            </a:xfrm>
            <a:prstGeom prst="mathMultiply">
              <a:avLst>
                <a:gd name="adj1" fmla="val 6378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/>
            </a:p>
          </p:txBody>
        </p:sp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60DE76E4-7E92-40FA-EF2D-5EE68EED110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38911" y="3046547"/>
              <a:ext cx="1239181" cy="0"/>
            </a:xfrm>
            <a:prstGeom prst="straightConnector1">
              <a:avLst/>
            </a:prstGeom>
            <a:ln w="9525">
              <a:solidFill>
                <a:schemeClr val="tx1"/>
              </a:solidFill>
              <a:prstDash val="sysDash"/>
              <a:headEnd w="sm" len="med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A99085FB-222D-229D-CFA6-F8B4B521CB06}"/>
                </a:ext>
              </a:extLst>
            </p:cNvPr>
            <p:cNvCxnSpPr>
              <a:cxnSpLocks/>
            </p:cNvCxnSpPr>
            <p:nvPr/>
          </p:nvCxnSpPr>
          <p:spPr>
            <a:xfrm>
              <a:off x="1666852" y="2727327"/>
              <a:ext cx="2" cy="608136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직선 화살표 연결선 9">
              <a:extLst>
                <a:ext uri="{FF2B5EF4-FFF2-40B4-BE49-F238E27FC236}">
                  <a16:creationId xmlns:a16="http://schemas.microsoft.com/office/drawing/2014/main" id="{73D1D068-1E5E-B21E-C045-8A94A0F862BA}"/>
                </a:ext>
              </a:extLst>
            </p:cNvPr>
            <p:cNvCxnSpPr>
              <a:cxnSpLocks/>
            </p:cNvCxnSpPr>
            <p:nvPr/>
          </p:nvCxnSpPr>
          <p:spPr>
            <a:xfrm>
              <a:off x="4827719" y="2778466"/>
              <a:ext cx="2" cy="690607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2932EEE7-DCD2-79E4-9F6E-E282117B0691}"/>
                </a:ext>
              </a:extLst>
            </p:cNvPr>
            <p:cNvCxnSpPr>
              <a:cxnSpLocks/>
            </p:cNvCxnSpPr>
            <p:nvPr/>
          </p:nvCxnSpPr>
          <p:spPr>
            <a:xfrm>
              <a:off x="2304263" y="2632072"/>
              <a:ext cx="2" cy="236565"/>
            </a:xfrm>
            <a:prstGeom prst="straightConnector1">
              <a:avLst/>
            </a:prstGeom>
            <a:ln w="9525">
              <a:solidFill>
                <a:schemeClr val="tx1"/>
              </a:solidFill>
              <a:headEnd type="triangle" w="sm" len="sm"/>
              <a:tailEnd type="triangle" w="sm" len="sm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491CDF9-D48C-E570-D828-2DC4B923877A}"/>
                </a:ext>
              </a:extLst>
            </p:cNvPr>
            <p:cNvSpPr txBox="1"/>
            <p:nvPr/>
          </p:nvSpPr>
          <p:spPr>
            <a:xfrm rot="16200000">
              <a:off x="1162896" y="2898661"/>
              <a:ext cx="79906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3.1 eV</a:t>
              </a:r>
              <a:endParaRPr lang="ko-KR" altLang="en-US" sz="1100" baseline="-25000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ECA5A6E-F2FA-E672-0003-E7B2BF846745}"/>
                </a:ext>
              </a:extLst>
            </p:cNvPr>
            <p:cNvSpPr txBox="1"/>
            <p:nvPr/>
          </p:nvSpPr>
          <p:spPr>
            <a:xfrm>
              <a:off x="2252634" y="2585061"/>
              <a:ext cx="79906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1.0 eV</a:t>
              </a:r>
              <a:endParaRPr lang="ko-KR" altLang="en-US" sz="1100" baseline="-250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D8C12D0-1117-7717-FDA0-64AAE0373F3D}"/>
                </a:ext>
              </a:extLst>
            </p:cNvPr>
            <p:cNvSpPr txBox="1"/>
            <p:nvPr/>
          </p:nvSpPr>
          <p:spPr>
            <a:xfrm rot="16200000">
              <a:off x="4530912" y="3024883"/>
              <a:ext cx="906738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sz="1100" dirty="0"/>
                <a:t>3.65 eV</a:t>
              </a:r>
              <a:endParaRPr lang="ko-KR" altLang="en-US" sz="1100" baseline="-25000" dirty="0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1152F07-F07F-DF93-F69C-C157A2EFB5B0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83F40A5-6E59-AA1E-DD39-08BF4CD733B9}"/>
              </a:ext>
            </a:extLst>
          </p:cNvPr>
          <p:cNvSpPr txBox="1"/>
          <p:nvPr/>
        </p:nvSpPr>
        <p:spPr>
          <a:xfrm>
            <a:off x="623295" y="3584538"/>
            <a:ext cx="523533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주어진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initial band diagram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channel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방향으로의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rate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계산</a:t>
            </a:r>
          </a:p>
        </p:txBody>
      </p:sp>
    </p:spTree>
    <p:extLst>
      <p:ext uri="{BB962C8B-B14F-4D97-AF65-F5344CB8AC3E}">
        <p14:creationId xmlns:p14="http://schemas.microsoft.com/office/powerpoint/2010/main" val="17276067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>
            <a:extLst>
              <a:ext uri="{FF2B5EF4-FFF2-40B4-BE49-F238E27FC236}">
                <a16:creationId xmlns:a16="http://schemas.microsoft.com/office/drawing/2014/main" id="{9D86E16C-2668-BDFB-67AF-17D3DF21BE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8793" b="54372"/>
          <a:stretch>
            <a:fillRect/>
          </a:stretch>
        </p:blipFill>
        <p:spPr>
          <a:xfrm>
            <a:off x="119260" y="4521925"/>
            <a:ext cx="5743704" cy="71038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94963FC-EDAD-6A5C-ADF7-04DF9FB33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Time-step-free Physics-based Modeling</a:t>
            </a:r>
            <a:endParaRPr lang="ko-KR" altLang="en-US" dirty="0"/>
          </a:p>
        </p:txBody>
      </p:sp>
      <p:pic>
        <p:nvPicPr>
          <p:cNvPr id="9" name="Image 0">
            <a:extLst>
              <a:ext uri="{FF2B5EF4-FFF2-40B4-BE49-F238E27FC236}">
                <a16:creationId xmlns:a16="http://schemas.microsoft.com/office/drawing/2014/main" id="{8494EF6E-67AB-B509-21AC-D97822104F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3833"/>
          <a:stretch>
            <a:fillRect/>
          </a:stretch>
        </p:blipFill>
        <p:spPr>
          <a:xfrm>
            <a:off x="94129" y="3308745"/>
            <a:ext cx="5743704" cy="682208"/>
          </a:xfrm>
          <a:prstGeom prst="rect">
            <a:avLst/>
          </a:prstGeom>
        </p:spPr>
      </p:pic>
      <p:sp>
        <p:nvSpPr>
          <p:cNvPr id="12" name="직사각형 11">
            <a:extLst>
              <a:ext uri="{FF2B5EF4-FFF2-40B4-BE49-F238E27FC236}">
                <a16:creationId xmlns:a16="http://schemas.microsoft.com/office/drawing/2014/main" id="{B20EAB49-46F6-5CD2-4064-B6DF13C5494E}"/>
              </a:ext>
            </a:extLst>
          </p:cNvPr>
          <p:cNvSpPr/>
          <p:nvPr/>
        </p:nvSpPr>
        <p:spPr>
          <a:xfrm>
            <a:off x="94129" y="4523817"/>
            <a:ext cx="5743705" cy="71038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30A67EAC-3D18-A813-1B7F-EF00AB74EE0B}"/>
              </a:ext>
            </a:extLst>
          </p:cNvPr>
          <p:cNvSpPr/>
          <p:nvPr/>
        </p:nvSpPr>
        <p:spPr>
          <a:xfrm>
            <a:off x="7632700" y="254185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A3316C8-B3F0-0741-486E-9F598E19EAC9}"/>
              </a:ext>
            </a:extLst>
          </p:cNvPr>
          <p:cNvSpPr/>
          <p:nvPr/>
        </p:nvSpPr>
        <p:spPr>
          <a:xfrm>
            <a:off x="7632700" y="4004895"/>
            <a:ext cx="0" cy="704088"/>
          </a:xfrm>
          <a:prstGeom prst="line">
            <a:avLst/>
          </a:prstGeom>
          <a:noFill/>
          <a:ln w="25400">
            <a:solidFill>
              <a:srgbClr val="00A6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A06F1B6E-FF40-0D85-3AFB-60732B005EBD}"/>
              </a:ext>
            </a:extLst>
          </p:cNvPr>
          <p:cNvSpPr/>
          <p:nvPr/>
        </p:nvSpPr>
        <p:spPr>
          <a:xfrm>
            <a:off x="6489700" y="1901775"/>
            <a:ext cx="2286000" cy="685800"/>
          </a:xfrm>
          <a:prstGeom prst="rect">
            <a:avLst/>
          </a:prstGeom>
          <a:solidFill>
            <a:srgbClr val="EAFBFC"/>
          </a:solidFill>
          <a:ln w="12700">
            <a:solidFill>
              <a:srgbClr val="7FD9DF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1. Initial state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t0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)</a:t>
            </a:r>
            <a:endParaRPr lang="en-US" sz="145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06C744D8-385E-9175-FCCD-311D63DFD297}"/>
              </a:ext>
            </a:extLst>
          </p:cNvPr>
          <p:cNvSpPr/>
          <p:nvPr/>
        </p:nvSpPr>
        <p:spPr>
          <a:xfrm>
            <a:off x="6489700" y="3282519"/>
            <a:ext cx="2286000" cy="685800"/>
          </a:xfrm>
          <a:prstGeom prst="rect">
            <a:avLst/>
          </a:prstGeom>
          <a:solidFill>
            <a:srgbClr val="F0F7FF"/>
          </a:solidFill>
          <a:ln w="12700">
            <a:solidFill>
              <a:srgbClr val="A9CCE3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Emission rates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ch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WL</a:t>
            </a:r>
            <a:endParaRPr lang="en-US" sz="1450" baseline="-25000" dirty="0"/>
          </a:p>
        </p:txBody>
      </p:sp>
      <p:sp>
        <p:nvSpPr>
          <p:cNvPr id="26" name="Text 8">
            <a:extLst>
              <a:ext uri="{FF2B5EF4-FFF2-40B4-BE49-F238E27FC236}">
                <a16:creationId xmlns:a16="http://schemas.microsoft.com/office/drawing/2014/main" id="{50879281-E7E4-1239-2EB3-9AA6BBAFC2F7}"/>
              </a:ext>
            </a:extLst>
          </p:cNvPr>
          <p:cNvSpPr/>
          <p:nvPr/>
        </p:nvSpPr>
        <p:spPr>
          <a:xfrm>
            <a:off x="6489700" y="4754703"/>
            <a:ext cx="2286000" cy="685800"/>
          </a:xfrm>
          <a:prstGeom prst="rect">
            <a:avLst/>
          </a:prstGeom>
          <a:solidFill>
            <a:srgbClr val="F7F2E2"/>
          </a:solidFill>
          <a:ln w="12700">
            <a:solidFill>
              <a:srgbClr val="F2D38E"/>
            </a:solidFill>
          </a:ln>
        </p:spPr>
        <p:txBody>
          <a:bodyPr wrap="square" lIns="1016" tIns="1016" rIns="1016" bIns="1016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Direct evaluation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(r, E</a:t>
            </a:r>
            <a:r>
              <a:rPr lang="en-US" sz="1450" b="1" baseline="-25000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</a:t>
            </a:r>
            <a:r>
              <a:rPr lang="en-US" sz="145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, t)</a:t>
            </a:r>
            <a:endParaRPr lang="en-US" sz="145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C19316-AA1E-A65B-62A1-C5778A2FF30D}"/>
              </a:ext>
            </a:extLst>
          </p:cNvPr>
          <p:cNvSpPr txBox="1"/>
          <p:nvPr/>
        </p:nvSpPr>
        <p:spPr>
          <a:xfrm>
            <a:off x="685804" y="5763278"/>
            <a:ext cx="20446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전하 분포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91B02D-6FA9-5624-5571-5AEAC82166C6}"/>
              </a:ext>
            </a:extLst>
          </p:cNvPr>
          <p:cNvSpPr txBox="1"/>
          <p:nvPr/>
        </p:nvSpPr>
        <p:spPr>
          <a:xfrm>
            <a:off x="2940369" y="5763278"/>
            <a:ext cx="3055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71C1046-9366-24B4-9B84-F63C4F802D07}"/>
              </a:ext>
            </a:extLst>
          </p:cNvPr>
          <p:cNvSpPr txBox="1"/>
          <p:nvPr/>
        </p:nvSpPr>
        <p:spPr>
          <a:xfrm>
            <a:off x="1279396" y="2992018"/>
            <a:ext cx="352537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Autonomous ODE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31" name="그림 30">
            <a:extLst>
              <a:ext uri="{FF2B5EF4-FFF2-40B4-BE49-F238E27FC236}">
                <a16:creationId xmlns:a16="http://schemas.microsoft.com/office/drawing/2014/main" id="{FDAB256E-2B4D-60A8-D584-17DBDA9A9E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722" y="2096806"/>
            <a:ext cx="1473454" cy="58324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30FF1D13-8AA4-D278-4E0A-EF5F9B16F212}"/>
              </a:ext>
            </a:extLst>
          </p:cNvPr>
          <p:cNvSpPr txBox="1"/>
          <p:nvPr/>
        </p:nvSpPr>
        <p:spPr>
          <a:xfrm>
            <a:off x="2416176" y="2202088"/>
            <a:ext cx="2963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Autonomous ODE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2FE68F3D-0A0E-724C-ADBE-10863EC0246F}"/>
              </a:ext>
            </a:extLst>
          </p:cNvPr>
          <p:cNvCxnSpPr>
            <a:cxnSpLocks/>
          </p:cNvCxnSpPr>
          <p:nvPr/>
        </p:nvCxnSpPr>
        <p:spPr>
          <a:xfrm flipH="1" flipV="1">
            <a:off x="5453517" y="2324100"/>
            <a:ext cx="1036183" cy="24306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9C13342E-CC28-5518-920B-68D264394054}"/>
              </a:ext>
            </a:extLst>
          </p:cNvPr>
          <p:cNvCxnSpPr>
            <a:cxnSpLocks/>
          </p:cNvCxnSpPr>
          <p:nvPr/>
        </p:nvCxnSpPr>
        <p:spPr>
          <a:xfrm flipH="1">
            <a:off x="5664200" y="5440503"/>
            <a:ext cx="825500" cy="36463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A4F5560A-5E4C-FDE4-2499-CACE4E1756D6}"/>
              </a:ext>
            </a:extLst>
          </p:cNvPr>
          <p:cNvCxnSpPr>
            <a:cxnSpLocks/>
          </p:cNvCxnSpPr>
          <p:nvPr/>
        </p:nvCxnSpPr>
        <p:spPr>
          <a:xfrm flipH="1">
            <a:off x="2208891" y="4965700"/>
            <a:ext cx="521609" cy="6778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6510CED3-0489-0CBC-0FC6-B84C13B7EA5E}"/>
              </a:ext>
            </a:extLst>
          </p:cNvPr>
          <p:cNvCxnSpPr>
            <a:cxnSpLocks/>
          </p:cNvCxnSpPr>
          <p:nvPr/>
        </p:nvCxnSpPr>
        <p:spPr>
          <a:xfrm>
            <a:off x="4023362" y="5082210"/>
            <a:ext cx="0" cy="5613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463AD96-4B77-F53B-65CE-579DC5A3457A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7A803-82ED-C960-87D1-686C061EC82E}"/>
              </a:ext>
            </a:extLst>
          </p:cNvPr>
          <p:cNvSpPr txBox="1"/>
          <p:nvPr/>
        </p:nvSpPr>
        <p:spPr>
          <a:xfrm>
            <a:off x="671847" y="1120462"/>
            <a:ext cx="75091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핵심 원리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initial trapped charge distribution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부터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target retention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직접 계산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4A7D5-AE2B-59F2-51AD-65A4E5885624}"/>
              </a:ext>
            </a:extLst>
          </p:cNvPr>
          <p:cNvSpPr txBox="1"/>
          <p:nvPr/>
        </p:nvSpPr>
        <p:spPr>
          <a:xfrm>
            <a:off x="221198" y="3976663"/>
            <a:ext cx="56417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위 식을 풀면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시간에 따른 일반해를 구할 수 있음</a:t>
            </a:r>
          </a:p>
        </p:txBody>
      </p:sp>
    </p:spTree>
    <p:extLst>
      <p:ext uri="{BB962C8B-B14F-4D97-AF65-F5344CB8AC3E}">
        <p14:creationId xmlns:p14="http://schemas.microsoft.com/office/powerpoint/2010/main" val="792157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51B074-14AA-D1D3-2BED-7349DDDA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ko-KR" dirty="0" err="1"/>
              <a:t>Validation</a:t>
            </a:r>
            <a:r>
              <a:rPr lang="ko-KR" altLang="ko-KR" dirty="0"/>
              <a:t> of Time-</a:t>
            </a:r>
            <a:r>
              <a:rPr lang="ko-KR" altLang="ko-KR" dirty="0" err="1"/>
              <a:t>Step</a:t>
            </a:r>
            <a:r>
              <a:rPr lang="ko-KR" altLang="ko-KR" dirty="0"/>
              <a:t>-</a:t>
            </a:r>
            <a:r>
              <a:rPr lang="ko-KR" altLang="ko-KR" dirty="0" err="1"/>
              <a:t>Free</a:t>
            </a:r>
            <a:r>
              <a:rPr lang="ko-KR" altLang="ko-KR" dirty="0"/>
              <a:t> </a:t>
            </a:r>
            <a:r>
              <a:rPr lang="ko-KR" altLang="ko-KR" dirty="0" err="1"/>
              <a:t>Evaluation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4B8559-A6CB-4679-56E2-9555CFA35DDF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A06D7-A104-27CE-74BB-AF9BE9261D4A}"/>
              </a:ext>
            </a:extLst>
          </p:cNvPr>
          <p:cNvSpPr txBox="1"/>
          <p:nvPr/>
        </p:nvSpPr>
        <p:spPr>
          <a:xfrm>
            <a:off x="609600" y="876586"/>
            <a:ext cx="84402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validity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확인하기 위해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수행함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678DCF-0AC9-42F4-FCC8-A364F96D6EA1}"/>
              </a:ext>
            </a:extLst>
          </p:cNvPr>
          <p:cNvSpPr txBox="1"/>
          <p:nvPr/>
        </p:nvSpPr>
        <p:spPr>
          <a:xfrm>
            <a:off x="188258" y="4475657"/>
            <a:ext cx="895574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시간이 지남에 따라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증가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negative feedback &gt;&gt;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전자가 빠진 이후에 </a:t>
            </a:r>
            <a:r>
              <a:rPr lang="en-US" altLang="ko-KR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2000" b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영향</a:t>
            </a:r>
            <a:endParaRPr lang="en-US" altLang="ko-KR" sz="2000" b="1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 test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를 진행한 결과와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단일계산으로 진행한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evaluation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차이가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10</a:t>
            </a:r>
            <a:r>
              <a:rPr lang="en-US" altLang="ko-KR" sz="2000" baseline="30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9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[s]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이상의 시간이 지나야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3%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차이 발생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두 결과의 차이가 작아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approximation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유효함을 확인함</a:t>
            </a:r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3D0C25ED-410E-A464-2C83-F475159E43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38879"/>
          <a:stretch>
            <a:fillRect/>
          </a:stretch>
        </p:blipFill>
        <p:spPr>
          <a:xfrm>
            <a:off x="4968633" y="1104799"/>
            <a:ext cx="3421610" cy="222289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9B448BA-4260-CB84-89A7-9396E12A13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55"/>
          <a:stretch>
            <a:fillRect/>
          </a:stretch>
        </p:blipFill>
        <p:spPr>
          <a:xfrm>
            <a:off x="421797" y="1298127"/>
            <a:ext cx="4474053" cy="2204491"/>
          </a:xfrm>
          <a:prstGeom prst="rect">
            <a:avLst/>
          </a:prstGeom>
        </p:spPr>
      </p:pic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12FCA1AF-DDCF-5D45-8778-ED60C1D56F79}"/>
              </a:ext>
            </a:extLst>
          </p:cNvPr>
          <p:cNvCxnSpPr>
            <a:cxnSpLocks/>
          </p:cNvCxnSpPr>
          <p:nvPr/>
        </p:nvCxnSpPr>
        <p:spPr>
          <a:xfrm>
            <a:off x="1231900" y="1871780"/>
            <a:ext cx="0" cy="10988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38313DEC-8AB0-8EE3-CB67-7AFF82A06E2B}"/>
              </a:ext>
            </a:extLst>
          </p:cNvPr>
          <p:cNvCxnSpPr>
            <a:cxnSpLocks/>
          </p:cNvCxnSpPr>
          <p:nvPr/>
        </p:nvCxnSpPr>
        <p:spPr>
          <a:xfrm>
            <a:off x="2730500" y="1795580"/>
            <a:ext cx="0" cy="1175079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547A6DFD-47B3-1AA1-819D-2DDB0BF5E2FE}"/>
              </a:ext>
            </a:extLst>
          </p:cNvPr>
          <p:cNvCxnSpPr>
            <a:cxnSpLocks/>
          </p:cNvCxnSpPr>
          <p:nvPr/>
        </p:nvCxnSpPr>
        <p:spPr>
          <a:xfrm>
            <a:off x="1981198" y="1830505"/>
            <a:ext cx="0" cy="114015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D4ED836D-6124-94A0-8986-DDC24CC0BCFB}"/>
              </a:ext>
            </a:extLst>
          </p:cNvPr>
          <p:cNvCxnSpPr>
            <a:cxnSpLocks/>
          </p:cNvCxnSpPr>
          <p:nvPr/>
        </p:nvCxnSpPr>
        <p:spPr>
          <a:xfrm>
            <a:off x="1731432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F9BC1CD3-CC55-B584-6AD0-4272D011ACFF}"/>
              </a:ext>
            </a:extLst>
          </p:cNvPr>
          <p:cNvCxnSpPr>
            <a:cxnSpLocks/>
          </p:cNvCxnSpPr>
          <p:nvPr/>
        </p:nvCxnSpPr>
        <p:spPr>
          <a:xfrm>
            <a:off x="1481666" y="1764715"/>
            <a:ext cx="0" cy="1205944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4E6B8D4C-E895-7BA5-5E0A-B6E13CA85572}"/>
              </a:ext>
            </a:extLst>
          </p:cNvPr>
          <p:cNvCxnSpPr>
            <a:cxnSpLocks/>
          </p:cNvCxnSpPr>
          <p:nvPr/>
        </p:nvCxnSpPr>
        <p:spPr>
          <a:xfrm>
            <a:off x="2480730" y="1823361"/>
            <a:ext cx="0" cy="1147298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2183EDA8-85BC-E66C-5288-E97EB33E423B}"/>
              </a:ext>
            </a:extLst>
          </p:cNvPr>
          <p:cNvCxnSpPr>
            <a:cxnSpLocks/>
          </p:cNvCxnSpPr>
          <p:nvPr/>
        </p:nvCxnSpPr>
        <p:spPr>
          <a:xfrm>
            <a:off x="2230964" y="1835268"/>
            <a:ext cx="0" cy="1135391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C241539E-779E-1500-4EA7-04C8797CB6DD}"/>
              </a:ext>
            </a:extLst>
          </p:cNvPr>
          <p:cNvCxnSpPr>
            <a:cxnSpLocks/>
          </p:cNvCxnSpPr>
          <p:nvPr/>
        </p:nvCxnSpPr>
        <p:spPr>
          <a:xfrm>
            <a:off x="234950" y="2575518"/>
            <a:ext cx="2495550" cy="0"/>
          </a:xfrm>
          <a:prstGeom prst="line">
            <a:avLst/>
          </a:prstGeom>
          <a:ln w="28575">
            <a:solidFill>
              <a:schemeClr val="tx1"/>
            </a:solidFill>
            <a:prstDash val="sysDot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919C873-9995-60C8-5A95-9BB4E69E8CEA}"/>
              </a:ext>
            </a:extLst>
          </p:cNvPr>
          <p:cNvSpPr txBox="1"/>
          <p:nvPr/>
        </p:nvSpPr>
        <p:spPr>
          <a:xfrm>
            <a:off x="0" y="3468187"/>
            <a:ext cx="106792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초기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</a:p>
          <a:p>
            <a:pPr algn="r"/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|TC| </a:t>
            </a:r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변화량</a:t>
            </a:r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algn="r"/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최종 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[s]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F003D96-646F-7F7C-F198-20607C76B9E6}"/>
              </a:ext>
            </a:extLst>
          </p:cNvPr>
          <p:cNvSpPr txBox="1"/>
          <p:nvPr/>
        </p:nvSpPr>
        <p:spPr>
          <a:xfrm>
            <a:off x="1682416" y="1211138"/>
            <a:ext cx="5485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 nm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781A5BB-6477-A86C-A00E-2828511AC637}"/>
              </a:ext>
            </a:extLst>
          </p:cNvPr>
          <p:cNvSpPr txBox="1"/>
          <p:nvPr/>
        </p:nvSpPr>
        <p:spPr>
          <a:xfrm>
            <a:off x="1370353" y="1526843"/>
            <a:ext cx="4700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 nm</a:t>
            </a:r>
            <a:endParaRPr lang="ko-KR" altLang="en-US" sz="11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84693F00-E54C-B225-5802-7C19805BF376}"/>
              </a:ext>
            </a:extLst>
          </p:cNvPr>
          <p:cNvCxnSpPr>
            <a:cxnSpLocks/>
          </p:cNvCxnSpPr>
          <p:nvPr/>
        </p:nvCxnSpPr>
        <p:spPr>
          <a:xfrm>
            <a:off x="1231900" y="2970659"/>
            <a:ext cx="79304" cy="50944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연결선 79">
            <a:extLst>
              <a:ext uri="{FF2B5EF4-FFF2-40B4-BE49-F238E27FC236}">
                <a16:creationId xmlns:a16="http://schemas.microsoft.com/office/drawing/2014/main" id="{C39A550C-6808-30C9-4F4A-1671579D2A12}"/>
              </a:ext>
            </a:extLst>
          </p:cNvPr>
          <p:cNvCxnSpPr>
            <a:cxnSpLocks/>
          </p:cNvCxnSpPr>
          <p:nvPr/>
        </p:nvCxnSpPr>
        <p:spPr>
          <a:xfrm>
            <a:off x="1481380" y="2970659"/>
            <a:ext cx="300956" cy="49745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D60F916B-48B7-1C01-3483-1E359FDE7C42}"/>
              </a:ext>
            </a:extLst>
          </p:cNvPr>
          <p:cNvCxnSpPr>
            <a:cxnSpLocks/>
          </p:cNvCxnSpPr>
          <p:nvPr/>
        </p:nvCxnSpPr>
        <p:spPr>
          <a:xfrm>
            <a:off x="1730860" y="2970659"/>
            <a:ext cx="624271" cy="50488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909A899E-2CDA-163D-AF26-0E0637B71CE7}"/>
              </a:ext>
            </a:extLst>
          </p:cNvPr>
          <p:cNvCxnSpPr>
            <a:cxnSpLocks/>
          </p:cNvCxnSpPr>
          <p:nvPr/>
        </p:nvCxnSpPr>
        <p:spPr>
          <a:xfrm>
            <a:off x="1980340" y="2970659"/>
            <a:ext cx="104071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7193EE15-A210-24BC-9672-998EE7F4767B}"/>
              </a:ext>
            </a:extLst>
          </p:cNvPr>
          <p:cNvCxnSpPr>
            <a:cxnSpLocks/>
          </p:cNvCxnSpPr>
          <p:nvPr/>
        </p:nvCxnSpPr>
        <p:spPr>
          <a:xfrm>
            <a:off x="2229820" y="2970659"/>
            <a:ext cx="1560550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A46C35A7-75FB-32E3-1050-8F709739C8B9}"/>
              </a:ext>
            </a:extLst>
          </p:cNvPr>
          <p:cNvCxnSpPr>
            <a:cxnSpLocks/>
          </p:cNvCxnSpPr>
          <p:nvPr/>
        </p:nvCxnSpPr>
        <p:spPr>
          <a:xfrm>
            <a:off x="2479300" y="2970659"/>
            <a:ext cx="2037131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70E74C36-6BC2-69B9-4347-6AD4420C0A55}"/>
              </a:ext>
            </a:extLst>
          </p:cNvPr>
          <p:cNvCxnSpPr>
            <a:cxnSpLocks/>
          </p:cNvCxnSpPr>
          <p:nvPr/>
        </p:nvCxnSpPr>
        <p:spPr>
          <a:xfrm>
            <a:off x="2728779" y="2970659"/>
            <a:ext cx="2457629" cy="547163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A7F309C6-857D-3225-E6D2-DDFA73B8553E}"/>
              </a:ext>
            </a:extLst>
          </p:cNvPr>
          <p:cNvSpPr txBox="1"/>
          <p:nvPr/>
        </p:nvSpPr>
        <p:spPr>
          <a:xfrm>
            <a:off x="1049669" y="3468112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6.23       1.33e4    6.92e7    4.02e11   2.65e15   1.7e19    9.97e23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9210EF10-99CD-B10E-56EA-59C1D9E635EA}"/>
              </a:ext>
            </a:extLst>
          </p:cNvPr>
          <p:cNvSpPr txBox="1"/>
          <p:nvPr/>
        </p:nvSpPr>
        <p:spPr>
          <a:xfrm>
            <a:off x="935582" y="3693838"/>
            <a:ext cx="4826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+27.7%   +32.6%  +33.5%   +28.5%   +21.2%    +9.4%    -82.0%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3C20BB6-6C2B-E0F1-8AFE-D165036BFEC6}"/>
              </a:ext>
            </a:extLst>
          </p:cNvPr>
          <p:cNvSpPr txBox="1"/>
          <p:nvPr/>
        </p:nvSpPr>
        <p:spPr>
          <a:xfrm>
            <a:off x="1049669" y="3933480"/>
            <a:ext cx="48780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8.44       1.88e4    9.87e7    5.46e11    3.39e15  1.96e19   1.8e23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4FCA50A6-A29D-2E3B-4D72-2AA6E3D3B4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73166" r="1" b="23139"/>
          <a:stretch>
            <a:fillRect/>
          </a:stretch>
        </p:blipFill>
        <p:spPr>
          <a:xfrm>
            <a:off x="7633519" y="2929089"/>
            <a:ext cx="1291860" cy="1469315"/>
          </a:xfrm>
          <a:prstGeom prst="rect">
            <a:avLst/>
          </a:prstGeom>
        </p:spPr>
      </p:pic>
      <p:sp>
        <p:nvSpPr>
          <p:cNvPr id="100" name="화살표: 왼쪽으로 구부러짐 99">
            <a:extLst>
              <a:ext uri="{FF2B5EF4-FFF2-40B4-BE49-F238E27FC236}">
                <a16:creationId xmlns:a16="http://schemas.microsoft.com/office/drawing/2014/main" id="{19E23A85-2DDD-355D-5A27-B618CC4B6532}"/>
              </a:ext>
            </a:extLst>
          </p:cNvPr>
          <p:cNvSpPr/>
          <p:nvPr/>
        </p:nvSpPr>
        <p:spPr>
          <a:xfrm>
            <a:off x="5762544" y="3555938"/>
            <a:ext cx="361950" cy="584851"/>
          </a:xfrm>
          <a:prstGeom prst="curvedLeftArrow">
            <a:avLst/>
          </a:prstGeom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C31D0B5-D217-2D41-6EF5-DCA120D98CB2}"/>
              </a:ext>
            </a:extLst>
          </p:cNvPr>
          <p:cNvSpPr txBox="1"/>
          <p:nvPr/>
        </p:nvSpPr>
        <p:spPr>
          <a:xfrm>
            <a:off x="6112388" y="3517822"/>
            <a:ext cx="1285374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전체적으로 시간이 지남에 따라 </a:t>
            </a:r>
            <a:r>
              <a:rPr lang="en-US" altLang="ko-KR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τ </a:t>
            </a:r>
            <a:r>
              <a:rPr lang="ko-KR" altLang="en-US" sz="11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증가</a:t>
            </a:r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03B13753-68DA-2540-5CBC-1D7DB31F50F0}"/>
              </a:ext>
            </a:extLst>
          </p:cNvPr>
          <p:cNvCxnSpPr/>
          <p:nvPr/>
        </p:nvCxnSpPr>
        <p:spPr>
          <a:xfrm>
            <a:off x="1231900" y="1518915"/>
            <a:ext cx="149687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19D964FC-1694-0501-A93B-6989DF2D4B3B}"/>
              </a:ext>
            </a:extLst>
          </p:cNvPr>
          <p:cNvCxnSpPr>
            <a:cxnSpLocks/>
          </p:cNvCxnSpPr>
          <p:nvPr/>
        </p:nvCxnSpPr>
        <p:spPr>
          <a:xfrm>
            <a:off x="1481380" y="1765980"/>
            <a:ext cx="249480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673F32B-8553-EEB2-189C-2991041202DF}"/>
              </a:ext>
            </a:extLst>
          </p:cNvPr>
          <p:cNvSpPr txBox="1"/>
          <p:nvPr/>
        </p:nvSpPr>
        <p:spPr>
          <a:xfrm>
            <a:off x="565151" y="1693758"/>
            <a:ext cx="5500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5CD7D-0C75-CC2C-EB14-A7381F112DCF}"/>
              </a:ext>
            </a:extLst>
          </p:cNvPr>
          <p:cNvSpPr txBox="1"/>
          <p:nvPr/>
        </p:nvSpPr>
        <p:spPr>
          <a:xfrm>
            <a:off x="3454524" y="1861512"/>
            <a:ext cx="5645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BOX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662C76-8F70-6CEB-3662-DE2EA5FD5A14}"/>
              </a:ext>
            </a:extLst>
          </p:cNvPr>
          <p:cNvSpPr txBox="1"/>
          <p:nvPr/>
        </p:nvSpPr>
        <p:spPr>
          <a:xfrm>
            <a:off x="1832118" y="1510559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84335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778E4-D4DA-FF84-213C-4BA55B8D4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678384-2A41-9399-D026-DC24419FF4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Cryogenic-like</a:t>
            </a:r>
            <a:r>
              <a:rPr lang="ko-KR" altLang="en-US" dirty="0"/>
              <a:t> </a:t>
            </a:r>
            <a:r>
              <a:rPr lang="en-US" altLang="ko-KR" dirty="0"/>
              <a:t>Emulation</a:t>
            </a:r>
            <a:endParaRPr lang="ko-KR" altLang="en-US" dirty="0"/>
          </a:p>
        </p:txBody>
      </p:sp>
      <p:graphicFrame>
        <p:nvGraphicFramePr>
          <p:cNvPr id="34" name="개체 33">
            <a:extLst>
              <a:ext uri="{FF2B5EF4-FFF2-40B4-BE49-F238E27FC236}">
                <a16:creationId xmlns:a16="http://schemas.microsoft.com/office/drawing/2014/main" id="{58BB9F18-96F1-98CA-A9A2-43AF25E724E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5332862"/>
              </p:ext>
            </p:extLst>
          </p:nvPr>
        </p:nvGraphicFramePr>
        <p:xfrm>
          <a:off x="4246004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6842908" imgH="4833106" progId="Origin50.Graph">
                  <p:embed/>
                </p:oleObj>
              </mc:Choice>
              <mc:Fallback>
                <p:oleObj name="Graph" r:id="rId2" imgW="6842908" imgH="4833106" progId="Origin50.Graph">
                  <p:embed/>
                  <p:pic>
                    <p:nvPicPr>
                      <p:cNvPr id="34" name="개체 33">
                        <a:extLst>
                          <a:ext uri="{FF2B5EF4-FFF2-40B4-BE49-F238E27FC236}">
                            <a16:creationId xmlns:a16="http://schemas.microsoft.com/office/drawing/2014/main" id="{58BB9F18-96F1-98CA-A9A2-43AF25E724E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246004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5" name="개체 34">
            <a:extLst>
              <a:ext uri="{FF2B5EF4-FFF2-40B4-BE49-F238E27FC236}">
                <a16:creationId xmlns:a16="http://schemas.microsoft.com/office/drawing/2014/main" id="{891322FF-2DED-B48F-6ACB-94E2A4CB17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14751349"/>
              </p:ext>
            </p:extLst>
          </p:nvPr>
        </p:nvGraphicFramePr>
        <p:xfrm>
          <a:off x="329810" y="2803203"/>
          <a:ext cx="4510590" cy="318566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6842908" imgH="4833106" progId="Origin50.Graph">
                  <p:embed/>
                </p:oleObj>
              </mc:Choice>
              <mc:Fallback>
                <p:oleObj name="Graph" r:id="rId4" imgW="6842908" imgH="4833106" progId="Origin50.Graph">
                  <p:embed/>
                  <p:pic>
                    <p:nvPicPr>
                      <p:cNvPr id="35" name="개체 34">
                        <a:extLst>
                          <a:ext uri="{FF2B5EF4-FFF2-40B4-BE49-F238E27FC236}">
                            <a16:creationId xmlns:a16="http://schemas.microsoft.com/office/drawing/2014/main" id="{891322FF-2DED-B48F-6ACB-94E2A4CB17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29810" y="2803203"/>
                        <a:ext cx="4510590" cy="318566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8" name="화살표: 오른쪽 37">
            <a:extLst>
              <a:ext uri="{FF2B5EF4-FFF2-40B4-BE49-F238E27FC236}">
                <a16:creationId xmlns:a16="http://schemas.microsoft.com/office/drawing/2014/main" id="{6E4C4EB1-1AB2-EF73-61FE-BF2FED9CA5D4}"/>
              </a:ext>
            </a:extLst>
          </p:cNvPr>
          <p:cNvSpPr/>
          <p:nvPr/>
        </p:nvSpPr>
        <p:spPr>
          <a:xfrm rot="19517270">
            <a:off x="6601209" y="3545907"/>
            <a:ext cx="2063126" cy="28836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96E982E-8192-2839-C046-42F0792C60F9}"/>
              </a:ext>
            </a:extLst>
          </p:cNvPr>
          <p:cNvSpPr txBox="1"/>
          <p:nvPr/>
        </p:nvSpPr>
        <p:spPr>
          <a:xfrm>
            <a:off x="5766892" y="4315364"/>
            <a:ext cx="26840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latin typeface="Arial" panose="020B0604020202020204" pitchFamily="34" charset="0"/>
                <a:cs typeface="Arial" panose="020B0604020202020204" pitchFamily="34" charset="0"/>
              </a:rPr>
              <a:t>t</a:t>
            </a:r>
            <a:r>
              <a:rPr lang="en-US" altLang="ko-KR" sz="1400" baseline="-25000" dirty="0" err="1">
                <a:latin typeface="Arial" panose="020B0604020202020204" pitchFamily="34" charset="0"/>
                <a:cs typeface="Arial" panose="020B0604020202020204" pitchFamily="34" charset="0"/>
              </a:rPr>
              <a:t>TOX</a:t>
            </a:r>
            <a:r>
              <a:rPr lang="ko-KR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n-US" altLang="ko-KR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400" dirty="0">
                <a:latin typeface="Arial" panose="020B0604020202020204" pitchFamily="34" charset="0"/>
                <a:cs typeface="Arial" panose="020B0604020202020204" pitchFamily="34" charset="0"/>
              </a:rPr>
              <a:t>= 3, 3.5, 4, 4.5, 5 [nm]</a:t>
            </a:r>
            <a:endParaRPr lang="ko-KR" alt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EAFB2D-3964-F8C5-3A78-F54BCCB0BDC3}"/>
              </a:ext>
            </a:extLst>
          </p:cNvPr>
          <p:cNvSpPr txBox="1"/>
          <p:nvPr/>
        </p:nvSpPr>
        <p:spPr>
          <a:xfrm>
            <a:off x="457874" y="869128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측정치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6E689E-70A9-729F-9318-9FC0E2EB24FF}"/>
              </a:ext>
            </a:extLst>
          </p:cNvPr>
          <p:cNvSpPr txBox="1"/>
          <p:nvPr/>
        </p:nvSpPr>
        <p:spPr>
          <a:xfrm>
            <a:off x="838200" y="5988872"/>
            <a:ext cx="40022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O/N/O = </a:t>
            </a:r>
            <a:r>
              <a:rPr lang="en-US" altLang="ko-KR" sz="2000" b="1" u="sng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/6/8 [nm]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48B69CA-0EFC-F706-FD4E-7D72C00A5731}"/>
              </a:ext>
            </a:extLst>
          </p:cNvPr>
          <p:cNvSpPr txBox="1"/>
          <p:nvPr/>
        </p:nvSpPr>
        <p:spPr>
          <a:xfrm>
            <a:off x="5236915" y="869128"/>
            <a:ext cx="324904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– TCAD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0C85960-DCE8-5A8A-C306-712154208786}"/>
              </a:ext>
            </a:extLst>
          </p:cNvPr>
          <p:cNvSpPr txBox="1"/>
          <p:nvPr/>
        </p:nvSpPr>
        <p:spPr>
          <a:xfrm>
            <a:off x="5347463" y="1269238"/>
            <a:ext cx="370240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3 ~ 5 [nm]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변화에 따른 변동 검증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Iterative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calculation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없는 환경에서 높은 정확성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2C7020-E6E8-261A-1309-E318F0030DC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D307E3-3C5B-A30F-F588-D2C7BD43FE83}"/>
              </a:ext>
            </a:extLst>
          </p:cNvPr>
          <p:cNvSpPr txBox="1"/>
          <p:nvPr/>
        </p:nvSpPr>
        <p:spPr>
          <a:xfrm>
            <a:off x="532065" y="1269238"/>
            <a:ext cx="430833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극저온 환경과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σ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→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0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간의 수렴 상관 관계를 활용하여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emulation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환경 구현 및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ko-KR" altLang="en-US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A.U.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값이지만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TOX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값 조절을 하며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scale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기준으로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calibration</a:t>
            </a:r>
            <a:endParaRPr lang="en-US" altLang="ko-KR" sz="18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50506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16622EF6-764B-D2BE-22EF-7878397E998B}"/>
              </a:ext>
            </a:extLst>
          </p:cNvPr>
          <p:cNvCxnSpPr/>
          <p:nvPr/>
        </p:nvCxnSpPr>
        <p:spPr>
          <a:xfrm>
            <a:off x="1132545" y="4416529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제목 1">
            <a:extLst>
              <a:ext uri="{FF2B5EF4-FFF2-40B4-BE49-F238E27FC236}">
                <a16:creationId xmlns:a16="http://schemas.microsoft.com/office/drawing/2014/main" id="{442AAEF8-94FC-13F9-82B0-53BB11863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CDE97B5-0570-3FD3-EE80-C845C427F3A7}"/>
                  </a:ext>
                </a:extLst>
              </p:cNvPr>
              <p:cNvSpPr txBox="1"/>
              <p:nvPr/>
            </p:nvSpPr>
            <p:spPr>
              <a:xfrm>
                <a:off x="5242911" y="4445855"/>
                <a:ext cx="3806960" cy="16312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buFontTx/>
                  <a:buChar char="-"/>
                </a:pPr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Phonon-electron </a:t>
                </a:r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에너지 상호교환에 의한 </a:t>
                </a:r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trap</a:t>
                </a:r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level </a:t>
                </a:r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변동</a:t>
                </a:r>
                <a:endPara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:pPr marL="342900" indent="-342900">
                  <a:buFontTx/>
                  <a:buChar char="-"/>
                </a:pPr>
                <a:endPara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:pPr marL="342900" indent="-342900">
                  <a:buFontTx/>
                  <a:buChar char="-"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sz="20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</m:oMath>
                </a14:m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값 변동성 발생에 의한 총 </a:t>
                </a:r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tunneling </a:t>
                </a:r>
                <a:r>
                  <a:rPr lang="ko-KR" altLang="en-US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방출량 반영</a:t>
                </a:r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ACDE97B5-0570-3FD3-EE80-C845C427F3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2911" y="4445855"/>
                <a:ext cx="3806960" cy="163121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그룹 4">
            <a:extLst>
              <a:ext uri="{FF2B5EF4-FFF2-40B4-BE49-F238E27FC236}">
                <a16:creationId xmlns:a16="http://schemas.microsoft.com/office/drawing/2014/main" id="{22F062EE-280C-EDBB-C0D4-1B4FFD336B9D}"/>
              </a:ext>
            </a:extLst>
          </p:cNvPr>
          <p:cNvGrpSpPr/>
          <p:nvPr/>
        </p:nvGrpSpPr>
        <p:grpSpPr>
          <a:xfrm>
            <a:off x="4799617" y="1689308"/>
            <a:ext cx="4453704" cy="2173226"/>
            <a:chOff x="4527408" y="1834608"/>
            <a:chExt cx="4453704" cy="2173226"/>
          </a:xfrm>
        </p:grpSpPr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95F07298-C0FC-3E63-F3AA-176AB1132D39}"/>
                </a:ext>
              </a:extLst>
            </p:cNvPr>
            <p:cNvGrpSpPr/>
            <p:nvPr/>
          </p:nvGrpSpPr>
          <p:grpSpPr>
            <a:xfrm>
              <a:off x="6018621" y="1952273"/>
              <a:ext cx="172652" cy="2051050"/>
              <a:chOff x="4673257" y="3811669"/>
              <a:chExt cx="172652" cy="2051050"/>
            </a:xfrm>
          </p:grpSpPr>
          <p:cxnSp>
            <p:nvCxnSpPr>
              <p:cNvPr id="3" name="직선 연결선 2">
                <a:extLst>
                  <a:ext uri="{FF2B5EF4-FFF2-40B4-BE49-F238E27FC236}">
                    <a16:creationId xmlns:a16="http://schemas.microsoft.com/office/drawing/2014/main" id="{84AFC517-4455-CAB0-54CB-0D15C68E20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9583" y="3811669"/>
                <a:ext cx="0" cy="205105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E61C928B-C995-29BF-EA55-F31EE0C576C9}"/>
                  </a:ext>
                </a:extLst>
              </p:cNvPr>
              <p:cNvGrpSpPr/>
              <p:nvPr/>
            </p:nvGrpSpPr>
            <p:grpSpPr>
              <a:xfrm>
                <a:off x="4673257" y="3933112"/>
                <a:ext cx="172652" cy="1828800"/>
                <a:chOff x="4673257" y="3933112"/>
                <a:chExt cx="172652" cy="1828800"/>
              </a:xfrm>
            </p:grpSpPr>
            <p:cxnSp>
              <p:nvCxnSpPr>
                <p:cNvPr id="4" name="직선 연결선 3">
                  <a:extLst>
                    <a:ext uri="{FF2B5EF4-FFF2-40B4-BE49-F238E27FC236}">
                      <a16:creationId xmlns:a16="http://schemas.microsoft.com/office/drawing/2014/main" id="{24B107D7-8E28-1C7F-534E-FF06E3D675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3933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직선 연결선 8">
                  <a:extLst>
                    <a:ext uri="{FF2B5EF4-FFF2-40B4-BE49-F238E27FC236}">
                      <a16:creationId xmlns:a16="http://schemas.microsoft.com/office/drawing/2014/main" id="{BFBCFEE3-42BD-2EA0-B0D3-74BBF6E209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085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" name="직선 연결선 10">
                  <a:extLst>
                    <a:ext uri="{FF2B5EF4-FFF2-40B4-BE49-F238E27FC236}">
                      <a16:creationId xmlns:a16="http://schemas.microsoft.com/office/drawing/2014/main" id="{A1D13BD1-DC60-0283-45D6-0AC15D591B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237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2" name="직선 연결선 11">
                  <a:extLst>
                    <a:ext uri="{FF2B5EF4-FFF2-40B4-BE49-F238E27FC236}">
                      <a16:creationId xmlns:a16="http://schemas.microsoft.com/office/drawing/2014/main" id="{111B6130-0267-5392-0597-B6D92F49F0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3903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직선 연결선 12">
                  <a:extLst>
                    <a:ext uri="{FF2B5EF4-FFF2-40B4-BE49-F238E27FC236}">
                      <a16:creationId xmlns:a16="http://schemas.microsoft.com/office/drawing/2014/main" id="{FCB62562-4850-82AA-0916-2C37BDE375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5427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직선 연결선 13">
                  <a:extLst>
                    <a:ext uri="{FF2B5EF4-FFF2-40B4-BE49-F238E27FC236}">
                      <a16:creationId xmlns:a16="http://schemas.microsoft.com/office/drawing/2014/main" id="{F18921FE-535C-1DC7-C08A-1653031D48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695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직선 연결선 14">
                  <a:extLst>
                    <a:ext uri="{FF2B5EF4-FFF2-40B4-BE49-F238E27FC236}">
                      <a16:creationId xmlns:a16="http://schemas.microsoft.com/office/drawing/2014/main" id="{D9A6A1EC-6CF2-A963-0BF6-956F5A3933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847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92F6F36A-A0AC-2FE9-C054-85111EDF9D3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999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직선 연결선 16">
                  <a:extLst>
                    <a:ext uri="{FF2B5EF4-FFF2-40B4-BE49-F238E27FC236}">
                      <a16:creationId xmlns:a16="http://schemas.microsoft.com/office/drawing/2014/main" id="{4E3E098A-7807-1EC9-86E8-684AC849571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1523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>
                  <a:extLst>
                    <a:ext uri="{FF2B5EF4-FFF2-40B4-BE49-F238E27FC236}">
                      <a16:creationId xmlns:a16="http://schemas.microsoft.com/office/drawing/2014/main" id="{504FC40E-2F6E-C45B-6DE8-340A22B0478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3047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F6DF2921-6733-A7D1-47D9-5B82DB5C8CA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457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연결선 19">
                  <a:extLst>
                    <a:ext uri="{FF2B5EF4-FFF2-40B4-BE49-F238E27FC236}">
                      <a16:creationId xmlns:a16="http://schemas.microsoft.com/office/drawing/2014/main" id="{7C3E1BD1-892C-D139-F07D-8162B5126C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609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1B93C5D7-9C53-2D1E-B357-695858257E5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761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" name="자유형: 도형 9">
              <a:extLst>
                <a:ext uri="{FF2B5EF4-FFF2-40B4-BE49-F238E27FC236}">
                  <a16:creationId xmlns:a16="http://schemas.microsoft.com/office/drawing/2014/main" id="{E90ABCB6-AC77-8948-5E0E-FA696EEA42E5}"/>
                </a:ext>
              </a:extLst>
            </p:cNvPr>
            <p:cNvSpPr/>
            <p:nvPr/>
          </p:nvSpPr>
          <p:spPr>
            <a:xfrm>
              <a:off x="4527408" y="1834608"/>
              <a:ext cx="2339069" cy="1943099"/>
            </a:xfrm>
            <a:custGeom>
              <a:avLst/>
              <a:gdLst>
                <a:gd name="csX0" fmla="*/ 0 w 1378477"/>
                <a:gd name="csY0" fmla="*/ 1145121 h 1145121"/>
                <a:gd name="csX1" fmla="*/ 379771 w 1378477"/>
                <a:gd name="csY1" fmla="*/ 1141379 h 1145121"/>
                <a:gd name="csX2" fmla="*/ 379771 w 1378477"/>
                <a:gd name="csY2" fmla="*/ 311285 h 1145121"/>
                <a:gd name="csX3" fmla="*/ 1378477 w 1378477"/>
                <a:gd name="csY3" fmla="*/ 0 h 114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8477" h="1145121">
                  <a:moveTo>
                    <a:pt x="0" y="1145121"/>
                  </a:moveTo>
                  <a:lnTo>
                    <a:pt x="379771" y="1141379"/>
                  </a:lnTo>
                  <a:lnTo>
                    <a:pt x="379771" y="311285"/>
                  </a:lnTo>
                  <a:lnTo>
                    <a:pt x="1378477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CA7A4F6C-036B-86EC-25AA-28DE3D4F08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91881" y="2889342"/>
              <a:ext cx="199966" cy="199966"/>
            </a:xfrm>
            <a:prstGeom prst="rect">
              <a:avLst/>
            </a:prstGeom>
          </p:spPr>
        </p:pic>
        <p:sp>
          <p:nvSpPr>
            <p:cNvPr id="34" name="자유형: 도형 33">
              <a:extLst>
                <a:ext uri="{FF2B5EF4-FFF2-40B4-BE49-F238E27FC236}">
                  <a16:creationId xmlns:a16="http://schemas.microsoft.com/office/drawing/2014/main" id="{0AB65C56-9860-6407-8BB1-594B3BA5608E}"/>
                </a:ext>
              </a:extLst>
            </p:cNvPr>
            <p:cNvSpPr/>
            <p:nvPr/>
          </p:nvSpPr>
          <p:spPr>
            <a:xfrm rot="2917392">
              <a:off x="6098531" y="3238010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F2A09C9F-648B-9CFC-3331-8D6BFE46B785}"/>
                </a:ext>
              </a:extLst>
            </p:cNvPr>
            <p:cNvSpPr/>
            <p:nvPr/>
          </p:nvSpPr>
          <p:spPr>
            <a:xfrm rot="8849421" flipV="1">
              <a:off x="5263289" y="3157289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화살표: 굽음 37">
              <a:extLst>
                <a:ext uri="{FF2B5EF4-FFF2-40B4-BE49-F238E27FC236}">
                  <a16:creationId xmlns:a16="http://schemas.microsoft.com/office/drawing/2014/main" id="{8EC8FE2D-E4B1-4594-4E27-E2E5153BBE17}"/>
                </a:ext>
              </a:extLst>
            </p:cNvPr>
            <p:cNvSpPr/>
            <p:nvPr/>
          </p:nvSpPr>
          <p:spPr>
            <a:xfrm flipH="1">
              <a:off x="5051280" y="2650234"/>
              <a:ext cx="1073137" cy="239108"/>
            </a:xfrm>
            <a:prstGeom prst="bentArrow">
              <a:avLst>
                <a:gd name="adj1" fmla="val 12319"/>
                <a:gd name="adj2" fmla="val 14048"/>
                <a:gd name="adj3" fmla="val 27305"/>
                <a:gd name="adj4" fmla="val 4375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57F5769-42C2-7487-0294-E49E9375D03C}"/>
                </a:ext>
              </a:extLst>
            </p:cNvPr>
            <p:cNvSpPr txBox="1"/>
            <p:nvPr/>
          </p:nvSpPr>
          <p:spPr>
            <a:xfrm>
              <a:off x="6221770" y="3546169"/>
              <a:ext cx="1606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phonon interaction</a:t>
              </a:r>
              <a:b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</a:br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(emission / absorption)</a:t>
              </a:r>
              <a:endParaRPr lang="ko-KR" altLang="en-US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/>
                <p:nvPr/>
              </p:nvSpPr>
              <p:spPr>
                <a:xfrm>
                  <a:off x="5385429" y="2320041"/>
                  <a:ext cx="4635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|"/>
                            <m:endChr m:val="|"/>
                            <m:ctrlP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oMath>
                    </m:oMathPara>
                  </a14:m>
                  <a:endParaRPr lang="ko-KR" altLang="en-US" sz="1200" dirty="0"/>
                </a:p>
              </p:txBody>
            </p:sp>
          </mc:Choice>
          <mc:Fallback xmlns="">
            <p:sp>
              <p:nvSpPr>
                <p:cNvPr id="44" name="TextBox 43">
                  <a:extLst>
                    <a:ext uri="{FF2B5EF4-FFF2-40B4-BE49-F238E27FC236}">
                      <a16:creationId xmlns:a16="http://schemas.microsoft.com/office/drawing/2014/main" id="{B6A1603A-3288-03BF-46A2-A8682C5D3A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5429" y="2320041"/>
                  <a:ext cx="463550" cy="30777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F44357A-8C7A-8278-3231-426ED9311E48}"/>
                </a:ext>
              </a:extLst>
            </p:cNvPr>
            <p:cNvCxnSpPr>
              <a:cxnSpLocks/>
            </p:cNvCxnSpPr>
            <p:nvPr/>
          </p:nvCxnSpPr>
          <p:spPr>
            <a:xfrm>
              <a:off x="5848979" y="2989325"/>
              <a:ext cx="72629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CC9021B7-7EAA-EC19-D782-C72830243DE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84628" y="2297625"/>
              <a:ext cx="235378" cy="24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직선 연결선 49">
              <a:extLst>
                <a:ext uri="{FF2B5EF4-FFF2-40B4-BE49-F238E27FC236}">
                  <a16:creationId xmlns:a16="http://schemas.microsoft.com/office/drawing/2014/main" id="{DAEF7956-B3F6-F7E7-8870-D20C9EA0798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83148" y="2265721"/>
              <a:ext cx="345053" cy="359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DE77B706-31CE-1F48-B2BA-E349BA2840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85524" y="2195789"/>
              <a:ext cx="164942" cy="1718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F291DA89-5FDB-CDE7-CF1A-4CDE6D43B3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63091" y="2154371"/>
              <a:ext cx="204701" cy="2132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FD0F03F2-4FE7-A807-04C9-6CAD9C8E07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50309" y="2112953"/>
              <a:ext cx="234809" cy="2446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D5166EEC-3FE6-E82B-1601-699D055A143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42625" y="2071535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>
              <a:extLst>
                <a:ext uri="{FF2B5EF4-FFF2-40B4-BE49-F238E27FC236}">
                  <a16:creationId xmlns:a16="http://schemas.microsoft.com/office/drawing/2014/main" id="{46C85FAF-24E5-FC9B-E1B2-3DDFCBACDD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33404" y="2220058"/>
              <a:ext cx="422608" cy="440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3F05E7-D992-99CA-5A88-C8BE80D5A49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66852" y="2558925"/>
              <a:ext cx="97312" cy="1013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D188B6CE-314F-7F47-1142-7F1E140FFD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00300" y="2569097"/>
              <a:ext cx="87548" cy="9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23899F8C-9477-399B-EF30-BE6E0787809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33748" y="2561838"/>
              <a:ext cx="94516" cy="98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직선 연결선 59">
              <a:extLst>
                <a:ext uri="{FF2B5EF4-FFF2-40B4-BE49-F238E27FC236}">
                  <a16:creationId xmlns:a16="http://schemas.microsoft.com/office/drawing/2014/main" id="{3DE139ED-F7F9-259A-3BB9-15A7CF2E00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767196" y="2331408"/>
              <a:ext cx="315718" cy="3288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직선 연결선 60">
              <a:extLst>
                <a:ext uri="{FF2B5EF4-FFF2-40B4-BE49-F238E27FC236}">
                  <a16:creationId xmlns:a16="http://schemas.microsoft.com/office/drawing/2014/main" id="{47A3A07B-326D-ED8C-E76D-57C5BD1EEC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0643" y="2477383"/>
              <a:ext cx="175589" cy="182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66456F8B-BF51-B312-D115-780E518B7A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35588" y="2195717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직선 화살표 연결선 77">
              <a:extLst>
                <a:ext uri="{FF2B5EF4-FFF2-40B4-BE49-F238E27FC236}">
                  <a16:creationId xmlns:a16="http://schemas.microsoft.com/office/drawing/2014/main" id="{33C661DD-A4F6-0418-727B-141EDB97B08A}"/>
                </a:ext>
              </a:extLst>
            </p:cNvPr>
            <p:cNvCxnSpPr>
              <a:cxnSpLocks/>
            </p:cNvCxnSpPr>
            <p:nvPr/>
          </p:nvCxnSpPr>
          <p:spPr>
            <a:xfrm>
              <a:off x="6251221" y="2061694"/>
              <a:ext cx="4126" cy="927631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D07933EA-89CC-DCD7-61A7-BD5F8F103A61}"/>
                </a:ext>
              </a:extLst>
            </p:cNvPr>
            <p:cNvSpPr txBox="1"/>
            <p:nvPr/>
          </p:nvSpPr>
          <p:spPr>
            <a:xfrm>
              <a:off x="6194610" y="2085641"/>
              <a:ext cx="3417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1200" baseline="-25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</a:t>
              </a:r>
              <a:endParaRPr lang="ko-KR" altLang="en-US" sz="12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cxnSp>
          <p:nvCxnSpPr>
            <p:cNvPr id="81" name="직선 연결선 80">
              <a:extLst>
                <a:ext uri="{FF2B5EF4-FFF2-40B4-BE49-F238E27FC236}">
                  <a16:creationId xmlns:a16="http://schemas.microsoft.com/office/drawing/2014/main" id="{0242CEEA-01AE-3DE0-7B21-7662FA8EE00D}"/>
                </a:ext>
              </a:extLst>
            </p:cNvPr>
            <p:cNvCxnSpPr>
              <a:cxnSpLocks/>
            </p:cNvCxnSpPr>
            <p:nvPr/>
          </p:nvCxnSpPr>
          <p:spPr>
            <a:xfrm>
              <a:off x="5913471" y="2668649"/>
              <a:ext cx="66180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/>
                <p:nvPr/>
              </p:nvSpPr>
              <p:spPr>
                <a:xfrm>
                  <a:off x="6386066" y="2680709"/>
                  <a:ext cx="5177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altLang="ko-KR" sz="12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84" name="TextBox 83">
                  <a:extLst>
                    <a:ext uri="{FF2B5EF4-FFF2-40B4-BE49-F238E27FC236}">
                      <a16:creationId xmlns:a16="http://schemas.microsoft.com/office/drawing/2014/main" id="{E102553B-6401-2989-08F8-C2D8D1E28E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86066" y="2680709"/>
                  <a:ext cx="517770" cy="27699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5" name="직선 화살표 연결선 84">
              <a:extLst>
                <a:ext uri="{FF2B5EF4-FFF2-40B4-BE49-F238E27FC236}">
                  <a16:creationId xmlns:a16="http://schemas.microsoft.com/office/drawing/2014/main" id="{FF712E98-13E6-5AB0-9E01-2D3F39B69A76}"/>
                </a:ext>
              </a:extLst>
            </p:cNvPr>
            <p:cNvCxnSpPr>
              <a:cxnSpLocks/>
            </p:cNvCxnSpPr>
            <p:nvPr/>
          </p:nvCxnSpPr>
          <p:spPr>
            <a:xfrm>
              <a:off x="6410307" y="2660297"/>
              <a:ext cx="0" cy="329028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" name="그룹 31">
              <a:extLst>
                <a:ext uri="{FF2B5EF4-FFF2-40B4-BE49-F238E27FC236}">
                  <a16:creationId xmlns:a16="http://schemas.microsoft.com/office/drawing/2014/main" id="{8B7157A8-111A-B8DD-B6F2-D5F4CF2852D8}"/>
                </a:ext>
              </a:extLst>
            </p:cNvPr>
            <p:cNvGrpSpPr/>
            <p:nvPr/>
          </p:nvGrpSpPr>
          <p:grpSpPr>
            <a:xfrm>
              <a:off x="6552992" y="3135634"/>
              <a:ext cx="2372831" cy="324005"/>
              <a:chOff x="2709731" y="2892529"/>
              <a:chExt cx="2372831" cy="324005"/>
            </a:xfrm>
          </p:grpSpPr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715BFF-FB43-F85A-4290-6051D53CD4E8}"/>
                  </a:ext>
                </a:extLst>
              </p:cNvPr>
              <p:cNvSpPr txBox="1"/>
              <p:nvPr/>
            </p:nvSpPr>
            <p:spPr>
              <a:xfrm>
                <a:off x="3128181" y="2892529"/>
                <a:ext cx="195438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14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: lattice phonon property</a:t>
                </a:r>
                <a:endParaRPr lang="ko-KR" altLang="en-US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B0977DA1-26B6-24FA-7929-6100F6492F35}"/>
                      </a:ext>
                    </a:extLst>
                  </p:cNvPr>
                  <p:cNvSpPr txBox="1"/>
                  <p:nvPr/>
                </p:nvSpPr>
                <p:spPr>
                  <a:xfrm>
                    <a:off x="2709731" y="2908757"/>
                    <a:ext cx="568232" cy="307777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ko-KR" sz="14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𝑆</m:t>
                          </m:r>
                          <m:r>
                            <m:rPr>
                              <m:sty m:val="p"/>
                            </m:rPr>
                            <a:rPr lang="en-US" altLang="ko-KR" sz="14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14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𝑤</m:t>
                          </m:r>
                        </m:oMath>
                      </m:oMathPara>
                    </a14:m>
                    <a:endParaRPr lang="ko-KR" altLang="en-US" sz="14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endParaRPr>
                  </a:p>
                </p:txBody>
              </p:sp>
            </mc:Choice>
            <mc:Fallback xmlns="">
              <p:sp>
                <p:nvSpPr>
                  <p:cNvPr id="87" name="TextBox 86">
                    <a:extLst>
                      <a:ext uri="{FF2B5EF4-FFF2-40B4-BE49-F238E27FC236}">
                        <a16:creationId xmlns:a16="http://schemas.microsoft.com/office/drawing/2014/main" id="{B0977DA1-26B6-24FA-7929-6100F6492F3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709731" y="2908757"/>
                    <a:ext cx="568232" cy="307777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F3C3417D-C00C-4D42-8166-9DC2D4F507FC}"/>
                </a:ext>
              </a:extLst>
            </p:cNvPr>
            <p:cNvSpPr txBox="1"/>
            <p:nvPr/>
          </p:nvSpPr>
          <p:spPr>
            <a:xfrm>
              <a:off x="6739857" y="2649931"/>
              <a:ext cx="224125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: electron energy absorption</a:t>
              </a:r>
              <a:endPara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F2E24EC5-2505-8E09-1BDF-0B4EDB58DBA1}"/>
                </a:ext>
              </a:extLst>
            </p:cNvPr>
            <p:cNvSpPr txBox="1"/>
            <p:nvPr/>
          </p:nvSpPr>
          <p:spPr>
            <a:xfrm>
              <a:off x="6207070" y="2301834"/>
              <a:ext cx="155202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Symbol" panose="05050102010706020507" pitchFamily="18" charset="2"/>
                <a:buChar char="Þ"/>
              </a:pPr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adaptable |TC| </a:t>
              </a:r>
            </a:p>
          </p:txBody>
        </p: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0CEF1532-3F20-FCDF-8FE2-3F7040DBC0C8}"/>
                </a:ext>
              </a:extLst>
            </p:cNvPr>
            <p:cNvGrpSpPr/>
            <p:nvPr/>
          </p:nvGrpSpPr>
          <p:grpSpPr>
            <a:xfrm>
              <a:off x="5651065" y="3080248"/>
              <a:ext cx="411587" cy="261610"/>
              <a:chOff x="1815665" y="2901294"/>
              <a:chExt cx="411587" cy="261610"/>
            </a:xfrm>
          </p:grpSpPr>
          <p:cxnSp>
            <p:nvCxnSpPr>
              <p:cNvPr id="27" name="직선 화살표 연결선 26">
                <a:extLst>
                  <a:ext uri="{FF2B5EF4-FFF2-40B4-BE49-F238E27FC236}">
                    <a16:creationId xmlns:a16="http://schemas.microsoft.com/office/drawing/2014/main" id="{6A7B6B3D-C513-DA3E-5E42-3963CF9B49E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0492" y="2956680"/>
                <a:ext cx="0" cy="1524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DCDAA59-F11B-8FDD-3C4A-6A2C7C808E56}"/>
                      </a:ext>
                    </a:extLst>
                  </p:cNvPr>
                  <p:cNvSpPr txBox="1"/>
                  <p:nvPr/>
                </p:nvSpPr>
                <p:spPr>
                  <a:xfrm>
                    <a:off x="1815665" y="2901294"/>
                    <a:ext cx="411587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>
                          <m:r>
                            <m:rPr>
                              <m:sty m:val="p"/>
                            </m:rPr>
                            <a:rPr lang="en-US" altLang="ko-KR" sz="11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11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𝑤</m:t>
                          </m:r>
                        </m:oMath>
                      </m:oMathPara>
                    </a14:m>
                    <a:endParaRPr lang="ko-KR" altLang="en-US" sz="11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endParaRPr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1DCDAA59-F11B-8FDD-3C4A-6A2C7C808E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15665" y="2901294"/>
                    <a:ext cx="411587" cy="26161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4F0578F-E43B-D670-2C25-5FD4EFD4189D}"/>
              </a:ext>
            </a:extLst>
          </p:cNvPr>
          <p:cNvSpPr txBox="1"/>
          <p:nvPr/>
        </p:nvSpPr>
        <p:spPr>
          <a:xfrm>
            <a:off x="138881" y="939698"/>
            <a:ext cx="314060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Radiative transition (photon)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DC91B8-4E83-280D-951A-1F035DB18D71}"/>
              </a:ext>
            </a:extLst>
          </p:cNvPr>
          <p:cNvSpPr txBox="1"/>
          <p:nvPr/>
        </p:nvSpPr>
        <p:spPr>
          <a:xfrm>
            <a:off x="138881" y="3570258"/>
            <a:ext cx="43479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Nonradiative transition (phonon)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44D708-7705-0C8A-2F45-5E3F15D30899}"/>
              </a:ext>
            </a:extLst>
          </p:cNvPr>
          <p:cNvSpPr txBox="1"/>
          <p:nvPr/>
        </p:nvSpPr>
        <p:spPr>
          <a:xfrm>
            <a:off x="4971443" y="1087574"/>
            <a:ext cx="33523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NMP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Emission Description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C74C2474-B94B-D436-3135-0FAAA4273E34}"/>
              </a:ext>
            </a:extLst>
          </p:cNvPr>
          <p:cNvCxnSpPr>
            <a:cxnSpLocks/>
          </p:cNvCxnSpPr>
          <p:nvPr/>
        </p:nvCxnSpPr>
        <p:spPr>
          <a:xfrm>
            <a:off x="626926" y="1677812"/>
            <a:ext cx="7302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C2EA0C71-21AF-F4FD-694F-8C4BFCBB0211}"/>
              </a:ext>
            </a:extLst>
          </p:cNvPr>
          <p:cNvCxnSpPr>
            <a:cxnSpLocks/>
          </p:cNvCxnSpPr>
          <p:nvPr/>
        </p:nvCxnSpPr>
        <p:spPr>
          <a:xfrm>
            <a:off x="1712071" y="2552729"/>
            <a:ext cx="4896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68C3DB67-A26B-7587-3C2B-2461079C6356}"/>
              </a:ext>
            </a:extLst>
          </p:cNvPr>
          <p:cNvCxnSpPr>
            <a:cxnSpLocks/>
          </p:cNvCxnSpPr>
          <p:nvPr/>
        </p:nvCxnSpPr>
        <p:spPr>
          <a:xfrm>
            <a:off x="1159900" y="1677812"/>
            <a:ext cx="723249" cy="8749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자유형: 도형 42">
            <a:extLst>
              <a:ext uri="{FF2B5EF4-FFF2-40B4-BE49-F238E27FC236}">
                <a16:creationId xmlns:a16="http://schemas.microsoft.com/office/drawing/2014/main" id="{AC1ACAE5-F978-485E-9C23-1FB3A935C5F3}"/>
              </a:ext>
            </a:extLst>
          </p:cNvPr>
          <p:cNvSpPr/>
          <p:nvPr/>
        </p:nvSpPr>
        <p:spPr>
          <a:xfrm>
            <a:off x="1622068" y="2018196"/>
            <a:ext cx="650081" cy="69057"/>
          </a:xfrm>
          <a:custGeom>
            <a:avLst/>
            <a:gdLst>
              <a:gd name="csX0" fmla="*/ 0 w 650081"/>
              <a:gd name="csY0" fmla="*/ 69057 h 69057"/>
              <a:gd name="csX1" fmla="*/ 71437 w 650081"/>
              <a:gd name="csY1" fmla="*/ 1 h 69057"/>
              <a:gd name="csX2" fmla="*/ 142875 w 650081"/>
              <a:gd name="csY2" fmla="*/ 66676 h 69057"/>
              <a:gd name="csX3" fmla="*/ 211931 w 650081"/>
              <a:gd name="csY3" fmla="*/ 4763 h 69057"/>
              <a:gd name="csX4" fmla="*/ 290512 w 650081"/>
              <a:gd name="csY4" fmla="*/ 64295 h 69057"/>
              <a:gd name="csX5" fmla="*/ 352425 w 650081"/>
              <a:gd name="csY5" fmla="*/ 7145 h 69057"/>
              <a:gd name="csX6" fmla="*/ 433387 w 650081"/>
              <a:gd name="csY6" fmla="*/ 66676 h 69057"/>
              <a:gd name="csX7" fmla="*/ 500062 w 650081"/>
              <a:gd name="csY7" fmla="*/ 7145 h 69057"/>
              <a:gd name="csX8" fmla="*/ 547687 w 650081"/>
              <a:gd name="csY8" fmla="*/ 45245 h 69057"/>
              <a:gd name="csX9" fmla="*/ 595312 w 650081"/>
              <a:gd name="csY9" fmla="*/ 38101 h 69057"/>
              <a:gd name="csX10" fmla="*/ 650081 w 650081"/>
              <a:gd name="csY10" fmla="*/ 38101 h 6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50081" h="69057">
                <a:moveTo>
                  <a:pt x="0" y="69057"/>
                </a:moveTo>
                <a:cubicBezTo>
                  <a:pt x="23812" y="34727"/>
                  <a:pt x="47625" y="398"/>
                  <a:pt x="71437" y="1"/>
                </a:cubicBezTo>
                <a:cubicBezTo>
                  <a:pt x="95250" y="-396"/>
                  <a:pt x="119459" y="65882"/>
                  <a:pt x="142875" y="66676"/>
                </a:cubicBezTo>
                <a:cubicBezTo>
                  <a:pt x="166291" y="67470"/>
                  <a:pt x="187325" y="5160"/>
                  <a:pt x="211931" y="4763"/>
                </a:cubicBezTo>
                <a:cubicBezTo>
                  <a:pt x="236537" y="4366"/>
                  <a:pt x="267096" y="63898"/>
                  <a:pt x="290512" y="64295"/>
                </a:cubicBezTo>
                <a:cubicBezTo>
                  <a:pt x="313928" y="64692"/>
                  <a:pt x="328613" y="6748"/>
                  <a:pt x="352425" y="7145"/>
                </a:cubicBezTo>
                <a:cubicBezTo>
                  <a:pt x="376238" y="7542"/>
                  <a:pt x="408781" y="66676"/>
                  <a:pt x="433387" y="66676"/>
                </a:cubicBezTo>
                <a:cubicBezTo>
                  <a:pt x="457993" y="66676"/>
                  <a:pt x="481012" y="10717"/>
                  <a:pt x="500062" y="7145"/>
                </a:cubicBezTo>
                <a:cubicBezTo>
                  <a:pt x="519112" y="3573"/>
                  <a:pt x="531812" y="40086"/>
                  <a:pt x="547687" y="45245"/>
                </a:cubicBezTo>
                <a:cubicBezTo>
                  <a:pt x="563562" y="50404"/>
                  <a:pt x="578246" y="39292"/>
                  <a:pt x="595312" y="38101"/>
                </a:cubicBezTo>
                <a:cubicBezTo>
                  <a:pt x="612378" y="36910"/>
                  <a:pt x="631229" y="37505"/>
                  <a:pt x="650081" y="3810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40883D-5794-C81E-DF8A-0888AF7ECAF0}"/>
                  </a:ext>
                </a:extLst>
              </p:cNvPr>
              <p:cNvSpPr txBox="1"/>
              <p:nvPr/>
            </p:nvSpPr>
            <p:spPr>
              <a:xfrm>
                <a:off x="1848450" y="1787805"/>
                <a:ext cx="65255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𝐸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ℎ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𝜈</m:t>
                      </m:r>
                    </m:oMath>
                  </m:oMathPara>
                </a14:m>
                <a:endParaRPr lang="ko-KR" altLang="en-US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8940883D-5794-C81E-DF8A-0888AF7ECA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48450" y="1787805"/>
                <a:ext cx="65255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F425736-6D32-2DDD-57A2-007076293B20}"/>
              </a:ext>
            </a:extLst>
          </p:cNvPr>
          <p:cNvCxnSpPr>
            <a:cxnSpLocks/>
          </p:cNvCxnSpPr>
          <p:nvPr/>
        </p:nvCxnSpPr>
        <p:spPr>
          <a:xfrm flipV="1">
            <a:off x="732639" y="1685135"/>
            <a:ext cx="0" cy="867594"/>
          </a:xfrm>
          <a:prstGeom prst="straightConnector1">
            <a:avLst/>
          </a:prstGeom>
          <a:ln>
            <a:solidFill>
              <a:srgbClr val="FF0505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49F18A4-3CAA-2202-AE35-BD9E5A607B6A}"/>
                  </a:ext>
                </a:extLst>
              </p:cNvPr>
              <p:cNvSpPr txBox="1"/>
              <p:nvPr/>
            </p:nvSpPr>
            <p:spPr>
              <a:xfrm>
                <a:off x="820229" y="1420149"/>
                <a:ext cx="29136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𝑖</m:t>
                      </m:r>
                    </m:oMath>
                  </m:oMathPara>
                </a14:m>
                <a:endParaRPr lang="ko-KR" altLang="en-US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049F18A4-3CAA-2202-AE35-BD9E5A607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29" y="1420149"/>
                <a:ext cx="291362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FC4CECB-9828-4ECE-D059-39B030E0293B}"/>
                  </a:ext>
                </a:extLst>
              </p:cNvPr>
              <p:cNvSpPr txBox="1"/>
              <p:nvPr/>
            </p:nvSpPr>
            <p:spPr>
              <a:xfrm>
                <a:off x="1817320" y="2504769"/>
                <a:ext cx="3341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𝑓</m:t>
                      </m:r>
                    </m:oMath>
                  </m:oMathPara>
                </a14:m>
                <a:endParaRPr lang="ko-KR" altLang="en-US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5FC4CECB-9828-4ECE-D059-39B030E029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320" y="2504769"/>
                <a:ext cx="334194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7" name="타원 66">
            <a:extLst>
              <a:ext uri="{FF2B5EF4-FFF2-40B4-BE49-F238E27FC236}">
                <a16:creationId xmlns:a16="http://schemas.microsoft.com/office/drawing/2014/main" id="{33F47FE3-F3B6-281B-D481-D74513FF1125}"/>
              </a:ext>
            </a:extLst>
          </p:cNvPr>
          <p:cNvSpPr/>
          <p:nvPr/>
        </p:nvSpPr>
        <p:spPr>
          <a:xfrm>
            <a:off x="3127299" y="1882440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2" name="타원 71">
            <a:extLst>
              <a:ext uri="{FF2B5EF4-FFF2-40B4-BE49-F238E27FC236}">
                <a16:creationId xmlns:a16="http://schemas.microsoft.com/office/drawing/2014/main" id="{311FC453-1767-4270-B5A8-7470D775709B}"/>
              </a:ext>
            </a:extLst>
          </p:cNvPr>
          <p:cNvSpPr/>
          <p:nvPr/>
        </p:nvSpPr>
        <p:spPr>
          <a:xfrm>
            <a:off x="3127299" y="2258768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3" name="타원 72">
            <a:extLst>
              <a:ext uri="{FF2B5EF4-FFF2-40B4-BE49-F238E27FC236}">
                <a16:creationId xmlns:a16="http://schemas.microsoft.com/office/drawing/2014/main" id="{8A19105A-0FB6-4517-4BD6-00A6E0184350}"/>
              </a:ext>
            </a:extLst>
          </p:cNvPr>
          <p:cNvSpPr/>
          <p:nvPr/>
        </p:nvSpPr>
        <p:spPr>
          <a:xfrm>
            <a:off x="3127299" y="263509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7" name="타원 76">
            <a:extLst>
              <a:ext uri="{FF2B5EF4-FFF2-40B4-BE49-F238E27FC236}">
                <a16:creationId xmlns:a16="http://schemas.microsoft.com/office/drawing/2014/main" id="{43C47819-2C9E-253C-3689-EE53A296A2AC}"/>
              </a:ext>
            </a:extLst>
          </p:cNvPr>
          <p:cNvSpPr/>
          <p:nvPr/>
        </p:nvSpPr>
        <p:spPr>
          <a:xfrm>
            <a:off x="3553385" y="1882440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C1BA16C5-A645-FA1F-1D9E-216C9D6E720C}"/>
              </a:ext>
            </a:extLst>
          </p:cNvPr>
          <p:cNvSpPr/>
          <p:nvPr/>
        </p:nvSpPr>
        <p:spPr>
          <a:xfrm>
            <a:off x="3553385" y="2258768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2" name="타원 81">
            <a:extLst>
              <a:ext uri="{FF2B5EF4-FFF2-40B4-BE49-F238E27FC236}">
                <a16:creationId xmlns:a16="http://schemas.microsoft.com/office/drawing/2014/main" id="{B3DE0FE3-6E29-5F4A-ED3C-3A210D4C5EF8}"/>
              </a:ext>
            </a:extLst>
          </p:cNvPr>
          <p:cNvSpPr/>
          <p:nvPr/>
        </p:nvSpPr>
        <p:spPr>
          <a:xfrm>
            <a:off x="3553385" y="263509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타원 82">
            <a:extLst>
              <a:ext uri="{FF2B5EF4-FFF2-40B4-BE49-F238E27FC236}">
                <a16:creationId xmlns:a16="http://schemas.microsoft.com/office/drawing/2014/main" id="{977DD59E-C835-87C5-6E49-9078230FE76A}"/>
              </a:ext>
            </a:extLst>
          </p:cNvPr>
          <p:cNvSpPr/>
          <p:nvPr/>
        </p:nvSpPr>
        <p:spPr>
          <a:xfrm>
            <a:off x="3979471" y="1882440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7A365481-AB19-6805-CFA9-6A711AFDD3E1}"/>
              </a:ext>
            </a:extLst>
          </p:cNvPr>
          <p:cNvSpPr/>
          <p:nvPr/>
        </p:nvSpPr>
        <p:spPr>
          <a:xfrm>
            <a:off x="3979471" y="2258768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9" name="타원 88">
            <a:extLst>
              <a:ext uri="{FF2B5EF4-FFF2-40B4-BE49-F238E27FC236}">
                <a16:creationId xmlns:a16="http://schemas.microsoft.com/office/drawing/2014/main" id="{3A521B86-C0B2-EB70-E0B1-339C6DDB9F51}"/>
              </a:ext>
            </a:extLst>
          </p:cNvPr>
          <p:cNvSpPr/>
          <p:nvPr/>
        </p:nvSpPr>
        <p:spPr>
          <a:xfrm>
            <a:off x="3979471" y="263509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0" name="직선 연결선 89">
            <a:extLst>
              <a:ext uri="{FF2B5EF4-FFF2-40B4-BE49-F238E27FC236}">
                <a16:creationId xmlns:a16="http://schemas.microsoft.com/office/drawing/2014/main" id="{AE374C3A-F75D-5B89-549D-67F3E66743D5}"/>
              </a:ext>
            </a:extLst>
          </p:cNvPr>
          <p:cNvCxnSpPr>
            <a:cxnSpLocks/>
          </p:cNvCxnSpPr>
          <p:nvPr/>
        </p:nvCxnSpPr>
        <p:spPr>
          <a:xfrm>
            <a:off x="626926" y="4287488"/>
            <a:ext cx="7302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3E2C79B8-91EB-15CF-4F80-5EECB77D2C7F}"/>
              </a:ext>
            </a:extLst>
          </p:cNvPr>
          <p:cNvCxnSpPr>
            <a:cxnSpLocks/>
          </p:cNvCxnSpPr>
          <p:nvPr/>
        </p:nvCxnSpPr>
        <p:spPr>
          <a:xfrm>
            <a:off x="1712071" y="5162405"/>
            <a:ext cx="48965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162B2890-2582-6ABF-C069-6BFD3CFC14C5}"/>
                  </a:ext>
                </a:extLst>
              </p:cNvPr>
              <p:cNvSpPr txBox="1"/>
              <p:nvPr/>
            </p:nvSpPr>
            <p:spPr>
              <a:xfrm>
                <a:off x="1927696" y="4454360"/>
                <a:ext cx="77027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Δ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𝐸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ℏω</m:t>
                    </m:r>
                  </m:oMath>
                </a14:m>
                <a:r>
                  <a:rPr lang="ko-KR" altLang="en-US" sz="11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b="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95" name="TextBox 94">
                <a:extLst>
                  <a:ext uri="{FF2B5EF4-FFF2-40B4-BE49-F238E27FC236}">
                    <a16:creationId xmlns:a16="http://schemas.microsoft.com/office/drawing/2014/main" id="{162B2890-2582-6ABF-C069-6BFD3CFC1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7696" y="4454360"/>
                <a:ext cx="770274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4E17D0-0686-159B-FAB3-173DE3C3073A}"/>
              </a:ext>
            </a:extLst>
          </p:cNvPr>
          <p:cNvCxnSpPr>
            <a:cxnSpLocks/>
          </p:cNvCxnSpPr>
          <p:nvPr/>
        </p:nvCxnSpPr>
        <p:spPr>
          <a:xfrm flipV="1">
            <a:off x="732639" y="4294811"/>
            <a:ext cx="0" cy="867594"/>
          </a:xfrm>
          <a:prstGeom prst="straightConnector1">
            <a:avLst/>
          </a:prstGeom>
          <a:ln>
            <a:solidFill>
              <a:srgbClr val="FF0505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0AA8925-C3A6-1825-F090-27A2F51D6DA7}"/>
                  </a:ext>
                </a:extLst>
              </p:cNvPr>
              <p:cNvSpPr txBox="1"/>
              <p:nvPr/>
            </p:nvSpPr>
            <p:spPr>
              <a:xfrm>
                <a:off x="820229" y="4029825"/>
                <a:ext cx="291362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𝑖</m:t>
                      </m:r>
                    </m:oMath>
                  </m:oMathPara>
                </a14:m>
                <a:endParaRPr lang="ko-KR" altLang="en-US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98" name="TextBox 97">
                <a:extLst>
                  <a:ext uri="{FF2B5EF4-FFF2-40B4-BE49-F238E27FC236}">
                    <a16:creationId xmlns:a16="http://schemas.microsoft.com/office/drawing/2014/main" id="{F0AA8925-C3A6-1825-F090-27A2F51D6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229" y="4029825"/>
                <a:ext cx="291362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1DF6D30-CE89-8C47-DD36-F79AE172B738}"/>
                  </a:ext>
                </a:extLst>
              </p:cNvPr>
              <p:cNvSpPr txBox="1"/>
              <p:nvPr/>
            </p:nvSpPr>
            <p:spPr>
              <a:xfrm>
                <a:off x="1817320" y="5114445"/>
                <a:ext cx="3341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4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𝑓</m:t>
                      </m:r>
                    </m:oMath>
                  </m:oMathPara>
                </a14:m>
                <a:endParaRPr lang="ko-KR" altLang="en-US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F1DF6D30-CE89-8C47-DD36-F79AE172B7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17320" y="5114445"/>
                <a:ext cx="334194" cy="30777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0" name="타원 99">
            <a:extLst>
              <a:ext uri="{FF2B5EF4-FFF2-40B4-BE49-F238E27FC236}">
                <a16:creationId xmlns:a16="http://schemas.microsoft.com/office/drawing/2014/main" id="{533B77B9-7F5E-26B7-B790-79D94736BCF7}"/>
              </a:ext>
            </a:extLst>
          </p:cNvPr>
          <p:cNvSpPr/>
          <p:nvPr/>
        </p:nvSpPr>
        <p:spPr>
          <a:xfrm>
            <a:off x="3127299" y="449211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E5451BB2-1A53-9B91-FE47-BF2575954ADC}"/>
              </a:ext>
            </a:extLst>
          </p:cNvPr>
          <p:cNvSpPr/>
          <p:nvPr/>
        </p:nvSpPr>
        <p:spPr>
          <a:xfrm>
            <a:off x="3127299" y="4868444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2" name="타원 101">
            <a:extLst>
              <a:ext uri="{FF2B5EF4-FFF2-40B4-BE49-F238E27FC236}">
                <a16:creationId xmlns:a16="http://schemas.microsoft.com/office/drawing/2014/main" id="{41B22B03-69F1-2F8A-3BE4-5B6420C69925}"/>
              </a:ext>
            </a:extLst>
          </p:cNvPr>
          <p:cNvSpPr/>
          <p:nvPr/>
        </p:nvSpPr>
        <p:spPr>
          <a:xfrm>
            <a:off x="3127299" y="5244772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F982CBA0-5D0A-CF0C-F8F9-7644F47441D0}"/>
              </a:ext>
            </a:extLst>
          </p:cNvPr>
          <p:cNvSpPr/>
          <p:nvPr/>
        </p:nvSpPr>
        <p:spPr>
          <a:xfrm>
            <a:off x="3553385" y="449211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88F433F0-A074-78A8-7B9C-5587C2D35079}"/>
              </a:ext>
            </a:extLst>
          </p:cNvPr>
          <p:cNvSpPr/>
          <p:nvPr/>
        </p:nvSpPr>
        <p:spPr>
          <a:xfrm>
            <a:off x="3553385" y="4868444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E66510B8-23ED-0675-2892-FE7AA9C2039D}"/>
              </a:ext>
            </a:extLst>
          </p:cNvPr>
          <p:cNvSpPr/>
          <p:nvPr/>
        </p:nvSpPr>
        <p:spPr>
          <a:xfrm>
            <a:off x="3553385" y="5244772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6" name="타원 105">
            <a:extLst>
              <a:ext uri="{FF2B5EF4-FFF2-40B4-BE49-F238E27FC236}">
                <a16:creationId xmlns:a16="http://schemas.microsoft.com/office/drawing/2014/main" id="{9D5832E0-9D4D-6A07-BEB8-817A4C10E5C0}"/>
              </a:ext>
            </a:extLst>
          </p:cNvPr>
          <p:cNvSpPr/>
          <p:nvPr/>
        </p:nvSpPr>
        <p:spPr>
          <a:xfrm>
            <a:off x="3979471" y="4492116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7" name="타원 106">
            <a:extLst>
              <a:ext uri="{FF2B5EF4-FFF2-40B4-BE49-F238E27FC236}">
                <a16:creationId xmlns:a16="http://schemas.microsoft.com/office/drawing/2014/main" id="{5A9B182A-7CFD-C95C-CDC3-9ADC8AE5DF56}"/>
              </a:ext>
            </a:extLst>
          </p:cNvPr>
          <p:cNvSpPr/>
          <p:nvPr/>
        </p:nvSpPr>
        <p:spPr>
          <a:xfrm>
            <a:off x="3979471" y="4868444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8" name="타원 107">
            <a:extLst>
              <a:ext uri="{FF2B5EF4-FFF2-40B4-BE49-F238E27FC236}">
                <a16:creationId xmlns:a16="http://schemas.microsoft.com/office/drawing/2014/main" id="{6209ADCD-D608-0E52-C152-076ACB7BAA24}"/>
              </a:ext>
            </a:extLst>
          </p:cNvPr>
          <p:cNvSpPr/>
          <p:nvPr/>
        </p:nvSpPr>
        <p:spPr>
          <a:xfrm>
            <a:off x="3979471" y="5244772"/>
            <a:ext cx="190500" cy="190500"/>
          </a:xfrm>
          <a:prstGeom prst="ellipse">
            <a:avLst/>
          </a:prstGeom>
          <a:gradFill flip="none" rotWithShape="1">
            <a:gsLst>
              <a:gs pos="0">
                <a:schemeClr val="accent1">
                  <a:lumMod val="0"/>
                  <a:lumOff val="100000"/>
                </a:schemeClr>
              </a:gs>
              <a:gs pos="14000">
                <a:schemeClr val="bg1"/>
              </a:gs>
              <a:gs pos="100000">
                <a:schemeClr val="accent1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9" name="자유형: 도형 108">
            <a:extLst>
              <a:ext uri="{FF2B5EF4-FFF2-40B4-BE49-F238E27FC236}">
                <a16:creationId xmlns:a16="http://schemas.microsoft.com/office/drawing/2014/main" id="{F39F4C12-5071-551D-A51D-F2E52E37D8BA}"/>
              </a:ext>
            </a:extLst>
          </p:cNvPr>
          <p:cNvSpPr/>
          <p:nvPr/>
        </p:nvSpPr>
        <p:spPr>
          <a:xfrm rot="396148">
            <a:off x="1158748" y="4262703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AA7FCE00-5C94-2C03-12D5-98CADD9EF865}"/>
              </a:ext>
            </a:extLst>
          </p:cNvPr>
          <p:cNvSpPr/>
          <p:nvPr/>
        </p:nvSpPr>
        <p:spPr>
          <a:xfrm rot="396148">
            <a:off x="1261975" y="4385704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BB04EFA4-0311-0F83-1B8F-78F992E96744}"/>
              </a:ext>
            </a:extLst>
          </p:cNvPr>
          <p:cNvSpPr/>
          <p:nvPr/>
        </p:nvSpPr>
        <p:spPr>
          <a:xfrm rot="396148">
            <a:off x="1365203" y="4512471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2" name="자유형: 도형 111">
            <a:extLst>
              <a:ext uri="{FF2B5EF4-FFF2-40B4-BE49-F238E27FC236}">
                <a16:creationId xmlns:a16="http://schemas.microsoft.com/office/drawing/2014/main" id="{0800051D-74C4-77E2-1F1E-A86F0DF4055C}"/>
              </a:ext>
            </a:extLst>
          </p:cNvPr>
          <p:cNvSpPr/>
          <p:nvPr/>
        </p:nvSpPr>
        <p:spPr>
          <a:xfrm rot="396148">
            <a:off x="1468573" y="4640938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3" name="자유형: 도형 112">
            <a:extLst>
              <a:ext uri="{FF2B5EF4-FFF2-40B4-BE49-F238E27FC236}">
                <a16:creationId xmlns:a16="http://schemas.microsoft.com/office/drawing/2014/main" id="{97F46526-9EE9-4387-9F20-6399629D3160}"/>
              </a:ext>
            </a:extLst>
          </p:cNvPr>
          <p:cNvSpPr/>
          <p:nvPr/>
        </p:nvSpPr>
        <p:spPr>
          <a:xfrm rot="396148">
            <a:off x="1573968" y="4767686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E3FD3A6E-C10D-BF01-335B-F5C7A430E78A}"/>
              </a:ext>
            </a:extLst>
          </p:cNvPr>
          <p:cNvSpPr/>
          <p:nvPr/>
        </p:nvSpPr>
        <p:spPr>
          <a:xfrm rot="396148">
            <a:off x="1679363" y="4891145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30F712C5-9F77-5378-87EA-424FDDE9E796}"/>
              </a:ext>
            </a:extLst>
          </p:cNvPr>
          <p:cNvSpPr/>
          <p:nvPr/>
        </p:nvSpPr>
        <p:spPr>
          <a:xfrm rot="396148">
            <a:off x="1782355" y="5017145"/>
            <a:ext cx="176517" cy="149797"/>
          </a:xfrm>
          <a:custGeom>
            <a:avLst/>
            <a:gdLst>
              <a:gd name="csX0" fmla="*/ 0 w 176517"/>
              <a:gd name="csY0" fmla="*/ 35497 h 149797"/>
              <a:gd name="csX1" fmla="*/ 171450 w 176517"/>
              <a:gd name="csY1" fmla="*/ 6922 h 149797"/>
              <a:gd name="csX2" fmla="*/ 114300 w 176517"/>
              <a:gd name="csY2" fmla="*/ 149797 h 1497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76517" h="149797">
                <a:moveTo>
                  <a:pt x="0" y="35497"/>
                </a:moveTo>
                <a:cubicBezTo>
                  <a:pt x="76200" y="11684"/>
                  <a:pt x="152400" y="-12128"/>
                  <a:pt x="171450" y="6922"/>
                </a:cubicBezTo>
                <a:cubicBezTo>
                  <a:pt x="190500" y="25972"/>
                  <a:pt x="152400" y="87884"/>
                  <a:pt x="114300" y="149797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stealth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직선 연결선 117">
            <a:extLst>
              <a:ext uri="{FF2B5EF4-FFF2-40B4-BE49-F238E27FC236}">
                <a16:creationId xmlns:a16="http://schemas.microsoft.com/office/drawing/2014/main" id="{6A8FE946-B9B3-A9F8-947F-98C145D0039A}"/>
              </a:ext>
            </a:extLst>
          </p:cNvPr>
          <p:cNvCxnSpPr/>
          <p:nvPr/>
        </p:nvCxnSpPr>
        <p:spPr>
          <a:xfrm>
            <a:off x="1182331" y="4538881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직선 연결선 118">
            <a:extLst>
              <a:ext uri="{FF2B5EF4-FFF2-40B4-BE49-F238E27FC236}">
                <a16:creationId xmlns:a16="http://schemas.microsoft.com/office/drawing/2014/main" id="{31AC860A-0838-0A0C-99DF-C4303B919755}"/>
              </a:ext>
            </a:extLst>
          </p:cNvPr>
          <p:cNvCxnSpPr/>
          <p:nvPr/>
        </p:nvCxnSpPr>
        <p:spPr>
          <a:xfrm>
            <a:off x="1232117" y="4661233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직선 연결선 119">
            <a:extLst>
              <a:ext uri="{FF2B5EF4-FFF2-40B4-BE49-F238E27FC236}">
                <a16:creationId xmlns:a16="http://schemas.microsoft.com/office/drawing/2014/main" id="{8C84DD4B-E2D7-9AB1-3C18-A11676378473}"/>
              </a:ext>
            </a:extLst>
          </p:cNvPr>
          <p:cNvCxnSpPr/>
          <p:nvPr/>
        </p:nvCxnSpPr>
        <p:spPr>
          <a:xfrm>
            <a:off x="1281903" y="4783585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직선 연결선 120">
            <a:extLst>
              <a:ext uri="{FF2B5EF4-FFF2-40B4-BE49-F238E27FC236}">
                <a16:creationId xmlns:a16="http://schemas.microsoft.com/office/drawing/2014/main" id="{A4E0FEFA-F3E2-224E-01D6-62F2A4F31F10}"/>
              </a:ext>
            </a:extLst>
          </p:cNvPr>
          <p:cNvCxnSpPr/>
          <p:nvPr/>
        </p:nvCxnSpPr>
        <p:spPr>
          <a:xfrm>
            <a:off x="1331689" y="4905937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직선 연결선 121">
            <a:extLst>
              <a:ext uri="{FF2B5EF4-FFF2-40B4-BE49-F238E27FC236}">
                <a16:creationId xmlns:a16="http://schemas.microsoft.com/office/drawing/2014/main" id="{778ABFD0-D226-6598-7875-6F98041446B3}"/>
              </a:ext>
            </a:extLst>
          </p:cNvPr>
          <p:cNvCxnSpPr/>
          <p:nvPr/>
        </p:nvCxnSpPr>
        <p:spPr>
          <a:xfrm>
            <a:off x="1381476" y="5028287"/>
            <a:ext cx="834354" cy="0"/>
          </a:xfrm>
          <a:prstGeom prst="line">
            <a:avLst/>
          </a:prstGeom>
          <a:ln w="127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369AE69A-F943-4125-2A6B-6B62AABF61ED}"/>
              </a:ext>
            </a:extLst>
          </p:cNvPr>
          <p:cNvCxnSpPr>
            <a:cxnSpLocks/>
          </p:cNvCxnSpPr>
          <p:nvPr/>
        </p:nvCxnSpPr>
        <p:spPr>
          <a:xfrm flipV="1">
            <a:off x="1944198" y="4529356"/>
            <a:ext cx="0" cy="136800"/>
          </a:xfrm>
          <a:prstGeom prst="straightConnector1">
            <a:avLst/>
          </a:prstGeom>
          <a:ln>
            <a:solidFill>
              <a:schemeClr val="tx1"/>
            </a:solidFill>
            <a:headEnd type="triangl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직선 화살표 연결선 126">
            <a:extLst>
              <a:ext uri="{FF2B5EF4-FFF2-40B4-BE49-F238E27FC236}">
                <a16:creationId xmlns:a16="http://schemas.microsoft.com/office/drawing/2014/main" id="{EA806ED8-895B-DD41-DC16-2B847928A0A0}"/>
              </a:ext>
            </a:extLst>
          </p:cNvPr>
          <p:cNvCxnSpPr>
            <a:cxnSpLocks/>
            <a:stCxn id="130" idx="2"/>
          </p:cNvCxnSpPr>
          <p:nvPr/>
        </p:nvCxnSpPr>
        <p:spPr>
          <a:xfrm>
            <a:off x="3037325" y="1651989"/>
            <a:ext cx="502559" cy="507700"/>
          </a:xfrm>
          <a:prstGeom prst="straightConnector1">
            <a:avLst/>
          </a:prstGeom>
          <a:ln>
            <a:solidFill>
              <a:srgbClr val="FF0505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자유형: 도형 128">
            <a:extLst>
              <a:ext uri="{FF2B5EF4-FFF2-40B4-BE49-F238E27FC236}">
                <a16:creationId xmlns:a16="http://schemas.microsoft.com/office/drawing/2014/main" id="{93024EEE-6785-5DBA-ADC2-9DBE6B7B94A9}"/>
              </a:ext>
            </a:extLst>
          </p:cNvPr>
          <p:cNvSpPr/>
          <p:nvPr/>
        </p:nvSpPr>
        <p:spPr>
          <a:xfrm rot="19961926">
            <a:off x="3749680" y="2014886"/>
            <a:ext cx="650081" cy="69057"/>
          </a:xfrm>
          <a:custGeom>
            <a:avLst/>
            <a:gdLst>
              <a:gd name="csX0" fmla="*/ 0 w 650081"/>
              <a:gd name="csY0" fmla="*/ 69057 h 69057"/>
              <a:gd name="csX1" fmla="*/ 71437 w 650081"/>
              <a:gd name="csY1" fmla="*/ 1 h 69057"/>
              <a:gd name="csX2" fmla="*/ 142875 w 650081"/>
              <a:gd name="csY2" fmla="*/ 66676 h 69057"/>
              <a:gd name="csX3" fmla="*/ 211931 w 650081"/>
              <a:gd name="csY3" fmla="*/ 4763 h 69057"/>
              <a:gd name="csX4" fmla="*/ 290512 w 650081"/>
              <a:gd name="csY4" fmla="*/ 64295 h 69057"/>
              <a:gd name="csX5" fmla="*/ 352425 w 650081"/>
              <a:gd name="csY5" fmla="*/ 7145 h 69057"/>
              <a:gd name="csX6" fmla="*/ 433387 w 650081"/>
              <a:gd name="csY6" fmla="*/ 66676 h 69057"/>
              <a:gd name="csX7" fmla="*/ 500062 w 650081"/>
              <a:gd name="csY7" fmla="*/ 7145 h 69057"/>
              <a:gd name="csX8" fmla="*/ 547687 w 650081"/>
              <a:gd name="csY8" fmla="*/ 45245 h 69057"/>
              <a:gd name="csX9" fmla="*/ 595312 w 650081"/>
              <a:gd name="csY9" fmla="*/ 38101 h 69057"/>
              <a:gd name="csX10" fmla="*/ 650081 w 650081"/>
              <a:gd name="csY10" fmla="*/ 38101 h 690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650081" h="69057">
                <a:moveTo>
                  <a:pt x="0" y="69057"/>
                </a:moveTo>
                <a:cubicBezTo>
                  <a:pt x="23812" y="34727"/>
                  <a:pt x="47625" y="398"/>
                  <a:pt x="71437" y="1"/>
                </a:cubicBezTo>
                <a:cubicBezTo>
                  <a:pt x="95250" y="-396"/>
                  <a:pt x="119459" y="65882"/>
                  <a:pt x="142875" y="66676"/>
                </a:cubicBezTo>
                <a:cubicBezTo>
                  <a:pt x="166291" y="67470"/>
                  <a:pt x="187325" y="5160"/>
                  <a:pt x="211931" y="4763"/>
                </a:cubicBezTo>
                <a:cubicBezTo>
                  <a:pt x="236537" y="4366"/>
                  <a:pt x="267096" y="63898"/>
                  <a:pt x="290512" y="64295"/>
                </a:cubicBezTo>
                <a:cubicBezTo>
                  <a:pt x="313928" y="64692"/>
                  <a:pt x="328613" y="6748"/>
                  <a:pt x="352425" y="7145"/>
                </a:cubicBezTo>
                <a:cubicBezTo>
                  <a:pt x="376238" y="7542"/>
                  <a:pt x="408781" y="66676"/>
                  <a:pt x="433387" y="66676"/>
                </a:cubicBezTo>
                <a:cubicBezTo>
                  <a:pt x="457993" y="66676"/>
                  <a:pt x="481012" y="10717"/>
                  <a:pt x="500062" y="7145"/>
                </a:cubicBezTo>
                <a:cubicBezTo>
                  <a:pt x="519112" y="3573"/>
                  <a:pt x="531812" y="40086"/>
                  <a:pt x="547687" y="45245"/>
                </a:cubicBezTo>
                <a:cubicBezTo>
                  <a:pt x="563562" y="50404"/>
                  <a:pt x="578246" y="39292"/>
                  <a:pt x="595312" y="38101"/>
                </a:cubicBezTo>
                <a:cubicBezTo>
                  <a:pt x="612378" y="36910"/>
                  <a:pt x="631229" y="37505"/>
                  <a:pt x="650081" y="3810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FDFDC4D3-32FB-2C0F-307D-244B52E272BC}"/>
              </a:ext>
            </a:extLst>
          </p:cNvPr>
          <p:cNvSpPr txBox="1"/>
          <p:nvPr/>
        </p:nvSpPr>
        <p:spPr>
          <a:xfrm>
            <a:off x="2312833" y="1344212"/>
            <a:ext cx="144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Incident wave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C27ED6FC-55D9-FD99-35DB-0DCC54D4CCED}"/>
              </a:ext>
            </a:extLst>
          </p:cNvPr>
          <p:cNvSpPr txBox="1"/>
          <p:nvPr/>
        </p:nvSpPr>
        <p:spPr>
          <a:xfrm>
            <a:off x="3934912" y="1331871"/>
            <a:ext cx="10768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Radiative emission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E39276B4-C1B2-6185-C9FC-5DF38DDDF705}"/>
              </a:ext>
            </a:extLst>
          </p:cNvPr>
          <p:cNvSpPr txBox="1"/>
          <p:nvPr/>
        </p:nvSpPr>
        <p:spPr>
          <a:xfrm>
            <a:off x="2312833" y="3950990"/>
            <a:ext cx="144898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Incident wave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37" name="자유형: 도형 136">
            <a:extLst>
              <a:ext uri="{FF2B5EF4-FFF2-40B4-BE49-F238E27FC236}">
                <a16:creationId xmlns:a16="http://schemas.microsoft.com/office/drawing/2014/main" id="{0C584ECF-11F7-6C57-8915-0008ADE9C5D5}"/>
              </a:ext>
            </a:extLst>
          </p:cNvPr>
          <p:cNvSpPr/>
          <p:nvPr/>
        </p:nvSpPr>
        <p:spPr>
          <a:xfrm>
            <a:off x="3768340" y="4929286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자유형: 도형 137">
            <a:extLst>
              <a:ext uri="{FF2B5EF4-FFF2-40B4-BE49-F238E27FC236}">
                <a16:creationId xmlns:a16="http://schemas.microsoft.com/office/drawing/2014/main" id="{4D3D899A-BE7B-D729-28AE-CC201340B842}"/>
              </a:ext>
            </a:extLst>
          </p:cNvPr>
          <p:cNvSpPr/>
          <p:nvPr/>
        </p:nvSpPr>
        <p:spPr>
          <a:xfrm rot="5400000">
            <a:off x="3550450" y="5132370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9" name="자유형: 도형 138">
            <a:extLst>
              <a:ext uri="{FF2B5EF4-FFF2-40B4-BE49-F238E27FC236}">
                <a16:creationId xmlns:a16="http://schemas.microsoft.com/office/drawing/2014/main" id="{6EE6565A-01E7-F14B-0E45-8C7D54B49913}"/>
              </a:ext>
            </a:extLst>
          </p:cNvPr>
          <p:cNvSpPr/>
          <p:nvPr/>
        </p:nvSpPr>
        <p:spPr>
          <a:xfrm rot="16200000">
            <a:off x="3547509" y="4756041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0" name="자유형: 도형 139">
            <a:extLst>
              <a:ext uri="{FF2B5EF4-FFF2-40B4-BE49-F238E27FC236}">
                <a16:creationId xmlns:a16="http://schemas.microsoft.com/office/drawing/2014/main" id="{F4892B5C-CC57-A504-631C-76883EB76870}"/>
              </a:ext>
            </a:extLst>
          </p:cNvPr>
          <p:cNvSpPr/>
          <p:nvPr/>
        </p:nvSpPr>
        <p:spPr>
          <a:xfrm rot="10800000">
            <a:off x="3347313" y="4929286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1" name="자유형: 도형 140">
            <a:extLst>
              <a:ext uri="{FF2B5EF4-FFF2-40B4-BE49-F238E27FC236}">
                <a16:creationId xmlns:a16="http://schemas.microsoft.com/office/drawing/2014/main" id="{796B3E9D-B050-CBF7-5F95-AE62000BF26A}"/>
              </a:ext>
            </a:extLst>
          </p:cNvPr>
          <p:cNvSpPr/>
          <p:nvPr/>
        </p:nvSpPr>
        <p:spPr>
          <a:xfrm rot="18922733">
            <a:off x="3765308" y="4743659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01EE07CB-9B88-0F66-F797-8BEE123EEEB7}"/>
              </a:ext>
            </a:extLst>
          </p:cNvPr>
          <p:cNvSpPr/>
          <p:nvPr/>
        </p:nvSpPr>
        <p:spPr>
          <a:xfrm rot="8379382">
            <a:off x="3347313" y="5121972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17B6F84C-F978-080B-57D2-3F9B7CE5A299}"/>
              </a:ext>
            </a:extLst>
          </p:cNvPr>
          <p:cNvSpPr/>
          <p:nvPr/>
        </p:nvSpPr>
        <p:spPr>
          <a:xfrm rot="2809810">
            <a:off x="3768340" y="5121971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FCEE8DAB-2A38-6EEB-3DA2-02D6D0085444}"/>
              </a:ext>
            </a:extLst>
          </p:cNvPr>
          <p:cNvSpPr/>
          <p:nvPr/>
        </p:nvSpPr>
        <p:spPr>
          <a:xfrm rot="13501884">
            <a:off x="3328571" y="4745619"/>
            <a:ext cx="192571" cy="45719"/>
          </a:xfrm>
          <a:custGeom>
            <a:avLst/>
            <a:gdLst>
              <a:gd name="csX0" fmla="*/ 0 w 357187"/>
              <a:gd name="csY0" fmla="*/ 69056 h 69063"/>
              <a:gd name="csX1" fmla="*/ 69056 w 357187"/>
              <a:gd name="csY1" fmla="*/ 0 h 69063"/>
              <a:gd name="csX2" fmla="*/ 138112 w 357187"/>
              <a:gd name="csY2" fmla="*/ 69056 h 69063"/>
              <a:gd name="csX3" fmla="*/ 204787 w 357187"/>
              <a:gd name="csY3" fmla="*/ 4763 h 69063"/>
              <a:gd name="csX4" fmla="*/ 257175 w 357187"/>
              <a:gd name="csY4" fmla="*/ 35719 h 69063"/>
              <a:gd name="csX5" fmla="*/ 357187 w 357187"/>
              <a:gd name="csY5" fmla="*/ 35719 h 6906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357187" h="69063">
                <a:moveTo>
                  <a:pt x="0" y="69056"/>
                </a:moveTo>
                <a:cubicBezTo>
                  <a:pt x="23018" y="34528"/>
                  <a:pt x="46037" y="0"/>
                  <a:pt x="69056" y="0"/>
                </a:cubicBezTo>
                <a:cubicBezTo>
                  <a:pt x="92075" y="0"/>
                  <a:pt x="115490" y="68262"/>
                  <a:pt x="138112" y="69056"/>
                </a:cubicBezTo>
                <a:cubicBezTo>
                  <a:pt x="160734" y="69850"/>
                  <a:pt x="184943" y="10319"/>
                  <a:pt x="204787" y="4763"/>
                </a:cubicBezTo>
                <a:cubicBezTo>
                  <a:pt x="224631" y="-793"/>
                  <a:pt x="231775" y="30560"/>
                  <a:pt x="257175" y="35719"/>
                </a:cubicBezTo>
                <a:cubicBezTo>
                  <a:pt x="282575" y="40878"/>
                  <a:pt x="319881" y="38298"/>
                  <a:pt x="357187" y="35719"/>
                </a:cubicBezTo>
              </a:path>
            </a:pathLst>
          </a:custGeom>
          <a:noFill/>
          <a:ln>
            <a:solidFill>
              <a:schemeClr val="tx1"/>
            </a:solidFill>
            <a:headEnd type="none" w="sm" len="sm"/>
            <a:tailEnd type="triangle" w="sm" len="sm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0" name="직선 화살표 연결선 149">
            <a:extLst>
              <a:ext uri="{FF2B5EF4-FFF2-40B4-BE49-F238E27FC236}">
                <a16:creationId xmlns:a16="http://schemas.microsoft.com/office/drawing/2014/main" id="{83B1009A-62AB-B9C5-1C58-67F450CADC2F}"/>
              </a:ext>
            </a:extLst>
          </p:cNvPr>
          <p:cNvCxnSpPr>
            <a:cxnSpLocks/>
            <a:stCxn id="135" idx="2"/>
          </p:cNvCxnSpPr>
          <p:nvPr/>
        </p:nvCxnSpPr>
        <p:spPr>
          <a:xfrm>
            <a:off x="3037325" y="4258767"/>
            <a:ext cx="502559" cy="497902"/>
          </a:xfrm>
          <a:prstGeom prst="straightConnector1">
            <a:avLst/>
          </a:prstGeom>
          <a:ln>
            <a:solidFill>
              <a:srgbClr val="FF0505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F7F3F50-E8A3-AE63-7F14-0CC1A741707E}"/>
              </a:ext>
            </a:extLst>
          </p:cNvPr>
          <p:cNvSpPr txBox="1"/>
          <p:nvPr/>
        </p:nvSpPr>
        <p:spPr>
          <a:xfrm>
            <a:off x="3777901" y="4004767"/>
            <a:ext cx="1146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Nonradiative emission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12C6FDC-12EC-D6B7-2F9A-1AAE3067888D}"/>
              </a:ext>
            </a:extLst>
          </p:cNvPr>
          <p:cNvSpPr txBox="1"/>
          <p:nvPr/>
        </p:nvSpPr>
        <p:spPr>
          <a:xfrm>
            <a:off x="304882" y="2527437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(Incident wave)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8E3D0B7-F97A-BB21-D00A-61A62698059D}"/>
              </a:ext>
            </a:extLst>
          </p:cNvPr>
          <p:cNvSpPr txBox="1"/>
          <p:nvPr/>
        </p:nvSpPr>
        <p:spPr>
          <a:xfrm>
            <a:off x="304882" y="5140875"/>
            <a:ext cx="131638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(Incident wave)</a:t>
            </a:r>
            <a:endParaRPr lang="ko-KR" altLang="en-US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715310A6-60C4-324C-1C0B-5B82F991301C}"/>
                  </a:ext>
                </a:extLst>
              </p:cNvPr>
              <p:cNvSpPr txBox="1"/>
              <p:nvPr/>
            </p:nvSpPr>
            <p:spPr>
              <a:xfrm>
                <a:off x="4147067" y="1928917"/>
                <a:ext cx="652550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𝐸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ℎ</m:t>
                      </m:r>
                      <m:r>
                        <a:rPr lang="en-US" altLang="ko-KR" sz="11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𝜈</m:t>
                      </m:r>
                    </m:oMath>
                  </m:oMathPara>
                </a14:m>
                <a:endParaRPr lang="ko-KR" altLang="en-US" sz="11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60" name="TextBox 159">
                <a:extLst>
                  <a:ext uri="{FF2B5EF4-FFF2-40B4-BE49-F238E27FC236}">
                    <a16:creationId xmlns:a16="http://schemas.microsoft.com/office/drawing/2014/main" id="{715310A6-60C4-324C-1C0B-5B82F99130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067" y="1928917"/>
                <a:ext cx="652550" cy="2616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EFCE56D-DCC5-2BC8-A2C2-4562AFFAB5A5}"/>
                  </a:ext>
                </a:extLst>
              </p:cNvPr>
              <p:cNvSpPr txBox="1"/>
              <p:nvPr/>
            </p:nvSpPr>
            <p:spPr>
              <a:xfrm>
                <a:off x="4095504" y="5013703"/>
                <a:ext cx="770274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1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Δ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𝐸</m:t>
                    </m:r>
                    <m: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1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ℏω</m:t>
                    </m:r>
                  </m:oMath>
                </a14:m>
                <a:r>
                  <a:rPr lang="ko-KR" altLang="en-US" sz="11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  <a:endParaRPr lang="en-US" altLang="ko-KR" sz="1100" b="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EFCE56D-DCC5-2BC8-A2C2-4562AFFAB5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5504" y="5013703"/>
                <a:ext cx="770274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2" name="TextBox 161">
            <a:extLst>
              <a:ext uri="{FF2B5EF4-FFF2-40B4-BE49-F238E27FC236}">
                <a16:creationId xmlns:a16="http://schemas.microsoft.com/office/drawing/2014/main" id="{75C022F6-290D-2746-36FD-698B02B8B0FA}"/>
              </a:ext>
            </a:extLst>
          </p:cNvPr>
          <p:cNvSpPr txBox="1"/>
          <p:nvPr/>
        </p:nvSpPr>
        <p:spPr>
          <a:xfrm>
            <a:off x="428955" y="2960893"/>
            <a:ext cx="436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state transition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의한 파동 에너지 방출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3FD44E2E-1287-B17B-AA62-9090FF8C41D2}"/>
              </a:ext>
            </a:extLst>
          </p:cNvPr>
          <p:cNvSpPr txBox="1"/>
          <p:nvPr/>
        </p:nvSpPr>
        <p:spPr>
          <a:xfrm>
            <a:off x="428955" y="5623544"/>
            <a:ext cx="45127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Lattice vibration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의한 단계적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dispersion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Phonon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 의한 에너지 방출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822413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805D74-135C-11E5-1131-10D311BD0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4A4CE6-C4E9-5208-B215-8E5B5E77CAB7}"/>
                  </a:ext>
                </a:extLst>
              </p:cNvPr>
              <p:cNvSpPr txBox="1"/>
              <p:nvPr/>
            </p:nvSpPr>
            <p:spPr>
              <a:xfrm>
                <a:off x="4486121" y="5232547"/>
                <a:ext cx="4563750" cy="58413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altLang="ko-KR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𝑇𝐶</m:t>
                        </m:r>
                      </m:e>
                    </m:d>
                    <m:r>
                      <a:rPr lang="en-US" altLang="ko-KR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</m:t>
                    </m:r>
                    <m:func>
                      <m:funcPr>
                        <m:ctrlPr>
                          <a:rPr lang="en-US" altLang="ko-KR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altLang="ko-KR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ko-KR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r>
                                  <a:rPr lang="en-US" altLang="ko-KR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4</m:t>
                                </m:r>
                                <m:rad>
                                  <m:radPr>
                                    <m:degHide m:val="on"/>
                                    <m:ctrlPr>
                                      <a:rPr lang="en-US" altLang="ko-KR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altLang="ko-KR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2</m:t>
                                    </m:r>
                                    <m:sSup>
                                      <m:sSupPr>
                                        <m:ctrlP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m</m:t>
                                        </m:r>
                                      </m:e>
                                      <m:sup>
                                        <m:r>
                                          <a:rPr lang="ko-KR" altLang="en-US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∗</m:t>
                                        </m:r>
                                      </m:sup>
                                    </m:sSup>
                                  </m:e>
                                </m:rad>
                              </m:num>
                              <m:den>
                                <m:r>
                                  <a:rPr lang="en-US" altLang="ko-KR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3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ℏ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ko-KR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q</m:t>
                                </m:r>
                              </m:den>
                            </m:f>
                            <m:f>
                              <m:fPr>
                                <m:ctrlPr>
                                  <a:rPr lang="en-US" altLang="ko-KR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altLang="ko-KR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 b="0" i="0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b="0" i="0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Φ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ko-KR" b="0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ℎ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𝑝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ℏ</m:t>
                                        </m:r>
                                        <m:r>
                                          <a:rPr lang="en-US" altLang="ko-KR" b="0" i="1" smtClean="0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1.5</m:t>
                                    </m:r>
                                  </m:sup>
                                </m:sSup>
                                <m:r>
                                  <a:rPr lang="en-US" altLang="ko-KR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en-US" altLang="ko-KR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ko-KR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Φ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en-US" altLang="ko-KR" i="1" smtClean="0">
                                                <a:ln w="9525">
                                                  <a:solidFill>
                                                    <a:schemeClr val="tx1">
                                                      <a:alpha val="29000"/>
                                                    </a:schemeClr>
                                                  </a:solidFill>
                                                </a:ln>
                                                <a:latin typeface="Cambria Math" panose="02040503050406030204" pitchFamily="18" charset="0"/>
                                                <a:ea typeface="맑은 고딕"/>
                                                <a:cs typeface="Times New Roman"/>
                                              </a:rPr>
                                              <m:t>l</m:t>
                                            </m:r>
                                          </m:sub>
                                        </m:sSub>
                                        <m: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−</m:t>
                                        </m:r>
                                        <m: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𝑝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ℏ</m:t>
                                        </m:r>
                                        <m:r>
                                          <a:rPr lang="en-US" altLang="ko-KR" i="1">
                                            <a:ln w="9525">
                                              <a:solidFill>
                                                <a:schemeClr val="tx1">
                                                  <a:alpha val="29000"/>
                                                </a:schemeClr>
                                              </a:solidFill>
                                            </a:ln>
                                            <a:latin typeface="Cambria Math" panose="02040503050406030204" pitchFamily="18" charset="0"/>
                                            <a:ea typeface="맑은 고딕"/>
                                            <a:cs typeface="Times New Roman"/>
                                          </a:rPr>
                                          <m:t>𝜔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en-US" altLang="ko-KR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1.5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n-US" altLang="ko-KR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F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r>
                  <a:rPr lang="ko-KR" altLang="en-US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34A4CE6-C4E9-5208-B215-8E5B5E77CA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6121" y="5232547"/>
                <a:ext cx="4563750" cy="58413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2D72DD3B-111A-F195-9A53-947C742B2889}"/>
              </a:ext>
            </a:extLst>
          </p:cNvPr>
          <p:cNvSpPr txBox="1"/>
          <p:nvPr/>
        </p:nvSpPr>
        <p:spPr>
          <a:xfrm>
            <a:off x="209278" y="5297893"/>
            <a:ext cx="43881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Energy shifted transmission coefficient:  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33F150-292F-44DB-6BC7-7F88531572D5}"/>
              </a:ext>
            </a:extLst>
          </p:cNvPr>
          <p:cNvSpPr txBox="1"/>
          <p:nvPr/>
        </p:nvSpPr>
        <p:spPr>
          <a:xfrm>
            <a:off x="6799701" y="6213013"/>
            <a:ext cx="225017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Palma, </a:t>
            </a:r>
            <a:r>
              <a:rPr lang="en-US" altLang="ko-KR" sz="1050" b="1" i="1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Physcis</a:t>
            </a:r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 Review B 1997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5CC5B-8A83-5D93-BADA-47FD8BE5ABD0}"/>
                  </a:ext>
                </a:extLst>
              </p:cNvPr>
              <p:cNvSpPr txBox="1"/>
              <p:nvPr/>
            </p:nvSpPr>
            <p:spPr>
              <a:xfrm>
                <a:off x="801113" y="2635887"/>
                <a:ext cx="6399401" cy="21525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𝜈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𝑚𝑝</m:t>
                        </m:r>
                      </m:sub>
                    </m:sSub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=∫</m:t>
                    </m:r>
                    <m:sSub>
                      <m:sSub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mp</m:t>
                        </m:r>
                      </m:sub>
                    </m:sSub>
                    <m:d>
                      <m:d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</m:t>
                        </m:r>
                      </m:e>
                    </m:d>
                    <m: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∙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D</m:t>
                    </m:r>
                    <m:d>
                      <m:d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</m:t>
                        </m:r>
                      </m:e>
                    </m:d>
                    <m: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∙</m:t>
                    </m:r>
                    <m:d>
                      <m:d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1−</m:t>
                        </m:r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f</m:t>
                        </m:r>
                        <m:d>
                          <m:dPr>
                            <m:ctrlPr>
                              <a:rPr lang="en-US" altLang="ko-KR" sz="20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ko-KR" sz="2000" b="0" i="0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E</m:t>
                            </m:r>
                          </m:e>
                        </m:d>
                      </m:e>
                    </m:d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dE</m:t>
                    </m:r>
                  </m:oMath>
                </a14:m>
                <a: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  <a:p>
                <a:endPara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  <a:p>
                <a:r>
                  <a:rPr lang="en-US" altLang="ko-KR" sz="20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where,</a:t>
                </a:r>
                <a:b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W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mp</m:t>
                        </m:r>
                      </m:sub>
                    </m:sSub>
                    <m:d>
                      <m:d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</m:t>
                        </m:r>
                      </m:e>
                    </m:d>
                    <m:r>
                      <a:rPr lang="en-US" altLang="ko-KR" sz="2000" b="0" i="0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= 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𝜋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</m:den>
                    </m:f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𝑆</m:t>
                    </m:r>
                    <m:sSup>
                      <m:sSup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𝑝</m:t>
                                </m:r>
                              </m:num>
                              <m:den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𝑆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2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𝜋</m:t>
                    </m:r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𝑆</m:t>
                    </m:r>
                    <m:sSup>
                      <m:sSup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ℏ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𝜔</m:t>
                            </m:r>
                          </m:e>
                        </m:d>
                      </m:e>
                      <m:sup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𝑉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𝑇</m:t>
                        </m:r>
                      </m:sub>
                    </m:sSub>
                  </m:oMath>
                </a14:m>
                <a: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</a:t>
                </a:r>
              </a:p>
              <a:p>
                <a: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ea typeface="맑은 고딕"/>
                    <a:cs typeface="Times New Roman"/>
                  </a:rPr>
                  <a:t>                 </a:t>
                </a:r>
                <a14:m>
                  <m:oMath xmlns:m="http://schemas.openxmlformats.org/officeDocument/2006/math"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×</m:t>
                    </m:r>
                    <m:f>
                      <m:f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Pr>
                      <m:num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𝜔</m:t>
                        </m:r>
                      </m:den>
                    </m:f>
                    <m:func>
                      <m:funcPr>
                        <m:ctrl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ko-KR" sz="2000" b="0" i="0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exp</m:t>
                        </m:r>
                      </m:fName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−</m:t>
                            </m:r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𝑆</m:t>
                            </m:r>
                            <m:d>
                              <m:d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2</m:t>
                                </m:r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</m:e>
                                </m:acc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+1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en-US" altLang="ko-KR" sz="2000" b="0" i="1" smtClean="0">
                        <a:ln w="9525">
                          <a:solidFill>
                            <a:schemeClr val="tx1">
                              <a:alpha val="29000"/>
                            </a:schemeClr>
                          </a:solidFill>
                        </a:ln>
                        <a:latin typeface="Cambria Math" panose="02040503050406030204" pitchFamily="18" charset="0"/>
                        <a:ea typeface="맑은 고딕"/>
                        <a:cs typeface="Times New Roman"/>
                      </a:rPr>
                      <m:t> </m:t>
                    </m:r>
                    <m:sSup>
                      <m:sSup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fPr>
                              <m:num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</m:e>
                                </m:acc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+1</m:t>
                                </m:r>
                              </m:num>
                              <m:den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</m:e>
                                </m:acc>
                              </m:den>
                            </m:f>
                          </m:e>
                        </m:d>
                      </m:e>
                      <m:sup>
                        <m:f>
                          <m:fPr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fPr>
                          <m:num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𝑝</m:t>
                            </m:r>
                          </m:num>
                          <m:den>
                            <m: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2</m:t>
                            </m:r>
                          </m:den>
                        </m:f>
                      </m:sup>
                    </m:sSup>
                    <m:sSub>
                      <m:sSub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sSub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𝐼</m:t>
                        </m:r>
                      </m:e>
                      <m:sub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</m:sub>
                    </m:sSub>
                    <m:d>
                      <m:dPr>
                        <m:ctrlP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</m:ctrlPr>
                      </m:dPr>
                      <m:e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2</m:t>
                        </m:r>
                        <m:r>
                          <a:rPr lang="en-US" altLang="ko-KR" sz="20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  <m:rad>
                          <m:radPr>
                            <m:degHide m:val="on"/>
                            <m:ctrlPr>
                              <a:rPr lang="en-US" altLang="ko-KR" sz="20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radPr>
                          <m:deg/>
                          <m:e>
                            <m:acc>
                              <m:accPr>
                                <m:chr m:val="̅"/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accPr>
                              <m:e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𝑛</m:t>
                                </m:r>
                              </m:e>
                            </m:acc>
                            <m:d>
                              <m:dPr>
                                <m:ctrlP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dPr>
                              <m:e>
                                <m:acc>
                                  <m:accPr>
                                    <m:chr m:val="̅"/>
                                    <m:ctrlP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ko-KR" sz="2000" b="0" i="1" smtClean="0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𝑛</m:t>
                                    </m:r>
                                  </m:e>
                                </m:acc>
                                <m:r>
                                  <a:rPr lang="en-US" altLang="ko-KR" sz="20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+1</m:t>
                                </m:r>
                              </m:e>
                            </m:d>
                          </m:e>
                        </m:rad>
                      </m:e>
                    </m:d>
                  </m:oMath>
                </a14:m>
                <a:r>
                  <a:rPr lang="en-US" altLang="ko-KR" sz="20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rPr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135CC5B-8A83-5D93-BADA-47FD8BE5AB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113" y="2635887"/>
                <a:ext cx="6399401" cy="2152577"/>
              </a:xfrm>
              <a:prstGeom prst="rect">
                <a:avLst/>
              </a:prstGeom>
              <a:blipFill>
                <a:blip r:embed="rId3"/>
                <a:stretch>
                  <a:fillRect l="-9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그룹 61">
            <a:extLst>
              <a:ext uri="{FF2B5EF4-FFF2-40B4-BE49-F238E27FC236}">
                <a16:creationId xmlns:a16="http://schemas.microsoft.com/office/drawing/2014/main" id="{762EDDFC-B0FF-A60E-9B87-2018B9E2A7B8}"/>
              </a:ext>
            </a:extLst>
          </p:cNvPr>
          <p:cNvGrpSpPr/>
          <p:nvPr/>
        </p:nvGrpSpPr>
        <p:grpSpPr>
          <a:xfrm>
            <a:off x="5763711" y="1200570"/>
            <a:ext cx="3300892" cy="2173226"/>
            <a:chOff x="344028" y="1175276"/>
            <a:chExt cx="3300892" cy="2173226"/>
          </a:xfrm>
        </p:grpSpPr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13DD79B-1A0A-5833-2DAC-F8412845324D}"/>
                </a:ext>
              </a:extLst>
            </p:cNvPr>
            <p:cNvGrpSpPr/>
            <p:nvPr/>
          </p:nvGrpSpPr>
          <p:grpSpPr>
            <a:xfrm>
              <a:off x="1835241" y="1292941"/>
              <a:ext cx="172652" cy="2051050"/>
              <a:chOff x="4673257" y="3811669"/>
              <a:chExt cx="172652" cy="2051050"/>
            </a:xfrm>
          </p:grpSpPr>
          <p:cxnSp>
            <p:nvCxnSpPr>
              <p:cNvPr id="13" name="직선 연결선 12">
                <a:extLst>
                  <a:ext uri="{FF2B5EF4-FFF2-40B4-BE49-F238E27FC236}">
                    <a16:creationId xmlns:a16="http://schemas.microsoft.com/office/drawing/2014/main" id="{766962DA-0C47-C01F-9E94-EF529946284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59583" y="3811669"/>
                <a:ext cx="0" cy="2051050"/>
              </a:xfrm>
              <a:prstGeom prst="line">
                <a:avLst/>
              </a:prstGeom>
              <a:ln w="19050">
                <a:solidFill>
                  <a:schemeClr val="bg1">
                    <a:lumMod val="50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4" name="그룹 13">
                <a:extLst>
                  <a:ext uri="{FF2B5EF4-FFF2-40B4-BE49-F238E27FC236}">
                    <a16:creationId xmlns:a16="http://schemas.microsoft.com/office/drawing/2014/main" id="{9EAFAC40-C29A-A6E7-B091-A2640B60998D}"/>
                  </a:ext>
                </a:extLst>
              </p:cNvPr>
              <p:cNvGrpSpPr/>
              <p:nvPr/>
            </p:nvGrpSpPr>
            <p:grpSpPr>
              <a:xfrm>
                <a:off x="4673257" y="3933112"/>
                <a:ext cx="172652" cy="1828800"/>
                <a:chOff x="4673257" y="3933112"/>
                <a:chExt cx="172652" cy="1828800"/>
              </a:xfrm>
            </p:grpSpPr>
            <p:cxnSp>
              <p:nvCxnSpPr>
                <p:cNvPr id="15" name="직선 연결선 14">
                  <a:extLst>
                    <a:ext uri="{FF2B5EF4-FFF2-40B4-BE49-F238E27FC236}">
                      <a16:creationId xmlns:a16="http://schemas.microsoft.com/office/drawing/2014/main" id="{E14B7A50-85D3-4F44-FE06-93ECC3998EB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3933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B210ADCE-7367-FF03-6E45-F6100BBB2B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085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" name="직선 연결선 16">
                  <a:extLst>
                    <a:ext uri="{FF2B5EF4-FFF2-40B4-BE49-F238E27FC236}">
                      <a16:creationId xmlns:a16="http://schemas.microsoft.com/office/drawing/2014/main" id="{E9076430-302F-EAD2-E96A-AADD75DC61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237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" name="직선 연결선 17">
                  <a:extLst>
                    <a:ext uri="{FF2B5EF4-FFF2-40B4-BE49-F238E27FC236}">
                      <a16:creationId xmlns:a16="http://schemas.microsoft.com/office/drawing/2014/main" id="{A536C430-9A9D-7F79-A8DD-7E382BF2047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3903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직선 연결선 18">
                  <a:extLst>
                    <a:ext uri="{FF2B5EF4-FFF2-40B4-BE49-F238E27FC236}">
                      <a16:creationId xmlns:a16="http://schemas.microsoft.com/office/drawing/2014/main" id="{7EEBF4D2-F600-6B3D-BA18-927BC9095E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5427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직선 연결선 19">
                  <a:extLst>
                    <a:ext uri="{FF2B5EF4-FFF2-40B4-BE49-F238E27FC236}">
                      <a16:creationId xmlns:a16="http://schemas.microsoft.com/office/drawing/2014/main" id="{09BF3456-30A4-2D8E-3EE6-64817B633E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695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직선 연결선 20">
                  <a:extLst>
                    <a:ext uri="{FF2B5EF4-FFF2-40B4-BE49-F238E27FC236}">
                      <a16:creationId xmlns:a16="http://schemas.microsoft.com/office/drawing/2014/main" id="{8A752E55-16D1-2A30-1383-BA590C58AF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847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0883B75B-EFFB-ECBD-080F-6DCD5BFCBB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4999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E19E3266-84BA-5732-7FBD-7C5DF66CB5A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1523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직선 연결선 23">
                  <a:extLst>
                    <a:ext uri="{FF2B5EF4-FFF2-40B4-BE49-F238E27FC236}">
                      <a16:creationId xmlns:a16="http://schemas.microsoft.com/office/drawing/2014/main" id="{7F412C56-FD3D-8E97-665D-DCE563B29CE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3047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" name="직선 연결선 24">
                  <a:extLst>
                    <a:ext uri="{FF2B5EF4-FFF2-40B4-BE49-F238E27FC236}">
                      <a16:creationId xmlns:a16="http://schemas.microsoft.com/office/drawing/2014/main" id="{D7086F96-1B8B-07FC-4600-38B1728066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4571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직선 연결선 25">
                  <a:extLst>
                    <a:ext uri="{FF2B5EF4-FFF2-40B4-BE49-F238E27FC236}">
                      <a16:creationId xmlns:a16="http://schemas.microsoft.com/office/drawing/2014/main" id="{72335C5E-ADA0-DA00-F198-892E4BBDDB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6095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1194620D-7506-A734-A830-BD54C4FEB9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73257" y="5761912"/>
                  <a:ext cx="172652" cy="0"/>
                </a:xfrm>
                <a:prstGeom prst="line">
                  <a:avLst/>
                </a:prstGeom>
                <a:ln w="9525">
                  <a:solidFill>
                    <a:schemeClr val="bg1">
                      <a:lumMod val="50000"/>
                    </a:schemeClr>
                  </a:solidFill>
                  <a:prstDash val="soli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28" name="자유형: 도형 27">
              <a:extLst>
                <a:ext uri="{FF2B5EF4-FFF2-40B4-BE49-F238E27FC236}">
                  <a16:creationId xmlns:a16="http://schemas.microsoft.com/office/drawing/2014/main" id="{90ED6843-3744-7991-9936-C226C117DCFF}"/>
                </a:ext>
              </a:extLst>
            </p:cNvPr>
            <p:cNvSpPr/>
            <p:nvPr/>
          </p:nvSpPr>
          <p:spPr>
            <a:xfrm>
              <a:off x="344028" y="1175276"/>
              <a:ext cx="2339069" cy="1943099"/>
            </a:xfrm>
            <a:custGeom>
              <a:avLst/>
              <a:gdLst>
                <a:gd name="csX0" fmla="*/ 0 w 1378477"/>
                <a:gd name="csY0" fmla="*/ 1145121 h 1145121"/>
                <a:gd name="csX1" fmla="*/ 379771 w 1378477"/>
                <a:gd name="csY1" fmla="*/ 1141379 h 1145121"/>
                <a:gd name="csX2" fmla="*/ 379771 w 1378477"/>
                <a:gd name="csY2" fmla="*/ 311285 h 1145121"/>
                <a:gd name="csX3" fmla="*/ 1378477 w 1378477"/>
                <a:gd name="csY3" fmla="*/ 0 h 1145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78477" h="1145121">
                  <a:moveTo>
                    <a:pt x="0" y="1145121"/>
                  </a:moveTo>
                  <a:lnTo>
                    <a:pt x="379771" y="1141379"/>
                  </a:lnTo>
                  <a:lnTo>
                    <a:pt x="379771" y="311285"/>
                  </a:lnTo>
                  <a:lnTo>
                    <a:pt x="1378477" y="0"/>
                  </a:lnTo>
                </a:path>
              </a:pathLst>
            </a:custGeom>
            <a:noFill/>
            <a:ln w="28575"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9" name="그림 28">
              <a:extLst>
                <a:ext uri="{FF2B5EF4-FFF2-40B4-BE49-F238E27FC236}">
                  <a16:creationId xmlns:a16="http://schemas.microsoft.com/office/drawing/2014/main" id="{655705AC-1E0E-2246-2F3D-C4B422172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08501" y="2230010"/>
              <a:ext cx="199966" cy="199966"/>
            </a:xfrm>
            <a:prstGeom prst="rect">
              <a:avLst/>
            </a:prstGeom>
          </p:spPr>
        </p:pic>
        <p:sp>
          <p:nvSpPr>
            <p:cNvPr id="30" name="자유형: 도형 29">
              <a:extLst>
                <a:ext uri="{FF2B5EF4-FFF2-40B4-BE49-F238E27FC236}">
                  <a16:creationId xmlns:a16="http://schemas.microsoft.com/office/drawing/2014/main" id="{192E4926-29A9-680A-2E42-ECA58F9E665B}"/>
                </a:ext>
              </a:extLst>
            </p:cNvPr>
            <p:cNvSpPr/>
            <p:nvPr/>
          </p:nvSpPr>
          <p:spPr>
            <a:xfrm rot="2917392">
              <a:off x="1915151" y="2578678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자유형: 도형 30">
              <a:extLst>
                <a:ext uri="{FF2B5EF4-FFF2-40B4-BE49-F238E27FC236}">
                  <a16:creationId xmlns:a16="http://schemas.microsoft.com/office/drawing/2014/main" id="{60E23EC7-2BA6-95EF-3DA6-359F5A5B0145}"/>
                </a:ext>
              </a:extLst>
            </p:cNvPr>
            <p:cNvSpPr/>
            <p:nvPr/>
          </p:nvSpPr>
          <p:spPr>
            <a:xfrm rot="8849421" flipV="1">
              <a:off x="1079909" y="2497957"/>
              <a:ext cx="689771" cy="152427"/>
            </a:xfrm>
            <a:custGeom>
              <a:avLst/>
              <a:gdLst>
                <a:gd name="csX0" fmla="*/ 0 w 4330700"/>
                <a:gd name="csY0" fmla="*/ 76210 h 152427"/>
                <a:gd name="csX1" fmla="*/ 736600 w 4330700"/>
                <a:gd name="csY1" fmla="*/ 82560 h 152427"/>
                <a:gd name="csX2" fmla="*/ 1092200 w 4330700"/>
                <a:gd name="csY2" fmla="*/ 10 h 152427"/>
                <a:gd name="csX3" fmla="*/ 1454150 w 4330700"/>
                <a:gd name="csY3" fmla="*/ 76210 h 152427"/>
                <a:gd name="csX4" fmla="*/ 1809750 w 4330700"/>
                <a:gd name="csY4" fmla="*/ 146060 h 152427"/>
                <a:gd name="csX5" fmla="*/ 2171700 w 4330700"/>
                <a:gd name="csY5" fmla="*/ 82560 h 152427"/>
                <a:gd name="csX6" fmla="*/ 2533650 w 4330700"/>
                <a:gd name="csY6" fmla="*/ 6360 h 152427"/>
                <a:gd name="csX7" fmla="*/ 2889250 w 4330700"/>
                <a:gd name="csY7" fmla="*/ 76210 h 152427"/>
                <a:gd name="csX8" fmla="*/ 3251200 w 4330700"/>
                <a:gd name="csY8" fmla="*/ 152410 h 152427"/>
                <a:gd name="csX9" fmla="*/ 3613150 w 4330700"/>
                <a:gd name="csY9" fmla="*/ 82560 h 152427"/>
                <a:gd name="csX10" fmla="*/ 3968750 w 4330700"/>
                <a:gd name="csY10" fmla="*/ 6360 h 152427"/>
                <a:gd name="csX11" fmla="*/ 4330700 w 4330700"/>
                <a:gd name="csY11" fmla="*/ 82560 h 15242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</a:cxnLst>
              <a:rect l="l" t="t" r="r" b="b"/>
              <a:pathLst>
                <a:path w="4330700" h="152427">
                  <a:moveTo>
                    <a:pt x="0" y="76210"/>
                  </a:moveTo>
                  <a:cubicBezTo>
                    <a:pt x="277283" y="85735"/>
                    <a:pt x="554567" y="95260"/>
                    <a:pt x="736600" y="82560"/>
                  </a:cubicBezTo>
                  <a:cubicBezTo>
                    <a:pt x="918633" y="69860"/>
                    <a:pt x="972608" y="1068"/>
                    <a:pt x="1092200" y="10"/>
                  </a:cubicBezTo>
                  <a:cubicBezTo>
                    <a:pt x="1211792" y="-1048"/>
                    <a:pt x="1454150" y="76210"/>
                    <a:pt x="1454150" y="76210"/>
                  </a:cubicBezTo>
                  <a:cubicBezTo>
                    <a:pt x="1573742" y="100552"/>
                    <a:pt x="1690158" y="145002"/>
                    <a:pt x="1809750" y="146060"/>
                  </a:cubicBezTo>
                  <a:cubicBezTo>
                    <a:pt x="1929342" y="147118"/>
                    <a:pt x="2051050" y="105843"/>
                    <a:pt x="2171700" y="82560"/>
                  </a:cubicBezTo>
                  <a:cubicBezTo>
                    <a:pt x="2292350" y="59277"/>
                    <a:pt x="2414058" y="7418"/>
                    <a:pt x="2533650" y="6360"/>
                  </a:cubicBezTo>
                  <a:cubicBezTo>
                    <a:pt x="2653242" y="5302"/>
                    <a:pt x="2889250" y="76210"/>
                    <a:pt x="2889250" y="76210"/>
                  </a:cubicBezTo>
                  <a:cubicBezTo>
                    <a:pt x="3008842" y="100552"/>
                    <a:pt x="3130550" y="151352"/>
                    <a:pt x="3251200" y="152410"/>
                  </a:cubicBezTo>
                  <a:cubicBezTo>
                    <a:pt x="3371850" y="153468"/>
                    <a:pt x="3493558" y="106902"/>
                    <a:pt x="3613150" y="82560"/>
                  </a:cubicBezTo>
                  <a:cubicBezTo>
                    <a:pt x="3732742" y="58218"/>
                    <a:pt x="3849158" y="6360"/>
                    <a:pt x="3968750" y="6360"/>
                  </a:cubicBezTo>
                  <a:cubicBezTo>
                    <a:pt x="4088342" y="6360"/>
                    <a:pt x="4209521" y="44460"/>
                    <a:pt x="4330700" y="82560"/>
                  </a:cubicBezTo>
                </a:path>
              </a:pathLst>
            </a:custGeom>
            <a:noFill/>
            <a:ln>
              <a:headEnd type="triangle" w="med" len="med"/>
              <a:tailEnd type="none" w="med" len="med"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화살표: 굽음 31">
              <a:extLst>
                <a:ext uri="{FF2B5EF4-FFF2-40B4-BE49-F238E27FC236}">
                  <a16:creationId xmlns:a16="http://schemas.microsoft.com/office/drawing/2014/main" id="{94275FDB-88E0-349D-44CE-08FBA8DE1507}"/>
                </a:ext>
              </a:extLst>
            </p:cNvPr>
            <p:cNvSpPr/>
            <p:nvPr/>
          </p:nvSpPr>
          <p:spPr>
            <a:xfrm flipH="1">
              <a:off x="867900" y="1990902"/>
              <a:ext cx="1073137" cy="239108"/>
            </a:xfrm>
            <a:prstGeom prst="bentArrow">
              <a:avLst>
                <a:gd name="adj1" fmla="val 12319"/>
                <a:gd name="adj2" fmla="val 14048"/>
                <a:gd name="adj3" fmla="val 27305"/>
                <a:gd name="adj4" fmla="val 43750"/>
              </a:avLst>
            </a:prstGeom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C5E6429-177F-74C0-DB90-CF42C02F8477}"/>
                </a:ext>
              </a:extLst>
            </p:cNvPr>
            <p:cNvSpPr txBox="1"/>
            <p:nvPr/>
          </p:nvSpPr>
          <p:spPr>
            <a:xfrm>
              <a:off x="2038390" y="2886837"/>
              <a:ext cx="16065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phonon interaction</a:t>
              </a:r>
              <a:b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</a:br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(emission / absorption)</a:t>
              </a:r>
              <a:endParaRPr lang="ko-KR" altLang="en-US" sz="12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97353A2-D330-DD8F-D1AE-4F55DEDF36A0}"/>
                    </a:ext>
                  </a:extLst>
                </p:cNvPr>
                <p:cNvSpPr txBox="1"/>
                <p:nvPr/>
              </p:nvSpPr>
              <p:spPr>
                <a:xfrm>
                  <a:off x="1202049" y="1660709"/>
                  <a:ext cx="46355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|"/>
                            <m:endChr m:val="|"/>
                            <m:ctrlP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r>
                              <a:rPr lang="en-US" altLang="ko-KR" sz="14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  <m:t>𝑇𝐶</m:t>
                            </m:r>
                          </m:e>
                        </m:d>
                      </m:oMath>
                    </m:oMathPara>
                  </a14:m>
                  <a:endParaRPr lang="ko-KR" altLang="en-US" sz="12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797353A2-D330-DD8F-D1AE-4F55DEDF36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02049" y="1660709"/>
                  <a:ext cx="463550" cy="307777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직선 연결선 34">
              <a:extLst>
                <a:ext uri="{FF2B5EF4-FFF2-40B4-BE49-F238E27FC236}">
                  <a16:creationId xmlns:a16="http://schemas.microsoft.com/office/drawing/2014/main" id="{63D48302-347D-F3FD-8E47-09BF86AA10A2}"/>
                </a:ext>
              </a:extLst>
            </p:cNvPr>
            <p:cNvCxnSpPr>
              <a:cxnSpLocks/>
            </p:cNvCxnSpPr>
            <p:nvPr/>
          </p:nvCxnSpPr>
          <p:spPr>
            <a:xfrm>
              <a:off x="1665599" y="2329993"/>
              <a:ext cx="72629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직선 연결선 35">
              <a:extLst>
                <a:ext uri="{FF2B5EF4-FFF2-40B4-BE49-F238E27FC236}">
                  <a16:creationId xmlns:a16="http://schemas.microsoft.com/office/drawing/2014/main" id="{A0C6C00C-9F57-88E8-865C-5AA02F4228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1248" y="1638293"/>
              <a:ext cx="235378" cy="2451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4CB6E78-66CD-B67B-42F7-3EC14E6AA5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9768" y="1606389"/>
              <a:ext cx="345053" cy="35944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9995C3EA-BD49-7670-FC95-D9A245F2A19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02144" y="1536457"/>
              <a:ext cx="164942" cy="171823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A3CD120C-16F3-A1E5-D381-3AA2156683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79711" y="1495039"/>
              <a:ext cx="204701" cy="21324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243FCA8F-5434-D5DF-C6C3-10F37B0216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6929" y="1453621"/>
              <a:ext cx="234809" cy="244605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C97D92F-2666-BF0B-B88E-2F674A914F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9245" y="1412203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4D1B6602-9991-B3AD-CBEF-260FA23346B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0024" y="1560726"/>
              <a:ext cx="422608" cy="44023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>
              <a:extLst>
                <a:ext uri="{FF2B5EF4-FFF2-40B4-BE49-F238E27FC236}">
                  <a16:creationId xmlns:a16="http://schemas.microsoft.com/office/drawing/2014/main" id="{AF0D6034-85E8-7726-2D10-A6CE7CFDDC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3472" y="1899593"/>
              <a:ext cx="97312" cy="10137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863E9719-319C-6F8E-5B16-ACB93266245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16920" y="1909765"/>
              <a:ext cx="87548" cy="91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FE3D3151-4F7A-C2DC-B10D-94ADFA7231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0368" y="1902506"/>
              <a:ext cx="94516" cy="9845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CCDF3F26-CAF9-0619-3C2C-F51446093C9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83816" y="1672076"/>
              <a:ext cx="315718" cy="3288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753993EC-6FCF-BBFE-C6F3-3EB3109650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7263" y="1818051"/>
              <a:ext cx="175589" cy="18291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325AF57D-BC26-CA41-DBEB-AECAAC752C3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52208" y="1536385"/>
              <a:ext cx="259817" cy="27065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직선 화살표 연결선 48">
              <a:extLst>
                <a:ext uri="{FF2B5EF4-FFF2-40B4-BE49-F238E27FC236}">
                  <a16:creationId xmlns:a16="http://schemas.microsoft.com/office/drawing/2014/main" id="{8DCCF438-3376-2C62-CE12-DCE9EC483250}"/>
                </a:ext>
              </a:extLst>
            </p:cNvPr>
            <p:cNvCxnSpPr>
              <a:cxnSpLocks/>
            </p:cNvCxnSpPr>
            <p:nvPr/>
          </p:nvCxnSpPr>
          <p:spPr>
            <a:xfrm>
              <a:off x="2067841" y="1402362"/>
              <a:ext cx="4126" cy="927631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3D5F7E39-60F7-F4DD-A29A-233BA48C1BD8}"/>
                </a:ext>
              </a:extLst>
            </p:cNvPr>
            <p:cNvSpPr txBox="1"/>
            <p:nvPr/>
          </p:nvSpPr>
          <p:spPr>
            <a:xfrm>
              <a:off x="2011230" y="1426309"/>
              <a:ext cx="341760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2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1200" baseline="-25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</a:t>
              </a:r>
              <a:endParaRPr lang="ko-KR" altLang="en-US" sz="12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5C52B546-9A10-6A1F-6EB2-3481B49C051E}"/>
                </a:ext>
              </a:extLst>
            </p:cNvPr>
            <p:cNvCxnSpPr>
              <a:cxnSpLocks/>
            </p:cNvCxnSpPr>
            <p:nvPr/>
          </p:nvCxnSpPr>
          <p:spPr>
            <a:xfrm>
              <a:off x="1730091" y="2009317"/>
              <a:ext cx="661807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C89C7CA-24D9-0524-20D0-E483FD68FB35}"/>
                    </a:ext>
                  </a:extLst>
                </p:cNvPr>
                <p:cNvSpPr txBox="1"/>
                <p:nvPr/>
              </p:nvSpPr>
              <p:spPr>
                <a:xfrm>
                  <a:off x="2202686" y="2021377"/>
                  <a:ext cx="5177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𝑝</m:t>
                        </m:r>
                        <m:r>
                          <m:rPr>
                            <m:sty m:val="p"/>
                          </m:rPr>
                          <a:rPr lang="en-US" altLang="ko-KR" sz="12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2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2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1C89C7CA-24D9-0524-20D0-E483FD68F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2686" y="2021377"/>
                  <a:ext cx="517770" cy="276999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직선 화살표 연결선 52">
              <a:extLst>
                <a:ext uri="{FF2B5EF4-FFF2-40B4-BE49-F238E27FC236}">
                  <a16:creationId xmlns:a16="http://schemas.microsoft.com/office/drawing/2014/main" id="{25E663ED-5E26-9257-76D2-79BA2D714F8B}"/>
                </a:ext>
              </a:extLst>
            </p:cNvPr>
            <p:cNvCxnSpPr>
              <a:cxnSpLocks/>
            </p:cNvCxnSpPr>
            <p:nvPr/>
          </p:nvCxnSpPr>
          <p:spPr>
            <a:xfrm>
              <a:off x="2226927" y="2000965"/>
              <a:ext cx="0" cy="329028"/>
            </a:xfrm>
            <a:prstGeom prst="straightConnector1">
              <a:avLst/>
            </a:prstGeom>
            <a:ln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207BC855-EE03-D0D6-D060-2898FA5E3B8B}"/>
                    </a:ext>
                  </a:extLst>
                </p:cNvPr>
                <p:cNvSpPr txBox="1"/>
                <p:nvPr/>
              </p:nvSpPr>
              <p:spPr>
                <a:xfrm>
                  <a:off x="2369612" y="2492530"/>
                  <a:ext cx="568232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𝑆</m:t>
                        </m:r>
                        <m:r>
                          <m:rPr>
                            <m:sty m:val="p"/>
                          </m:rPr>
                          <a:rPr lang="en-US" altLang="ko-KR" sz="1400" i="1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ℏ</m:t>
                        </m:r>
                        <m:r>
                          <a:rPr lang="en-US" altLang="ko-KR" sz="1400" b="0" i="1" smtClean="0">
                            <a:ln w="9525">
                              <a:solidFill>
                                <a:schemeClr val="tx1">
                                  <a:alpha val="29000"/>
                                </a:schemeClr>
                              </a:solidFill>
                            </a:ln>
                            <a:latin typeface="Cambria Math" panose="02040503050406030204" pitchFamily="18" charset="0"/>
                            <a:ea typeface="맑은 고딕"/>
                            <a:cs typeface="Times New Roman"/>
                          </a:rPr>
                          <m:t>𝑤</m:t>
                        </m:r>
                      </m:oMath>
                    </m:oMathPara>
                  </a14:m>
                  <a:endParaRPr lang="ko-KR" altLang="en-US" sz="140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207BC855-EE03-D0D6-D060-2898FA5E3B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69612" y="2492530"/>
                  <a:ext cx="568232" cy="307777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9EE35599-E84E-CDA3-A7B7-18CE3B74ABDE}"/>
                </a:ext>
              </a:extLst>
            </p:cNvPr>
            <p:cNvGrpSpPr/>
            <p:nvPr/>
          </p:nvGrpSpPr>
          <p:grpSpPr>
            <a:xfrm>
              <a:off x="1467685" y="2420916"/>
              <a:ext cx="411587" cy="261610"/>
              <a:chOff x="1815665" y="2901294"/>
              <a:chExt cx="411587" cy="261610"/>
            </a:xfrm>
          </p:grpSpPr>
          <p:cxnSp>
            <p:nvCxnSpPr>
              <p:cNvPr id="60" name="직선 화살표 연결선 59">
                <a:extLst>
                  <a:ext uri="{FF2B5EF4-FFF2-40B4-BE49-F238E27FC236}">
                    <a16:creationId xmlns:a16="http://schemas.microsoft.com/office/drawing/2014/main" id="{0DCB95F1-2059-85F4-B5F1-905BC01A076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200492" y="2956680"/>
                <a:ext cx="0" cy="15240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type="triangle" w="sm" len="sm"/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2C7AC747-B52C-82A8-E910-C509337FE2FF}"/>
                      </a:ext>
                    </a:extLst>
                  </p:cNvPr>
                  <p:cNvSpPr txBox="1"/>
                  <p:nvPr/>
                </p:nvSpPr>
                <p:spPr>
                  <a:xfrm>
                    <a:off x="1815665" y="2901294"/>
                    <a:ext cx="411587" cy="26161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right"/>
                        </m:oMathParaPr>
                        <m:oMath>
                          <m:r>
                            <m:rPr>
                              <m:sty m:val="p"/>
                            </m:rPr>
                            <a:rPr lang="en-US" altLang="ko-KR" sz="1100" i="1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ℏ</m:t>
                          </m:r>
                          <m:r>
                            <a:rPr lang="en-US" altLang="ko-KR" sz="11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𝑤</m:t>
                          </m:r>
                        </m:oMath>
                      </m:oMathPara>
                    </a14:m>
                    <a:endParaRPr lang="ko-KR" altLang="en-US" sz="1100" dirty="0">
                      <a:ln w="9525">
                        <a:solidFill>
                          <a:schemeClr val="tx1">
                            <a:alpha val="29000"/>
                          </a:schemeClr>
                        </a:solidFill>
                      </a:ln>
                      <a:latin typeface="Times New Roman"/>
                      <a:ea typeface="맑은 고딕"/>
                      <a:cs typeface="Times New Roman"/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2C7AC747-B52C-82A8-E910-C509337FE2F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815665" y="2901294"/>
                    <a:ext cx="411587" cy="261610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ko-KR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8342132-3065-8CE7-DEA6-6CA2C67BE5AB}"/>
                  </a:ext>
                </a:extLst>
              </p:cNvPr>
              <p:cNvSpPr txBox="1"/>
              <p:nvPr/>
            </p:nvSpPr>
            <p:spPr>
              <a:xfrm>
                <a:off x="2276477" y="1589539"/>
                <a:ext cx="2209644" cy="4237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𝑒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𝑚𝑝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𝜈</m:t>
                          </m:r>
                        </m:e>
                        <m:sub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𝑚𝑝</m:t>
                          </m:r>
                        </m:sub>
                      </m:sSub>
                      <m:r>
                        <a:rPr lang="en-US" altLang="ko-KR" sz="2000" b="0" i="1" smtClean="0">
                          <a:ln w="9525">
                            <a:solidFill>
                              <a:schemeClr val="tx1">
                                <a:alpha val="29000"/>
                              </a:schemeClr>
                            </a:solidFill>
                          </a:ln>
                          <a:latin typeface="Cambria Math" panose="02040503050406030204" pitchFamily="18" charset="0"/>
                          <a:ea typeface="맑은 고딕"/>
                          <a:cs typeface="Times New Roman"/>
                        </a:rPr>
                        <m:t>×</m:t>
                      </m:r>
                      <m:d>
                        <m:dPr>
                          <m:begChr m:val="|"/>
                          <m:endChr m:val="|"/>
                          <m:ctrlP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</m:ctrlPr>
                        </m:dPr>
                        <m:e>
                          <m:r>
                            <a:rPr lang="en-US" altLang="ko-KR" sz="2000" b="0" i="1" smtClean="0">
                              <a:ln w="9525">
                                <a:solidFill>
                                  <a:schemeClr val="tx1">
                                    <a:alpha val="29000"/>
                                  </a:schemeClr>
                                </a:solidFill>
                              </a:ln>
                              <a:latin typeface="Cambria Math" panose="02040503050406030204" pitchFamily="18" charset="0"/>
                              <a:ea typeface="맑은 고딕"/>
                              <a:cs typeface="Times New Roman"/>
                            </a:rPr>
                            <m:t>𝑇𝐶</m:t>
                          </m:r>
                        </m:e>
                      </m:d>
                    </m:oMath>
                  </m:oMathPara>
                </a14:m>
                <a:endParaRPr lang="ko-KR" altLang="en-US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endParaRPr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D8342132-3065-8CE7-DEA6-6CA2C67BE5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6477" y="1589539"/>
                <a:ext cx="2209644" cy="42377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4" name="TextBox 63">
            <a:extLst>
              <a:ext uri="{FF2B5EF4-FFF2-40B4-BE49-F238E27FC236}">
                <a16:creationId xmlns:a16="http://schemas.microsoft.com/office/drawing/2014/main" id="{207D92A7-798D-AFD8-122A-8C3EF696E218}"/>
              </a:ext>
            </a:extLst>
          </p:cNvPr>
          <p:cNvSpPr txBox="1"/>
          <p:nvPr/>
        </p:nvSpPr>
        <p:spPr>
          <a:xfrm>
            <a:off x="313180" y="1004761"/>
            <a:ext cx="54505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Multiphonon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-assisted emission modeling equations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74D922D1-D00B-EA7B-17A0-6B5A3954F6ED}"/>
              </a:ext>
            </a:extLst>
          </p:cNvPr>
          <p:cNvGrpSpPr/>
          <p:nvPr/>
        </p:nvGrpSpPr>
        <p:grpSpPr>
          <a:xfrm>
            <a:off x="6834494" y="3575084"/>
            <a:ext cx="2109286" cy="876525"/>
            <a:chOff x="7048409" y="3687104"/>
            <a:chExt cx="2109286" cy="87652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F134B23-E3AE-7F00-EC43-2F470A11B8E0}"/>
                    </a:ext>
                  </a:extLst>
                </p:cNvPr>
                <p:cNvSpPr txBox="1"/>
                <p:nvPr/>
              </p:nvSpPr>
              <p:spPr>
                <a:xfrm>
                  <a:off x="7363358" y="3922043"/>
                  <a:ext cx="1794337" cy="64158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d>
                          <m:dPr>
                            <m:begChr m:val="{"/>
                            <m:endChr m:val=""/>
                            <m:ctrlPr>
                              <a:rPr lang="en-US" altLang="ko-KR" sz="1600" b="0" i="1" smtClean="0">
                                <a:ln w="9525">
                                  <a:solidFill>
                                    <a:schemeClr val="tx1">
                                      <a:alpha val="29000"/>
                                    </a:schemeClr>
                                  </a:solidFill>
                                </a:ln>
                                <a:latin typeface="Cambria Math" panose="02040503050406030204" pitchFamily="18" charset="0"/>
                                <a:ea typeface="맑은 고딕"/>
                                <a:cs typeface="Times New Roman"/>
                              </a:rPr>
                            </m:ctrlPr>
                          </m:dPr>
                          <m:e>
                            <m:eqArr>
                              <m:eqArrPr>
                                <m:ctrlPr>
                                  <a:rPr lang="en-US" altLang="ko-KR" sz="1600" b="0" i="1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</m:ctrlPr>
                              </m:eqArr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ko-KR" sz="16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ℏ</m:t>
                                </m:r>
                                <m:r>
                                  <a:rPr lang="en-US" altLang="ko-KR" sz="16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𝜔</m:t>
                                </m:r>
                                <m:r>
                                  <a:rPr lang="en-US" altLang="ko-KR" sz="16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=60  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altLang="ko-KR" sz="16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ko-KR" sz="1600" i="1">
                                        <a:ln w="9525">
                                          <a:solidFill>
                                            <a:schemeClr val="tx1">
                                              <a:alpha val="29000"/>
                                            </a:schemeClr>
                                          </a:solidFill>
                                        </a:ln>
                                        <a:latin typeface="Cambria Math" panose="02040503050406030204" pitchFamily="18" charset="0"/>
                                        <a:ea typeface="맑은 고딕"/>
                                        <a:cs typeface="Times New Roman"/>
                                      </a:rPr>
                                      <m:t>𝑚𝑒𝑉</m:t>
                                    </m:r>
                                  </m:e>
                                </m:d>
                              </m:e>
                              <m:e>
                                <m:r>
                                  <a:rPr lang="en-US" altLang="ko-KR" sz="16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𝑆</m:t>
                                </m:r>
                                <m:r>
                                  <a:rPr lang="en-US" altLang="ko-KR" sz="1600" i="1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=20</m:t>
                                </m:r>
                                <m:r>
                                  <m:rPr>
                                    <m:nor/>
                                  </m:rPr>
                                  <a:rPr lang="en-US" altLang="ko-KR" sz="1600" b="0" i="0" smtClean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Cambria Math" panose="02040503050406030204" pitchFamily="18" charset="0"/>
                                    <a:ea typeface="맑은 고딕"/>
                                    <a:cs typeface="Times New Roman"/>
                                  </a:rPr>
                                  <m:t>  [#]</m:t>
                                </m:r>
                                <m:r>
                                  <m:rPr>
                                    <m:nor/>
                                  </m:rPr>
                                  <a:rPr lang="ko-KR" altLang="en-US" sz="1600" i="0" dirty="0">
                                    <a:ln w="9525">
                                      <a:solidFill>
                                        <a:schemeClr val="tx1">
                                          <a:alpha val="29000"/>
                                        </a:schemeClr>
                                      </a:solidFill>
                                    </a:ln>
                                    <a:latin typeface="Times New Roman"/>
                                    <a:ea typeface="맑은 고딕"/>
                                    <a:cs typeface="Times New Roman"/>
                                  </a:rPr>
                                  <m:t>  </m:t>
                                </m:r>
                              </m:e>
                            </m:eqArr>
                          </m:e>
                        </m:d>
                      </m:oMath>
                    </m:oMathPara>
                  </a14:m>
                  <a:endParaRPr lang="en-US" altLang="ko-KR" sz="1600" b="0" dirty="0">
                    <a:ln w="9525">
                      <a:solidFill>
                        <a:schemeClr val="tx1">
                          <a:alpha val="29000"/>
                        </a:schemeClr>
                      </a:solidFill>
                    </a:ln>
                    <a:latin typeface="Times New Roman"/>
                    <a:ea typeface="맑은 고딕"/>
                    <a:cs typeface="Times New Roman"/>
                  </a:endParaRP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1F134B23-E3AE-7F00-EC43-2F470A11B8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63358" y="3922043"/>
                  <a:ext cx="1794337" cy="64158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7527867-5D84-47B7-CAA0-5176A0173C14}"/>
                </a:ext>
              </a:extLst>
            </p:cNvPr>
            <p:cNvSpPr txBox="1"/>
            <p:nvPr/>
          </p:nvSpPr>
          <p:spPr>
            <a:xfrm>
              <a:off x="7048409" y="3687104"/>
              <a:ext cx="12923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6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Conventional</a:t>
              </a:r>
              <a:endParaRPr lang="ko-KR" altLang="en-US" sz="16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58285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FD99B-0E21-6080-CAD2-79C54CE70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3" name="개체 32">
            <a:extLst>
              <a:ext uri="{FF2B5EF4-FFF2-40B4-BE49-F238E27FC236}">
                <a16:creationId xmlns:a16="http://schemas.microsoft.com/office/drawing/2014/main" id="{5914F1FC-5DE1-84C0-5DC5-79C14099076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2561919"/>
              </p:ext>
            </p:extLst>
          </p:nvPr>
        </p:nvGraphicFramePr>
        <p:xfrm>
          <a:off x="-72704" y="3813886"/>
          <a:ext cx="3484814" cy="244897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721592" imgH="3317966" progId="Origin50.Graph">
                  <p:embed/>
                </p:oleObj>
              </mc:Choice>
              <mc:Fallback>
                <p:oleObj name="Graph" r:id="rId2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72704" y="3813886"/>
                        <a:ext cx="3484814" cy="244897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2" name="개체 31">
            <a:extLst>
              <a:ext uri="{FF2B5EF4-FFF2-40B4-BE49-F238E27FC236}">
                <a16:creationId xmlns:a16="http://schemas.microsoft.com/office/drawing/2014/main" id="{94B92665-63DF-1585-24FC-27D36B07338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26889344"/>
              </p:ext>
            </p:extLst>
          </p:nvPr>
        </p:nvGraphicFramePr>
        <p:xfrm>
          <a:off x="5455495" y="948970"/>
          <a:ext cx="4020207" cy="28252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4" imgW="4721592" imgH="3317966" progId="Origin50.Graph">
                  <p:embed/>
                </p:oleObj>
              </mc:Choice>
              <mc:Fallback>
                <p:oleObj name="Graph" r:id="rId4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5455495" y="948970"/>
                        <a:ext cx="4020207" cy="28252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B0DA5CD1-EE8C-5D8E-AA98-0EC71C612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Detrapping</a:t>
            </a:r>
            <a:r>
              <a:rPr lang="en-US" altLang="ko-KR" dirty="0"/>
              <a:t> in Various Temperature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4AF138-89B4-27FF-1BDA-D43CB7EC019F}"/>
              </a:ext>
            </a:extLst>
          </p:cNvPr>
          <p:cNvSpPr txBox="1"/>
          <p:nvPr/>
        </p:nvSpPr>
        <p:spPr>
          <a:xfrm>
            <a:off x="44251" y="1716285"/>
            <a:ext cx="534866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NMP emission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경우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temperature variation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이 관찰 가능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,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전체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ΔVth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loss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에서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5% 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가량 기여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1k, 10k, 50k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으로 갈수록 </a:t>
            </a:r>
            <a:r>
              <a:rPr lang="en-US" altLang="ko-KR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loss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의 총량이 증가함에 따라 </a:t>
            </a:r>
            <a:r>
              <a:rPr lang="en-US" altLang="ko-KR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NMP %</a:t>
            </a:r>
            <a:r>
              <a:rPr lang="ko-KR" altLang="en-US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가 줄어듦</a:t>
            </a:r>
            <a:endParaRPr lang="en-US" altLang="ko-KR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9B88DD-642B-9CF3-9001-AD1225153880}"/>
              </a:ext>
            </a:extLst>
          </p:cNvPr>
          <p:cNvSpPr txBox="1"/>
          <p:nvPr/>
        </p:nvSpPr>
        <p:spPr>
          <a:xfrm>
            <a:off x="228600" y="945355"/>
            <a:ext cx="474283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temperature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Variation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887D67-8013-BD2E-1B3C-D3969EC74A40}"/>
              </a:ext>
            </a:extLst>
          </p:cNvPr>
          <p:cNvSpPr txBox="1"/>
          <p:nvPr/>
        </p:nvSpPr>
        <p:spPr>
          <a:xfrm>
            <a:off x="7516803" y="2705018"/>
            <a:ext cx="3337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ln w="9525">
                  <a:noFill/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1k</a:t>
            </a:r>
            <a:endParaRPr lang="ko-KR" altLang="en-US" sz="1050" dirty="0">
              <a:ln w="9525">
                <a:noFill/>
              </a:ln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06CF88A-C3D0-4CF9-E63E-972C0E110CCB}"/>
              </a:ext>
            </a:extLst>
          </p:cNvPr>
          <p:cNvSpPr txBox="1"/>
          <p:nvPr/>
        </p:nvSpPr>
        <p:spPr>
          <a:xfrm>
            <a:off x="7281002" y="2454949"/>
            <a:ext cx="4026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ln w="9525">
                  <a:noFill/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10k</a:t>
            </a:r>
            <a:endParaRPr lang="ko-KR" altLang="en-US" sz="1050" dirty="0">
              <a:ln w="9525">
                <a:noFill/>
              </a:ln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2895506-683B-AE91-E524-8A59577966A7}"/>
              </a:ext>
            </a:extLst>
          </p:cNvPr>
          <p:cNvSpPr txBox="1"/>
          <p:nvPr/>
        </p:nvSpPr>
        <p:spPr>
          <a:xfrm>
            <a:off x="6954360" y="2327991"/>
            <a:ext cx="40267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50" dirty="0">
                <a:ln w="9525">
                  <a:noFill/>
                </a:ln>
                <a:latin typeface="Arial" panose="020B0604020202020204" pitchFamily="34" charset="0"/>
                <a:ea typeface="맑은 고딕"/>
                <a:cs typeface="Arial" panose="020B0604020202020204" pitchFamily="34" charset="0"/>
              </a:rPr>
              <a:t>50k</a:t>
            </a:r>
            <a:endParaRPr lang="ko-KR" altLang="en-US" sz="1050" dirty="0">
              <a:ln w="9525">
                <a:noFill/>
              </a:ln>
              <a:latin typeface="Arial" panose="020B0604020202020204" pitchFamily="34" charset="0"/>
              <a:ea typeface="맑은 고딕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D1E890-1981-ABA4-8BA0-B9DF944DE092}"/>
              </a:ext>
            </a:extLst>
          </p:cNvPr>
          <p:cNvSpPr txBox="1"/>
          <p:nvPr/>
        </p:nvSpPr>
        <p:spPr>
          <a:xfrm>
            <a:off x="6250832" y="1308359"/>
            <a:ext cx="174438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온도조건</a:t>
            </a:r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▶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 ~ 600 K</a:t>
            </a:r>
          </a:p>
          <a:p>
            <a:endParaRPr lang="en-US" altLang="ko-KR" sz="14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en-US" altLang="ko-KR" sz="14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14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th,initial</a:t>
            </a:r>
            <a:r>
              <a:rPr lang="en-US" altLang="ko-KR" sz="14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= 1 V</a:t>
            </a:r>
          </a:p>
        </p:txBody>
      </p:sp>
      <p:graphicFrame>
        <p:nvGraphicFramePr>
          <p:cNvPr id="23" name="개체 22">
            <a:extLst>
              <a:ext uri="{FF2B5EF4-FFF2-40B4-BE49-F238E27FC236}">
                <a16:creationId xmlns:a16="http://schemas.microsoft.com/office/drawing/2014/main" id="{DC5D7DA1-2BE1-5B79-D216-4DFDBC2FD45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68176874"/>
              </p:ext>
            </p:extLst>
          </p:nvPr>
        </p:nvGraphicFramePr>
        <p:xfrm>
          <a:off x="2933990" y="3813888"/>
          <a:ext cx="3485985" cy="24489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6" imgW="4722409" imgH="3317966" progId="Origin50.Graph">
                  <p:embed/>
                </p:oleObj>
              </mc:Choice>
              <mc:Fallback>
                <p:oleObj name="Graph" r:id="rId6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933990" y="3813888"/>
                        <a:ext cx="3485985" cy="24489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" name="개체 23">
            <a:extLst>
              <a:ext uri="{FF2B5EF4-FFF2-40B4-BE49-F238E27FC236}">
                <a16:creationId xmlns:a16="http://schemas.microsoft.com/office/drawing/2014/main" id="{22E1A17D-C3DC-BFDF-DF9E-F6C835EF17C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64839523"/>
              </p:ext>
            </p:extLst>
          </p:nvPr>
        </p:nvGraphicFramePr>
        <p:xfrm>
          <a:off x="5940684" y="3813888"/>
          <a:ext cx="3485985" cy="244897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8" imgW="4722409" imgH="3317966" progId="Origin50.Graph">
                  <p:embed/>
                </p:oleObj>
              </mc:Choice>
              <mc:Fallback>
                <p:oleObj name="Graph" r:id="rId8" imgW="4722409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40684" y="3813888"/>
                        <a:ext cx="3485985" cy="244897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609269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9E756A-E44F-E0AA-9320-D7B3AF308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Computational Impact</a:t>
            </a:r>
            <a:endParaRPr lang="ko-KR" altLang="en-US" dirty="0"/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4CD5D8C2-B9F6-A0F7-6221-3EEF51EFE7A4}"/>
              </a:ext>
            </a:extLst>
          </p:cNvPr>
          <p:cNvSpPr/>
          <p:nvPr/>
        </p:nvSpPr>
        <p:spPr>
          <a:xfrm>
            <a:off x="1678940" y="987552"/>
            <a:ext cx="1325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Property</a:t>
            </a:r>
            <a:endParaRPr lang="en-US" dirty="0"/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CC292B0B-D34E-907E-C605-4BFBBE5B65D8}"/>
              </a:ext>
            </a:extLst>
          </p:cNvPr>
          <p:cNvSpPr/>
          <p:nvPr/>
        </p:nvSpPr>
        <p:spPr>
          <a:xfrm>
            <a:off x="3004820" y="987552"/>
            <a:ext cx="196596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Transient TCAD</a:t>
            </a:r>
            <a:endParaRPr lang="en-US" dirty="0"/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0CAC4BE1-4759-0E57-69C3-F84F2E395A97}"/>
              </a:ext>
            </a:extLst>
          </p:cNvPr>
          <p:cNvSpPr/>
          <p:nvPr/>
        </p:nvSpPr>
        <p:spPr>
          <a:xfrm>
            <a:off x="4970780" y="987552"/>
            <a:ext cx="2468880" cy="411480"/>
          </a:xfrm>
          <a:prstGeom prst="rect">
            <a:avLst/>
          </a:prstGeom>
          <a:solidFill>
            <a:srgbClr val="0D2B45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Time-step-free model</a:t>
            </a:r>
            <a:endParaRPr lang="en-US" dirty="0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74A61EC9-7FFD-4533-05C7-E035E49B4AA9}"/>
              </a:ext>
            </a:extLst>
          </p:cNvPr>
          <p:cNvSpPr/>
          <p:nvPr/>
        </p:nvSpPr>
        <p:spPr>
          <a:xfrm>
            <a:off x="1678940" y="1399032"/>
            <a:ext cx="1325880" cy="658368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Temporal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treatment</a:t>
            </a:r>
            <a:endParaRPr lang="en-US" sz="14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E9DE8736-7A8A-C50A-3017-6C1F863E93F0}"/>
              </a:ext>
            </a:extLst>
          </p:cNvPr>
          <p:cNvSpPr/>
          <p:nvPr/>
        </p:nvSpPr>
        <p:spPr>
          <a:xfrm>
            <a:off x="3004820" y="1399032"/>
            <a:ext cx="1965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Sequential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time stepping</a:t>
            </a:r>
            <a:endParaRPr lang="en-US" sz="1600" dirty="0"/>
          </a:p>
        </p:txBody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68E33C37-1795-66F9-5660-BBB19ED8B691}"/>
              </a:ext>
            </a:extLst>
          </p:cNvPr>
          <p:cNvSpPr/>
          <p:nvPr/>
        </p:nvSpPr>
        <p:spPr>
          <a:xfrm>
            <a:off x="1678940" y="2057400"/>
            <a:ext cx="1325880" cy="768096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Final-time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dependence</a:t>
            </a:r>
            <a:endParaRPr lang="en-US" sz="1400" dirty="0"/>
          </a:p>
        </p:txBody>
      </p:sp>
      <p:sp>
        <p:nvSpPr>
          <p:cNvPr id="12" name="Text 11">
            <a:extLst>
              <a:ext uri="{FF2B5EF4-FFF2-40B4-BE49-F238E27FC236}">
                <a16:creationId xmlns:a16="http://schemas.microsoft.com/office/drawing/2014/main" id="{F7DC4FCC-0D75-763F-35C3-C1C4EE2BAA4F}"/>
              </a:ext>
            </a:extLst>
          </p:cNvPr>
          <p:cNvSpPr/>
          <p:nvPr/>
        </p:nvSpPr>
        <p:spPr>
          <a:xfrm>
            <a:off x="3004820" y="2057400"/>
            <a:ext cx="196596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grows as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simulated retention time increases</a:t>
            </a:r>
            <a:endParaRPr lang="en-US" sz="1200" dirty="0"/>
          </a:p>
        </p:txBody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2FE02911-90C1-620B-37B5-516FFEA285B3}"/>
              </a:ext>
            </a:extLst>
          </p:cNvPr>
          <p:cNvSpPr/>
          <p:nvPr/>
        </p:nvSpPr>
        <p:spPr>
          <a:xfrm>
            <a:off x="4970780" y="2057400"/>
            <a:ext cx="2468880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Independent of final</a:t>
            </a:r>
            <a:endParaRPr lang="en-US" sz="1400" b="1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physical time for fixed queries</a:t>
            </a:r>
            <a:endParaRPr lang="en-US" sz="1400" b="1" dirty="0"/>
          </a:p>
        </p:txBody>
      </p:sp>
      <p:sp>
        <p:nvSpPr>
          <p:cNvPr id="14" name="Text 13">
            <a:extLst>
              <a:ext uri="{FF2B5EF4-FFF2-40B4-BE49-F238E27FC236}">
                <a16:creationId xmlns:a16="http://schemas.microsoft.com/office/drawing/2014/main" id="{49D174F1-A2EB-7C3A-60B1-3C29EC4E261C}"/>
              </a:ext>
            </a:extLst>
          </p:cNvPr>
          <p:cNvSpPr/>
          <p:nvPr/>
        </p:nvSpPr>
        <p:spPr>
          <a:xfrm>
            <a:off x="1678940" y="2825496"/>
            <a:ext cx="1325880" cy="603504"/>
          </a:xfrm>
          <a:prstGeom prst="rect">
            <a:avLst/>
          </a:prstGeom>
          <a:solidFill>
            <a:srgbClr val="F6F8FB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Average</a:t>
            </a:r>
          </a:p>
          <a:p>
            <a:pPr marL="0" indent="0" algn="ctr">
              <a:buNone/>
            </a:pPr>
            <a:r>
              <a:rPr lang="en-US" sz="1400" b="1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</a:t>
            </a:r>
            <a:endParaRPr lang="en-US" sz="14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C5677FC9-B3AA-9449-57E9-50B3E482C8F1}"/>
              </a:ext>
            </a:extLst>
          </p:cNvPr>
          <p:cNvSpPr/>
          <p:nvPr/>
        </p:nvSpPr>
        <p:spPr>
          <a:xfrm>
            <a:off x="3004820" y="2825496"/>
            <a:ext cx="19659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5C667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27483 s</a:t>
            </a:r>
            <a:endParaRPr lang="en-US" sz="240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EB728DA-214C-44E4-E603-837D7618C767}"/>
              </a:ext>
            </a:extLst>
          </p:cNvPr>
          <p:cNvSpPr/>
          <p:nvPr/>
        </p:nvSpPr>
        <p:spPr>
          <a:xfrm>
            <a:off x="4970780" y="2825496"/>
            <a:ext cx="246888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3.926 s</a:t>
            </a:r>
            <a:endParaRPr lang="en-US" sz="2400" dirty="0"/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B04CC522-EDC8-597E-28D2-84CE8A293807}"/>
              </a:ext>
            </a:extLst>
          </p:cNvPr>
          <p:cNvSpPr/>
          <p:nvPr/>
        </p:nvSpPr>
        <p:spPr>
          <a:xfrm>
            <a:off x="4806315" y="1355175"/>
            <a:ext cx="2797810" cy="746082"/>
          </a:xfrm>
          <a:prstGeom prst="rect">
            <a:avLst/>
          </a:prstGeom>
          <a:solidFill>
            <a:srgbClr val="FFFFFF"/>
          </a:solidFill>
          <a:ln w="9525">
            <a:solidFill>
              <a:srgbClr val="D7DEE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lIns="635" tIns="635" rIns="635" bIns="635" rtlCol="0" anchor="ctr">
            <a:normAutofit/>
          </a:bodyPr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600" dirty="0">
                <a:solidFill>
                  <a:srgbClr val="1B1E23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Closed-form evaluation</a:t>
            </a:r>
            <a:endParaRPr lang="en-US" sz="1600" dirty="0"/>
          </a:p>
        </p:txBody>
      </p:sp>
      <p:sp>
        <p:nvSpPr>
          <p:cNvPr id="17" name="자유형: 도형 16">
            <a:extLst>
              <a:ext uri="{FF2B5EF4-FFF2-40B4-BE49-F238E27FC236}">
                <a16:creationId xmlns:a16="http://schemas.microsoft.com/office/drawing/2014/main" id="{7859EE1C-ABE7-24EC-F8B1-5EEDAA8EDA66}"/>
              </a:ext>
            </a:extLst>
          </p:cNvPr>
          <p:cNvSpPr/>
          <p:nvPr/>
        </p:nvSpPr>
        <p:spPr>
          <a:xfrm>
            <a:off x="4254500" y="3306735"/>
            <a:ext cx="1460500" cy="286857"/>
          </a:xfrm>
          <a:custGeom>
            <a:avLst/>
            <a:gdLst>
              <a:gd name="csX0" fmla="*/ 0 w 1460500"/>
              <a:gd name="csY0" fmla="*/ 0 h 457598"/>
              <a:gd name="csX1" fmla="*/ 787400 w 1460500"/>
              <a:gd name="csY1" fmla="*/ 457200 h 457598"/>
              <a:gd name="csX2" fmla="*/ 1460500 w 1460500"/>
              <a:gd name="csY2" fmla="*/ 63500 h 4575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460500" h="457598">
                <a:moveTo>
                  <a:pt x="0" y="0"/>
                </a:moveTo>
                <a:cubicBezTo>
                  <a:pt x="271991" y="223308"/>
                  <a:pt x="543983" y="446617"/>
                  <a:pt x="787400" y="457200"/>
                </a:cubicBezTo>
                <a:cubicBezTo>
                  <a:pt x="1030817" y="467783"/>
                  <a:pt x="1245658" y="265641"/>
                  <a:pt x="1460500" y="63500"/>
                </a:cubicBezTo>
              </a:path>
            </a:pathLst>
          </a:custGeom>
          <a:noFill/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35527E49-DD95-E8F9-13BD-E2F50DA954EA}"/>
              </a:ext>
            </a:extLst>
          </p:cNvPr>
          <p:cNvSpPr/>
          <p:nvPr/>
        </p:nvSpPr>
        <p:spPr>
          <a:xfrm>
            <a:off x="4060190" y="3593592"/>
            <a:ext cx="1849120" cy="419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>
                <a:solidFill>
                  <a:srgbClr val="00A6B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≈ 7000×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33320400-7B65-329F-145D-D149F9AC68A8}"/>
              </a:ext>
            </a:extLst>
          </p:cNvPr>
          <p:cNvSpPr/>
          <p:nvPr/>
        </p:nvSpPr>
        <p:spPr>
          <a:xfrm>
            <a:off x="4060190" y="3913803"/>
            <a:ext cx="1849120" cy="2868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000" b="1" dirty="0">
                <a:solidFill>
                  <a:srgbClr val="0D2B4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runtime reduction</a:t>
            </a:r>
            <a:endParaRPr 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18F11F-06B6-3B51-BBFF-6FB4C620D1E5}"/>
              </a:ext>
            </a:extLst>
          </p:cNvPr>
          <p:cNvSpPr txBox="1"/>
          <p:nvPr/>
        </p:nvSpPr>
        <p:spPr>
          <a:xfrm>
            <a:off x="838200" y="4326304"/>
            <a:ext cx="75819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TCAD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physical time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까지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 step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별 순차적으로 계산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evaluation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Computational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resource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는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final retention 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자체가 아니라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evaluated time point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수에 의해 결정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4331CB-D5AF-B0B9-DC72-6B9FA595B49E}"/>
              </a:ext>
            </a:extLst>
          </p:cNvPr>
          <p:cNvSpPr txBox="1"/>
          <p:nvPr/>
        </p:nvSpPr>
        <p:spPr>
          <a:xfrm>
            <a:off x="7777640" y="6205303"/>
            <a:ext cx="13663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050" b="1" i="1" dirty="0">
                <a:ln w="9525">
                  <a:solidFill>
                    <a:schemeClr val="tx1">
                      <a:alpha val="2900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Times New Roman"/>
                <a:ea typeface="맑은 고딕"/>
                <a:cs typeface="Times New Roman"/>
              </a:rPr>
              <a:t>Jin, EDL 2026</a:t>
            </a:r>
            <a:endParaRPr lang="ko-KR" altLang="en-US" sz="1050" b="1" i="1" dirty="0">
              <a:ln w="9525">
                <a:solidFill>
                  <a:schemeClr val="tx1">
                    <a:alpha val="2900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213830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EA958F-322E-E80C-E81F-57C893C36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Simplified Compact Model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C8E7B3-1F2C-11A2-7C4B-6C3E2D646900}"/>
              </a:ext>
            </a:extLst>
          </p:cNvPr>
          <p:cNvSpPr txBox="1"/>
          <p:nvPr/>
        </p:nvSpPr>
        <p:spPr>
          <a:xfrm>
            <a:off x="214049" y="981135"/>
            <a:ext cx="386516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기존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trap bin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모두에 대하여 계산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B11B64-A527-4F40-80AC-1704F43E3E4D}"/>
              </a:ext>
            </a:extLst>
          </p:cNvPr>
          <p:cNvSpPr txBox="1"/>
          <p:nvPr/>
        </p:nvSpPr>
        <p:spPr>
          <a:xfrm>
            <a:off x="4671749" y="981135"/>
            <a:ext cx="43781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간소화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: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특정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만 선별하여 계산</a:t>
            </a:r>
          </a:p>
        </p:txBody>
      </p:sp>
      <p:grpSp>
        <p:nvGrpSpPr>
          <p:cNvPr id="171" name="그룹 170">
            <a:extLst>
              <a:ext uri="{FF2B5EF4-FFF2-40B4-BE49-F238E27FC236}">
                <a16:creationId xmlns:a16="http://schemas.microsoft.com/office/drawing/2014/main" id="{D8415F51-92FD-EFEB-8638-A2650A0D2297}"/>
              </a:ext>
            </a:extLst>
          </p:cNvPr>
          <p:cNvGrpSpPr/>
          <p:nvPr/>
        </p:nvGrpSpPr>
        <p:grpSpPr>
          <a:xfrm>
            <a:off x="538519" y="1293830"/>
            <a:ext cx="2685066" cy="2065790"/>
            <a:chOff x="1090482" y="1448996"/>
            <a:chExt cx="2685066" cy="2065790"/>
          </a:xfrm>
        </p:grpSpPr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6774F477-AB67-7DCD-7A8E-FEB90FFE800C}"/>
                </a:ext>
              </a:extLst>
            </p:cNvPr>
            <p:cNvCxnSpPr>
              <a:cxnSpLocks/>
            </p:cNvCxnSpPr>
            <p:nvPr/>
          </p:nvCxnSpPr>
          <p:spPr>
            <a:xfrm>
              <a:off x="1155700" y="1824099"/>
              <a:ext cx="254635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043EAB4C-DEF7-4CC8-1576-A0FD5B9F1B73}"/>
                </a:ext>
              </a:extLst>
            </p:cNvPr>
            <p:cNvGrpSpPr/>
            <p:nvPr/>
          </p:nvGrpSpPr>
          <p:grpSpPr>
            <a:xfrm>
              <a:off x="1403349" y="2828987"/>
              <a:ext cx="1993901" cy="474661"/>
              <a:chOff x="863599" y="3068638"/>
              <a:chExt cx="1193799" cy="474661"/>
            </a:xfrm>
          </p:grpSpPr>
          <p:grpSp>
            <p:nvGrpSpPr>
              <p:cNvPr id="101" name="그룹 100">
                <a:extLst>
                  <a:ext uri="{FF2B5EF4-FFF2-40B4-BE49-F238E27FC236}">
                    <a16:creationId xmlns:a16="http://schemas.microsoft.com/office/drawing/2014/main" id="{F4DC226E-E41F-EBA3-7B3C-CF891715DA68}"/>
                  </a:ext>
                </a:extLst>
              </p:cNvPr>
              <p:cNvGrpSpPr/>
              <p:nvPr/>
            </p:nvGrpSpPr>
            <p:grpSpPr>
              <a:xfrm>
                <a:off x="863599" y="3122053"/>
                <a:ext cx="1193799" cy="372269"/>
                <a:chOff x="863599" y="3122053"/>
                <a:chExt cx="1193799" cy="372269"/>
              </a:xfrm>
            </p:grpSpPr>
            <p:cxnSp>
              <p:nvCxnSpPr>
                <p:cNvPr id="74" name="직선 연결선 73">
                  <a:extLst>
                    <a:ext uri="{FF2B5EF4-FFF2-40B4-BE49-F238E27FC236}">
                      <a16:creationId xmlns:a16="http://schemas.microsoft.com/office/drawing/2014/main" id="{A6A528AA-336B-9181-711A-34BF47B07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122053"/>
                  <a:ext cx="5318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직선 연결선 74">
                  <a:extLst>
                    <a:ext uri="{FF2B5EF4-FFF2-40B4-BE49-F238E27FC236}">
                      <a16:creationId xmlns:a16="http://schemas.microsoft.com/office/drawing/2014/main" id="{7B824B3A-1AED-F8AA-D036-A69F5A972C3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150689"/>
                  <a:ext cx="8413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직선 연결선 75">
                  <a:extLst>
                    <a:ext uri="{FF2B5EF4-FFF2-40B4-BE49-F238E27FC236}">
                      <a16:creationId xmlns:a16="http://schemas.microsoft.com/office/drawing/2014/main" id="{6668A746-BD41-A97A-B30D-D192AA963A8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179325"/>
                  <a:ext cx="181770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직선 연결선 76">
                  <a:extLst>
                    <a:ext uri="{FF2B5EF4-FFF2-40B4-BE49-F238E27FC236}">
                      <a16:creationId xmlns:a16="http://schemas.microsoft.com/office/drawing/2014/main" id="{A948EFFB-FD32-68ED-528A-05D1885755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207961"/>
                  <a:ext cx="555626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8" name="직선 연결선 77">
                  <a:extLst>
                    <a:ext uri="{FF2B5EF4-FFF2-40B4-BE49-F238E27FC236}">
                      <a16:creationId xmlns:a16="http://schemas.microsoft.com/office/drawing/2014/main" id="{4FDD0501-D4A9-D3CE-C0FE-7C49C9A1888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236597"/>
                  <a:ext cx="88423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직선 연결선 78">
                  <a:extLst>
                    <a:ext uri="{FF2B5EF4-FFF2-40B4-BE49-F238E27FC236}">
                      <a16:creationId xmlns:a16="http://schemas.microsoft.com/office/drawing/2014/main" id="{9379C5A3-692B-79C5-6A84-28D6162313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265233"/>
                  <a:ext cx="1110457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0" name="직선 연결선 79">
                  <a:extLst>
                    <a:ext uri="{FF2B5EF4-FFF2-40B4-BE49-F238E27FC236}">
                      <a16:creationId xmlns:a16="http://schemas.microsoft.com/office/drawing/2014/main" id="{1C5437D2-BC4D-FD82-10B6-B68944AF29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293869"/>
                  <a:ext cx="119379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직선 연결선 80">
                  <a:extLst>
                    <a:ext uri="{FF2B5EF4-FFF2-40B4-BE49-F238E27FC236}">
                      <a16:creationId xmlns:a16="http://schemas.microsoft.com/office/drawing/2014/main" id="{E6814705-0C6A-25D1-CEDB-D7C291EA46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322505"/>
                  <a:ext cx="1141414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직선 연결선 81">
                  <a:extLst>
                    <a:ext uri="{FF2B5EF4-FFF2-40B4-BE49-F238E27FC236}">
                      <a16:creationId xmlns:a16="http://schemas.microsoft.com/office/drawing/2014/main" id="{C94F82B5-5EC7-5F5B-3995-5B5204842A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351141"/>
                  <a:ext cx="1015207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직선 연결선 82">
                  <a:extLst>
                    <a:ext uri="{FF2B5EF4-FFF2-40B4-BE49-F238E27FC236}">
                      <a16:creationId xmlns:a16="http://schemas.microsoft.com/office/drawing/2014/main" id="{E620978C-EDCB-D783-755D-00417C8050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379777"/>
                  <a:ext cx="748507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직선 연결선 83">
                  <a:extLst>
                    <a:ext uri="{FF2B5EF4-FFF2-40B4-BE49-F238E27FC236}">
                      <a16:creationId xmlns:a16="http://schemas.microsoft.com/office/drawing/2014/main" id="{34DCF7D2-E926-59D7-FD87-F47498CC155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408413"/>
                  <a:ext cx="41513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5" name="직선 연결선 84">
                  <a:extLst>
                    <a:ext uri="{FF2B5EF4-FFF2-40B4-BE49-F238E27FC236}">
                      <a16:creationId xmlns:a16="http://schemas.microsoft.com/office/drawing/2014/main" id="{D83099BF-32A9-CC42-3A09-30986DBA67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437049"/>
                  <a:ext cx="181770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6" name="직선 연결선 85">
                  <a:extLst>
                    <a:ext uri="{FF2B5EF4-FFF2-40B4-BE49-F238E27FC236}">
                      <a16:creationId xmlns:a16="http://schemas.microsoft.com/office/drawing/2014/main" id="{9600D83B-55FD-0C70-A80E-62FB09FA717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465685"/>
                  <a:ext cx="10318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직선 연결선 86">
                  <a:extLst>
                    <a:ext uri="{FF2B5EF4-FFF2-40B4-BE49-F238E27FC236}">
                      <a16:creationId xmlns:a16="http://schemas.microsoft.com/office/drawing/2014/main" id="{4421AF77-CB2A-8F9D-B304-FC13E090C85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3494322"/>
                  <a:ext cx="5318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4" name="자유형: 도형 13">
                <a:extLst>
                  <a:ext uri="{FF2B5EF4-FFF2-40B4-BE49-F238E27FC236}">
                    <a16:creationId xmlns:a16="http://schemas.microsoft.com/office/drawing/2014/main" id="{28F6774D-DFF7-763A-236D-AD767C35A4F1}"/>
                  </a:ext>
                </a:extLst>
              </p:cNvPr>
              <p:cNvSpPr/>
              <p:nvPr/>
            </p:nvSpPr>
            <p:spPr>
              <a:xfrm>
                <a:off x="863599" y="3068638"/>
                <a:ext cx="1193799" cy="474661"/>
              </a:xfrm>
              <a:custGeom>
                <a:avLst/>
                <a:gdLst>
                  <a:gd name="csX0" fmla="*/ 0 w 591034"/>
                  <a:gd name="csY0" fmla="*/ 0 h 793750"/>
                  <a:gd name="csX1" fmla="*/ 57150 w 591034"/>
                  <a:gd name="csY1" fmla="*/ 152400 h 793750"/>
                  <a:gd name="csX2" fmla="*/ 190500 w 591034"/>
                  <a:gd name="csY2" fmla="*/ 215900 h 793750"/>
                  <a:gd name="csX3" fmla="*/ 444500 w 591034"/>
                  <a:gd name="csY3" fmla="*/ 279400 h 793750"/>
                  <a:gd name="csX4" fmla="*/ 590550 w 591034"/>
                  <a:gd name="csY4" fmla="*/ 368300 h 793750"/>
                  <a:gd name="csX5" fmla="*/ 476250 w 591034"/>
                  <a:gd name="csY5" fmla="*/ 488950 h 793750"/>
                  <a:gd name="csX6" fmla="*/ 101600 w 591034"/>
                  <a:gd name="csY6" fmla="*/ 609600 h 793750"/>
                  <a:gd name="csX7" fmla="*/ 0 w 591034"/>
                  <a:gd name="csY7" fmla="*/ 793750 h 7937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91034" h="793750">
                    <a:moveTo>
                      <a:pt x="0" y="0"/>
                    </a:moveTo>
                    <a:cubicBezTo>
                      <a:pt x="12700" y="58208"/>
                      <a:pt x="25400" y="116417"/>
                      <a:pt x="57150" y="152400"/>
                    </a:cubicBezTo>
                    <a:cubicBezTo>
                      <a:pt x="88900" y="188383"/>
                      <a:pt x="125942" y="194733"/>
                      <a:pt x="190500" y="215900"/>
                    </a:cubicBezTo>
                    <a:cubicBezTo>
                      <a:pt x="255058" y="237067"/>
                      <a:pt x="377825" y="254000"/>
                      <a:pt x="444500" y="279400"/>
                    </a:cubicBezTo>
                    <a:cubicBezTo>
                      <a:pt x="511175" y="304800"/>
                      <a:pt x="585258" y="333375"/>
                      <a:pt x="590550" y="368300"/>
                    </a:cubicBezTo>
                    <a:cubicBezTo>
                      <a:pt x="595842" y="403225"/>
                      <a:pt x="557742" y="448733"/>
                      <a:pt x="476250" y="488950"/>
                    </a:cubicBezTo>
                    <a:cubicBezTo>
                      <a:pt x="394758" y="529167"/>
                      <a:pt x="180975" y="558800"/>
                      <a:pt x="101600" y="609600"/>
                    </a:cubicBezTo>
                    <a:cubicBezTo>
                      <a:pt x="22225" y="660400"/>
                      <a:pt x="11112" y="727075"/>
                      <a:pt x="0" y="79375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cxnSp>
          <p:nvCxnSpPr>
            <p:cNvPr id="9" name="직선 화살표 연결선 8">
              <a:extLst>
                <a:ext uri="{FF2B5EF4-FFF2-40B4-BE49-F238E27FC236}">
                  <a16:creationId xmlns:a16="http://schemas.microsoft.com/office/drawing/2014/main" id="{70CA7932-1904-2F42-02FF-E644C3BE89E2}"/>
                </a:ext>
              </a:extLst>
            </p:cNvPr>
            <p:cNvCxnSpPr>
              <a:cxnSpLocks/>
            </p:cNvCxnSpPr>
            <p:nvPr/>
          </p:nvCxnSpPr>
          <p:spPr>
            <a:xfrm>
              <a:off x="1403350" y="1551049"/>
              <a:ext cx="0" cy="195925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3" name="그룹 72">
              <a:extLst>
                <a:ext uri="{FF2B5EF4-FFF2-40B4-BE49-F238E27FC236}">
                  <a16:creationId xmlns:a16="http://schemas.microsoft.com/office/drawing/2014/main" id="{3BCC5D53-32BA-6566-DD23-EA6E94B6A756}"/>
                </a:ext>
              </a:extLst>
            </p:cNvPr>
            <p:cNvGrpSpPr/>
            <p:nvPr/>
          </p:nvGrpSpPr>
          <p:grpSpPr>
            <a:xfrm>
              <a:off x="1403349" y="1824099"/>
              <a:ext cx="800101" cy="793750"/>
              <a:chOff x="863599" y="2063750"/>
              <a:chExt cx="591035" cy="793750"/>
            </a:xfrm>
          </p:grpSpPr>
          <p:grpSp>
            <p:nvGrpSpPr>
              <p:cNvPr id="72" name="그룹 71">
                <a:extLst>
                  <a:ext uri="{FF2B5EF4-FFF2-40B4-BE49-F238E27FC236}">
                    <a16:creationId xmlns:a16="http://schemas.microsoft.com/office/drawing/2014/main" id="{71F3C9EE-843E-3209-D0B7-AFE24BC94310}"/>
                  </a:ext>
                </a:extLst>
              </p:cNvPr>
              <p:cNvGrpSpPr/>
              <p:nvPr/>
            </p:nvGrpSpPr>
            <p:grpSpPr>
              <a:xfrm>
                <a:off x="863599" y="2162176"/>
                <a:ext cx="591035" cy="592686"/>
                <a:chOff x="863599" y="2162176"/>
                <a:chExt cx="591035" cy="592686"/>
              </a:xfrm>
            </p:grpSpPr>
            <p:cxnSp>
              <p:nvCxnSpPr>
                <p:cNvPr id="16" name="직선 연결선 15">
                  <a:extLst>
                    <a:ext uri="{FF2B5EF4-FFF2-40B4-BE49-F238E27FC236}">
                      <a16:creationId xmlns:a16="http://schemas.microsoft.com/office/drawing/2014/main" id="{DFBBA0CE-E57F-926D-26D7-B1E6E798B04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224564"/>
                  <a:ext cx="5318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" name="직선 연결선 30">
                  <a:extLst>
                    <a:ext uri="{FF2B5EF4-FFF2-40B4-BE49-F238E27FC236}">
                      <a16:creationId xmlns:a16="http://schemas.microsoft.com/office/drawing/2014/main" id="{A906F6BE-67F8-C9A3-5985-D380AD110A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255758"/>
                  <a:ext cx="127001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직선 연결선 31">
                  <a:extLst>
                    <a:ext uri="{FF2B5EF4-FFF2-40B4-BE49-F238E27FC236}">
                      <a16:creationId xmlns:a16="http://schemas.microsoft.com/office/drawing/2014/main" id="{EC24AF15-5728-79C2-ACAD-3364628DCE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286952"/>
                  <a:ext cx="222251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6261BB09-68D3-F23E-11D6-B2532317AB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318146"/>
                  <a:ext cx="35083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직선 연결선 33">
                  <a:extLst>
                    <a:ext uri="{FF2B5EF4-FFF2-40B4-BE49-F238E27FC236}">
                      <a16:creationId xmlns:a16="http://schemas.microsoft.com/office/drawing/2014/main" id="{7A6D711D-A31F-F956-C706-82BBADDF334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349340"/>
                  <a:ext cx="460376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35FC6848-702F-6CAC-2512-45E435EF9BB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380534"/>
                  <a:ext cx="52943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직선 연결선 35">
                  <a:extLst>
                    <a:ext uri="{FF2B5EF4-FFF2-40B4-BE49-F238E27FC236}">
                      <a16:creationId xmlns:a16="http://schemas.microsoft.com/office/drawing/2014/main" id="{24B94073-2B00-2851-DE3B-AE7148FAC53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411728"/>
                  <a:ext cx="572295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7" name="직선 연결선 36">
                  <a:extLst>
                    <a:ext uri="{FF2B5EF4-FFF2-40B4-BE49-F238E27FC236}">
                      <a16:creationId xmlns:a16="http://schemas.microsoft.com/office/drawing/2014/main" id="{D7875E5E-1336-754B-8891-307852597F6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442922"/>
                  <a:ext cx="591035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9178B2F7-DEF4-4449-9D53-5B2DE4FF5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474116"/>
                  <a:ext cx="572295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9" name="직선 연결선 38">
                  <a:extLst>
                    <a:ext uri="{FF2B5EF4-FFF2-40B4-BE49-F238E27FC236}">
                      <a16:creationId xmlns:a16="http://schemas.microsoft.com/office/drawing/2014/main" id="{095A2934-17D7-606B-03B2-957C03A2592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505310"/>
                  <a:ext cx="555626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BAF41B7F-FE25-88FD-B9EF-0AABF121B73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536504"/>
                  <a:ext cx="505620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직선 연결선 40">
                  <a:extLst>
                    <a:ext uri="{FF2B5EF4-FFF2-40B4-BE49-F238E27FC236}">
                      <a16:creationId xmlns:a16="http://schemas.microsoft.com/office/drawing/2014/main" id="{29161D53-BB39-10DF-2B10-F7067C1E28C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567698"/>
                  <a:ext cx="43418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1534ED07-0999-4B0B-D19C-A9EE3857E2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598892"/>
                  <a:ext cx="329407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직선 연결선 42">
                  <a:extLst>
                    <a:ext uri="{FF2B5EF4-FFF2-40B4-BE49-F238E27FC236}">
                      <a16:creationId xmlns:a16="http://schemas.microsoft.com/office/drawing/2014/main" id="{3FD3718B-D5EA-6231-5BE3-D46C99E6A32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630086"/>
                  <a:ext cx="222251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FABE03B9-9D1A-E2D9-1F56-FE0D5B031BD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661280"/>
                  <a:ext cx="127001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직선 연결선 44">
                  <a:extLst>
                    <a:ext uri="{FF2B5EF4-FFF2-40B4-BE49-F238E27FC236}">
                      <a16:creationId xmlns:a16="http://schemas.microsoft.com/office/drawing/2014/main" id="{2DAED5A2-AF25-8BAC-293F-35C6627C7D8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754862"/>
                  <a:ext cx="29370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440E4538-57F0-8712-440E-B0FD770246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193370"/>
                  <a:ext cx="41276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직선 연결선 47">
                  <a:extLst>
                    <a:ext uri="{FF2B5EF4-FFF2-40B4-BE49-F238E27FC236}">
                      <a16:creationId xmlns:a16="http://schemas.microsoft.com/office/drawing/2014/main" id="{852C6F8F-AC97-368B-BB14-F7D6728549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723668"/>
                  <a:ext cx="53182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9" name="직선 연결선 48">
                  <a:extLst>
                    <a:ext uri="{FF2B5EF4-FFF2-40B4-BE49-F238E27FC236}">
                      <a16:creationId xmlns:a16="http://schemas.microsoft.com/office/drawing/2014/main" id="{12245D47-19D6-711B-729F-4A6C11BAE8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162176"/>
                  <a:ext cx="29370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직선 연결선 49">
                  <a:extLst>
                    <a:ext uri="{FF2B5EF4-FFF2-40B4-BE49-F238E27FC236}">
                      <a16:creationId xmlns:a16="http://schemas.microsoft.com/office/drawing/2014/main" id="{07628655-7851-7A78-7A6E-492066CA401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63599" y="2692474"/>
                  <a:ext cx="84139" cy="0"/>
                </a:xfrm>
                <a:prstGeom prst="line">
                  <a:avLst/>
                </a:prstGeom>
                <a:ln>
                  <a:solidFill>
                    <a:schemeClr val="bg1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13" name="자유형: 도형 12">
                <a:extLst>
                  <a:ext uri="{FF2B5EF4-FFF2-40B4-BE49-F238E27FC236}">
                    <a16:creationId xmlns:a16="http://schemas.microsoft.com/office/drawing/2014/main" id="{A09E4102-67E3-FFA6-7670-27F79646A6E7}"/>
                  </a:ext>
                </a:extLst>
              </p:cNvPr>
              <p:cNvSpPr/>
              <p:nvPr/>
            </p:nvSpPr>
            <p:spPr>
              <a:xfrm>
                <a:off x="863600" y="2063750"/>
                <a:ext cx="591034" cy="793750"/>
              </a:xfrm>
              <a:custGeom>
                <a:avLst/>
                <a:gdLst>
                  <a:gd name="csX0" fmla="*/ 0 w 591034"/>
                  <a:gd name="csY0" fmla="*/ 0 h 793750"/>
                  <a:gd name="csX1" fmla="*/ 57150 w 591034"/>
                  <a:gd name="csY1" fmla="*/ 152400 h 793750"/>
                  <a:gd name="csX2" fmla="*/ 190500 w 591034"/>
                  <a:gd name="csY2" fmla="*/ 215900 h 793750"/>
                  <a:gd name="csX3" fmla="*/ 444500 w 591034"/>
                  <a:gd name="csY3" fmla="*/ 279400 h 793750"/>
                  <a:gd name="csX4" fmla="*/ 590550 w 591034"/>
                  <a:gd name="csY4" fmla="*/ 368300 h 793750"/>
                  <a:gd name="csX5" fmla="*/ 476250 w 591034"/>
                  <a:gd name="csY5" fmla="*/ 488950 h 793750"/>
                  <a:gd name="csX6" fmla="*/ 101600 w 591034"/>
                  <a:gd name="csY6" fmla="*/ 609600 h 793750"/>
                  <a:gd name="csX7" fmla="*/ 0 w 591034"/>
                  <a:gd name="csY7" fmla="*/ 793750 h 7937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591034" h="793750">
                    <a:moveTo>
                      <a:pt x="0" y="0"/>
                    </a:moveTo>
                    <a:cubicBezTo>
                      <a:pt x="12700" y="58208"/>
                      <a:pt x="25400" y="116417"/>
                      <a:pt x="57150" y="152400"/>
                    </a:cubicBezTo>
                    <a:cubicBezTo>
                      <a:pt x="88900" y="188383"/>
                      <a:pt x="125942" y="194733"/>
                      <a:pt x="190500" y="215900"/>
                    </a:cubicBezTo>
                    <a:cubicBezTo>
                      <a:pt x="255058" y="237067"/>
                      <a:pt x="377825" y="254000"/>
                      <a:pt x="444500" y="279400"/>
                    </a:cubicBezTo>
                    <a:cubicBezTo>
                      <a:pt x="511175" y="304800"/>
                      <a:pt x="585258" y="333375"/>
                      <a:pt x="590550" y="368300"/>
                    </a:cubicBezTo>
                    <a:cubicBezTo>
                      <a:pt x="595842" y="403225"/>
                      <a:pt x="557742" y="448733"/>
                      <a:pt x="476250" y="488950"/>
                    </a:cubicBezTo>
                    <a:cubicBezTo>
                      <a:pt x="394758" y="529167"/>
                      <a:pt x="180975" y="558800"/>
                      <a:pt x="101600" y="609600"/>
                    </a:cubicBezTo>
                    <a:cubicBezTo>
                      <a:pt x="22225" y="660400"/>
                      <a:pt x="11112" y="727075"/>
                      <a:pt x="0" y="793750"/>
                    </a:cubicBezTo>
                  </a:path>
                </a:pathLst>
              </a:custGeom>
              <a:noFill/>
            </p:spPr>
            <p:style>
              <a:lnRef idx="2">
                <a:schemeClr val="accent1">
                  <a:shade val="2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2FA3BC94-8057-FE33-2832-179B21436B1A}"/>
                </a:ext>
              </a:extLst>
            </p:cNvPr>
            <p:cNvSpPr txBox="1"/>
            <p:nvPr/>
          </p:nvSpPr>
          <p:spPr>
            <a:xfrm>
              <a:off x="3320944" y="1448996"/>
              <a:ext cx="4171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2000" baseline="-25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c</a:t>
              </a:r>
              <a:endParaRPr lang="ko-KR" altLang="en-US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72681039-93E0-58E7-A2B2-5747BB99045E}"/>
                </a:ext>
              </a:extLst>
            </p:cNvPr>
            <p:cNvSpPr txBox="1"/>
            <p:nvPr/>
          </p:nvSpPr>
          <p:spPr>
            <a:xfrm rot="5400000">
              <a:off x="577297" y="2689344"/>
              <a:ext cx="13341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Trap depth [eV]</a:t>
              </a:r>
              <a:endParaRPr lang="ko-KR" altLang="en-US" sz="14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C11ADEC1-213C-70A2-3E05-201743D66488}"/>
                </a:ext>
              </a:extLst>
            </p:cNvPr>
            <p:cNvSpPr txBox="1"/>
            <p:nvPr/>
          </p:nvSpPr>
          <p:spPr>
            <a:xfrm>
              <a:off x="2289244" y="1965125"/>
              <a:ext cx="14863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Shallow trap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48CE3A1-EAAC-682F-E02C-4DD26F7F9EB7}"/>
                </a:ext>
              </a:extLst>
            </p:cNvPr>
            <p:cNvSpPr txBox="1"/>
            <p:nvPr/>
          </p:nvSpPr>
          <p:spPr>
            <a:xfrm>
              <a:off x="2478768" y="3114676"/>
              <a:ext cx="11881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Deep trap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  <p:grpSp>
        <p:nvGrpSpPr>
          <p:cNvPr id="172" name="그룹 171">
            <a:extLst>
              <a:ext uri="{FF2B5EF4-FFF2-40B4-BE49-F238E27FC236}">
                <a16:creationId xmlns:a16="http://schemas.microsoft.com/office/drawing/2014/main" id="{B073E2A4-B934-F487-4B88-93137B1F2C2E}"/>
              </a:ext>
            </a:extLst>
          </p:cNvPr>
          <p:cNvGrpSpPr/>
          <p:nvPr/>
        </p:nvGrpSpPr>
        <p:grpSpPr>
          <a:xfrm>
            <a:off x="5015985" y="1293830"/>
            <a:ext cx="2810534" cy="2123651"/>
            <a:chOff x="5491032" y="1448996"/>
            <a:chExt cx="2810534" cy="2123651"/>
          </a:xfrm>
        </p:grpSpPr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7BE8EDB7-F308-6511-4DDD-E850B60ABB65}"/>
                </a:ext>
              </a:extLst>
            </p:cNvPr>
            <p:cNvCxnSpPr>
              <a:cxnSpLocks/>
            </p:cNvCxnSpPr>
            <p:nvPr/>
          </p:nvCxnSpPr>
          <p:spPr>
            <a:xfrm>
              <a:off x="5556250" y="1824099"/>
              <a:ext cx="254635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7" name="자유형: 도형 106">
              <a:extLst>
                <a:ext uri="{FF2B5EF4-FFF2-40B4-BE49-F238E27FC236}">
                  <a16:creationId xmlns:a16="http://schemas.microsoft.com/office/drawing/2014/main" id="{D29D6C5A-37FF-9A0F-0113-F0C7DD6A3698}"/>
                </a:ext>
              </a:extLst>
            </p:cNvPr>
            <p:cNvSpPr/>
            <p:nvPr/>
          </p:nvSpPr>
          <p:spPr>
            <a:xfrm>
              <a:off x="5803899" y="2828987"/>
              <a:ext cx="1993901" cy="474661"/>
            </a:xfrm>
            <a:custGeom>
              <a:avLst/>
              <a:gdLst>
                <a:gd name="csX0" fmla="*/ 0 w 591034"/>
                <a:gd name="csY0" fmla="*/ 0 h 793750"/>
                <a:gd name="csX1" fmla="*/ 57150 w 591034"/>
                <a:gd name="csY1" fmla="*/ 152400 h 793750"/>
                <a:gd name="csX2" fmla="*/ 190500 w 591034"/>
                <a:gd name="csY2" fmla="*/ 215900 h 793750"/>
                <a:gd name="csX3" fmla="*/ 444500 w 591034"/>
                <a:gd name="csY3" fmla="*/ 279400 h 793750"/>
                <a:gd name="csX4" fmla="*/ 590550 w 591034"/>
                <a:gd name="csY4" fmla="*/ 368300 h 793750"/>
                <a:gd name="csX5" fmla="*/ 476250 w 591034"/>
                <a:gd name="csY5" fmla="*/ 488950 h 793750"/>
                <a:gd name="csX6" fmla="*/ 101600 w 591034"/>
                <a:gd name="csY6" fmla="*/ 609600 h 793750"/>
                <a:gd name="csX7" fmla="*/ 0 w 591034"/>
                <a:gd name="csY7" fmla="*/ 793750 h 793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91034" h="793750">
                  <a:moveTo>
                    <a:pt x="0" y="0"/>
                  </a:moveTo>
                  <a:cubicBezTo>
                    <a:pt x="12700" y="58208"/>
                    <a:pt x="25400" y="116417"/>
                    <a:pt x="57150" y="152400"/>
                  </a:cubicBezTo>
                  <a:cubicBezTo>
                    <a:pt x="88900" y="188383"/>
                    <a:pt x="125942" y="194733"/>
                    <a:pt x="190500" y="215900"/>
                  </a:cubicBezTo>
                  <a:cubicBezTo>
                    <a:pt x="255058" y="237067"/>
                    <a:pt x="377825" y="254000"/>
                    <a:pt x="444500" y="279400"/>
                  </a:cubicBezTo>
                  <a:cubicBezTo>
                    <a:pt x="511175" y="304800"/>
                    <a:pt x="585258" y="333375"/>
                    <a:pt x="590550" y="368300"/>
                  </a:cubicBezTo>
                  <a:cubicBezTo>
                    <a:pt x="595842" y="403225"/>
                    <a:pt x="557742" y="448733"/>
                    <a:pt x="476250" y="488950"/>
                  </a:cubicBezTo>
                  <a:cubicBezTo>
                    <a:pt x="394758" y="529167"/>
                    <a:pt x="180975" y="558800"/>
                    <a:pt x="101600" y="609600"/>
                  </a:cubicBezTo>
                  <a:cubicBezTo>
                    <a:pt x="22225" y="660400"/>
                    <a:pt x="11112" y="727075"/>
                    <a:pt x="0" y="79375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22" name="직선 화살표 연결선 121">
              <a:extLst>
                <a:ext uri="{FF2B5EF4-FFF2-40B4-BE49-F238E27FC236}">
                  <a16:creationId xmlns:a16="http://schemas.microsoft.com/office/drawing/2014/main" id="{14E5EDA3-34E6-F09B-7C30-A7F9B6683C41}"/>
                </a:ext>
              </a:extLst>
            </p:cNvPr>
            <p:cNvCxnSpPr>
              <a:cxnSpLocks/>
            </p:cNvCxnSpPr>
            <p:nvPr/>
          </p:nvCxnSpPr>
          <p:spPr>
            <a:xfrm>
              <a:off x="5803900" y="1551049"/>
              <a:ext cx="0" cy="202159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5" name="자유형: 도형 124">
              <a:extLst>
                <a:ext uri="{FF2B5EF4-FFF2-40B4-BE49-F238E27FC236}">
                  <a16:creationId xmlns:a16="http://schemas.microsoft.com/office/drawing/2014/main" id="{B5270FBE-1A7D-E97F-5BB5-DB69BB5B578D}"/>
                </a:ext>
              </a:extLst>
            </p:cNvPr>
            <p:cNvSpPr/>
            <p:nvPr/>
          </p:nvSpPr>
          <p:spPr>
            <a:xfrm>
              <a:off x="5803900" y="1824099"/>
              <a:ext cx="800100" cy="793750"/>
            </a:xfrm>
            <a:custGeom>
              <a:avLst/>
              <a:gdLst>
                <a:gd name="csX0" fmla="*/ 0 w 591034"/>
                <a:gd name="csY0" fmla="*/ 0 h 793750"/>
                <a:gd name="csX1" fmla="*/ 57150 w 591034"/>
                <a:gd name="csY1" fmla="*/ 152400 h 793750"/>
                <a:gd name="csX2" fmla="*/ 190500 w 591034"/>
                <a:gd name="csY2" fmla="*/ 215900 h 793750"/>
                <a:gd name="csX3" fmla="*/ 444500 w 591034"/>
                <a:gd name="csY3" fmla="*/ 279400 h 793750"/>
                <a:gd name="csX4" fmla="*/ 590550 w 591034"/>
                <a:gd name="csY4" fmla="*/ 368300 h 793750"/>
                <a:gd name="csX5" fmla="*/ 476250 w 591034"/>
                <a:gd name="csY5" fmla="*/ 488950 h 793750"/>
                <a:gd name="csX6" fmla="*/ 101600 w 591034"/>
                <a:gd name="csY6" fmla="*/ 609600 h 793750"/>
                <a:gd name="csX7" fmla="*/ 0 w 591034"/>
                <a:gd name="csY7" fmla="*/ 793750 h 7937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91034" h="793750">
                  <a:moveTo>
                    <a:pt x="0" y="0"/>
                  </a:moveTo>
                  <a:cubicBezTo>
                    <a:pt x="12700" y="58208"/>
                    <a:pt x="25400" y="116417"/>
                    <a:pt x="57150" y="152400"/>
                  </a:cubicBezTo>
                  <a:cubicBezTo>
                    <a:pt x="88900" y="188383"/>
                    <a:pt x="125942" y="194733"/>
                    <a:pt x="190500" y="215900"/>
                  </a:cubicBezTo>
                  <a:cubicBezTo>
                    <a:pt x="255058" y="237067"/>
                    <a:pt x="377825" y="254000"/>
                    <a:pt x="444500" y="279400"/>
                  </a:cubicBezTo>
                  <a:cubicBezTo>
                    <a:pt x="511175" y="304800"/>
                    <a:pt x="585258" y="333375"/>
                    <a:pt x="590550" y="368300"/>
                  </a:cubicBezTo>
                  <a:cubicBezTo>
                    <a:pt x="595842" y="403225"/>
                    <a:pt x="557742" y="448733"/>
                    <a:pt x="476250" y="488950"/>
                  </a:cubicBezTo>
                  <a:cubicBezTo>
                    <a:pt x="394758" y="529167"/>
                    <a:pt x="180975" y="558800"/>
                    <a:pt x="101600" y="609600"/>
                  </a:cubicBezTo>
                  <a:cubicBezTo>
                    <a:pt x="22225" y="660400"/>
                    <a:pt x="11112" y="727075"/>
                    <a:pt x="0" y="793750"/>
                  </a:cubicBezTo>
                </a:path>
              </a:pathLst>
            </a:custGeom>
            <a:noFill/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48" name="직선 화살표 연결선 147">
              <a:extLst>
                <a:ext uri="{FF2B5EF4-FFF2-40B4-BE49-F238E27FC236}">
                  <a16:creationId xmlns:a16="http://schemas.microsoft.com/office/drawing/2014/main" id="{A8654D60-C679-C286-6F8D-D9AB10ACC7D6}"/>
                </a:ext>
              </a:extLst>
            </p:cNvPr>
            <p:cNvCxnSpPr>
              <a:cxnSpLocks/>
            </p:cNvCxnSpPr>
            <p:nvPr/>
          </p:nvCxnSpPr>
          <p:spPr>
            <a:xfrm>
              <a:off x="5803898" y="3053992"/>
              <a:ext cx="199226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직선 화살표 연결선 149">
              <a:extLst>
                <a:ext uri="{FF2B5EF4-FFF2-40B4-BE49-F238E27FC236}">
                  <a16:creationId xmlns:a16="http://schemas.microsoft.com/office/drawing/2014/main" id="{5B2A2805-D553-1B54-4847-A576D33C02F2}"/>
                </a:ext>
              </a:extLst>
            </p:cNvPr>
            <p:cNvCxnSpPr>
              <a:cxnSpLocks/>
              <a:endCxn id="125" idx="4"/>
            </p:cNvCxnSpPr>
            <p:nvPr/>
          </p:nvCxnSpPr>
          <p:spPr>
            <a:xfrm>
              <a:off x="5803898" y="2191981"/>
              <a:ext cx="799447" cy="418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2" name="직선 화살표 연결선 151">
              <a:extLst>
                <a:ext uri="{FF2B5EF4-FFF2-40B4-BE49-F238E27FC236}">
                  <a16:creationId xmlns:a16="http://schemas.microsoft.com/office/drawing/2014/main" id="{F3FEBF86-EA75-8B63-FD0B-360036E78D6A}"/>
                </a:ext>
              </a:extLst>
            </p:cNvPr>
            <p:cNvCxnSpPr>
              <a:cxnSpLocks/>
            </p:cNvCxnSpPr>
            <p:nvPr/>
          </p:nvCxnSpPr>
          <p:spPr>
            <a:xfrm>
              <a:off x="5803898" y="2042759"/>
              <a:ext cx="273052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직선 화살표 연결선 153">
              <a:extLst>
                <a:ext uri="{FF2B5EF4-FFF2-40B4-BE49-F238E27FC236}">
                  <a16:creationId xmlns:a16="http://schemas.microsoft.com/office/drawing/2014/main" id="{3337E6F1-01BB-A205-D239-47DB80EC81B2}"/>
                </a:ext>
              </a:extLst>
            </p:cNvPr>
            <p:cNvCxnSpPr>
              <a:cxnSpLocks/>
            </p:cNvCxnSpPr>
            <p:nvPr/>
          </p:nvCxnSpPr>
          <p:spPr>
            <a:xfrm>
              <a:off x="5803898" y="2397403"/>
              <a:ext cx="273052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0FB0FA4C-D8DB-13EE-C480-0A06694168E2}"/>
                </a:ext>
              </a:extLst>
            </p:cNvPr>
            <p:cNvSpPr txBox="1"/>
            <p:nvPr/>
          </p:nvSpPr>
          <p:spPr>
            <a:xfrm>
              <a:off x="7779749" y="1448996"/>
              <a:ext cx="417102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E</a:t>
              </a:r>
              <a:r>
                <a:rPr lang="en-US" altLang="ko-KR" sz="2000" baseline="-25000" dirty="0" err="1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c</a:t>
              </a:r>
              <a:endParaRPr lang="ko-KR" altLang="en-US" sz="20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11BD5ED-B49C-427D-4581-912776872791}"/>
                </a:ext>
              </a:extLst>
            </p:cNvPr>
            <p:cNvSpPr txBox="1"/>
            <p:nvPr/>
          </p:nvSpPr>
          <p:spPr>
            <a:xfrm rot="5400000">
              <a:off x="4977847" y="2622875"/>
              <a:ext cx="133414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Trap depth [eV]</a:t>
              </a:r>
              <a:endParaRPr lang="ko-KR" altLang="en-US" sz="1400" baseline="-25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BB1639C2-6FA8-128C-15FD-9D6C344407B5}"/>
                </a:ext>
              </a:extLst>
            </p:cNvPr>
            <p:cNvSpPr txBox="1"/>
            <p:nvPr/>
          </p:nvSpPr>
          <p:spPr>
            <a:xfrm>
              <a:off x="6815262" y="1965125"/>
              <a:ext cx="148630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Shallow trap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  <p:sp>
          <p:nvSpPr>
            <p:cNvPr id="164" name="TextBox 163">
              <a:extLst>
                <a:ext uri="{FF2B5EF4-FFF2-40B4-BE49-F238E27FC236}">
                  <a16:creationId xmlns:a16="http://schemas.microsoft.com/office/drawing/2014/main" id="{18985A4A-9927-F8EA-A2BB-A68E03AF654C}"/>
                </a:ext>
              </a:extLst>
            </p:cNvPr>
            <p:cNvSpPr txBox="1"/>
            <p:nvPr/>
          </p:nvSpPr>
          <p:spPr>
            <a:xfrm>
              <a:off x="7004786" y="3114676"/>
              <a:ext cx="118814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000" dirty="0">
                  <a:ln w="9525">
                    <a:solidFill>
                      <a:schemeClr val="tx1">
                        <a:alpha val="29000"/>
                      </a:schemeClr>
                    </a:solidFill>
                  </a:ln>
                  <a:latin typeface="Times New Roman"/>
                  <a:ea typeface="맑은 고딕"/>
                  <a:cs typeface="Times New Roman"/>
                </a:rPr>
                <a:t>Deep trap</a:t>
              </a:r>
              <a:endPara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endParaRPr>
            </a:p>
          </p:txBody>
        </p:sp>
      </p:grpSp>
      <p:sp>
        <p:nvSpPr>
          <p:cNvPr id="167" name="TextBox 166">
            <a:extLst>
              <a:ext uri="{FF2B5EF4-FFF2-40B4-BE49-F238E27FC236}">
                <a16:creationId xmlns:a16="http://schemas.microsoft.com/office/drawing/2014/main" id="{7181B09D-7582-DF32-9401-C752B4AA66E3}"/>
              </a:ext>
            </a:extLst>
          </p:cNvPr>
          <p:cNvSpPr txBox="1"/>
          <p:nvPr/>
        </p:nvSpPr>
        <p:spPr>
          <a:xfrm>
            <a:off x="715613" y="4204881"/>
            <a:ext cx="368141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Original runtime: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3.926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[s]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Simplified runtime: 0.148 [s]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&gt;&gt; Speed up 26.52x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간소화된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#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만큼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그대로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runtime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감소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863A463B-35A6-6446-FD4E-711C2073DEDD}"/>
              </a:ext>
            </a:extLst>
          </p:cNvPr>
          <p:cNvSpPr txBox="1"/>
          <p:nvPr/>
        </p:nvSpPr>
        <p:spPr>
          <a:xfrm>
            <a:off x="105280" y="3570818"/>
            <a:ext cx="42917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기준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Runtime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및 그래프 비교</a:t>
            </a:r>
          </a:p>
        </p:txBody>
      </p:sp>
      <p:graphicFrame>
        <p:nvGraphicFramePr>
          <p:cNvPr id="170" name="개체 169">
            <a:extLst>
              <a:ext uri="{FF2B5EF4-FFF2-40B4-BE49-F238E27FC236}">
                <a16:creationId xmlns:a16="http://schemas.microsoft.com/office/drawing/2014/main" id="{09024B1A-A11A-7ECC-F270-A66FD8244A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95539572"/>
              </p:ext>
            </p:extLst>
          </p:nvPr>
        </p:nvGraphicFramePr>
        <p:xfrm>
          <a:off x="4671749" y="3584624"/>
          <a:ext cx="4291752" cy="301605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Graph" r:id="rId2" imgW="4721592" imgH="3317966" progId="Origin50.Graph">
                  <p:embed/>
                </p:oleObj>
              </mc:Choice>
              <mc:Fallback>
                <p:oleObj name="Graph" r:id="rId2" imgW="4721592" imgH="3317966" progId="Origin50.Grap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4671749" y="3584624"/>
                        <a:ext cx="4291752" cy="301605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3" name="TextBox 172">
            <a:extLst>
              <a:ext uri="{FF2B5EF4-FFF2-40B4-BE49-F238E27FC236}">
                <a16:creationId xmlns:a16="http://schemas.microsoft.com/office/drawing/2014/main" id="{DA7B9779-9B64-AE0E-45CB-C5A2DC65FBE7}"/>
              </a:ext>
            </a:extLst>
          </p:cNvPr>
          <p:cNvSpPr txBox="1"/>
          <p:nvPr/>
        </p:nvSpPr>
        <p:spPr>
          <a:xfrm>
            <a:off x="3362601" y="2260117"/>
            <a:ext cx="1165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#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 100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C265E86F-2B2C-4248-1209-4C516A3E300C}"/>
              </a:ext>
            </a:extLst>
          </p:cNvPr>
          <p:cNvSpPr txBox="1"/>
          <p:nvPr/>
        </p:nvSpPr>
        <p:spPr>
          <a:xfrm>
            <a:off x="7826519" y="2292268"/>
            <a:ext cx="116570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 #</a:t>
            </a:r>
          </a:p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= 4~6</a:t>
            </a:r>
            <a:endParaRPr lang="ko-KR" altLang="en-US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23944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EA5D5B-DFAF-EC00-BB27-B7038E75E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Summary and Future Works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F87DAE-5004-3A5D-5530-833BD49E1D52}"/>
              </a:ext>
            </a:extLst>
          </p:cNvPr>
          <p:cNvSpPr txBox="1"/>
          <p:nvPr/>
        </p:nvSpPr>
        <p:spPr>
          <a:xfrm>
            <a:off x="679450" y="1074509"/>
            <a:ext cx="7957842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Summary</a:t>
            </a:r>
          </a:p>
          <a:p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BETOX trap-to-band tunneling emission rate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모델링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model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기반으로 측정치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alignment</a:t>
            </a: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CTN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전자 임의 분포에 대한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ΔV</a:t>
            </a:r>
            <a:r>
              <a:rPr lang="en-US" altLang="ko-KR" sz="2000" baseline="-25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th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계산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framework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구축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Closed-form autonomous ODE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기반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time-step-free retention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모델 제안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NMP emission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반영하여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various temperature </a:t>
            </a:r>
            <a:r>
              <a:rPr lang="en-US" altLang="ko-KR" sz="2000" dirty="0" err="1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detrapping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Cryogenic-like TCAD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검증 및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~7000x 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시뮬레이션 시간 단축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  <a:p>
            <a:pPr marL="342900" indent="-342900">
              <a:buFontTx/>
              <a:buChar char="-"/>
            </a:pP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Trap bin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을 제한하여 약 </a:t>
            </a:r>
            <a:r>
              <a:rPr lang="en-US" altLang="ko-KR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20</a:t>
            </a:r>
            <a:r>
              <a:rPr lang="ko-KR" altLang="en-US" sz="2000" dirty="0">
                <a:ln w="9525">
                  <a:solidFill>
                    <a:schemeClr val="tx1">
                      <a:alpha val="29000"/>
                    </a:schemeClr>
                  </a:solidFill>
                </a:ln>
                <a:latin typeface="Times New Roman"/>
                <a:ea typeface="맑은 고딕"/>
                <a:cs typeface="Times New Roman"/>
              </a:rPr>
              <a:t>배 가량 모델 경량화 가능함을 확인</a:t>
            </a:r>
            <a:endParaRPr lang="en-US" altLang="ko-KR" sz="2000" dirty="0">
              <a:ln w="9525">
                <a:solidFill>
                  <a:schemeClr val="tx1">
                    <a:alpha val="29000"/>
                  </a:schemeClr>
                </a:solidFill>
              </a:ln>
              <a:latin typeface="Times New Roman"/>
              <a:ea typeface="맑은 고딕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466849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F55314-3AEF-58D7-08A5-E0BCA0615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성적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768A32D-B320-5AB3-2FE1-56293AA36C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51436"/>
            <a:ext cx="7496270" cy="53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965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accent1">
            <a:shade val="2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 smtClean="0">
            <a:ln w="9525">
              <a:solidFill>
                <a:schemeClr val="tx1">
                  <a:alpha val="29000"/>
                </a:schemeClr>
              </a:solidFill>
            </a:ln>
            <a:latin typeface="Times New Roman"/>
            <a:ea typeface="맑은 고딕"/>
            <a:cs typeface="Times New Roman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9561</TotalTime>
  <Words>1587</Words>
  <Application>Microsoft Office PowerPoint</Application>
  <PresentationFormat>화면 슬라이드 쇼(4:3)</PresentationFormat>
  <Paragraphs>364</Paragraphs>
  <Slides>23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3" baseType="lpstr">
      <vt:lpstr>Noto Sans CJK KR</vt:lpstr>
      <vt:lpstr>맑은 고딕</vt:lpstr>
      <vt:lpstr>Arial</vt:lpstr>
      <vt:lpstr>Calibri</vt:lpstr>
      <vt:lpstr>Cambria Math</vt:lpstr>
      <vt:lpstr>Symbol</vt:lpstr>
      <vt:lpstr>Times New Roman</vt:lpstr>
      <vt:lpstr>Wingdings</vt:lpstr>
      <vt:lpstr>Office 테마</vt:lpstr>
      <vt:lpstr>Graph</vt:lpstr>
      <vt:lpstr>Physics-based Modeling and Efficient Computational Frameworks of Detrapping in 3-D NAND Flash </vt:lpstr>
      <vt:lpstr>인품 및 태도</vt:lpstr>
      <vt:lpstr>Content</vt:lpstr>
      <vt:lpstr>Introduction</vt:lpstr>
      <vt:lpstr>BETOX Trapped Electron Detrapping Modeling</vt:lpstr>
      <vt:lpstr>Alignment with Previous Studies</vt:lpstr>
      <vt:lpstr>Alignment with Previous Studies</vt:lpstr>
      <vt:lpstr>Visualization of Charge Node Analysis</vt:lpstr>
      <vt:lpstr>Detailed Poisson Solution</vt:lpstr>
      <vt:lpstr>Q-ΔVth Optimized Calculation</vt:lpstr>
      <vt:lpstr>Time-step-free Physics-based Modeling</vt:lpstr>
      <vt:lpstr>Time-step-free Physics-based Modeling</vt:lpstr>
      <vt:lpstr>Time-step-free Physics-based Modeling</vt:lpstr>
      <vt:lpstr>Time-step-free Physics-based Modeling</vt:lpstr>
      <vt:lpstr>Validation of Time-Step-Free Evaluation</vt:lpstr>
      <vt:lpstr>Cryogenic-like Emulation</vt:lpstr>
      <vt:lpstr>Detrapping in Various Temperature</vt:lpstr>
      <vt:lpstr>Detrapping in Various Temperature</vt:lpstr>
      <vt:lpstr>Detrapping in Various Temperature</vt:lpstr>
      <vt:lpstr>Computational Impact</vt:lpstr>
      <vt:lpstr>Simplified Compact Model</vt:lpstr>
      <vt:lpstr>Summary and Future Works</vt:lpstr>
      <vt:lpstr>성적</vt:lpstr>
    </vt:vector>
  </TitlesOfParts>
  <Manager/>
  <Company>Microsoft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</dc:creator>
  <cp:lastModifiedBy>Myung/Josh Jin</cp:lastModifiedBy>
  <cp:revision>1017</cp:revision>
  <dcterms:created xsi:type="dcterms:W3CDTF">2016-06-02T05:19:04Z</dcterms:created>
  <dcterms:modified xsi:type="dcterms:W3CDTF">2026-09-20T17:52:47Z</dcterms:modified>
  <cp:version/>
</cp:coreProperties>
</file>