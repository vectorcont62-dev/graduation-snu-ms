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5"/>
  </p:notesMasterIdLst>
  <p:sldIdLst>
    <p:sldId id="341" r:id="rId2"/>
    <p:sldId id="350" r:id="rId3"/>
    <p:sldId id="351" r:id="rId4"/>
    <p:sldId id="334" r:id="rId5"/>
    <p:sldId id="329" r:id="rId6"/>
    <p:sldId id="331" r:id="rId7"/>
    <p:sldId id="344" r:id="rId8"/>
    <p:sldId id="347" r:id="rId9"/>
    <p:sldId id="322" r:id="rId10"/>
    <p:sldId id="333" r:id="rId11"/>
    <p:sldId id="320" r:id="rId12"/>
    <p:sldId id="324" r:id="rId13"/>
    <p:sldId id="339" r:id="rId14"/>
    <p:sldId id="323" r:id="rId15"/>
    <p:sldId id="321" r:id="rId16"/>
    <p:sldId id="328" r:id="rId17"/>
    <p:sldId id="326" r:id="rId18"/>
    <p:sldId id="345" r:id="rId19"/>
    <p:sldId id="346" r:id="rId20"/>
    <p:sldId id="349" r:id="rId21"/>
    <p:sldId id="327" r:id="rId22"/>
    <p:sldId id="348" r:id="rId23"/>
    <p:sldId id="338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06" d="100"/>
          <a:sy n="106" d="100"/>
        </p:scale>
        <p:origin x="1512" y="90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emf"/><Relationship Id="rId4" Type="http://schemas.openxmlformats.org/officeDocument/2006/relationships/oleObject" Target="../embeddings/oleObject3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34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34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6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42.emf"/><Relationship Id="rId7" Type="http://schemas.openxmlformats.org/officeDocument/2006/relationships/image" Target="../media/image44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43.e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45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2026. 08. 31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8E0DC3-8292-1214-4A26-242A1DE7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인품 및 태도</a:t>
            </a:r>
          </a:p>
        </p:txBody>
      </p:sp>
    </p:spTree>
    <p:extLst>
      <p:ext uri="{BB962C8B-B14F-4D97-AF65-F5344CB8AC3E}">
        <p14:creationId xmlns:p14="http://schemas.microsoft.com/office/powerpoint/2010/main" val="107137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F55314-3AEF-58D7-08A5-E0BCA0615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68A32D-B320-5AB3-2FE1-56293AA36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51436"/>
            <a:ext cx="7496270" cy="53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9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506314" y="1536174"/>
            <a:ext cx="777644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390413"/>
              </p:ext>
            </p:extLst>
          </p:nvPr>
        </p:nvGraphicFramePr>
        <p:xfrm>
          <a:off x="548391" y="1459701"/>
          <a:ext cx="5767953" cy="40737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4" name="개체 3">
                        <a:extLst>
                          <a:ext uri="{FF2B5EF4-FFF2-40B4-BE49-F238E27FC236}">
                            <a16:creationId xmlns:a16="http://schemas.microsoft.com/office/drawing/2014/main" id="{80609AFF-CF88-69DC-BADA-D810DCF68E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8391" y="1459701"/>
                        <a:ext cx="5767953" cy="40737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490325" y="1046892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(Jo, TED 2023)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 비교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6316344" y="1865335"/>
            <a:ext cx="21802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 상황 구현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0V ~ -5V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 voltage sweep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64173-AAA5-CEEF-56CA-C643DDA3300B}"/>
              </a:ext>
            </a:extLst>
          </p:cNvPr>
          <p:cNvSpPr txBox="1"/>
          <p:nvPr/>
        </p:nvSpPr>
        <p:spPr>
          <a:xfrm>
            <a:off x="6316344" y="3856230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근거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</a:p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졸업논문 내용 중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period 20ms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55935-840F-9415-ADA8-61417C939764}"/>
              </a:ext>
            </a:extLst>
          </p:cNvPr>
          <p:cNvSpPr txBox="1"/>
          <p:nvPr/>
        </p:nvSpPr>
        <p:spPr>
          <a:xfrm>
            <a:off x="425450" y="5701402"/>
            <a:ext cx="80747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측정상황 최대한 모사하여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만으로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dependent region 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부분에 대한 설명 가능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C10CFE-7E33-4379-8F91-7139F71C259B}"/>
              </a:ext>
            </a:extLst>
          </p:cNvPr>
          <p:cNvSpPr txBox="1"/>
          <p:nvPr/>
        </p:nvSpPr>
        <p:spPr>
          <a:xfrm>
            <a:off x="7334250" y="945292"/>
            <a:ext cx="1648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(confidential)</a:t>
            </a:r>
            <a:endParaRPr lang="ko-KR" altLang="en-US" sz="2000" b="1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F3EC57-E921-CD90-BC00-4EFF77CA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8F818E2-FCCB-46C9-BAC2-AD0EB0F6FFA3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642A1AB-6018-B3B3-681D-D656F4C51869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27FFF83-B9E4-0D55-84E7-E0C038D47220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6076A88-2FC3-1407-DBBD-15782B8FF582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8A455E-4FCC-AF27-44B4-5E39B95E623A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B33FDE-C854-BA2C-95E0-8E5D9AB92557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7C3196-6719-9FCA-6111-1CA49A5D0EA7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6C531F-B4B8-6EE1-D108-6F3670E95BB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DDB7315-FE60-7E15-FDA1-F21409D0A7BF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50E224-C2F8-7E2B-534F-A86A505579DF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97D7D0D-8F1B-26B9-246F-6B02EFA32E2D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CDBE4D4-47C0-ED25-3F33-D345B2B68C97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C674CEB-BAF8-0DFD-7BEE-31D282266E86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1D2F53E-3E5E-9134-95C3-63C0D61CA77C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99B3113-8B87-1120-C548-EBBC5E454685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3F53AB3-6342-8AE9-83F1-ABF7398C76C0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56D6BFE-3BE7-D04C-ECDF-C0B69D15BDEB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03C34F59-B0FA-1016-C42F-4B5E7CBDE76C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342F1DE-21D9-9D13-4DC5-1194095F7330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B3F706A-DA02-59A6-0CF6-C9828974AC51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917C16E-2C06-ABE0-7F9B-1A2E2205654B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BD56A90-FC27-7880-3584-72575FDEE82D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BB7764-7293-5FC2-B622-54DE5D6D02C0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33FC56D-D630-49EC-66B6-43B839B17BF6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775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87658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188258" y="4475657"/>
            <a:ext cx="89557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지남에 따라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증가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negative feedback &gt;&gt;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전자가 빠진 이후에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영향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3D0C25ED-410E-A464-2C83-F475159E43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8879"/>
          <a:stretch>
            <a:fillRect/>
          </a:stretch>
        </p:blipFill>
        <p:spPr>
          <a:xfrm>
            <a:off x="4968633" y="1104799"/>
            <a:ext cx="3421610" cy="222289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B448BA-4260-CB84-89A7-9396E12A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5"/>
          <a:stretch>
            <a:fillRect/>
          </a:stretch>
        </p:blipFill>
        <p:spPr>
          <a:xfrm>
            <a:off x="421797" y="1298127"/>
            <a:ext cx="4474053" cy="2204491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2FCA1AF-DDCF-5D45-8778-ED60C1D56F79}"/>
              </a:ext>
            </a:extLst>
          </p:cNvPr>
          <p:cNvCxnSpPr>
            <a:cxnSpLocks/>
          </p:cNvCxnSpPr>
          <p:nvPr/>
        </p:nvCxnSpPr>
        <p:spPr>
          <a:xfrm>
            <a:off x="1231900" y="1871780"/>
            <a:ext cx="0" cy="10988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8313DEC-8AB0-8EE3-CB67-7AFF82A06E2B}"/>
              </a:ext>
            </a:extLst>
          </p:cNvPr>
          <p:cNvCxnSpPr>
            <a:cxnSpLocks/>
          </p:cNvCxnSpPr>
          <p:nvPr/>
        </p:nvCxnSpPr>
        <p:spPr>
          <a:xfrm>
            <a:off x="2730500" y="1795580"/>
            <a:ext cx="0" cy="11750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47A6DFD-47B3-1AA1-819D-2DDB0BF5E2FE}"/>
              </a:ext>
            </a:extLst>
          </p:cNvPr>
          <p:cNvCxnSpPr>
            <a:cxnSpLocks/>
          </p:cNvCxnSpPr>
          <p:nvPr/>
        </p:nvCxnSpPr>
        <p:spPr>
          <a:xfrm>
            <a:off x="1981198" y="1830505"/>
            <a:ext cx="0" cy="114015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4ED836D-6124-94A0-8986-DDC24CC0BCFB}"/>
              </a:ext>
            </a:extLst>
          </p:cNvPr>
          <p:cNvCxnSpPr>
            <a:cxnSpLocks/>
          </p:cNvCxnSpPr>
          <p:nvPr/>
        </p:nvCxnSpPr>
        <p:spPr>
          <a:xfrm>
            <a:off x="1731432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F9BC1CD3-CC55-B584-6AD0-4272D011ACFF}"/>
              </a:ext>
            </a:extLst>
          </p:cNvPr>
          <p:cNvCxnSpPr>
            <a:cxnSpLocks/>
          </p:cNvCxnSpPr>
          <p:nvPr/>
        </p:nvCxnSpPr>
        <p:spPr>
          <a:xfrm>
            <a:off x="1481666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E6B8D4C-E895-7BA5-5E0A-B6E13CA85572}"/>
              </a:ext>
            </a:extLst>
          </p:cNvPr>
          <p:cNvCxnSpPr>
            <a:cxnSpLocks/>
          </p:cNvCxnSpPr>
          <p:nvPr/>
        </p:nvCxnSpPr>
        <p:spPr>
          <a:xfrm>
            <a:off x="2480730" y="1823361"/>
            <a:ext cx="0" cy="114729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183EDA8-85BC-E66C-5288-E97EB33E423B}"/>
              </a:ext>
            </a:extLst>
          </p:cNvPr>
          <p:cNvCxnSpPr>
            <a:cxnSpLocks/>
          </p:cNvCxnSpPr>
          <p:nvPr/>
        </p:nvCxnSpPr>
        <p:spPr>
          <a:xfrm>
            <a:off x="2230964" y="1835268"/>
            <a:ext cx="0" cy="113539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C241539E-779E-1500-4EA7-04C8797CB6DD}"/>
              </a:ext>
            </a:extLst>
          </p:cNvPr>
          <p:cNvCxnSpPr>
            <a:cxnSpLocks/>
          </p:cNvCxnSpPr>
          <p:nvPr/>
        </p:nvCxnSpPr>
        <p:spPr>
          <a:xfrm>
            <a:off x="234950" y="2575518"/>
            <a:ext cx="2495550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919C873-9995-60C8-5A95-9BB4E69E8CEA}"/>
              </a:ext>
            </a:extLst>
          </p:cNvPr>
          <p:cNvSpPr txBox="1"/>
          <p:nvPr/>
        </p:nvSpPr>
        <p:spPr>
          <a:xfrm>
            <a:off x="-64" y="3468187"/>
            <a:ext cx="10679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|TC|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감소량</a:t>
            </a:r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최종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003D96-646F-7F7C-F198-20607C76B9E6}"/>
              </a:ext>
            </a:extLst>
          </p:cNvPr>
          <p:cNvSpPr txBox="1"/>
          <p:nvPr/>
        </p:nvSpPr>
        <p:spPr>
          <a:xfrm>
            <a:off x="1682416" y="1211138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 nm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81A5BB-6477-A86C-A00E-2828511AC637}"/>
              </a:ext>
            </a:extLst>
          </p:cNvPr>
          <p:cNvSpPr txBox="1"/>
          <p:nvPr/>
        </p:nvSpPr>
        <p:spPr>
          <a:xfrm>
            <a:off x="1370353" y="1526843"/>
            <a:ext cx="4700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 nm</a:t>
            </a:r>
            <a:endParaRPr lang="ko-KR" altLang="en-US" sz="11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4693F00-E54C-B225-5802-7C19805BF376}"/>
              </a:ext>
            </a:extLst>
          </p:cNvPr>
          <p:cNvCxnSpPr>
            <a:cxnSpLocks/>
          </p:cNvCxnSpPr>
          <p:nvPr/>
        </p:nvCxnSpPr>
        <p:spPr>
          <a:xfrm>
            <a:off x="1231900" y="2970659"/>
            <a:ext cx="79304" cy="50944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39A550C-6808-30C9-4F4A-1671579D2A12}"/>
              </a:ext>
            </a:extLst>
          </p:cNvPr>
          <p:cNvCxnSpPr>
            <a:cxnSpLocks/>
          </p:cNvCxnSpPr>
          <p:nvPr/>
        </p:nvCxnSpPr>
        <p:spPr>
          <a:xfrm>
            <a:off x="1481380" y="2970659"/>
            <a:ext cx="300956" cy="49745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60F916B-48B7-1C01-3483-1E359FDE7C42}"/>
              </a:ext>
            </a:extLst>
          </p:cNvPr>
          <p:cNvCxnSpPr>
            <a:cxnSpLocks/>
          </p:cNvCxnSpPr>
          <p:nvPr/>
        </p:nvCxnSpPr>
        <p:spPr>
          <a:xfrm>
            <a:off x="1730860" y="2970659"/>
            <a:ext cx="624271" cy="50488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09A899E-2CDA-163D-AF26-0E0637B71CE7}"/>
              </a:ext>
            </a:extLst>
          </p:cNvPr>
          <p:cNvCxnSpPr>
            <a:cxnSpLocks/>
          </p:cNvCxnSpPr>
          <p:nvPr/>
        </p:nvCxnSpPr>
        <p:spPr>
          <a:xfrm>
            <a:off x="1980340" y="2970659"/>
            <a:ext cx="104071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193EE15-A210-24BC-9672-998EE7F4767B}"/>
              </a:ext>
            </a:extLst>
          </p:cNvPr>
          <p:cNvCxnSpPr>
            <a:cxnSpLocks/>
          </p:cNvCxnSpPr>
          <p:nvPr/>
        </p:nvCxnSpPr>
        <p:spPr>
          <a:xfrm>
            <a:off x="2229820" y="2970659"/>
            <a:ext cx="1560550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A46C35A7-75FB-32E3-1050-8F709739C8B9}"/>
              </a:ext>
            </a:extLst>
          </p:cNvPr>
          <p:cNvCxnSpPr>
            <a:cxnSpLocks/>
          </p:cNvCxnSpPr>
          <p:nvPr/>
        </p:nvCxnSpPr>
        <p:spPr>
          <a:xfrm>
            <a:off x="2479300" y="2970659"/>
            <a:ext cx="2037131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70E74C36-6BC2-69B9-4347-6AD4420C0A55}"/>
              </a:ext>
            </a:extLst>
          </p:cNvPr>
          <p:cNvCxnSpPr>
            <a:cxnSpLocks/>
          </p:cNvCxnSpPr>
          <p:nvPr/>
        </p:nvCxnSpPr>
        <p:spPr>
          <a:xfrm>
            <a:off x="2728779" y="2970659"/>
            <a:ext cx="245762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7F309C6-857D-3225-E6D2-DDFA73B8553E}"/>
              </a:ext>
            </a:extLst>
          </p:cNvPr>
          <p:cNvSpPr txBox="1"/>
          <p:nvPr/>
        </p:nvSpPr>
        <p:spPr>
          <a:xfrm>
            <a:off x="1049669" y="3468112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6.23       1.33e4    6.92e7    4.02e11   2.65e15   1.7e19    9.97e23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210EF10-99CD-B10E-56EA-59C1D9E635EA}"/>
              </a:ext>
            </a:extLst>
          </p:cNvPr>
          <p:cNvSpPr txBox="1"/>
          <p:nvPr/>
        </p:nvSpPr>
        <p:spPr>
          <a:xfrm>
            <a:off x="1049669" y="3692995"/>
            <a:ext cx="48269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-21.7%  -24.6%   -25.1%    -22.2%    -17.5%    -8.6%    +456.9%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C20BB6-6C2B-E0F1-8AFE-D165036BFEC6}"/>
              </a:ext>
            </a:extLst>
          </p:cNvPr>
          <p:cNvSpPr txBox="1"/>
          <p:nvPr/>
        </p:nvSpPr>
        <p:spPr>
          <a:xfrm>
            <a:off x="1049669" y="3933480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8.44       1.88e4    9.87e7    5.46e11    3.39e15  1.96e19   1.8e23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4FCA50A6-A29D-2E3B-4D72-2AA6E3D3B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3166" r="1" b="23139"/>
          <a:stretch>
            <a:fillRect/>
          </a:stretch>
        </p:blipFill>
        <p:spPr>
          <a:xfrm>
            <a:off x="7633519" y="2929089"/>
            <a:ext cx="1291860" cy="1469315"/>
          </a:xfrm>
          <a:prstGeom prst="rect">
            <a:avLst/>
          </a:prstGeom>
        </p:spPr>
      </p:pic>
      <p:sp>
        <p:nvSpPr>
          <p:cNvPr id="100" name="화살표: 왼쪽으로 구부러짐 99">
            <a:extLst>
              <a:ext uri="{FF2B5EF4-FFF2-40B4-BE49-F238E27FC236}">
                <a16:creationId xmlns:a16="http://schemas.microsoft.com/office/drawing/2014/main" id="{19E23A85-2DDD-355D-5A27-B618CC4B6532}"/>
              </a:ext>
            </a:extLst>
          </p:cNvPr>
          <p:cNvSpPr/>
          <p:nvPr/>
        </p:nvSpPr>
        <p:spPr>
          <a:xfrm>
            <a:off x="5762544" y="3555938"/>
            <a:ext cx="361950" cy="584851"/>
          </a:xfrm>
          <a:prstGeom prst="curvedLef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31D0B5-D217-2D41-6EF5-DCA120D98CB2}"/>
              </a:ext>
            </a:extLst>
          </p:cNvPr>
          <p:cNvSpPr txBox="1"/>
          <p:nvPr/>
        </p:nvSpPr>
        <p:spPr>
          <a:xfrm>
            <a:off x="6112388" y="3517822"/>
            <a:ext cx="1285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전체적으로 시간이 지남에 따라 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증가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3B13753-68DA-2540-5CBC-1D7DB31F50F0}"/>
              </a:ext>
            </a:extLst>
          </p:cNvPr>
          <p:cNvCxnSpPr/>
          <p:nvPr/>
        </p:nvCxnSpPr>
        <p:spPr>
          <a:xfrm>
            <a:off x="1231900" y="1518915"/>
            <a:ext cx="14968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D964FC-1694-0501-A93B-6989DF2D4B3B}"/>
              </a:ext>
            </a:extLst>
          </p:cNvPr>
          <p:cNvCxnSpPr>
            <a:cxnSpLocks/>
          </p:cNvCxnSpPr>
          <p:nvPr/>
        </p:nvCxnSpPr>
        <p:spPr>
          <a:xfrm>
            <a:off x="1481380" y="1765980"/>
            <a:ext cx="24948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73F32B-8553-EEB2-189C-2991041202DF}"/>
              </a:ext>
            </a:extLst>
          </p:cNvPr>
          <p:cNvSpPr txBox="1"/>
          <p:nvPr/>
        </p:nvSpPr>
        <p:spPr>
          <a:xfrm>
            <a:off x="565151" y="1693758"/>
            <a:ext cx="550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5CD7D-0C75-CC2C-EB14-A7381F112DCF}"/>
              </a:ext>
            </a:extLst>
          </p:cNvPr>
          <p:cNvSpPr txBox="1"/>
          <p:nvPr/>
        </p:nvSpPr>
        <p:spPr>
          <a:xfrm>
            <a:off x="3454524" y="1861512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662C76-8F70-6CEB-3662-DE2EA5FD5A14}"/>
              </a:ext>
            </a:extLst>
          </p:cNvPr>
          <p:cNvSpPr txBox="1"/>
          <p:nvPr/>
        </p:nvSpPr>
        <p:spPr>
          <a:xfrm>
            <a:off x="1832118" y="151055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289A3-88DF-63E7-DCE7-32BC11608891}"/>
              </a:ext>
            </a:extLst>
          </p:cNvPr>
          <p:cNvSpPr txBox="1"/>
          <p:nvPr/>
        </p:nvSpPr>
        <p:spPr>
          <a:xfrm>
            <a:off x="358260" y="1041547"/>
            <a:ext cx="5939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activation: nonradiative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multiphonon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transition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5F3808BE-207D-9162-52C8-A8DA4A324439}"/>
              </a:ext>
            </a:extLst>
          </p:cNvPr>
          <p:cNvGrpSpPr/>
          <p:nvPr/>
        </p:nvGrpSpPr>
        <p:grpSpPr>
          <a:xfrm>
            <a:off x="457455" y="4124338"/>
            <a:ext cx="8424314" cy="2106865"/>
            <a:chOff x="457455" y="4244849"/>
            <a:chExt cx="8424314" cy="210686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014EF9-CB79-F697-F8B9-645724252522}"/>
                </a:ext>
              </a:extLst>
            </p:cNvPr>
            <p:cNvSpPr txBox="1"/>
            <p:nvPr/>
          </p:nvSpPr>
          <p:spPr>
            <a:xfrm>
              <a:off x="4086081" y="6097798"/>
              <a:ext cx="225017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Palma, </a:t>
              </a:r>
              <a:r>
                <a:rPr lang="en-US" altLang="ko-KR" sz="1050" b="1" i="1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Physcis</a:t>
              </a:r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 Review B 1997</a:t>
              </a:r>
              <a:endPara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40504A-7F25-B1E8-0C8C-C030DA5C5C37}"/>
                </a:ext>
              </a:extLst>
            </p:cNvPr>
            <p:cNvSpPr txBox="1"/>
            <p:nvPr/>
          </p:nvSpPr>
          <p:spPr>
            <a:xfrm>
              <a:off x="6856856" y="4298090"/>
              <a:ext cx="2024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physical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prefactor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6806E6-C79C-3C71-B3B9-AF9B8B466B6B}"/>
                </a:ext>
              </a:extLst>
            </p:cNvPr>
            <p:cNvSpPr txBox="1"/>
            <p:nvPr/>
          </p:nvSpPr>
          <p:spPr>
            <a:xfrm>
              <a:off x="6856856" y="5573809"/>
              <a:ext cx="1973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Statistics + WKB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/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𝑝ℎ𝑜𝑛𝑜𝑛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r>
                        <a:rPr lang="en-US" altLang="ko-KR" sz="200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2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ℏ</m:t>
                                      </m:r>
                                    </m:e>
                                    <m:sup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1.5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⋅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d>
                        <m:d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1 − 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/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𝐹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𝐶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  <a:b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</a:br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𝑆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2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𝜋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ℏ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𝜔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</m:t>
                          </m:r>
                        </m:sub>
                      </m:sSub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𝜔</m:t>
                          </m:r>
                        </m:den>
                      </m:f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𝜉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𝜒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</m:t>
                          </m:r>
                        </m:sup>
                      </m:sSup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+1</m:t>
                                  </m:r>
                                </m:e>
                              </m:d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𝑆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ℏ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𝜔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𝑇𝐶</m:t>
                          </m:r>
                        </m:e>
                      </m:d>
                    </m:oMath>
                  </a14:m>
                  <a:endPara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D042F6-DFD5-A9E2-E066-60CEAFE9A2A1}"/>
                </a:ext>
              </a:extLst>
            </p:cNvPr>
            <p:cNvSpPr txBox="1"/>
            <p:nvPr/>
          </p:nvSpPr>
          <p:spPr>
            <a:xfrm>
              <a:off x="5462435" y="4905879"/>
              <a:ext cx="336823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nonradiative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multiphonon</a:t>
              </a:r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 term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ACDE97B5-0570-3FD3-EE80-C845C427F3A7}"/>
              </a:ext>
            </a:extLst>
          </p:cNvPr>
          <p:cNvSpPr txBox="1"/>
          <p:nvPr/>
        </p:nvSpPr>
        <p:spPr>
          <a:xfrm>
            <a:off x="5382529" y="1909762"/>
            <a:ext cx="328307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Phonon-assisted emission model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Transmission coefficient transition level adaptable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6B20529E-86B1-8F89-C9FD-7E143B69AD1F}"/>
              </a:ext>
            </a:extLst>
          </p:cNvPr>
          <p:cNvGrpSpPr/>
          <p:nvPr/>
        </p:nvGrpSpPr>
        <p:grpSpPr>
          <a:xfrm>
            <a:off x="755508" y="1649304"/>
            <a:ext cx="4455658" cy="2168715"/>
            <a:chOff x="1444707" y="1680162"/>
            <a:chExt cx="4455658" cy="2168715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E90ABCB6-AC77-8948-5E0E-FA696EEA42E5}"/>
                </a:ext>
              </a:extLst>
            </p:cNvPr>
            <p:cNvSpPr/>
            <p:nvPr/>
          </p:nvSpPr>
          <p:spPr>
            <a:xfrm>
              <a:off x="1444707" y="1680162"/>
              <a:ext cx="2339069" cy="1943099"/>
            </a:xfrm>
            <a:custGeom>
              <a:avLst/>
              <a:gdLst>
                <a:gd name="csX0" fmla="*/ 0 w 1378477"/>
                <a:gd name="csY0" fmla="*/ 1145121 h 1145121"/>
                <a:gd name="csX1" fmla="*/ 379771 w 1378477"/>
                <a:gd name="csY1" fmla="*/ 1141379 h 1145121"/>
                <a:gd name="csX2" fmla="*/ 379771 w 1378477"/>
                <a:gd name="csY2" fmla="*/ 311285 h 1145121"/>
                <a:gd name="csX3" fmla="*/ 1378477 w 1378477"/>
                <a:gd name="csY3" fmla="*/ 0 h 114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8477" h="1145121">
                  <a:moveTo>
                    <a:pt x="0" y="1145121"/>
                  </a:moveTo>
                  <a:lnTo>
                    <a:pt x="379771" y="1141379"/>
                  </a:lnTo>
                  <a:lnTo>
                    <a:pt x="379771" y="311285"/>
                  </a:lnTo>
                  <a:lnTo>
                    <a:pt x="1378477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A7A4F6C-036B-86EC-25AA-28DE3D4F0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09180" y="2734896"/>
              <a:ext cx="199966" cy="199966"/>
            </a:xfrm>
            <a:prstGeom prst="rect">
              <a:avLst/>
            </a:prstGeom>
          </p:spPr>
        </p:pic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AF76D312-57A0-AC02-B35F-B989A1B1844B}"/>
                </a:ext>
              </a:extLst>
            </p:cNvPr>
            <p:cNvCxnSpPr>
              <a:cxnSpLocks/>
            </p:cNvCxnSpPr>
            <p:nvPr/>
          </p:nvCxnSpPr>
          <p:spPr>
            <a:xfrm>
              <a:off x="3016732" y="1797827"/>
              <a:ext cx="0" cy="205105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AB65C56-9860-6407-8BB1-594B3BA5608E}"/>
                </a:ext>
              </a:extLst>
            </p:cNvPr>
            <p:cNvSpPr/>
            <p:nvPr/>
          </p:nvSpPr>
          <p:spPr>
            <a:xfrm rot="2277750">
              <a:off x="3064350" y="3081032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F2A09C9F-648B-9CFC-3331-8D6BFE46B785}"/>
                </a:ext>
              </a:extLst>
            </p:cNvPr>
            <p:cNvSpPr/>
            <p:nvPr/>
          </p:nvSpPr>
          <p:spPr>
            <a:xfrm rot="8849146">
              <a:off x="2302695" y="3100378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화살표: 굽음 37">
              <a:extLst>
                <a:ext uri="{FF2B5EF4-FFF2-40B4-BE49-F238E27FC236}">
                  <a16:creationId xmlns:a16="http://schemas.microsoft.com/office/drawing/2014/main" id="{8EC8FE2D-E4B1-4594-4E27-E2E5153BBE17}"/>
                </a:ext>
              </a:extLst>
            </p:cNvPr>
            <p:cNvSpPr/>
            <p:nvPr/>
          </p:nvSpPr>
          <p:spPr>
            <a:xfrm flipH="1">
              <a:off x="1968579" y="2495788"/>
              <a:ext cx="1073137" cy="239108"/>
            </a:xfrm>
            <a:prstGeom prst="bentArrow">
              <a:avLst>
                <a:gd name="adj1" fmla="val 12319"/>
                <a:gd name="adj2" fmla="val 14048"/>
                <a:gd name="adj3" fmla="val 27305"/>
                <a:gd name="adj4" fmla="val 4375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57F5769-42C2-7487-0294-E49E9375D03C}"/>
                </a:ext>
              </a:extLst>
            </p:cNvPr>
            <p:cNvSpPr txBox="1"/>
            <p:nvPr/>
          </p:nvSpPr>
          <p:spPr>
            <a:xfrm>
              <a:off x="3252865" y="3306013"/>
              <a:ext cx="13468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phonon interaction</a:t>
              </a:r>
              <a:endParaRPr lang="ko-KR" altLang="en-US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715BFF-FB43-F85A-4290-6051D53CD4E8}"/>
                </a:ext>
              </a:extLst>
            </p:cNvPr>
            <p:cNvSpPr txBox="1"/>
            <p:nvPr/>
          </p:nvSpPr>
          <p:spPr>
            <a:xfrm>
              <a:off x="3945984" y="2965780"/>
              <a:ext cx="19543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lattice phonon property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/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|"/>
                            <m:endChr m:val="|"/>
                            <m:ctrlP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oMath>
                    </m:oMathPara>
                  </a14:m>
                  <a:endParaRPr lang="ko-KR" altLang="en-US" sz="12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F44357A-8C7A-8278-3231-426ED9311E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6278" y="2834879"/>
              <a:ext cx="72629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CC9021B7-7EAA-EC19-D782-C72830243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1927" y="2143179"/>
              <a:ext cx="235378" cy="24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DAEF7956-B3F6-F7E7-8870-D20C9EA07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0447" y="2111275"/>
              <a:ext cx="345053" cy="359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DE77B706-31CE-1F48-B2BA-E349BA284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2823" y="2041343"/>
              <a:ext cx="164942" cy="1718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F291DA89-5FDB-CDE7-CF1A-4CDE6D43B3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390" y="1999925"/>
              <a:ext cx="204701" cy="2132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FD0F03F2-4FE7-A807-04C9-6CAD9C8E07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7608" y="1958507"/>
              <a:ext cx="234809" cy="2446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D5166EEC-3FE6-E82B-1601-699D055A14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9924" y="1917089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46C85FAF-24E5-FC9B-E1B2-3DDFCBACDD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703" y="2065612"/>
              <a:ext cx="422608" cy="440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3F05E7-D992-99CA-5A88-C8BE80D5A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51" y="2404479"/>
              <a:ext cx="97312" cy="1013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D188B6CE-314F-7F47-1142-7F1E140FFD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7599" y="2414651"/>
              <a:ext cx="87548" cy="9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3899F8C-9477-399B-EF30-BE6E078780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047" y="2407392"/>
              <a:ext cx="94516" cy="98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3DE139ED-F7F9-259A-3BB9-15A7CF2E00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4495" y="2176962"/>
              <a:ext cx="315718" cy="3288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47A3A07B-326D-ED8C-E76D-57C5BD1EEC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7942" y="2322937"/>
              <a:ext cx="175589" cy="182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66456F8B-BF51-B312-D115-780E518B7A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2887" y="2041271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3C661DD-A4F6-0418-727B-141EDB97B08A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>
              <a:off x="3105020" y="1907248"/>
              <a:ext cx="4126" cy="927631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07933EA-89CC-DCD7-61A7-BD5F8F103A61}"/>
                </a:ext>
              </a:extLst>
            </p:cNvPr>
            <p:cNvSpPr txBox="1"/>
            <p:nvPr/>
          </p:nvSpPr>
          <p:spPr>
            <a:xfrm>
              <a:off x="3048409" y="1931195"/>
              <a:ext cx="3417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1200" baseline="-25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</a:t>
              </a:r>
              <a:endParaRPr lang="ko-KR" altLang="en-US" sz="12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0242CEEA-01AE-3DE0-7B21-7662FA8EE00D}"/>
                </a:ext>
              </a:extLst>
            </p:cNvPr>
            <p:cNvCxnSpPr>
              <a:cxnSpLocks/>
            </p:cNvCxnSpPr>
            <p:nvPr/>
          </p:nvCxnSpPr>
          <p:spPr>
            <a:xfrm>
              <a:off x="2830770" y="2514203"/>
              <a:ext cx="66180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/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altLang="ko-KR" sz="12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FF712E98-13E6-5AB0-9E01-2D3F39B69A76}"/>
                </a:ext>
              </a:extLst>
            </p:cNvPr>
            <p:cNvCxnSpPr>
              <a:cxnSpLocks/>
            </p:cNvCxnSpPr>
            <p:nvPr/>
          </p:nvCxnSpPr>
          <p:spPr>
            <a:xfrm>
              <a:off x="3327606" y="2505851"/>
              <a:ext cx="0" cy="329028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/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  <m:r>
                          <m:rPr>
                            <m:sty m:val="p"/>
                          </m:rPr>
                          <a:rPr lang="en-US" altLang="ko-KR" sz="14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4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3C3417D-C00C-4D42-8166-9DC2D4F507FC}"/>
                </a:ext>
              </a:extLst>
            </p:cNvPr>
            <p:cNvSpPr txBox="1"/>
            <p:nvPr/>
          </p:nvSpPr>
          <p:spPr>
            <a:xfrm>
              <a:off x="3657156" y="2495485"/>
              <a:ext cx="21418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electron energy activation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2E24EC5-2505-8E09-1BDF-0B4EDB58DBA1}"/>
                </a:ext>
              </a:extLst>
            </p:cNvPr>
            <p:cNvSpPr txBox="1"/>
            <p:nvPr/>
          </p:nvSpPr>
          <p:spPr>
            <a:xfrm>
              <a:off x="3124369" y="2147388"/>
              <a:ext cx="15520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Symbol" panose="05050102010706020507" pitchFamily="18" charset="2"/>
                <a:buChar char="Þ"/>
              </a:pPr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adaptable |TC|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AF138-89B4-27FF-1BDA-D43CB7EC019F}"/>
              </a:ext>
            </a:extLst>
          </p:cNvPr>
          <p:cNvSpPr txBox="1"/>
          <p:nvPr/>
        </p:nvSpPr>
        <p:spPr>
          <a:xfrm>
            <a:off x="228600" y="1840647"/>
            <a:ext cx="52262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 assisted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경우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기여도가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Elastic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 variation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있긴하나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24F0979E-E2C8-96CA-C087-37BF312ED25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3821564"/>
              </p:ext>
            </p:extLst>
          </p:nvPr>
        </p:nvGraphicFramePr>
        <p:xfrm>
          <a:off x="279471" y="4076566"/>
          <a:ext cx="3054113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721592" imgH="3317966" progId="Origin50.Graph">
                  <p:embed/>
                </p:oleObj>
              </mc:Choice>
              <mc:Fallback>
                <p:oleObj name="Graph" r:id="rId2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471" y="4076566"/>
                        <a:ext cx="3054113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17AF2B09-60C4-CE3B-BB1F-0027B80CC2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734723"/>
              </p:ext>
            </p:extLst>
          </p:nvPr>
        </p:nvGraphicFramePr>
        <p:xfrm>
          <a:off x="3044430" y="4076566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722409" imgH="3317966" progId="Origin50.Graph">
                  <p:embed/>
                </p:oleObj>
              </mc:Choice>
              <mc:Fallback>
                <p:oleObj name="Graph" r:id="rId4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44430" y="4076566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개체 11">
            <a:extLst>
              <a:ext uri="{FF2B5EF4-FFF2-40B4-BE49-F238E27FC236}">
                <a16:creationId xmlns:a16="http://schemas.microsoft.com/office/drawing/2014/main" id="{D782B4F9-87F2-3740-BB2B-7CFD380630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9188004"/>
              </p:ext>
            </p:extLst>
          </p:nvPr>
        </p:nvGraphicFramePr>
        <p:xfrm>
          <a:off x="5946144" y="4076567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722409" imgH="3317966" progId="Origin50.Graph">
                  <p:embed/>
                </p:oleObj>
              </mc:Choice>
              <mc:Fallback>
                <p:oleObj name="Graph" r:id="rId6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946144" y="4076567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개체 12">
            <a:extLst>
              <a:ext uri="{FF2B5EF4-FFF2-40B4-BE49-F238E27FC236}">
                <a16:creationId xmlns:a16="http://schemas.microsoft.com/office/drawing/2014/main" id="{FA0509ED-F779-D4B9-FD85-B8BFEF30E3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69677"/>
              </p:ext>
            </p:extLst>
          </p:nvPr>
        </p:nvGraphicFramePr>
        <p:xfrm>
          <a:off x="5602323" y="1196057"/>
          <a:ext cx="3742782" cy="26293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722409" imgH="3317966" progId="Origin50.Graph">
                  <p:embed/>
                </p:oleObj>
              </mc:Choice>
              <mc:Fallback>
                <p:oleObj name="Graph" r:id="rId8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602323" y="1196057"/>
                        <a:ext cx="3742782" cy="26293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A9B88DD-642B-9CF3-9001-AD1225153880}"/>
              </a:ext>
            </a:extLst>
          </p:cNvPr>
          <p:cNvSpPr txBox="1"/>
          <p:nvPr/>
        </p:nvSpPr>
        <p:spPr>
          <a:xfrm>
            <a:off x="228600" y="1098512"/>
            <a:ext cx="4742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805D74-135C-11E5-1131-10D311BD0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828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 evaluation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A958F-322E-E80C-E81F-57C893C3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Simplified Compact Model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394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679450" y="1074509"/>
            <a:ext cx="795784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기여하는 바는 매우 제한적임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기반으로 측정치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alignment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현재 모델 기반으로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room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8172</TotalTime>
  <Words>1321</Words>
  <Application>Microsoft Office PowerPoint</Application>
  <PresentationFormat>화면 슬라이드 쇼(4:3)</PresentationFormat>
  <Paragraphs>290</Paragraphs>
  <Slides>23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2" baseType="lpstr">
      <vt:lpstr>Noto Sans CJK KR</vt:lpstr>
      <vt:lpstr>맑은 고딕</vt:lpstr>
      <vt:lpstr>Arial</vt:lpstr>
      <vt:lpstr>Calibri</vt:lpstr>
      <vt:lpstr>Cambria Math</vt:lpstr>
      <vt:lpstr>Symbol</vt:lpstr>
      <vt:lpstr>Times New Roman</vt:lpstr>
      <vt:lpstr>Office 테마</vt:lpstr>
      <vt:lpstr>Graph</vt:lpstr>
      <vt:lpstr>Physics-based Modeling and Efficient Computational Frameworks of Detrapping in 3-D NAND Flash </vt:lpstr>
      <vt:lpstr>인품 및 태도</vt:lpstr>
      <vt:lpstr>성적</vt:lpstr>
      <vt:lpstr>Content</vt:lpstr>
      <vt:lpstr>Introduction</vt:lpstr>
      <vt:lpstr>BETOX Trapped Electron Detrapping Modeling</vt:lpstr>
      <vt:lpstr>Alignment with Previous Studies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CTN Detrapping in Various Temperature</vt:lpstr>
      <vt:lpstr>CTN Detrapping in Various Temperature</vt:lpstr>
      <vt:lpstr>CTN Detrapping in Various Temperature</vt:lpstr>
      <vt:lpstr>Computational Impact</vt:lpstr>
      <vt:lpstr>Simplified Compact Model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1004</cp:revision>
  <dcterms:created xsi:type="dcterms:W3CDTF">2016-06-02T05:19:04Z</dcterms:created>
  <dcterms:modified xsi:type="dcterms:W3CDTF">2026-09-01T08:47:44Z</dcterms:modified>
  <cp:version/>
</cp:coreProperties>
</file>