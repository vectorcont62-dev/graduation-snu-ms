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5"/>
  </p:notesMasterIdLst>
  <p:sldIdLst>
    <p:sldId id="341" r:id="rId2"/>
    <p:sldId id="350" r:id="rId3"/>
    <p:sldId id="334" r:id="rId4"/>
    <p:sldId id="329" r:id="rId5"/>
    <p:sldId id="331" r:id="rId6"/>
    <p:sldId id="347" r:id="rId7"/>
    <p:sldId id="344" r:id="rId8"/>
    <p:sldId id="322" r:id="rId9"/>
    <p:sldId id="333" r:id="rId10"/>
    <p:sldId id="320" r:id="rId11"/>
    <p:sldId id="324" r:id="rId12"/>
    <p:sldId id="339" r:id="rId13"/>
    <p:sldId id="323" r:id="rId14"/>
    <p:sldId id="321" r:id="rId15"/>
    <p:sldId id="328" r:id="rId16"/>
    <p:sldId id="326" r:id="rId17"/>
    <p:sldId id="345" r:id="rId18"/>
    <p:sldId id="349" r:id="rId19"/>
    <p:sldId id="346" r:id="rId20"/>
    <p:sldId id="327" r:id="rId21"/>
    <p:sldId id="348" r:id="rId22"/>
    <p:sldId id="338" r:id="rId23"/>
    <p:sldId id="351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  <a:srgbClr val="BF7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 varScale="1">
        <p:scale>
          <a:sx n="106" d="100"/>
          <a:sy n="106" d="100"/>
        </p:scale>
        <p:origin x="1512" y="90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2CD00562-DF9D-CABC-715B-747888280836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3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4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450" y="739963"/>
            <a:ext cx="9232900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Physics-based Modeling and Efficient </a:t>
            </a:r>
            <a:r>
              <a:rPr kumimoji="0" lang="en-US" altLang="ko-KR" sz="40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Computational Frameworks </a:t>
            </a: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of </a:t>
            </a:r>
            <a:r>
              <a:rPr kumimoji="0" lang="en-US" altLang="ko-KR" sz="40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Detrapping</a:t>
            </a:r>
            <a:r>
              <a:rPr kumimoji="0" lang="en-US" altLang="ko-KR" sz="40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in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2026. 08. 31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E0DC3-8292-1214-4A26-242A1DE7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인품 및 태도</a:t>
            </a:r>
          </a:p>
        </p:txBody>
      </p:sp>
    </p:spTree>
    <p:extLst>
      <p:ext uri="{BB962C8B-B14F-4D97-AF65-F5344CB8AC3E}">
        <p14:creationId xmlns:p14="http://schemas.microsoft.com/office/powerpoint/2010/main" val="107137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506314" y="1536174"/>
            <a:ext cx="77764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21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06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06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306926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그림 95">
            <a:extLst>
              <a:ext uri="{FF2B5EF4-FFF2-40B4-BE49-F238E27FC236}">
                <a16:creationId xmlns:a16="http://schemas.microsoft.com/office/drawing/2014/main" id="{834A3055-3E03-AD39-93F2-DA88F6032F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8797" y="3465186"/>
            <a:ext cx="1873747" cy="18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3EC57-E921-CD90-BC00-4EFF77CA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Alignment with Previous Studies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8F818E2-FCCB-46C9-BAC2-AD0EB0F6FFA3}"/>
              </a:ext>
            </a:extLst>
          </p:cNvPr>
          <p:cNvSpPr/>
          <p:nvPr/>
        </p:nvSpPr>
        <p:spPr>
          <a:xfrm>
            <a:off x="834293" y="1976659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642A1AB-6018-B3B3-681D-D656F4C51869}"/>
              </a:ext>
            </a:extLst>
          </p:cNvPr>
          <p:cNvSpPr/>
          <p:nvPr/>
        </p:nvSpPr>
        <p:spPr>
          <a:xfrm>
            <a:off x="1051545" y="2193911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27FFF83-B9E4-0D55-84E7-E0C038D47220}"/>
              </a:ext>
            </a:extLst>
          </p:cNvPr>
          <p:cNvSpPr/>
          <p:nvPr/>
        </p:nvSpPr>
        <p:spPr>
          <a:xfrm>
            <a:off x="1194217" y="2336583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6076A88-2FC3-1407-DBBD-15782B8FF582}"/>
              </a:ext>
            </a:extLst>
          </p:cNvPr>
          <p:cNvSpPr/>
          <p:nvPr/>
        </p:nvSpPr>
        <p:spPr>
          <a:xfrm>
            <a:off x="1505502" y="2647868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A455E-4FCC-AF27-44B4-5E39B95E623A}"/>
              </a:ext>
            </a:extLst>
          </p:cNvPr>
          <p:cNvSpPr txBox="1"/>
          <p:nvPr/>
        </p:nvSpPr>
        <p:spPr>
          <a:xfrm>
            <a:off x="1917306" y="382353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33FDE-C854-BA2C-95E0-8E5D9AB92557}"/>
              </a:ext>
            </a:extLst>
          </p:cNvPr>
          <p:cNvSpPr txBox="1"/>
          <p:nvPr/>
        </p:nvSpPr>
        <p:spPr>
          <a:xfrm>
            <a:off x="1751936" y="4100531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C3196-6719-9FCA-6111-1CA49A5D0EA7}"/>
              </a:ext>
            </a:extLst>
          </p:cNvPr>
          <p:cNvSpPr txBox="1"/>
          <p:nvPr/>
        </p:nvSpPr>
        <p:spPr>
          <a:xfrm>
            <a:off x="691621" y="452902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C531F-B4B8-6EE1-D108-6F3670E95BBE}"/>
              </a:ext>
            </a:extLst>
          </p:cNvPr>
          <p:cNvSpPr txBox="1"/>
          <p:nvPr/>
        </p:nvSpPr>
        <p:spPr>
          <a:xfrm>
            <a:off x="834293" y="477591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DDB7315-FE60-7E15-FDA1-F21409D0A7BF}"/>
              </a:ext>
            </a:extLst>
          </p:cNvPr>
          <p:cNvCxnSpPr/>
          <p:nvPr/>
        </p:nvCxnSpPr>
        <p:spPr>
          <a:xfrm flipH="1">
            <a:off x="1148821" y="4411817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50E224-C2F8-7E2B-534F-A86A505579DF}"/>
              </a:ext>
            </a:extLst>
          </p:cNvPr>
          <p:cNvCxnSpPr>
            <a:cxnSpLocks/>
          </p:cNvCxnSpPr>
          <p:nvPr/>
        </p:nvCxnSpPr>
        <p:spPr>
          <a:xfrm flipH="1">
            <a:off x="1019119" y="4411817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97D7D0D-8F1B-26B9-246F-6B02EFA32E2D}"/>
              </a:ext>
            </a:extLst>
          </p:cNvPr>
          <p:cNvCxnSpPr/>
          <p:nvPr/>
        </p:nvCxnSpPr>
        <p:spPr>
          <a:xfrm flipH="1">
            <a:off x="1367693" y="4629068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CDBE4D4-47C0-ED25-3F33-D345B2B68C97}"/>
              </a:ext>
            </a:extLst>
          </p:cNvPr>
          <p:cNvCxnSpPr>
            <a:cxnSpLocks/>
          </p:cNvCxnSpPr>
          <p:nvPr/>
        </p:nvCxnSpPr>
        <p:spPr>
          <a:xfrm flipH="1">
            <a:off x="1237991" y="4629068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C674CEB-BAF8-0DFD-7BEE-31D282266E86}"/>
              </a:ext>
            </a:extLst>
          </p:cNvPr>
          <p:cNvCxnSpPr>
            <a:cxnSpLocks/>
          </p:cNvCxnSpPr>
          <p:nvPr/>
        </p:nvCxnSpPr>
        <p:spPr>
          <a:xfrm flipH="1">
            <a:off x="3113808" y="3380686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D2F53E-3E5E-9134-95C3-63C0D61CA77C}"/>
              </a:ext>
            </a:extLst>
          </p:cNvPr>
          <p:cNvCxnSpPr>
            <a:cxnSpLocks/>
          </p:cNvCxnSpPr>
          <p:nvPr/>
        </p:nvCxnSpPr>
        <p:spPr>
          <a:xfrm flipH="1" flipV="1">
            <a:off x="3010047" y="3880039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99B3113-8B87-1120-C548-EBBC5E454685}"/>
              </a:ext>
            </a:extLst>
          </p:cNvPr>
          <p:cNvCxnSpPr>
            <a:cxnSpLocks/>
          </p:cNvCxnSpPr>
          <p:nvPr/>
        </p:nvCxnSpPr>
        <p:spPr>
          <a:xfrm>
            <a:off x="970480" y="3380686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3F53AB3-6342-8AE9-83F1-ABF7398C76C0}"/>
              </a:ext>
            </a:extLst>
          </p:cNvPr>
          <p:cNvCxnSpPr>
            <a:cxnSpLocks/>
          </p:cNvCxnSpPr>
          <p:nvPr/>
        </p:nvCxnSpPr>
        <p:spPr>
          <a:xfrm>
            <a:off x="2251289" y="2090150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56D6BFE-3BE7-D04C-ECDF-C0B69D15BDEB}"/>
              </a:ext>
            </a:extLst>
          </p:cNvPr>
          <p:cNvCxnSpPr>
            <a:cxnSpLocks/>
          </p:cNvCxnSpPr>
          <p:nvPr/>
        </p:nvCxnSpPr>
        <p:spPr>
          <a:xfrm flipV="1">
            <a:off x="2251289" y="4314541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3C34F59-B0FA-1016-C42F-4B5E7CBDE76C}"/>
              </a:ext>
            </a:extLst>
          </p:cNvPr>
          <p:cNvCxnSpPr>
            <a:cxnSpLocks/>
          </p:cNvCxnSpPr>
          <p:nvPr/>
        </p:nvCxnSpPr>
        <p:spPr>
          <a:xfrm flipH="1" flipV="1">
            <a:off x="2737672" y="4147955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342F1DE-21D9-9D13-4DC5-1194095F7330}"/>
              </a:ext>
            </a:extLst>
          </p:cNvPr>
          <p:cNvCxnSpPr>
            <a:cxnSpLocks/>
          </p:cNvCxnSpPr>
          <p:nvPr/>
        </p:nvCxnSpPr>
        <p:spPr>
          <a:xfrm flipV="1">
            <a:off x="1634395" y="4204293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B3F706A-DA02-59A6-0CF6-C9828974AC51}"/>
              </a:ext>
            </a:extLst>
          </p:cNvPr>
          <p:cNvCxnSpPr>
            <a:cxnSpLocks/>
          </p:cNvCxnSpPr>
          <p:nvPr/>
        </p:nvCxnSpPr>
        <p:spPr>
          <a:xfrm flipV="1">
            <a:off x="1175571" y="3857002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917C16E-2C06-ABE0-7F9B-1A2E2205654B}"/>
              </a:ext>
            </a:extLst>
          </p:cNvPr>
          <p:cNvCxnSpPr>
            <a:cxnSpLocks/>
          </p:cNvCxnSpPr>
          <p:nvPr/>
        </p:nvCxnSpPr>
        <p:spPr>
          <a:xfrm>
            <a:off x="1098358" y="2758554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BD56A90-FC27-7880-3584-72575FDEE82D}"/>
              </a:ext>
            </a:extLst>
          </p:cNvPr>
          <p:cNvCxnSpPr>
            <a:cxnSpLocks/>
          </p:cNvCxnSpPr>
          <p:nvPr/>
        </p:nvCxnSpPr>
        <p:spPr>
          <a:xfrm>
            <a:off x="1505502" y="2343946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3BB7764-7293-5FC2-B622-54DE5D6D02C0}"/>
              </a:ext>
            </a:extLst>
          </p:cNvPr>
          <p:cNvCxnSpPr>
            <a:cxnSpLocks/>
          </p:cNvCxnSpPr>
          <p:nvPr/>
        </p:nvCxnSpPr>
        <p:spPr>
          <a:xfrm flipH="1">
            <a:off x="2699470" y="2326856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33FC56D-D630-49EC-66B6-43B839B17BF6}"/>
              </a:ext>
            </a:extLst>
          </p:cNvPr>
          <p:cNvCxnSpPr>
            <a:cxnSpLocks/>
          </p:cNvCxnSpPr>
          <p:nvPr/>
        </p:nvCxnSpPr>
        <p:spPr>
          <a:xfrm flipH="1">
            <a:off x="2982029" y="2758554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77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F01C8-6523-AED5-8002-4F5DF85A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Alignment with Previous Studies</a:t>
            </a:r>
            <a:endParaRPr lang="ko-KR" altLang="en-US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80609AFF-CF88-69DC-BADA-D810DCF68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90413"/>
              </p:ext>
            </p:extLst>
          </p:nvPr>
        </p:nvGraphicFramePr>
        <p:xfrm>
          <a:off x="548391" y="1459701"/>
          <a:ext cx="5767953" cy="4073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1724" imgH="4833106" progId="Origin50.Graph">
                  <p:embed/>
                </p:oleObj>
              </mc:Choice>
              <mc:Fallback>
                <p:oleObj name="Graph" r:id="rId2" imgW="6841724" imgH="4833106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80609AFF-CF88-69DC-BADA-D810DCF68E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391" y="1459701"/>
                        <a:ext cx="5767953" cy="4073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1C73F9-C15A-3F01-9FA1-C53DF0B5CA9B}"/>
              </a:ext>
            </a:extLst>
          </p:cNvPr>
          <p:cNvSpPr txBox="1"/>
          <p:nvPr/>
        </p:nvSpPr>
        <p:spPr>
          <a:xfrm>
            <a:off x="490325" y="1046892"/>
            <a:ext cx="5986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조형준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P/E cycle region D (Jo, TED 2023)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45B94-1091-57B0-9F8D-87162319591D}"/>
              </a:ext>
            </a:extLst>
          </p:cNvPr>
          <p:cNvSpPr txBox="1"/>
          <p:nvPr/>
        </p:nvSpPr>
        <p:spPr>
          <a:xfrm>
            <a:off x="6316344" y="1865335"/>
            <a:ext cx="21802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 상황 구현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0V ~ -5V 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 voltage sweep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 2ms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64173-AAA5-CEEF-56CA-C643DDA3300B}"/>
              </a:ext>
            </a:extLst>
          </p:cNvPr>
          <p:cNvSpPr txBox="1"/>
          <p:nvPr/>
        </p:nvSpPr>
        <p:spPr>
          <a:xfrm>
            <a:off x="6316344" y="3856230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근거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조형준 졸업논문 내용 중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P/E cycle period 20ms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55935-840F-9415-ADA8-61417C939764}"/>
              </a:ext>
            </a:extLst>
          </p:cNvPr>
          <p:cNvSpPr txBox="1"/>
          <p:nvPr/>
        </p:nvSpPr>
        <p:spPr>
          <a:xfrm>
            <a:off x="425450" y="5701402"/>
            <a:ext cx="8074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측정상황 최대한 모사하여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만으로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P/E cycle dependent region 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부분에 대한 설명 가능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10CFE-7E33-4379-8F91-7139F71C259B}"/>
              </a:ext>
            </a:extLst>
          </p:cNvPr>
          <p:cNvSpPr txBox="1"/>
          <p:nvPr/>
        </p:nvSpPr>
        <p:spPr>
          <a:xfrm>
            <a:off x="7334250" y="945292"/>
            <a:ext cx="1648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(confidential)</a:t>
            </a:r>
            <a:endParaRPr lang="ko-KR" altLang="en-US" sz="2000" b="1" i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48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896745" y="5001403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738026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39719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4EB86A7-0275-51D1-B097-7F004E84F20C}"/>
              </a:ext>
            </a:extLst>
          </p:cNvPr>
          <p:cNvGrpSpPr/>
          <p:nvPr/>
        </p:nvGrpSpPr>
        <p:grpSpPr>
          <a:xfrm>
            <a:off x="7320881" y="5068122"/>
            <a:ext cx="947738" cy="886470"/>
            <a:chOff x="6105526" y="1766242"/>
            <a:chExt cx="947738" cy="88647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375D809-35E2-12E3-B627-6B0E9D992FDC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581E6AD-496E-5D32-54E3-4238C219E1E8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71CB48E-5CA4-01D2-6BDB-9545F5075268}"/>
                </a:ext>
              </a:extLst>
            </p:cNvPr>
            <p:cNvCxnSpPr>
              <a:endCxn id="20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F084445-8377-4A54-9298-249E151DAD11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2A3BDB0-7A89-CE83-2BA8-66BAEF52CB65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BA61BF6-D801-DE29-141E-C8A3B15478EF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619C340-66EA-9C8F-A919-4416D50F6105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6D3A822-8FDD-62BC-C451-D2287DA02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179A447-FF43-A2B1-1EC8-C8000FA928F8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9C74366-3F40-4483-E634-DB4EF6861ADD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98AFF6-3B25-1AB7-F068-52BB7CA73486}"/>
                  </a:ext>
                </a:extLst>
              </p:cNvPr>
              <p:cNvSpPr txBox="1"/>
              <p:nvPr/>
            </p:nvSpPr>
            <p:spPr>
              <a:xfrm>
                <a:off x="7327787" y="4977768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98AFF6-3B25-1AB7-F068-52BB7CA73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787" y="4977768"/>
                <a:ext cx="54675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1CD819-364E-9D7B-97F8-0E52D49D2EA5}"/>
                  </a:ext>
                </a:extLst>
              </p:cNvPr>
              <p:cNvSpPr txBox="1"/>
              <p:nvPr/>
            </p:nvSpPr>
            <p:spPr>
              <a:xfrm>
                <a:off x="6987834" y="4397193"/>
                <a:ext cx="1579612" cy="566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1CD819-364E-9D7B-97F8-0E52D49D2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834" y="4397193"/>
                <a:ext cx="1579612" cy="566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50" y="2638123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753" y="2805917"/>
            <a:ext cx="2624851" cy="298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77" y="3571780"/>
            <a:ext cx="3629756" cy="15716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99B68F-56A8-91FE-A3C1-038EDFCDB3D6}"/>
                  </a:ext>
                </a:extLst>
              </p:cNvPr>
              <p:cNvSpPr txBox="1"/>
              <p:nvPr/>
            </p:nvSpPr>
            <p:spPr>
              <a:xfrm>
                <a:off x="-774727" y="5545921"/>
                <a:ext cx="7816906" cy="452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∴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Δ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𝑡ℎ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=−</m:t>
                      </m:r>
                      <m:func>
                        <m:funcPr>
                          <m:ctrl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,0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 −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det</m:t>
                      </m:r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99B68F-56A8-91FE-A3C1-038EDFCDB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4727" y="5545921"/>
                <a:ext cx="7816906" cy="4520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099C-7DE6-B5BF-E46D-61FA2C280CB3}"/>
                  </a:ext>
                </a:extLst>
              </p:cNvPr>
              <p:cNvSpPr txBox="1"/>
              <p:nvPr/>
            </p:nvSpPr>
            <p:spPr>
              <a:xfrm>
                <a:off x="5041340" y="3419306"/>
                <a:ext cx="3686924" cy="2677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099C-7DE6-B5BF-E46D-61FA2C280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340" y="3419306"/>
                <a:ext cx="3686924" cy="26775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350119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584538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87658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188258" y="4475657"/>
            <a:ext cx="8955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지남에 따라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증가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negative feedback &gt;&gt; </a:t>
            </a:r>
            <a:r>
              <a: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전자가 빠진 이후에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 </a:t>
            </a:r>
            <a:r>
              <a: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영향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D0C25ED-410E-A464-2C83-F475159E43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879"/>
          <a:stretch>
            <a:fillRect/>
          </a:stretch>
        </p:blipFill>
        <p:spPr>
          <a:xfrm>
            <a:off x="4968633" y="1104799"/>
            <a:ext cx="3421610" cy="22228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B448BA-4260-CB84-89A7-9396E12A13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5"/>
          <a:stretch>
            <a:fillRect/>
          </a:stretch>
        </p:blipFill>
        <p:spPr>
          <a:xfrm>
            <a:off x="421797" y="1298127"/>
            <a:ext cx="4474053" cy="2204491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2FCA1AF-DDCF-5D45-8778-ED60C1D56F79}"/>
              </a:ext>
            </a:extLst>
          </p:cNvPr>
          <p:cNvCxnSpPr>
            <a:cxnSpLocks/>
          </p:cNvCxnSpPr>
          <p:nvPr/>
        </p:nvCxnSpPr>
        <p:spPr>
          <a:xfrm>
            <a:off x="1231900" y="1871780"/>
            <a:ext cx="0" cy="109887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8313DEC-8AB0-8EE3-CB67-7AFF82A06E2B}"/>
              </a:ext>
            </a:extLst>
          </p:cNvPr>
          <p:cNvCxnSpPr>
            <a:cxnSpLocks/>
          </p:cNvCxnSpPr>
          <p:nvPr/>
        </p:nvCxnSpPr>
        <p:spPr>
          <a:xfrm>
            <a:off x="2730500" y="1795580"/>
            <a:ext cx="0" cy="117507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47A6DFD-47B3-1AA1-819D-2DDB0BF5E2FE}"/>
              </a:ext>
            </a:extLst>
          </p:cNvPr>
          <p:cNvCxnSpPr>
            <a:cxnSpLocks/>
          </p:cNvCxnSpPr>
          <p:nvPr/>
        </p:nvCxnSpPr>
        <p:spPr>
          <a:xfrm>
            <a:off x="1981198" y="1830505"/>
            <a:ext cx="0" cy="114015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4ED836D-6124-94A0-8986-DDC24CC0BCFB}"/>
              </a:ext>
            </a:extLst>
          </p:cNvPr>
          <p:cNvCxnSpPr>
            <a:cxnSpLocks/>
          </p:cNvCxnSpPr>
          <p:nvPr/>
        </p:nvCxnSpPr>
        <p:spPr>
          <a:xfrm>
            <a:off x="1731432" y="1764715"/>
            <a:ext cx="0" cy="120594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9BC1CD3-CC55-B584-6AD0-4272D011ACFF}"/>
              </a:ext>
            </a:extLst>
          </p:cNvPr>
          <p:cNvCxnSpPr>
            <a:cxnSpLocks/>
          </p:cNvCxnSpPr>
          <p:nvPr/>
        </p:nvCxnSpPr>
        <p:spPr>
          <a:xfrm>
            <a:off x="1481666" y="1764715"/>
            <a:ext cx="0" cy="120594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E6B8D4C-E895-7BA5-5E0A-B6E13CA85572}"/>
              </a:ext>
            </a:extLst>
          </p:cNvPr>
          <p:cNvCxnSpPr>
            <a:cxnSpLocks/>
          </p:cNvCxnSpPr>
          <p:nvPr/>
        </p:nvCxnSpPr>
        <p:spPr>
          <a:xfrm>
            <a:off x="2480730" y="1823361"/>
            <a:ext cx="0" cy="114729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183EDA8-85BC-E66C-5288-E97EB33E423B}"/>
              </a:ext>
            </a:extLst>
          </p:cNvPr>
          <p:cNvCxnSpPr>
            <a:cxnSpLocks/>
          </p:cNvCxnSpPr>
          <p:nvPr/>
        </p:nvCxnSpPr>
        <p:spPr>
          <a:xfrm>
            <a:off x="2230964" y="1835268"/>
            <a:ext cx="0" cy="113539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241539E-779E-1500-4EA7-04C8797CB6DD}"/>
              </a:ext>
            </a:extLst>
          </p:cNvPr>
          <p:cNvCxnSpPr>
            <a:cxnSpLocks/>
          </p:cNvCxnSpPr>
          <p:nvPr/>
        </p:nvCxnSpPr>
        <p:spPr>
          <a:xfrm>
            <a:off x="234950" y="2575518"/>
            <a:ext cx="249555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919C873-9995-60C8-5A95-9BB4E69E8CEA}"/>
              </a:ext>
            </a:extLst>
          </p:cNvPr>
          <p:cNvSpPr txBox="1"/>
          <p:nvPr/>
        </p:nvSpPr>
        <p:spPr>
          <a:xfrm>
            <a:off x="-64" y="3468187"/>
            <a:ext cx="10679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 [s]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|TC|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감소량</a:t>
            </a:r>
            <a:endParaRPr lang="en-US" altLang="ko-KR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최종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 [s]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003D96-646F-7F7C-F198-20607C76B9E6}"/>
              </a:ext>
            </a:extLst>
          </p:cNvPr>
          <p:cNvSpPr txBox="1"/>
          <p:nvPr/>
        </p:nvSpPr>
        <p:spPr>
          <a:xfrm>
            <a:off x="1682416" y="121113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6 nm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81A5BB-6477-A86C-A00E-2828511AC637}"/>
              </a:ext>
            </a:extLst>
          </p:cNvPr>
          <p:cNvSpPr txBox="1"/>
          <p:nvPr/>
        </p:nvSpPr>
        <p:spPr>
          <a:xfrm>
            <a:off x="1370353" y="1526843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 nm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4693F00-E54C-B225-5802-7C19805BF376}"/>
              </a:ext>
            </a:extLst>
          </p:cNvPr>
          <p:cNvCxnSpPr>
            <a:cxnSpLocks/>
          </p:cNvCxnSpPr>
          <p:nvPr/>
        </p:nvCxnSpPr>
        <p:spPr>
          <a:xfrm>
            <a:off x="1231900" y="2970659"/>
            <a:ext cx="79304" cy="50944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39A550C-6808-30C9-4F4A-1671579D2A12}"/>
              </a:ext>
            </a:extLst>
          </p:cNvPr>
          <p:cNvCxnSpPr>
            <a:cxnSpLocks/>
          </p:cNvCxnSpPr>
          <p:nvPr/>
        </p:nvCxnSpPr>
        <p:spPr>
          <a:xfrm>
            <a:off x="1481380" y="2970659"/>
            <a:ext cx="300956" cy="49745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60F916B-48B7-1C01-3483-1E359FDE7C42}"/>
              </a:ext>
            </a:extLst>
          </p:cNvPr>
          <p:cNvCxnSpPr>
            <a:cxnSpLocks/>
          </p:cNvCxnSpPr>
          <p:nvPr/>
        </p:nvCxnSpPr>
        <p:spPr>
          <a:xfrm>
            <a:off x="1730860" y="2970659"/>
            <a:ext cx="624271" cy="50488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09A899E-2CDA-163D-AF26-0E0637B71CE7}"/>
              </a:ext>
            </a:extLst>
          </p:cNvPr>
          <p:cNvCxnSpPr>
            <a:cxnSpLocks/>
          </p:cNvCxnSpPr>
          <p:nvPr/>
        </p:nvCxnSpPr>
        <p:spPr>
          <a:xfrm>
            <a:off x="1980340" y="2970659"/>
            <a:ext cx="1040719" cy="5471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7193EE15-A210-24BC-9672-998EE7F4767B}"/>
              </a:ext>
            </a:extLst>
          </p:cNvPr>
          <p:cNvCxnSpPr>
            <a:cxnSpLocks/>
          </p:cNvCxnSpPr>
          <p:nvPr/>
        </p:nvCxnSpPr>
        <p:spPr>
          <a:xfrm>
            <a:off x="2229820" y="2970659"/>
            <a:ext cx="1560550" cy="5471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A46C35A7-75FB-32E3-1050-8F709739C8B9}"/>
              </a:ext>
            </a:extLst>
          </p:cNvPr>
          <p:cNvCxnSpPr>
            <a:cxnSpLocks/>
          </p:cNvCxnSpPr>
          <p:nvPr/>
        </p:nvCxnSpPr>
        <p:spPr>
          <a:xfrm>
            <a:off x="2479300" y="2970659"/>
            <a:ext cx="2037131" cy="5471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0E74C36-6BC2-69B9-4347-6AD4420C0A55}"/>
              </a:ext>
            </a:extLst>
          </p:cNvPr>
          <p:cNvCxnSpPr>
            <a:cxnSpLocks/>
          </p:cNvCxnSpPr>
          <p:nvPr/>
        </p:nvCxnSpPr>
        <p:spPr>
          <a:xfrm>
            <a:off x="2728779" y="2970659"/>
            <a:ext cx="2457629" cy="5471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7F309C6-857D-3225-E6D2-DDFA73B8553E}"/>
              </a:ext>
            </a:extLst>
          </p:cNvPr>
          <p:cNvSpPr txBox="1"/>
          <p:nvPr/>
        </p:nvSpPr>
        <p:spPr>
          <a:xfrm>
            <a:off x="1049669" y="3468112"/>
            <a:ext cx="4878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6.23       1.33e4    6.92e7    4.02e11   2.65e15   1.7e19    9.97e23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210EF10-99CD-B10E-56EA-59C1D9E635EA}"/>
              </a:ext>
            </a:extLst>
          </p:cNvPr>
          <p:cNvSpPr txBox="1"/>
          <p:nvPr/>
        </p:nvSpPr>
        <p:spPr>
          <a:xfrm>
            <a:off x="1049669" y="3692995"/>
            <a:ext cx="4826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-21.7%  -24.6%   -25.1%    -22.2%    -17.5%    -8.6%    +456.9%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3C20BB6-6C2B-E0F1-8AFE-D165036BFEC6}"/>
              </a:ext>
            </a:extLst>
          </p:cNvPr>
          <p:cNvSpPr txBox="1"/>
          <p:nvPr/>
        </p:nvSpPr>
        <p:spPr>
          <a:xfrm>
            <a:off x="1049669" y="3933480"/>
            <a:ext cx="4878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8.44       1.88e4    9.87e7    5.46e11    3.39e15  1.96e19   1.8e23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99" name="그래픽 98">
            <a:extLst>
              <a:ext uri="{FF2B5EF4-FFF2-40B4-BE49-F238E27FC236}">
                <a16:creationId xmlns:a16="http://schemas.microsoft.com/office/drawing/2014/main" id="{4FCA50A6-A29D-2E3B-4D72-2AA6E3D3B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3166" r="1" b="23139"/>
          <a:stretch>
            <a:fillRect/>
          </a:stretch>
        </p:blipFill>
        <p:spPr>
          <a:xfrm>
            <a:off x="7633519" y="2929089"/>
            <a:ext cx="1291860" cy="1469315"/>
          </a:xfrm>
          <a:prstGeom prst="rect">
            <a:avLst/>
          </a:prstGeom>
        </p:spPr>
      </p:pic>
      <p:sp>
        <p:nvSpPr>
          <p:cNvPr id="100" name="화살표: 왼쪽으로 구부러짐 99">
            <a:extLst>
              <a:ext uri="{FF2B5EF4-FFF2-40B4-BE49-F238E27FC236}">
                <a16:creationId xmlns:a16="http://schemas.microsoft.com/office/drawing/2014/main" id="{19E23A85-2DDD-355D-5A27-B618CC4B6532}"/>
              </a:ext>
            </a:extLst>
          </p:cNvPr>
          <p:cNvSpPr/>
          <p:nvPr/>
        </p:nvSpPr>
        <p:spPr>
          <a:xfrm>
            <a:off x="5762544" y="3555938"/>
            <a:ext cx="361950" cy="584851"/>
          </a:xfrm>
          <a:prstGeom prst="curved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C31D0B5-D217-2D41-6EF5-DCA120D98CB2}"/>
              </a:ext>
            </a:extLst>
          </p:cNvPr>
          <p:cNvSpPr txBox="1"/>
          <p:nvPr/>
        </p:nvSpPr>
        <p:spPr>
          <a:xfrm>
            <a:off x="6112388" y="3517822"/>
            <a:ext cx="1285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전체적으로 시간이 지남에 따라 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 </a:t>
            </a:r>
            <a:r>
              <a: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증가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3B13753-68DA-2540-5CBC-1D7DB31F50F0}"/>
              </a:ext>
            </a:extLst>
          </p:cNvPr>
          <p:cNvCxnSpPr/>
          <p:nvPr/>
        </p:nvCxnSpPr>
        <p:spPr>
          <a:xfrm>
            <a:off x="1231900" y="1518915"/>
            <a:ext cx="14968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9D964FC-1694-0501-A93B-6989DF2D4B3B}"/>
              </a:ext>
            </a:extLst>
          </p:cNvPr>
          <p:cNvCxnSpPr>
            <a:cxnSpLocks/>
          </p:cNvCxnSpPr>
          <p:nvPr/>
        </p:nvCxnSpPr>
        <p:spPr>
          <a:xfrm>
            <a:off x="1481380" y="1765980"/>
            <a:ext cx="24948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73F32B-8553-EEB2-189C-2991041202DF}"/>
              </a:ext>
            </a:extLst>
          </p:cNvPr>
          <p:cNvSpPr txBox="1"/>
          <p:nvPr/>
        </p:nvSpPr>
        <p:spPr>
          <a:xfrm>
            <a:off x="565151" y="1693758"/>
            <a:ext cx="550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5CD7D-0C75-CC2C-EB14-A7381F112DCF}"/>
              </a:ext>
            </a:extLst>
          </p:cNvPr>
          <p:cNvSpPr txBox="1"/>
          <p:nvPr/>
        </p:nvSpPr>
        <p:spPr>
          <a:xfrm>
            <a:off x="3454524" y="1861512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62C76-8F70-6CEB-3662-DE2EA5FD5A14}"/>
              </a:ext>
            </a:extLst>
          </p:cNvPr>
          <p:cNvSpPr txBox="1"/>
          <p:nvPr/>
        </p:nvSpPr>
        <p:spPr>
          <a:xfrm>
            <a:off x="1832118" y="151055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332862"/>
              </p:ext>
            </p:extLst>
          </p:nvPr>
        </p:nvGraphicFramePr>
        <p:xfrm>
          <a:off x="4246004" y="280320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80320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751349"/>
              </p:ext>
            </p:extLst>
          </p:nvPr>
        </p:nvGraphicFramePr>
        <p:xfrm>
          <a:off x="329810" y="280320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80320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545907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4315364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988872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269238"/>
            <a:ext cx="37024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calculation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환경에서 높은 정확성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간의 수렴 상관 관계를 활용하여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emulation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환경 구현 및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AAEF8-94FC-13F9-82B0-53BB1186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</a:t>
            </a:r>
            <a:r>
              <a:rPr lang="en-US" altLang="ko-KR" dirty="0" err="1"/>
              <a:t>Detrapping</a:t>
            </a:r>
            <a:r>
              <a:rPr lang="en-US" altLang="ko-KR" dirty="0"/>
              <a:t> in Various Temperature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289A3-88DF-63E7-DCE7-32BC11608891}"/>
              </a:ext>
            </a:extLst>
          </p:cNvPr>
          <p:cNvSpPr txBox="1"/>
          <p:nvPr/>
        </p:nvSpPr>
        <p:spPr>
          <a:xfrm>
            <a:off x="358260" y="1041547"/>
            <a:ext cx="5939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activation: nonradiative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multiphonon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transition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CDE97B5-0570-3FD3-EE80-C845C427F3A7}"/>
              </a:ext>
            </a:extLst>
          </p:cNvPr>
          <p:cNvSpPr txBox="1"/>
          <p:nvPr/>
        </p:nvSpPr>
        <p:spPr>
          <a:xfrm>
            <a:off x="5425383" y="1918054"/>
            <a:ext cx="32830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Phonon-assisted emission model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Transmission coefficient transition level adaptable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6B20529E-86B1-8F89-C9FD-7E143B69AD1F}"/>
              </a:ext>
            </a:extLst>
          </p:cNvPr>
          <p:cNvGrpSpPr/>
          <p:nvPr/>
        </p:nvGrpSpPr>
        <p:grpSpPr>
          <a:xfrm>
            <a:off x="755508" y="1649304"/>
            <a:ext cx="4455658" cy="2168715"/>
            <a:chOff x="1444707" y="1680162"/>
            <a:chExt cx="4455658" cy="2168715"/>
          </a:xfrm>
        </p:grpSpPr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E90ABCB6-AC77-8948-5E0E-FA696EEA42E5}"/>
                </a:ext>
              </a:extLst>
            </p:cNvPr>
            <p:cNvSpPr/>
            <p:nvPr/>
          </p:nvSpPr>
          <p:spPr>
            <a:xfrm>
              <a:off x="1444707" y="1680162"/>
              <a:ext cx="2339069" cy="1943099"/>
            </a:xfrm>
            <a:custGeom>
              <a:avLst/>
              <a:gdLst>
                <a:gd name="csX0" fmla="*/ 0 w 1378477"/>
                <a:gd name="csY0" fmla="*/ 1145121 h 1145121"/>
                <a:gd name="csX1" fmla="*/ 379771 w 1378477"/>
                <a:gd name="csY1" fmla="*/ 1141379 h 1145121"/>
                <a:gd name="csX2" fmla="*/ 379771 w 1378477"/>
                <a:gd name="csY2" fmla="*/ 311285 h 1145121"/>
                <a:gd name="csX3" fmla="*/ 1378477 w 1378477"/>
                <a:gd name="csY3" fmla="*/ 0 h 1145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78477" h="1145121">
                  <a:moveTo>
                    <a:pt x="0" y="1145121"/>
                  </a:moveTo>
                  <a:lnTo>
                    <a:pt x="379771" y="1141379"/>
                  </a:lnTo>
                  <a:lnTo>
                    <a:pt x="379771" y="311285"/>
                  </a:lnTo>
                  <a:lnTo>
                    <a:pt x="1378477" y="0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A7A4F6C-036B-86EC-25AA-28DE3D4F0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9180" y="2734896"/>
              <a:ext cx="199966" cy="199966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F76D312-57A0-AC02-B35F-B989A1B1844B}"/>
                </a:ext>
              </a:extLst>
            </p:cNvPr>
            <p:cNvCxnSpPr>
              <a:cxnSpLocks/>
            </p:cNvCxnSpPr>
            <p:nvPr/>
          </p:nvCxnSpPr>
          <p:spPr>
            <a:xfrm>
              <a:off x="3016732" y="1797827"/>
              <a:ext cx="0" cy="205105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0AB65C56-9860-6407-8BB1-594B3BA5608E}"/>
                </a:ext>
              </a:extLst>
            </p:cNvPr>
            <p:cNvSpPr/>
            <p:nvPr/>
          </p:nvSpPr>
          <p:spPr>
            <a:xfrm rot="2277750">
              <a:off x="3064350" y="3081032"/>
              <a:ext cx="689771" cy="152427"/>
            </a:xfrm>
            <a:custGeom>
              <a:avLst/>
              <a:gdLst>
                <a:gd name="csX0" fmla="*/ 0 w 4330700"/>
                <a:gd name="csY0" fmla="*/ 76210 h 152427"/>
                <a:gd name="csX1" fmla="*/ 736600 w 4330700"/>
                <a:gd name="csY1" fmla="*/ 82560 h 152427"/>
                <a:gd name="csX2" fmla="*/ 1092200 w 4330700"/>
                <a:gd name="csY2" fmla="*/ 10 h 152427"/>
                <a:gd name="csX3" fmla="*/ 1454150 w 4330700"/>
                <a:gd name="csY3" fmla="*/ 76210 h 152427"/>
                <a:gd name="csX4" fmla="*/ 1809750 w 4330700"/>
                <a:gd name="csY4" fmla="*/ 146060 h 152427"/>
                <a:gd name="csX5" fmla="*/ 2171700 w 4330700"/>
                <a:gd name="csY5" fmla="*/ 82560 h 152427"/>
                <a:gd name="csX6" fmla="*/ 2533650 w 4330700"/>
                <a:gd name="csY6" fmla="*/ 6360 h 152427"/>
                <a:gd name="csX7" fmla="*/ 2889250 w 4330700"/>
                <a:gd name="csY7" fmla="*/ 76210 h 152427"/>
                <a:gd name="csX8" fmla="*/ 3251200 w 4330700"/>
                <a:gd name="csY8" fmla="*/ 152410 h 152427"/>
                <a:gd name="csX9" fmla="*/ 3613150 w 4330700"/>
                <a:gd name="csY9" fmla="*/ 82560 h 152427"/>
                <a:gd name="csX10" fmla="*/ 3968750 w 4330700"/>
                <a:gd name="csY10" fmla="*/ 6360 h 152427"/>
                <a:gd name="csX11" fmla="*/ 4330700 w 4330700"/>
                <a:gd name="csY11" fmla="*/ 82560 h 152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330700" h="152427">
                  <a:moveTo>
                    <a:pt x="0" y="76210"/>
                  </a:moveTo>
                  <a:cubicBezTo>
                    <a:pt x="277283" y="85735"/>
                    <a:pt x="554567" y="95260"/>
                    <a:pt x="736600" y="82560"/>
                  </a:cubicBezTo>
                  <a:cubicBezTo>
                    <a:pt x="918633" y="69860"/>
                    <a:pt x="972608" y="1068"/>
                    <a:pt x="1092200" y="10"/>
                  </a:cubicBezTo>
                  <a:cubicBezTo>
                    <a:pt x="1211792" y="-1048"/>
                    <a:pt x="1454150" y="76210"/>
                    <a:pt x="1454150" y="76210"/>
                  </a:cubicBezTo>
                  <a:cubicBezTo>
                    <a:pt x="1573742" y="100552"/>
                    <a:pt x="1690158" y="145002"/>
                    <a:pt x="1809750" y="146060"/>
                  </a:cubicBezTo>
                  <a:cubicBezTo>
                    <a:pt x="1929342" y="147118"/>
                    <a:pt x="2051050" y="105843"/>
                    <a:pt x="2171700" y="82560"/>
                  </a:cubicBezTo>
                  <a:cubicBezTo>
                    <a:pt x="2292350" y="59277"/>
                    <a:pt x="2414058" y="7418"/>
                    <a:pt x="2533650" y="6360"/>
                  </a:cubicBezTo>
                  <a:cubicBezTo>
                    <a:pt x="2653242" y="5302"/>
                    <a:pt x="2889250" y="76210"/>
                    <a:pt x="2889250" y="76210"/>
                  </a:cubicBezTo>
                  <a:cubicBezTo>
                    <a:pt x="3008842" y="100552"/>
                    <a:pt x="3130550" y="151352"/>
                    <a:pt x="3251200" y="152410"/>
                  </a:cubicBezTo>
                  <a:cubicBezTo>
                    <a:pt x="3371850" y="153468"/>
                    <a:pt x="3493558" y="106902"/>
                    <a:pt x="3613150" y="82560"/>
                  </a:cubicBezTo>
                  <a:cubicBezTo>
                    <a:pt x="3732742" y="58218"/>
                    <a:pt x="3849158" y="6360"/>
                    <a:pt x="3968750" y="6360"/>
                  </a:cubicBezTo>
                  <a:cubicBezTo>
                    <a:pt x="4088342" y="6360"/>
                    <a:pt x="4209521" y="44460"/>
                    <a:pt x="4330700" y="82560"/>
                  </a:cubicBezTo>
                </a:path>
              </a:pathLst>
            </a:custGeom>
            <a:noFill/>
            <a:ln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F2A09C9F-648B-9CFC-3331-8D6BFE46B785}"/>
                </a:ext>
              </a:extLst>
            </p:cNvPr>
            <p:cNvSpPr/>
            <p:nvPr/>
          </p:nvSpPr>
          <p:spPr>
            <a:xfrm rot="8849146">
              <a:off x="2302695" y="3100378"/>
              <a:ext cx="689771" cy="152427"/>
            </a:xfrm>
            <a:custGeom>
              <a:avLst/>
              <a:gdLst>
                <a:gd name="csX0" fmla="*/ 0 w 4330700"/>
                <a:gd name="csY0" fmla="*/ 76210 h 152427"/>
                <a:gd name="csX1" fmla="*/ 736600 w 4330700"/>
                <a:gd name="csY1" fmla="*/ 82560 h 152427"/>
                <a:gd name="csX2" fmla="*/ 1092200 w 4330700"/>
                <a:gd name="csY2" fmla="*/ 10 h 152427"/>
                <a:gd name="csX3" fmla="*/ 1454150 w 4330700"/>
                <a:gd name="csY3" fmla="*/ 76210 h 152427"/>
                <a:gd name="csX4" fmla="*/ 1809750 w 4330700"/>
                <a:gd name="csY4" fmla="*/ 146060 h 152427"/>
                <a:gd name="csX5" fmla="*/ 2171700 w 4330700"/>
                <a:gd name="csY5" fmla="*/ 82560 h 152427"/>
                <a:gd name="csX6" fmla="*/ 2533650 w 4330700"/>
                <a:gd name="csY6" fmla="*/ 6360 h 152427"/>
                <a:gd name="csX7" fmla="*/ 2889250 w 4330700"/>
                <a:gd name="csY7" fmla="*/ 76210 h 152427"/>
                <a:gd name="csX8" fmla="*/ 3251200 w 4330700"/>
                <a:gd name="csY8" fmla="*/ 152410 h 152427"/>
                <a:gd name="csX9" fmla="*/ 3613150 w 4330700"/>
                <a:gd name="csY9" fmla="*/ 82560 h 152427"/>
                <a:gd name="csX10" fmla="*/ 3968750 w 4330700"/>
                <a:gd name="csY10" fmla="*/ 6360 h 152427"/>
                <a:gd name="csX11" fmla="*/ 4330700 w 4330700"/>
                <a:gd name="csY11" fmla="*/ 82560 h 152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330700" h="152427">
                  <a:moveTo>
                    <a:pt x="0" y="76210"/>
                  </a:moveTo>
                  <a:cubicBezTo>
                    <a:pt x="277283" y="85735"/>
                    <a:pt x="554567" y="95260"/>
                    <a:pt x="736600" y="82560"/>
                  </a:cubicBezTo>
                  <a:cubicBezTo>
                    <a:pt x="918633" y="69860"/>
                    <a:pt x="972608" y="1068"/>
                    <a:pt x="1092200" y="10"/>
                  </a:cubicBezTo>
                  <a:cubicBezTo>
                    <a:pt x="1211792" y="-1048"/>
                    <a:pt x="1454150" y="76210"/>
                    <a:pt x="1454150" y="76210"/>
                  </a:cubicBezTo>
                  <a:cubicBezTo>
                    <a:pt x="1573742" y="100552"/>
                    <a:pt x="1690158" y="145002"/>
                    <a:pt x="1809750" y="146060"/>
                  </a:cubicBezTo>
                  <a:cubicBezTo>
                    <a:pt x="1929342" y="147118"/>
                    <a:pt x="2051050" y="105843"/>
                    <a:pt x="2171700" y="82560"/>
                  </a:cubicBezTo>
                  <a:cubicBezTo>
                    <a:pt x="2292350" y="59277"/>
                    <a:pt x="2414058" y="7418"/>
                    <a:pt x="2533650" y="6360"/>
                  </a:cubicBezTo>
                  <a:cubicBezTo>
                    <a:pt x="2653242" y="5302"/>
                    <a:pt x="2889250" y="76210"/>
                    <a:pt x="2889250" y="76210"/>
                  </a:cubicBezTo>
                  <a:cubicBezTo>
                    <a:pt x="3008842" y="100552"/>
                    <a:pt x="3130550" y="151352"/>
                    <a:pt x="3251200" y="152410"/>
                  </a:cubicBezTo>
                  <a:cubicBezTo>
                    <a:pt x="3371850" y="153468"/>
                    <a:pt x="3493558" y="106902"/>
                    <a:pt x="3613150" y="82560"/>
                  </a:cubicBezTo>
                  <a:cubicBezTo>
                    <a:pt x="3732742" y="58218"/>
                    <a:pt x="3849158" y="6360"/>
                    <a:pt x="3968750" y="6360"/>
                  </a:cubicBezTo>
                  <a:cubicBezTo>
                    <a:pt x="4088342" y="6360"/>
                    <a:pt x="4209521" y="44460"/>
                    <a:pt x="4330700" y="82560"/>
                  </a:cubicBezTo>
                </a:path>
              </a:pathLst>
            </a:custGeom>
            <a:noFill/>
            <a:ln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화살표: 굽음 37">
              <a:extLst>
                <a:ext uri="{FF2B5EF4-FFF2-40B4-BE49-F238E27FC236}">
                  <a16:creationId xmlns:a16="http://schemas.microsoft.com/office/drawing/2014/main" id="{8EC8FE2D-E4B1-4594-4E27-E2E5153BBE17}"/>
                </a:ext>
              </a:extLst>
            </p:cNvPr>
            <p:cNvSpPr/>
            <p:nvPr/>
          </p:nvSpPr>
          <p:spPr>
            <a:xfrm flipH="1">
              <a:off x="1968579" y="2495788"/>
              <a:ext cx="1073137" cy="239108"/>
            </a:xfrm>
            <a:prstGeom prst="bentArrow">
              <a:avLst>
                <a:gd name="adj1" fmla="val 12319"/>
                <a:gd name="adj2" fmla="val 14048"/>
                <a:gd name="adj3" fmla="val 27305"/>
                <a:gd name="adj4" fmla="val 4375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57F5769-42C2-7487-0294-E49E9375D03C}"/>
                </a:ext>
              </a:extLst>
            </p:cNvPr>
            <p:cNvSpPr txBox="1"/>
            <p:nvPr/>
          </p:nvSpPr>
          <p:spPr>
            <a:xfrm>
              <a:off x="3252865" y="3306013"/>
              <a:ext cx="13468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phonon interaction</a:t>
              </a:r>
              <a:endParaRPr lang="ko-KR" altLang="en-US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715BFF-FB43-F85A-4290-6051D53CD4E8}"/>
                </a:ext>
              </a:extLst>
            </p:cNvPr>
            <p:cNvSpPr txBox="1"/>
            <p:nvPr/>
          </p:nvSpPr>
          <p:spPr>
            <a:xfrm>
              <a:off x="3945984" y="2965780"/>
              <a:ext cx="19543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: lattice phonon property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6A1603A-3288-03BF-46A2-A8682C5D3A33}"/>
                    </a:ext>
                  </a:extLst>
                </p:cNvPr>
                <p:cNvSpPr txBox="1"/>
                <p:nvPr/>
              </p:nvSpPr>
              <p:spPr>
                <a:xfrm>
                  <a:off x="2302728" y="2165595"/>
                  <a:ext cx="46355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6A1603A-3288-03BF-46A2-A8682C5D3A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2728" y="2165595"/>
                  <a:ext cx="46355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0F44357A-8C7A-8278-3231-426ED9311E48}"/>
                </a:ext>
              </a:extLst>
            </p:cNvPr>
            <p:cNvCxnSpPr>
              <a:cxnSpLocks/>
            </p:cNvCxnSpPr>
            <p:nvPr/>
          </p:nvCxnSpPr>
          <p:spPr>
            <a:xfrm>
              <a:off x="2766278" y="2834879"/>
              <a:ext cx="72629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CC9021B7-7EAA-EC19-D782-C72830243D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1927" y="2143179"/>
              <a:ext cx="235378" cy="2451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AEF7956-B3F6-F7E7-8870-D20C9EA07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0447" y="2111275"/>
              <a:ext cx="345053" cy="3594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DE77B706-31CE-1F48-B2BA-E349BA284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2823" y="2041343"/>
              <a:ext cx="164942" cy="1718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F291DA89-5FDB-CDE7-CF1A-4CDE6D43B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0390" y="1999925"/>
              <a:ext cx="204701" cy="2132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FD0F03F2-4FE7-A807-04C9-6CAD9C8E0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608" y="1958507"/>
              <a:ext cx="234809" cy="2446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D5166EEC-3FE6-E82B-1601-699D055A1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924" y="1917089"/>
              <a:ext cx="259817" cy="2706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46C85FAF-24E5-FC9B-E1B2-3DDFCBACD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703" y="2065612"/>
              <a:ext cx="422608" cy="440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BC3F05E7-D992-99CA-5A88-C8BE80D5A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51" y="2404479"/>
              <a:ext cx="97312" cy="1013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D188B6CE-314F-7F47-1142-7F1E140FF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7599" y="2414651"/>
              <a:ext cx="87548" cy="9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23899F8C-9477-399B-EF30-BE6E078780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1047" y="2407392"/>
              <a:ext cx="94516" cy="984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DE139ED-F7F9-259A-3BB9-15A7CF2E0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4495" y="2176962"/>
              <a:ext cx="315718" cy="3288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47A3A07B-326D-ED8C-E76D-57C5BD1EE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7942" y="2322937"/>
              <a:ext cx="175589" cy="1829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66456F8B-BF51-B312-D115-780E518B7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2887" y="2041271"/>
              <a:ext cx="259817" cy="2706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33C661DD-A4F6-0418-727B-141EDB97B08A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>
              <a:off x="3105020" y="1907248"/>
              <a:ext cx="4126" cy="92763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07933EA-89CC-DCD7-61A7-BD5F8F103A61}"/>
                </a:ext>
              </a:extLst>
            </p:cNvPr>
            <p:cNvSpPr txBox="1"/>
            <p:nvPr/>
          </p:nvSpPr>
          <p:spPr>
            <a:xfrm>
              <a:off x="3048409" y="1931195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0242CEEA-01AE-3DE0-7B21-7662FA8EE00D}"/>
                </a:ext>
              </a:extLst>
            </p:cNvPr>
            <p:cNvCxnSpPr>
              <a:cxnSpLocks/>
            </p:cNvCxnSpPr>
            <p:nvPr/>
          </p:nvCxnSpPr>
          <p:spPr>
            <a:xfrm>
              <a:off x="2830770" y="2514203"/>
              <a:ext cx="66180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102553B-6401-2989-08F8-C2D8D1E28EB0}"/>
                    </a:ext>
                  </a:extLst>
                </p:cNvPr>
                <p:cNvSpPr txBox="1"/>
                <p:nvPr/>
              </p:nvSpPr>
              <p:spPr>
                <a:xfrm>
                  <a:off x="3303365" y="2526263"/>
                  <a:ext cx="51777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altLang="ko-KR" sz="12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𝑤</m:t>
                        </m:r>
                      </m:oMath>
                    </m:oMathPara>
                  </a14:m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102553B-6401-2989-08F8-C2D8D1E28E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365" y="2526263"/>
                  <a:ext cx="51777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FF712E98-13E6-5AB0-9E01-2D3F39B69A76}"/>
                </a:ext>
              </a:extLst>
            </p:cNvPr>
            <p:cNvCxnSpPr>
              <a:cxnSpLocks/>
            </p:cNvCxnSpPr>
            <p:nvPr/>
          </p:nvCxnSpPr>
          <p:spPr>
            <a:xfrm>
              <a:off x="3327606" y="2505851"/>
              <a:ext cx="0" cy="32902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0977DA1-26B6-24FA-7929-6100F6492F35}"/>
                    </a:ext>
                  </a:extLst>
                </p:cNvPr>
                <p:cNvSpPr txBox="1"/>
                <p:nvPr/>
              </p:nvSpPr>
              <p:spPr>
                <a:xfrm>
                  <a:off x="3527534" y="2982008"/>
                  <a:ext cx="56823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US" altLang="ko-KR" sz="14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𝑤</m:t>
                        </m:r>
                      </m:oMath>
                    </m:oMathPara>
                  </a14:m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0977DA1-26B6-24FA-7929-6100F6492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7534" y="2982008"/>
                  <a:ext cx="568232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3C3417D-C00C-4D42-8166-9DC2D4F507FC}"/>
                </a:ext>
              </a:extLst>
            </p:cNvPr>
            <p:cNvSpPr txBox="1"/>
            <p:nvPr/>
          </p:nvSpPr>
          <p:spPr>
            <a:xfrm>
              <a:off x="3657156" y="2495485"/>
              <a:ext cx="21418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: electron energy activation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2E24EC5-2505-8E09-1BDF-0B4EDB58DBA1}"/>
                </a:ext>
              </a:extLst>
            </p:cNvPr>
            <p:cNvSpPr txBox="1"/>
            <p:nvPr/>
          </p:nvSpPr>
          <p:spPr>
            <a:xfrm>
              <a:off x="3124369" y="2147388"/>
              <a:ext cx="15520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Symbol" panose="05050102010706020507" pitchFamily="18" charset="2"/>
                <a:buChar char="Þ"/>
              </a:pP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adaptable |TC|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224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05D74-135C-11E5-1131-10D311BD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</a:t>
            </a:r>
            <a:r>
              <a:rPr lang="en-US" altLang="ko-KR" dirty="0" err="1"/>
              <a:t>Detrapping</a:t>
            </a:r>
            <a:r>
              <a:rPr lang="en-US" altLang="ko-KR" dirty="0"/>
              <a:t> in Various Temperature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79EB54-12E6-E9E3-0920-ADE7928181CF}"/>
                  </a:ext>
                </a:extLst>
              </p:cNvPr>
              <p:cNvSpPr txBox="1"/>
              <p:nvPr/>
            </p:nvSpPr>
            <p:spPr>
              <a:xfrm>
                <a:off x="183266" y="1100831"/>
                <a:ext cx="8777467" cy="1022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𝑝ℎ𝑜𝑛𝑜𝑛</m:t>
                          </m:r>
                        </m:sub>
                      </m:sSub>
                      <m:r>
                        <a:rPr lang="en-US" altLang="ko-KR" sz="20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p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𝐸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𝜔</m:t>
                              </m:r>
                            </m:den>
                          </m:f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𝑆</m:t>
                          </m:r>
                          <m:sSup>
                            <m:sSupPr>
                              <m:ctrlP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𝑆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ko-KR" sz="200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2</m:t>
                                      </m:r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US" altLang="ko-KR" sz="20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  <m:f>
                                    <m:fPr>
                                      <m:ctrlP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𝑝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ℏ</m:t>
                                      </m:r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r>
                                        <a:rPr lang="en-US" altLang="ko-KR" sz="20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𝜉</m:t>
                              </m:r>
                            </m:e>
                          </m:d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79EB54-12E6-E9E3-0920-ADE792818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66" y="1100831"/>
                <a:ext cx="8777467" cy="1022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4A4CE6-C4E9-5208-B215-8E5B5E77CAB7}"/>
                  </a:ext>
                </a:extLst>
              </p:cNvPr>
              <p:cNvSpPr txBox="1"/>
              <p:nvPr/>
            </p:nvSpPr>
            <p:spPr>
              <a:xfrm>
                <a:off x="1672266" y="2189182"/>
                <a:ext cx="5104026" cy="783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𝑇𝐶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m</m:t>
                                        </m:r>
                                      </m:e>
                                      <m:sup>
                                        <m:r>
                                          <a:rPr lang="ko-KR" altLang="en-US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00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ℏ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q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ℎ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𝑝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ℏ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l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𝑝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ℏ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4A4CE6-C4E9-5208-B215-8E5B5E77C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266" y="2189182"/>
                <a:ext cx="5104026" cy="783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D72DD3B-111A-F195-9A53-947C742B2889}"/>
              </a:ext>
            </a:extLst>
          </p:cNvPr>
          <p:cNvSpPr txBox="1"/>
          <p:nvPr/>
        </p:nvSpPr>
        <p:spPr>
          <a:xfrm>
            <a:off x="796705" y="2381062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where,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FE72539-8FAD-6D49-0FCF-C671CED2C7B7}"/>
              </a:ext>
            </a:extLst>
          </p:cNvPr>
          <p:cNvGrpSpPr/>
          <p:nvPr/>
        </p:nvGrpSpPr>
        <p:grpSpPr>
          <a:xfrm>
            <a:off x="457455" y="4124338"/>
            <a:ext cx="8686545" cy="2390100"/>
            <a:chOff x="457455" y="4244849"/>
            <a:chExt cx="8686545" cy="23901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33F150-292F-44DB-6BC7-7F88531572D5}"/>
                </a:ext>
              </a:extLst>
            </p:cNvPr>
            <p:cNvSpPr txBox="1"/>
            <p:nvPr/>
          </p:nvSpPr>
          <p:spPr>
            <a:xfrm>
              <a:off x="6893830" y="6381033"/>
              <a:ext cx="225017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50" b="1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Times New Roman"/>
                  <a:ea typeface="맑은 고딕"/>
                  <a:cs typeface="Times New Roman"/>
                </a:rPr>
                <a:t>Palma, </a:t>
              </a:r>
              <a:r>
                <a:rPr lang="en-US" altLang="ko-KR" sz="1050" b="1" i="1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Times New Roman"/>
                  <a:ea typeface="맑은 고딕"/>
                  <a:cs typeface="Times New Roman"/>
                </a:rPr>
                <a:t>Physcis</a:t>
              </a:r>
              <a:r>
                <a:rPr lang="en-US" altLang="ko-KR" sz="1050" b="1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Times New Roman"/>
                  <a:ea typeface="맑은 고딕"/>
                  <a:cs typeface="Times New Roman"/>
                </a:rPr>
                <a:t> Review B 1997</a:t>
              </a:r>
              <a:endParaRPr lang="ko-KR" altLang="en-US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837BBD-AF90-D7EC-445D-2BB23C60D556}"/>
                </a:ext>
              </a:extLst>
            </p:cNvPr>
            <p:cNvSpPr txBox="1"/>
            <p:nvPr/>
          </p:nvSpPr>
          <p:spPr>
            <a:xfrm>
              <a:off x="6856855" y="4298090"/>
              <a:ext cx="20249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physical </a:t>
              </a:r>
              <a:r>
                <a:rPr lang="en-US" altLang="ko-KR" sz="2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prefactor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7E59A4-A0F0-611B-3C9F-17B9216EC929}"/>
                </a:ext>
              </a:extLst>
            </p:cNvPr>
            <p:cNvSpPr txBox="1"/>
            <p:nvPr/>
          </p:nvSpPr>
          <p:spPr>
            <a:xfrm>
              <a:off x="4859706" y="5886666"/>
              <a:ext cx="39709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Huang Kernal for phonon absorption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135CC5B-8A83-5D93-BADA-47FD8BE5ABD0}"/>
                    </a:ext>
                  </a:extLst>
                </p:cNvPr>
                <p:cNvSpPr txBox="1"/>
                <p:nvPr/>
              </p:nvSpPr>
              <p:spPr>
                <a:xfrm>
                  <a:off x="457455" y="4244849"/>
                  <a:ext cx="6399401" cy="14635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𝑝ℎ𝑜𝑛𝑜𝑛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∫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</m:t>
                        </m:r>
                      </m:oMath>
                    </m:oMathPara>
                  </a14:m>
                  <a:br>
                    <a:rPr lang="en-US" altLang="ko-KR" sz="20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</a:b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mp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 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ℏ</m:t>
                          </m:r>
                        </m:den>
                      </m:f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𝑆</m:t>
                      </m:r>
                      <m:sSup>
                        <m:sSup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2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𝜋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𝑆</m:t>
                      </m:r>
                      <m:sSup>
                        <m:sSup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𝜔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𝑇𝐶</m:t>
                          </m:r>
                        </m:e>
                      </m:d>
                    </m:oMath>
                  </a14:m>
                  <a:r>
                    <a:rPr lang="en-US" altLang="ko-KR" sz="20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20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 </a:t>
                  </a:r>
                </a:p>
                <a:p>
                  <a:r>
                    <a:rPr lang="en-US" altLang="ko-KR" sz="20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                 </a:t>
                  </a:r>
                  <a14:m>
                    <m:oMath xmlns:m="http://schemas.openxmlformats.org/officeDocument/2006/math"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ℏ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e>
                                  </m:acc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sSup>
                        <m:sSup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e>
                                  </m:acc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+1</m:t>
                                  </m:r>
                                </m:num>
                                <m:den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𝑆</m:t>
                          </m:r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𝑛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e>
                                  </m:acc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rad>
                        </m:e>
                      </m:d>
                    </m:oMath>
                  </a14:m>
                  <a:r>
                    <a:rPr lang="en-US" altLang="ko-KR" sz="20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135CC5B-8A83-5D93-BADA-47FD8BE5A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55" y="4244849"/>
                  <a:ext cx="6399401" cy="1463542"/>
                </a:xfrm>
                <a:prstGeom prst="rect">
                  <a:avLst/>
                </a:prstGeom>
                <a:blipFill>
                  <a:blip r:embed="rId4"/>
                  <a:stretch>
                    <a:fillRect l="-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E12C25-6B7A-09A8-5A25-23AB8AAF4414}"/>
                </a:ext>
              </a:extLst>
            </p:cNvPr>
            <p:cNvSpPr txBox="1"/>
            <p:nvPr/>
          </p:nvSpPr>
          <p:spPr>
            <a:xfrm>
              <a:off x="5462435" y="4905879"/>
              <a:ext cx="33682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nonradiative </a:t>
              </a:r>
              <a:r>
                <a:rPr lang="en-US" altLang="ko-KR" sz="2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multiphonon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term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28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D99B-0E21-6080-CAD2-79C54CE7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A5CD1-EE8C-5D8E-AA98-0EC71C61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</a:t>
            </a:r>
            <a:r>
              <a:rPr lang="en-US" altLang="ko-KR" dirty="0" err="1"/>
              <a:t>Detrapping</a:t>
            </a:r>
            <a:r>
              <a:rPr lang="en-US" altLang="ko-KR" dirty="0"/>
              <a:t> in Various Temperature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AF138-89B4-27FF-1BDA-D43CB7EC019F}"/>
              </a:ext>
            </a:extLst>
          </p:cNvPr>
          <p:cNvSpPr txBox="1"/>
          <p:nvPr/>
        </p:nvSpPr>
        <p:spPr>
          <a:xfrm>
            <a:off x="228600" y="1840647"/>
            <a:ext cx="52262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Phonon assisted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경우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기여도가 매우 작음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Elastic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temperature variation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있긴하나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매우 작음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24F0979E-E2C8-96CA-C087-37BF312ED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821564"/>
              </p:ext>
            </p:extLst>
          </p:nvPr>
        </p:nvGraphicFramePr>
        <p:xfrm>
          <a:off x="279471" y="4076566"/>
          <a:ext cx="3054113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21592" imgH="3317966" progId="Origin50.Graph">
                  <p:embed/>
                </p:oleObj>
              </mc:Choice>
              <mc:Fallback>
                <p:oleObj name="Graph" r:id="rId2" imgW="4721592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9471" y="4076566"/>
                        <a:ext cx="3054113" cy="214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17AF2B09-60C4-CE3B-BB1F-0027B80CC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34723"/>
              </p:ext>
            </p:extLst>
          </p:nvPr>
        </p:nvGraphicFramePr>
        <p:xfrm>
          <a:off x="3044430" y="4076566"/>
          <a:ext cx="305514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22409" imgH="3317966" progId="Origin50.Graph">
                  <p:embed/>
                </p:oleObj>
              </mc:Choice>
              <mc:Fallback>
                <p:oleObj name="Graph" r:id="rId4" imgW="4722409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4430" y="4076566"/>
                        <a:ext cx="3055140" cy="214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개체 11">
            <a:extLst>
              <a:ext uri="{FF2B5EF4-FFF2-40B4-BE49-F238E27FC236}">
                <a16:creationId xmlns:a16="http://schemas.microsoft.com/office/drawing/2014/main" id="{D782B4F9-87F2-3740-BB2B-7CFD380630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188004"/>
              </p:ext>
            </p:extLst>
          </p:nvPr>
        </p:nvGraphicFramePr>
        <p:xfrm>
          <a:off x="5946144" y="4076567"/>
          <a:ext cx="305514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4722409" imgH="3317966" progId="Origin50.Graph">
                  <p:embed/>
                </p:oleObj>
              </mc:Choice>
              <mc:Fallback>
                <p:oleObj name="Graph" r:id="rId6" imgW="4722409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46144" y="4076567"/>
                        <a:ext cx="3055140" cy="214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FA0509ED-F779-D4B9-FD85-B8BFEF30E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9677"/>
              </p:ext>
            </p:extLst>
          </p:nvPr>
        </p:nvGraphicFramePr>
        <p:xfrm>
          <a:off x="5602323" y="1196057"/>
          <a:ext cx="3742782" cy="2629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722409" imgH="3317966" progId="Origin50.Graph">
                  <p:embed/>
                </p:oleObj>
              </mc:Choice>
              <mc:Fallback>
                <p:oleObj name="Graph" r:id="rId8" imgW="4722409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02323" y="1196057"/>
                        <a:ext cx="3742782" cy="2629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A9B88DD-642B-9CF3-9001-AD1225153880}"/>
              </a:ext>
            </a:extLst>
          </p:cNvPr>
          <p:cNvSpPr txBox="1"/>
          <p:nvPr/>
        </p:nvSpPr>
        <p:spPr>
          <a:xfrm>
            <a:off x="228600" y="1098512"/>
            <a:ext cx="4742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temperature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Variation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092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 evaluation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A958F-322E-E80C-E81F-57C893C3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Simplified Compact Model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2151CD-4444-F69D-400E-F62454CB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06" y="1599181"/>
            <a:ext cx="4810789" cy="3378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3F4DC9-8FC9-84FE-4AE0-6093FEC718CA}"/>
              </a:ext>
            </a:extLst>
          </p:cNvPr>
          <p:cNvSpPr txBox="1"/>
          <p:nvPr/>
        </p:nvSpPr>
        <p:spPr>
          <a:xfrm>
            <a:off x="534154" y="977779"/>
            <a:ext cx="6730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(2) 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depth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부분에 대한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discretization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특정하여 활용</a:t>
            </a:r>
          </a:p>
        </p:txBody>
      </p:sp>
    </p:spTree>
    <p:extLst>
      <p:ext uri="{BB962C8B-B14F-4D97-AF65-F5344CB8AC3E}">
        <p14:creationId xmlns:p14="http://schemas.microsoft.com/office/powerpoint/2010/main" val="412394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679450" y="1074509"/>
            <a:ext cx="795784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기여하는 바는 매우 제한적임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기반으로 측정치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alignment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현재 모델 기반으로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room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temperature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55314-3AEF-58D7-08A5-E0BCA061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68A32D-B320-5AB3-2FE1-56293AA36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51436"/>
            <a:ext cx="7496270" cy="538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6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8557</TotalTime>
  <Words>1339</Words>
  <Application>Microsoft Office PowerPoint</Application>
  <PresentationFormat>화면 슬라이드 쇼(4:3)</PresentationFormat>
  <Paragraphs>293</Paragraphs>
  <Slides>23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Noto Sans CJK KR</vt:lpstr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Graph</vt:lpstr>
      <vt:lpstr>Physics-based Modeling and Efficient Computational Frameworks of Detrapping in 3-D NAND Flash </vt:lpstr>
      <vt:lpstr>인품 및 태도</vt:lpstr>
      <vt:lpstr>Content</vt:lpstr>
      <vt:lpstr>Introduction</vt:lpstr>
      <vt:lpstr>BETOX Trapped Electron Detrapping Modeling</vt:lpstr>
      <vt:lpstr>Alignment with Previous Studies</vt:lpstr>
      <vt:lpstr>Alignment with Previous Studies</vt:lpstr>
      <vt:lpstr>Visualization of Charge Node Analysis</vt:lpstr>
      <vt:lpstr>Detailed Poisson Solution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Cryogenic-like Emulation</vt:lpstr>
      <vt:lpstr>CTN Detrapping in Various Temperature</vt:lpstr>
      <vt:lpstr>CTN Detrapping in Various Temperature</vt:lpstr>
      <vt:lpstr>CTN Detrapping in Various Temperature</vt:lpstr>
      <vt:lpstr>Computational Impact</vt:lpstr>
      <vt:lpstr>Simplified Compact Model</vt:lpstr>
      <vt:lpstr>Summary and Future Works</vt:lpstr>
      <vt:lpstr>성적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Myung/Josh Jin</cp:lastModifiedBy>
  <cp:revision>1007</cp:revision>
  <dcterms:created xsi:type="dcterms:W3CDTF">2016-06-02T05:19:04Z</dcterms:created>
  <dcterms:modified xsi:type="dcterms:W3CDTF">2026-09-19T09:06:19Z</dcterms:modified>
  <cp:version/>
</cp:coreProperties>
</file>