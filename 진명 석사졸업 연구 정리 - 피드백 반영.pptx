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2"/>
  </p:notesMasterIdLst>
  <p:sldIdLst>
    <p:sldId id="341" r:id="rId2"/>
    <p:sldId id="334" r:id="rId3"/>
    <p:sldId id="329" r:id="rId4"/>
    <p:sldId id="330" r:id="rId5"/>
    <p:sldId id="331" r:id="rId6"/>
    <p:sldId id="344" r:id="rId7"/>
    <p:sldId id="342" r:id="rId8"/>
    <p:sldId id="343" r:id="rId9"/>
    <p:sldId id="322" r:id="rId10"/>
    <p:sldId id="333" r:id="rId11"/>
    <p:sldId id="320" r:id="rId12"/>
    <p:sldId id="324" r:id="rId13"/>
    <p:sldId id="339" r:id="rId14"/>
    <p:sldId id="323" r:id="rId15"/>
    <p:sldId id="321" r:id="rId16"/>
    <p:sldId id="328" r:id="rId17"/>
    <p:sldId id="337" r:id="rId18"/>
    <p:sldId id="326" r:id="rId19"/>
    <p:sldId id="327" r:id="rId20"/>
    <p:sldId id="338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  <a:srgbClr val="BF7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7300" autoAdjust="0"/>
  </p:normalViewPr>
  <p:slideViewPr>
    <p:cSldViewPr snapToGrid="0">
      <p:cViewPr varScale="1">
        <p:scale>
          <a:sx n="102" d="100"/>
          <a:sy n="102" d="100"/>
        </p:scale>
        <p:origin x="1632" y="102"/>
      </p:cViewPr>
      <p:guideLst>
        <p:guide orient="horz" pos="2183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2CD00562-DF9D-CABC-715B-747888280836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21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e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16.png"/><Relationship Id="rId10" Type="http://schemas.openxmlformats.org/officeDocument/2006/relationships/image" Target="../media/image18.emf"/><Relationship Id="rId4" Type="http://schemas.openxmlformats.org/officeDocument/2006/relationships/image" Target="../media/image48.png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3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oleObject" Target="../embeddings/oleObject1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AD9BE-B151-7AAD-E452-D503C0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739963"/>
            <a:ext cx="8756724" cy="219968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Time-Step-Free Physics-based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Modeling of Retention Loss in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Cryogenic 3-D NAND Flash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B1B79B-E8A0-4133-BFF3-3E14AF3D2439}"/>
              </a:ext>
            </a:extLst>
          </p:cNvPr>
          <p:cNvSpPr txBox="1">
            <a:spLocks/>
          </p:cNvSpPr>
          <p:nvPr/>
        </p:nvSpPr>
        <p:spPr>
          <a:xfrm>
            <a:off x="1151792" y="4683491"/>
            <a:ext cx="6858000" cy="1224940"/>
          </a:xfr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2026. 07. 29</a:t>
            </a: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석사과정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 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B3F3CA-58AA-91BB-A047-308EF26AD10A}"/>
              </a:ext>
            </a:extLst>
          </p:cNvPr>
          <p:cNvSpPr/>
          <p:nvPr/>
        </p:nvSpPr>
        <p:spPr>
          <a:xfrm>
            <a:off x="615460" y="3144045"/>
            <a:ext cx="8159261" cy="1188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 latinLnBrk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defRPr/>
            </a:pPr>
            <a:endParaRPr kumimoji="1" lang="en-US" altLang="ko-KR" sz="25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Seoul National University</a:t>
            </a:r>
            <a:endParaRPr lang="ko-KR" altLang="en-US" sz="2500" b="1" kern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15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130EB-119C-CF9B-60C4-3E5F31E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534FF-2A4F-8DDE-7E26-13F638DD3D8E}"/>
              </a:ext>
            </a:extLst>
          </p:cNvPr>
          <p:cNvSpPr txBox="1"/>
          <p:nvPr/>
        </p:nvSpPr>
        <p:spPr>
          <a:xfrm>
            <a:off x="493614" y="1726575"/>
            <a:ext cx="77764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Introduction: 3-D NAND Flash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제외한 이유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discretization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Physics-Based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계산 효율 분석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 and Future Works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07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D6AAE71-58AD-D1BB-55DE-F3B54D84314F}"/>
              </a:ext>
            </a:extLst>
          </p:cNvPr>
          <p:cNvSpPr txBox="1"/>
          <p:nvPr/>
        </p:nvSpPr>
        <p:spPr>
          <a:xfrm>
            <a:off x="3127118" y="1690062"/>
            <a:ext cx="5762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3-D NAND Flash memory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charge-trap stack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 저장된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통해 정보를 저장함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증가하면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인해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Cylindrical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trapped electron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고려하기 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physics-based 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필요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96CCE7-A280-B373-6CB7-767DEE18E9E2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A1AACC-D995-3921-A447-F6F0B5598086}"/>
              </a:ext>
            </a:extLst>
          </p:cNvPr>
          <p:cNvGrpSpPr/>
          <p:nvPr/>
        </p:nvGrpSpPr>
        <p:grpSpPr>
          <a:xfrm>
            <a:off x="625316" y="1566952"/>
            <a:ext cx="2302341" cy="3689196"/>
            <a:chOff x="625316" y="1412405"/>
            <a:chExt cx="2302341" cy="3689196"/>
          </a:xfrm>
        </p:grpSpPr>
        <p:pic>
          <p:nvPicPr>
            <p:cNvPr id="211" name="그림 210" descr="로고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20E526E3-9043-CED4-08E9-9DE1295E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03" t="12315" r="12187"/>
            <a:stretch/>
          </p:blipFill>
          <p:spPr>
            <a:xfrm>
              <a:off x="625316" y="2205492"/>
              <a:ext cx="2064544" cy="2577269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E6291A-5098-30EC-CE55-4904DD2AD286}"/>
                </a:ext>
              </a:extLst>
            </p:cNvPr>
            <p:cNvSpPr txBox="1"/>
            <p:nvPr/>
          </p:nvSpPr>
          <p:spPr>
            <a:xfrm>
              <a:off x="703153" y="4793824"/>
              <a:ext cx="1687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Trapped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Electrons</a:t>
              </a:r>
              <a:endParaRPr lang="ko-KR" altLang="en-US" sz="1400" dirty="0"/>
            </a:p>
          </p:txBody>
        </p: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84FD8E0-8B22-B661-A154-AEAD7A52D28C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>
              <a:off x="1439704" y="4127520"/>
              <a:ext cx="107156" cy="666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D3D91B11-9F4C-7339-FB02-8BD8F41E62AF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 flipH="1">
              <a:off x="1546860" y="4137587"/>
              <a:ext cx="39287" cy="656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14A09F0-556C-F0DA-D395-2E3A51E11DC2}"/>
                </a:ext>
              </a:extLst>
            </p:cNvPr>
            <p:cNvCxnSpPr>
              <a:cxnSpLocks/>
            </p:cNvCxnSpPr>
            <p:nvPr/>
          </p:nvCxnSpPr>
          <p:spPr>
            <a:xfrm>
              <a:off x="750332" y="2127308"/>
              <a:ext cx="0" cy="23333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71E9B3-EEB0-045E-77D1-9A95134D755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443" y="2172220"/>
              <a:ext cx="0" cy="4336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A9FDE615-9E6E-C667-8CEB-EE0C2EDC663E}"/>
                </a:ext>
              </a:extLst>
            </p:cNvPr>
            <p:cNvCxnSpPr>
              <a:cxnSpLocks/>
            </p:cNvCxnSpPr>
            <p:nvPr/>
          </p:nvCxnSpPr>
          <p:spPr>
            <a:xfrm>
              <a:off x="1601205" y="2172220"/>
              <a:ext cx="0" cy="4604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DA19623C-9C73-8BA2-4C99-310E32D0285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636" y="2172220"/>
              <a:ext cx="0" cy="5903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79E245E-07EE-543F-65EA-417903A97819}"/>
                </a:ext>
              </a:extLst>
            </p:cNvPr>
            <p:cNvCxnSpPr>
              <a:cxnSpLocks/>
            </p:cNvCxnSpPr>
            <p:nvPr/>
          </p:nvCxnSpPr>
          <p:spPr>
            <a:xfrm>
              <a:off x="1751224" y="2172220"/>
              <a:ext cx="0" cy="5531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EA6ED4FB-439C-BD3B-3B49-2107F5462E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199" y="2172220"/>
              <a:ext cx="0" cy="5721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2597E20-58D8-FA05-FCB6-80DCF10EE5B5}"/>
                </a:ext>
              </a:extLst>
            </p:cNvPr>
            <p:cNvSpPr txBox="1"/>
            <p:nvPr/>
          </p:nvSpPr>
          <p:spPr>
            <a:xfrm>
              <a:off x="828785" y="2422178"/>
              <a:ext cx="416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filler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F043AFA-66B6-668E-E15F-51DCBE267CA7}"/>
                </a:ext>
              </a:extLst>
            </p:cNvPr>
            <p:cNvSpPr txBox="1"/>
            <p:nvPr/>
          </p:nvSpPr>
          <p:spPr>
            <a:xfrm>
              <a:off x="1243574" y="141240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channel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F3AAB7A-8D0D-43E6-9770-7BADED14D656}"/>
                </a:ext>
              </a:extLst>
            </p:cNvPr>
            <p:cNvSpPr txBox="1"/>
            <p:nvPr/>
          </p:nvSpPr>
          <p:spPr>
            <a:xfrm>
              <a:off x="1762029" y="1595720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BETOX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25F4E-C1FF-CCA5-9550-AFD410C81D93}"/>
                </a:ext>
              </a:extLst>
            </p:cNvPr>
            <p:cNvSpPr txBox="1"/>
            <p:nvPr/>
          </p:nvSpPr>
          <p:spPr>
            <a:xfrm>
              <a:off x="1955481" y="177077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CTN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04F71FC-466C-DDEF-2C91-25CC717B1DCB}"/>
                </a:ext>
              </a:extLst>
            </p:cNvPr>
            <p:cNvSpPr txBox="1"/>
            <p:nvPr/>
          </p:nvSpPr>
          <p:spPr>
            <a:xfrm>
              <a:off x="2299119" y="1966432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15B0EF47-B033-D9C7-CCD8-5F91DF323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9115" y="1721113"/>
              <a:ext cx="15889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7D685740-6A5A-5851-E175-12DEDAFCB5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4991" y="1897326"/>
              <a:ext cx="17155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2AE7640F-F59B-4118-1378-2C2CAE54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85" y="2089543"/>
              <a:ext cx="2827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89538A71-88D9-E8B1-41CC-8D112A2B4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413" y="1658626"/>
              <a:ext cx="0" cy="5135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6597BB9F-2C9D-14B4-9A0D-D354B585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587" y="1720275"/>
              <a:ext cx="0" cy="49237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9E32A56A-F006-A54A-CBCA-D338A04B5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567" y="1893885"/>
              <a:ext cx="0" cy="375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4A274FDA-4DA0-4DC6-5765-6922987E4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785" y="2089542"/>
              <a:ext cx="0" cy="26972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FD311D3-9D28-3880-7D83-BBA441596096}"/>
                </a:ext>
              </a:extLst>
            </p:cNvPr>
            <p:cNvSpPr txBox="1"/>
            <p:nvPr/>
          </p:nvSpPr>
          <p:spPr>
            <a:xfrm>
              <a:off x="2113200" y="3409811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WL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557ABA5-7680-ABCC-E903-BC38D3F540E3}"/>
                </a:ext>
              </a:extLst>
            </p:cNvPr>
            <p:cNvCxnSpPr/>
            <p:nvPr/>
          </p:nvCxnSpPr>
          <p:spPr>
            <a:xfrm flipH="1" flipV="1">
              <a:off x="1302867" y="402143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E580F8D-3297-EE0F-130D-21EB1E98D1BC}"/>
                </a:ext>
              </a:extLst>
            </p:cNvPr>
            <p:cNvCxnSpPr/>
            <p:nvPr/>
          </p:nvCxnSpPr>
          <p:spPr>
            <a:xfrm flipH="1" flipV="1">
              <a:off x="1302867" y="3939282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35DDF68-9830-E57A-5FAE-3B090ADF0091}"/>
                </a:ext>
              </a:extLst>
            </p:cNvPr>
            <p:cNvCxnSpPr/>
            <p:nvPr/>
          </p:nvCxnSpPr>
          <p:spPr>
            <a:xfrm flipH="1" flipV="1">
              <a:off x="1302867" y="3857129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3C3006B-DBF8-18B3-2F7B-646A490F90F5}"/>
                </a:ext>
              </a:extLst>
            </p:cNvPr>
            <p:cNvCxnSpPr/>
            <p:nvPr/>
          </p:nvCxnSpPr>
          <p:spPr>
            <a:xfrm flipH="1" flipV="1">
              <a:off x="1302867" y="377497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5ED26-D5F2-0715-25F7-DD515645B863}"/>
                </a:ext>
              </a:extLst>
            </p:cNvPr>
            <p:cNvCxnSpPr/>
            <p:nvPr/>
          </p:nvCxnSpPr>
          <p:spPr>
            <a:xfrm flipH="1" flipV="1">
              <a:off x="1302867" y="3692823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DD404D-6C69-7730-BF4B-998E0F350BB2}"/>
                </a:ext>
              </a:extLst>
            </p:cNvPr>
            <p:cNvCxnSpPr/>
            <p:nvPr/>
          </p:nvCxnSpPr>
          <p:spPr>
            <a:xfrm flipH="1" flipV="1">
              <a:off x="1302867" y="360496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6799101-8D2D-7390-4852-97F91DF4343D}"/>
                </a:ext>
              </a:extLst>
            </p:cNvPr>
            <p:cNvCxnSpPr/>
            <p:nvPr/>
          </p:nvCxnSpPr>
          <p:spPr>
            <a:xfrm flipH="1" flipV="1">
              <a:off x="1302867" y="3529584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9423BDF-DB07-A356-8389-EEE89B97C777}"/>
                </a:ext>
              </a:extLst>
            </p:cNvPr>
            <p:cNvCxnSpPr/>
            <p:nvPr/>
          </p:nvCxnSpPr>
          <p:spPr>
            <a:xfrm flipH="1" flipV="1">
              <a:off x="1302867" y="345585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FADE82-12F8-9B83-DDE6-65BBBBA30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416353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896BFB9-0B4A-C5E5-D6D0-2D8A22F01E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548152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2E369B9-A19F-6C09-CCAE-8C1043C0E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679951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65B411AF-FC04-512F-F9FA-A975E53E9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811750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7FDCE58-E30B-D0D6-8FAF-15EA4BEDD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943549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D5945A-7541-1EC8-141A-9576B5E66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631113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E328A6-0FB7-67FD-08DF-1E218E5E9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790102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861D00B-AC07-BD1C-3733-88252F79A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949091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2CFA-4AE9-C87A-A0C4-389C69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CA8A-3E00-E06C-5092-F220B5B4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8F022FD0-ACA4-98C9-1A38-7C6A3D14B528}"/>
              </a:ext>
            </a:extLst>
          </p:cNvPr>
          <p:cNvGrpSpPr/>
          <p:nvPr/>
        </p:nvGrpSpPr>
        <p:grpSpPr>
          <a:xfrm>
            <a:off x="6677510" y="3167467"/>
            <a:ext cx="2200260" cy="3288813"/>
            <a:chOff x="4155873" y="5829539"/>
            <a:chExt cx="2200260" cy="3288813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B0CC0EDB-2980-8DDE-4097-192140646C78}"/>
                </a:ext>
              </a:extLst>
            </p:cNvPr>
            <p:cNvGrpSpPr/>
            <p:nvPr/>
          </p:nvGrpSpPr>
          <p:grpSpPr>
            <a:xfrm>
              <a:off x="4155873" y="5829539"/>
              <a:ext cx="2200260" cy="3288813"/>
              <a:chOff x="4155873" y="5829539"/>
              <a:chExt cx="2200260" cy="3288813"/>
            </a:xfrm>
          </p:grpSpPr>
          <p:pic>
            <p:nvPicPr>
              <p:cNvPr id="182" name="그림 181" descr="스크린샷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1B150861-9878-20FE-6E22-72F9ADF82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56" t="4775" r="29017"/>
              <a:stretch/>
            </p:blipFill>
            <p:spPr>
              <a:xfrm>
                <a:off x="4155873" y="6233981"/>
                <a:ext cx="1987554" cy="2588633"/>
              </a:xfrm>
              <a:prstGeom prst="rect">
                <a:avLst/>
              </a:prstGeom>
            </p:spPr>
          </p:pic>
          <p:sp>
            <p:nvSpPr>
              <p:cNvPr id="183" name="화살표: 아래쪽 182">
                <a:extLst>
                  <a:ext uri="{FF2B5EF4-FFF2-40B4-BE49-F238E27FC236}">
                    <a16:creationId xmlns:a16="http://schemas.microsoft.com/office/drawing/2014/main" id="{1C64350A-9879-73C9-D1DE-E01148706FE9}"/>
                  </a:ext>
                </a:extLst>
              </p:cNvPr>
              <p:cNvSpPr/>
              <p:nvPr/>
            </p:nvSpPr>
            <p:spPr>
              <a:xfrm rot="5400000">
                <a:off x="4689525" y="8049405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4" name="화살표: 아래쪽 183">
                <a:extLst>
                  <a:ext uri="{FF2B5EF4-FFF2-40B4-BE49-F238E27FC236}">
                    <a16:creationId xmlns:a16="http://schemas.microsoft.com/office/drawing/2014/main" id="{95479DC5-511F-5FE9-835F-62BFF680BF45}"/>
                  </a:ext>
                </a:extLst>
              </p:cNvPr>
              <p:cNvSpPr/>
              <p:nvPr/>
            </p:nvSpPr>
            <p:spPr>
              <a:xfrm rot="5400000">
                <a:off x="4592224" y="7919520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5" name="화살표: 아래쪽 184">
                <a:extLst>
                  <a:ext uri="{FF2B5EF4-FFF2-40B4-BE49-F238E27FC236}">
                    <a16:creationId xmlns:a16="http://schemas.microsoft.com/office/drawing/2014/main" id="{791B09F6-6D15-6365-BCD3-051BED19B053}"/>
                  </a:ext>
                </a:extLst>
              </p:cNvPr>
              <p:cNvSpPr/>
              <p:nvPr/>
            </p:nvSpPr>
            <p:spPr>
              <a:xfrm rot="5400000">
                <a:off x="4490073" y="7798983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016D00E6-C014-12C5-9B34-7FCB132CC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6725" y="5896691"/>
                <a:ext cx="0" cy="153590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DCC3EFDD-CB48-0F57-28AB-86599E6DC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5896691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F5BF1A-3EB7-8CBC-2AE9-CD40DB4EBCC4}"/>
                  </a:ext>
                </a:extLst>
              </p:cNvPr>
              <p:cNvSpPr txBox="1"/>
              <p:nvPr/>
            </p:nvSpPr>
            <p:spPr>
              <a:xfrm>
                <a:off x="4566176" y="5829539"/>
                <a:ext cx="1043735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BETOX Region</a:t>
                </a:r>
              </a:p>
              <a:p>
                <a:pPr algn="ctr"/>
                <a:r>
                  <a:rPr lang="en-US" altLang="ko-KR" sz="1013"/>
                  <a:t>(ONO)</a:t>
                </a:r>
              </a:p>
            </p:txBody>
          </p: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118F26CA-DA88-FE1C-1AC6-9A8103B90415}"/>
                  </a:ext>
                </a:extLst>
              </p:cNvPr>
              <p:cNvGrpSpPr/>
              <p:nvPr/>
            </p:nvGrpSpPr>
            <p:grpSpPr>
              <a:xfrm>
                <a:off x="4409675" y="6265426"/>
                <a:ext cx="1427217" cy="2124973"/>
                <a:chOff x="4409675" y="6458070"/>
                <a:chExt cx="1427217" cy="2124973"/>
              </a:xfrm>
            </p:grpSpPr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6CA1E149-AE62-AEA9-4EDD-780E24610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09675" y="7575550"/>
                  <a:ext cx="59199" cy="1007493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CCE48783-E6F8-F856-1E5F-E3D4BC4C2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8201" y="7009769"/>
                  <a:ext cx="401449" cy="56578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385DC8FC-E4B8-F28F-58EF-8338CA718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6700" y="7009769"/>
                  <a:ext cx="30143" cy="100904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75B69C6A-0495-04BC-9B14-50A372382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3893" y="7924249"/>
                  <a:ext cx="157410" cy="9456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BDEA1707-83EF-6FE2-B75D-2A1BA835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6775" y="6680200"/>
                  <a:ext cx="0" cy="1040384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3196023A-72CE-2505-AA69-304117AC8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6775" y="6458070"/>
                  <a:ext cx="328684" cy="222130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E2C2599A-F5E0-5598-B565-837DF5900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9911" y="6482254"/>
                  <a:ext cx="115548" cy="1501065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A314CE9F-7296-2D91-7ABC-7F93C48CA7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26962" y="7909590"/>
                  <a:ext cx="209930" cy="73729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1A430988-E3F7-73C3-C5B2-C66EE68E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9061" y="7718808"/>
                  <a:ext cx="341973" cy="20544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0" name="화살표: 아래쪽 189">
                <a:extLst>
                  <a:ext uri="{FF2B5EF4-FFF2-40B4-BE49-F238E27FC236}">
                    <a16:creationId xmlns:a16="http://schemas.microsoft.com/office/drawing/2014/main" id="{30F43438-227F-C99A-BE24-8BF92C956B59}"/>
                  </a:ext>
                </a:extLst>
              </p:cNvPr>
              <p:cNvSpPr/>
              <p:nvPr/>
            </p:nvSpPr>
            <p:spPr>
              <a:xfrm rot="19925906" flipH="1">
                <a:off x="5224310" y="7576453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E8C01DC7-791B-4A74-43F2-CB9DDC35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5627" y="8304239"/>
                <a:ext cx="118266" cy="4648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529AD0C-C28F-02DB-5D61-2264039B3938}"/>
                  </a:ext>
                </a:extLst>
              </p:cNvPr>
              <p:cNvSpPr txBox="1"/>
              <p:nvPr/>
            </p:nvSpPr>
            <p:spPr>
              <a:xfrm>
                <a:off x="4362450" y="8783517"/>
                <a:ext cx="1085850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88"/>
                  <a:t>Trap-to-Band Tunneling Emission</a:t>
                </a:r>
                <a:endParaRPr lang="ko-KR" altLang="en-US" sz="788"/>
              </a:p>
            </p:txBody>
          </p:sp>
          <p:sp>
            <p:nvSpPr>
              <p:cNvPr id="194" name="화살표: 아래쪽 193">
                <a:extLst>
                  <a:ext uri="{FF2B5EF4-FFF2-40B4-BE49-F238E27FC236}">
                    <a16:creationId xmlns:a16="http://schemas.microsoft.com/office/drawing/2014/main" id="{283CB6CC-4823-540D-528E-2243C2EDA567}"/>
                  </a:ext>
                </a:extLst>
              </p:cNvPr>
              <p:cNvSpPr/>
              <p:nvPr/>
            </p:nvSpPr>
            <p:spPr>
              <a:xfrm rot="8800769" flipH="1">
                <a:off x="4945085" y="7362945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902812" lon="2358286" rev="1722722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5" name="직선 연결선 194">
                <a:extLst>
                  <a:ext uri="{FF2B5EF4-FFF2-40B4-BE49-F238E27FC236}">
                    <a16:creationId xmlns:a16="http://schemas.microsoft.com/office/drawing/2014/main" id="{E1A415D3-4B26-4A0D-94BF-358842F564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8217236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D2A5A98-ABFD-BEE5-3591-F7D93E6F5542}"/>
                  </a:ext>
                </a:extLst>
              </p:cNvPr>
              <p:cNvSpPr txBox="1"/>
              <p:nvPr/>
            </p:nvSpPr>
            <p:spPr>
              <a:xfrm>
                <a:off x="5603199" y="8193932"/>
                <a:ext cx="752934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CTN</a:t>
                </a:r>
              </a:p>
              <a:p>
                <a:pPr algn="ctr"/>
                <a:r>
                  <a:rPr lang="en-US" altLang="ko-KR" sz="1013"/>
                  <a:t>Region</a:t>
                </a:r>
              </a:p>
            </p:txBody>
          </p:sp>
          <p:sp>
            <p:nvSpPr>
              <p:cNvPr id="197" name="화살표: 아래쪽 196">
                <a:extLst>
                  <a:ext uri="{FF2B5EF4-FFF2-40B4-BE49-F238E27FC236}">
                    <a16:creationId xmlns:a16="http://schemas.microsoft.com/office/drawing/2014/main" id="{F57EA6A0-48DA-F547-4FB5-7CD1D313A355}"/>
                  </a:ext>
                </a:extLst>
              </p:cNvPr>
              <p:cNvSpPr/>
              <p:nvPr/>
            </p:nvSpPr>
            <p:spPr>
              <a:xfrm rot="1499914" flipH="1">
                <a:off x="4910895" y="7515700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98" name="화살표: 아래쪽 197">
                <a:extLst>
                  <a:ext uri="{FF2B5EF4-FFF2-40B4-BE49-F238E27FC236}">
                    <a16:creationId xmlns:a16="http://schemas.microsoft.com/office/drawing/2014/main" id="{6D269ADA-E1F8-F6C7-2123-AC08F6AD9EF3}"/>
                  </a:ext>
                </a:extLst>
              </p:cNvPr>
              <p:cNvSpPr/>
              <p:nvPr/>
            </p:nvSpPr>
            <p:spPr>
              <a:xfrm rot="1499914" flipH="1">
                <a:off x="5348495" y="7790853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15FF8E80-68CC-58E2-A545-1FFFEC598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4898933" y="7374919"/>
                <a:ext cx="138613" cy="233739"/>
              </a:xfrm>
              <a:prstGeom prst="rect">
                <a:avLst/>
              </a:prstGeom>
            </p:spPr>
          </p:pic>
        </p:grp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EF71FE24-2A38-E5EF-C1DC-1D2C5766FEF4}"/>
                </a:ext>
              </a:extLst>
            </p:cNvPr>
            <p:cNvSpPr/>
            <p:nvPr/>
          </p:nvSpPr>
          <p:spPr>
            <a:xfrm rot="10800000">
              <a:off x="4188337" y="7548539"/>
              <a:ext cx="939709" cy="111996"/>
            </a:xfrm>
            <a:custGeom>
              <a:avLst/>
              <a:gdLst>
                <a:gd name="connsiteX0" fmla="*/ 0 w 1054100"/>
                <a:gd name="connsiteY0" fmla="*/ 110186 h 199104"/>
                <a:gd name="connsiteX1" fmla="*/ 127000 w 1054100"/>
                <a:gd name="connsiteY1" fmla="*/ 2236 h 199104"/>
                <a:gd name="connsiteX2" fmla="*/ 285750 w 1054100"/>
                <a:gd name="connsiteY2" fmla="*/ 199086 h 199104"/>
                <a:gd name="connsiteX3" fmla="*/ 463550 w 1054100"/>
                <a:gd name="connsiteY3" fmla="*/ 14936 h 199104"/>
                <a:gd name="connsiteX4" fmla="*/ 609600 w 1054100"/>
                <a:gd name="connsiteY4" fmla="*/ 186386 h 199104"/>
                <a:gd name="connsiteX5" fmla="*/ 768350 w 1054100"/>
                <a:gd name="connsiteY5" fmla="*/ 33986 h 199104"/>
                <a:gd name="connsiteX6" fmla="*/ 844550 w 1054100"/>
                <a:gd name="connsiteY6" fmla="*/ 46686 h 199104"/>
                <a:gd name="connsiteX7" fmla="*/ 920750 w 1054100"/>
                <a:gd name="connsiteY7" fmla="*/ 116536 h 199104"/>
                <a:gd name="connsiteX8" fmla="*/ 1054100 w 1054100"/>
                <a:gd name="connsiteY8" fmla="*/ 122886 h 19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4100" h="199104">
                  <a:moveTo>
                    <a:pt x="0" y="110186"/>
                  </a:moveTo>
                  <a:cubicBezTo>
                    <a:pt x="39687" y="48802"/>
                    <a:pt x="79375" y="-12581"/>
                    <a:pt x="127000" y="2236"/>
                  </a:cubicBezTo>
                  <a:cubicBezTo>
                    <a:pt x="174625" y="17053"/>
                    <a:pt x="229658" y="196969"/>
                    <a:pt x="285750" y="199086"/>
                  </a:cubicBezTo>
                  <a:cubicBezTo>
                    <a:pt x="341842" y="201203"/>
                    <a:pt x="409575" y="17053"/>
                    <a:pt x="463550" y="14936"/>
                  </a:cubicBezTo>
                  <a:cubicBezTo>
                    <a:pt x="517525" y="12819"/>
                    <a:pt x="558800" y="183211"/>
                    <a:pt x="609600" y="186386"/>
                  </a:cubicBezTo>
                  <a:cubicBezTo>
                    <a:pt x="660400" y="189561"/>
                    <a:pt x="729192" y="57269"/>
                    <a:pt x="768350" y="33986"/>
                  </a:cubicBezTo>
                  <a:cubicBezTo>
                    <a:pt x="807508" y="10703"/>
                    <a:pt x="819150" y="32928"/>
                    <a:pt x="844550" y="46686"/>
                  </a:cubicBezTo>
                  <a:cubicBezTo>
                    <a:pt x="869950" y="60444"/>
                    <a:pt x="885825" y="103836"/>
                    <a:pt x="920750" y="116536"/>
                  </a:cubicBezTo>
                  <a:cubicBezTo>
                    <a:pt x="955675" y="129236"/>
                    <a:pt x="1004887" y="126061"/>
                    <a:pt x="1054100" y="122886"/>
                  </a:cubicBezTo>
                </a:path>
              </a:pathLst>
            </a:custGeom>
            <a:noFill/>
            <a:ln>
              <a:solidFill>
                <a:srgbClr val="002060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80" name="곱하기 기호 179">
              <a:extLst>
                <a:ext uri="{FF2B5EF4-FFF2-40B4-BE49-F238E27FC236}">
                  <a16:creationId xmlns:a16="http://schemas.microsoft.com/office/drawing/2014/main" id="{CBA223F7-B232-1A2D-94D2-5E76EF447290}"/>
                </a:ext>
              </a:extLst>
            </p:cNvPr>
            <p:cNvSpPr/>
            <p:nvPr/>
          </p:nvSpPr>
          <p:spPr>
            <a:xfrm>
              <a:off x="4567024" y="7440944"/>
              <a:ext cx="178638" cy="368545"/>
            </a:xfrm>
            <a:prstGeom prst="mathMultiply">
              <a:avLst/>
            </a:prstGeom>
            <a:solidFill>
              <a:srgbClr val="FF0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07CCB46-3ABB-127A-FAAF-8A3D9D498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l="1" t="4762" r="-1" b="-1"/>
            <a:stretch/>
          </p:blipFill>
          <p:spPr>
            <a:xfrm>
              <a:off x="4883892" y="7608658"/>
              <a:ext cx="155343" cy="208866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EFAC80-0F22-C8E0-9FBF-FA3954430E3E}"/>
              </a:ext>
            </a:extLst>
          </p:cNvPr>
          <p:cNvGrpSpPr/>
          <p:nvPr/>
        </p:nvGrpSpPr>
        <p:grpSpPr>
          <a:xfrm>
            <a:off x="302442" y="1107714"/>
            <a:ext cx="2389490" cy="2321286"/>
            <a:chOff x="1425895" y="5488309"/>
            <a:chExt cx="1801255" cy="17498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049283-9338-CD6C-AEC7-D734628B2046}"/>
                </a:ext>
              </a:extLst>
            </p:cNvPr>
            <p:cNvSpPr txBox="1"/>
            <p:nvPr/>
          </p:nvSpPr>
          <p:spPr>
            <a:xfrm>
              <a:off x="2573623" y="6804516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6E0833D-D55B-9CD4-07AD-1E11DCDE3157}"/>
                </a:ext>
              </a:extLst>
            </p:cNvPr>
            <p:cNvSpPr/>
            <p:nvPr/>
          </p:nvSpPr>
          <p:spPr>
            <a:xfrm>
              <a:off x="1692868" y="5930050"/>
              <a:ext cx="1168400" cy="1308100"/>
            </a:xfrm>
            <a:custGeom>
              <a:avLst/>
              <a:gdLst>
                <a:gd name="connsiteX0" fmla="*/ 0 w 1168400"/>
                <a:gd name="connsiteY0" fmla="*/ 482600 h 1308100"/>
                <a:gd name="connsiteX1" fmla="*/ 292100 w 1168400"/>
                <a:gd name="connsiteY1" fmla="*/ 482600 h 1308100"/>
                <a:gd name="connsiteX2" fmla="*/ 374650 w 1168400"/>
                <a:gd name="connsiteY2" fmla="*/ 488950 h 1308100"/>
                <a:gd name="connsiteX3" fmla="*/ 469900 w 1168400"/>
                <a:gd name="connsiteY3" fmla="*/ 558800 h 1308100"/>
                <a:gd name="connsiteX4" fmla="*/ 514350 w 1168400"/>
                <a:gd name="connsiteY4" fmla="*/ 654050 h 1308100"/>
                <a:gd name="connsiteX5" fmla="*/ 514350 w 1168400"/>
                <a:gd name="connsiteY5" fmla="*/ 0 h 1308100"/>
                <a:gd name="connsiteX6" fmla="*/ 908050 w 1168400"/>
                <a:gd name="connsiteY6" fmla="*/ 825500 h 1308100"/>
                <a:gd name="connsiteX7" fmla="*/ 908050 w 1168400"/>
                <a:gd name="connsiteY7" fmla="*/ 1143000 h 1308100"/>
                <a:gd name="connsiteX8" fmla="*/ 1168400 w 1168400"/>
                <a:gd name="connsiteY8" fmla="*/ 1308100 h 130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1308100">
                  <a:moveTo>
                    <a:pt x="0" y="482600"/>
                  </a:moveTo>
                  <a:lnTo>
                    <a:pt x="292100" y="482600"/>
                  </a:lnTo>
                  <a:lnTo>
                    <a:pt x="374650" y="488950"/>
                  </a:lnTo>
                  <a:lnTo>
                    <a:pt x="469900" y="558800"/>
                  </a:lnTo>
                  <a:lnTo>
                    <a:pt x="514350" y="654050"/>
                  </a:lnTo>
                  <a:lnTo>
                    <a:pt x="514350" y="0"/>
                  </a:lnTo>
                  <a:lnTo>
                    <a:pt x="908050" y="825500"/>
                  </a:lnTo>
                  <a:lnTo>
                    <a:pt x="908050" y="1143000"/>
                  </a:lnTo>
                  <a:lnTo>
                    <a:pt x="1168400" y="13081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AA0B065-4873-01EB-4DB3-76E23F681695}"/>
                </a:ext>
              </a:extLst>
            </p:cNvPr>
            <p:cNvCxnSpPr>
              <a:cxnSpLocks/>
            </p:cNvCxnSpPr>
            <p:nvPr/>
          </p:nvCxnSpPr>
          <p:spPr>
            <a:xfrm>
              <a:off x="2234157" y="6463303"/>
              <a:ext cx="550930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F819483-4FA9-F9CF-3F7F-9B7CC7198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354" y="6437903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AE402-F62B-6336-8593-2FFDCA940A06}"/>
                </a:ext>
              </a:extLst>
            </p:cNvPr>
            <p:cNvSpPr txBox="1"/>
            <p:nvPr/>
          </p:nvSpPr>
          <p:spPr>
            <a:xfrm>
              <a:off x="1527289" y="6189408"/>
              <a:ext cx="697052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C3A0B8FE-FAD4-8836-B9E8-C9B3C1BA4292}"/>
                </a:ext>
              </a:extLst>
            </p:cNvPr>
            <p:cNvSpPr/>
            <p:nvPr/>
          </p:nvSpPr>
          <p:spPr>
            <a:xfrm>
              <a:off x="2118459" y="6438900"/>
              <a:ext cx="78581" cy="123825"/>
            </a:xfrm>
            <a:custGeom>
              <a:avLst/>
              <a:gdLst>
                <a:gd name="connsiteX0" fmla="*/ 0 w 78581"/>
                <a:gd name="connsiteY0" fmla="*/ 4763 h 123825"/>
                <a:gd name="connsiteX1" fmla="*/ 52388 w 78581"/>
                <a:gd name="connsiteY1" fmla="*/ 45244 h 123825"/>
                <a:gd name="connsiteX2" fmla="*/ 78581 w 78581"/>
                <a:gd name="connsiteY2" fmla="*/ 123825 h 123825"/>
                <a:gd name="connsiteX3" fmla="*/ 78581 w 78581"/>
                <a:gd name="connsiteY3" fmla="*/ 0 h 123825"/>
                <a:gd name="connsiteX4" fmla="*/ 0 w 78581"/>
                <a:gd name="connsiteY4" fmla="*/ 476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" h="123825">
                  <a:moveTo>
                    <a:pt x="0" y="4763"/>
                  </a:moveTo>
                  <a:lnTo>
                    <a:pt x="52388" y="45244"/>
                  </a:lnTo>
                  <a:lnTo>
                    <a:pt x="78581" y="123825"/>
                  </a:lnTo>
                  <a:lnTo>
                    <a:pt x="78581" y="0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B604A2-96F9-A17E-1BE2-E410E7D51089}"/>
                </a:ext>
              </a:extLst>
            </p:cNvPr>
            <p:cNvSpPr txBox="1"/>
            <p:nvPr/>
          </p:nvSpPr>
          <p:spPr>
            <a:xfrm>
              <a:off x="2251906" y="5832380"/>
              <a:ext cx="607806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39C714-1434-DE0B-737C-B0328C917A24}"/>
                </a:ext>
              </a:extLst>
            </p:cNvPr>
            <p:cNvSpPr txBox="1"/>
            <p:nvPr/>
          </p:nvSpPr>
          <p:spPr>
            <a:xfrm>
              <a:off x="2287746" y="6062283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80AB2B-6B31-3322-218B-2D3E770082B4}"/>
                </a:ext>
              </a:extLst>
            </p:cNvPr>
            <p:cNvSpPr txBox="1"/>
            <p:nvPr/>
          </p:nvSpPr>
          <p:spPr>
            <a:xfrm>
              <a:off x="1695639" y="6384928"/>
              <a:ext cx="439071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D6F820-CBE3-E6F1-5ADE-5B2ADC88ABD8}"/>
                </a:ext>
              </a:extLst>
            </p:cNvPr>
            <p:cNvSpPr txBox="1"/>
            <p:nvPr/>
          </p:nvSpPr>
          <p:spPr>
            <a:xfrm>
              <a:off x="1425895" y="5488309"/>
              <a:ext cx="167158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ko-KR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pgm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B2441F-6E84-C899-8B50-DB8AC9ECB258}"/>
                </a:ext>
              </a:extLst>
            </p:cNvPr>
            <p:cNvSpPr txBox="1"/>
            <p:nvPr/>
          </p:nvSpPr>
          <p:spPr>
            <a:xfrm>
              <a:off x="2737512" y="6308421"/>
              <a:ext cx="48963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ko-K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FN</a:t>
              </a:r>
              <a:endParaRPr lang="ko-KR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7A49C27-FE39-BC58-EA02-A9AB05B7DF6F}"/>
              </a:ext>
            </a:extLst>
          </p:cNvPr>
          <p:cNvGrpSpPr/>
          <p:nvPr/>
        </p:nvGrpSpPr>
        <p:grpSpPr>
          <a:xfrm>
            <a:off x="342245" y="3515595"/>
            <a:ext cx="2349687" cy="2333644"/>
            <a:chOff x="3313708" y="5488178"/>
            <a:chExt cx="1749215" cy="173727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382260-C3EB-5660-76BE-341891F4245D}"/>
                </a:ext>
              </a:extLst>
            </p:cNvPr>
            <p:cNvSpPr txBox="1"/>
            <p:nvPr/>
          </p:nvSpPr>
          <p:spPr>
            <a:xfrm>
              <a:off x="3320094" y="7009381"/>
              <a:ext cx="688143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A0C6900-6EE1-28C9-E3C3-28AE266FB7ED}"/>
                </a:ext>
              </a:extLst>
            </p:cNvPr>
            <p:cNvSpPr/>
            <p:nvPr/>
          </p:nvSpPr>
          <p:spPr>
            <a:xfrm>
              <a:off x="3571815" y="5930050"/>
              <a:ext cx="1041400" cy="1295400"/>
            </a:xfrm>
            <a:custGeom>
              <a:avLst/>
              <a:gdLst>
                <a:gd name="connsiteX0" fmla="*/ 0 w 1041400"/>
                <a:gd name="connsiteY0" fmla="*/ 1295400 h 1295400"/>
                <a:gd name="connsiteX1" fmla="*/ 400050 w 1041400"/>
                <a:gd name="connsiteY1" fmla="*/ 1295400 h 1295400"/>
                <a:gd name="connsiteX2" fmla="*/ 400050 w 1041400"/>
                <a:gd name="connsiteY2" fmla="*/ 368300 h 1295400"/>
                <a:gd name="connsiteX3" fmla="*/ 749300 w 1041400"/>
                <a:gd name="connsiteY3" fmla="*/ 0 h 1295400"/>
                <a:gd name="connsiteX4" fmla="*/ 749300 w 1041400"/>
                <a:gd name="connsiteY4" fmla="*/ 431800 h 1295400"/>
                <a:gd name="connsiteX5" fmla="*/ 1041400 w 1041400"/>
                <a:gd name="connsiteY5" fmla="*/ 2540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1400" h="1295400">
                  <a:moveTo>
                    <a:pt x="0" y="1295400"/>
                  </a:moveTo>
                  <a:lnTo>
                    <a:pt x="400050" y="1295400"/>
                  </a:lnTo>
                  <a:lnTo>
                    <a:pt x="400050" y="368300"/>
                  </a:lnTo>
                  <a:lnTo>
                    <a:pt x="749300" y="0"/>
                  </a:lnTo>
                  <a:lnTo>
                    <a:pt x="749300" y="431800"/>
                  </a:lnTo>
                  <a:lnTo>
                    <a:pt x="1041400" y="2540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8AF1CF0-6BFA-1D01-009C-24DD38085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760" y="6547727"/>
              <a:ext cx="342900" cy="175022"/>
            </a:xfrm>
            <a:prstGeom prst="line">
              <a:avLst/>
            </a:prstGeom>
            <a:ln>
              <a:solidFill>
                <a:srgbClr val="FF29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CD70CB8-1286-D50C-B74E-ED7CCA5E7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7390" y="6635238"/>
              <a:ext cx="69074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CA36470-331A-F044-827A-14264A396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528" y="6547727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E06E01-D165-1F1E-42F1-FC97D0832022}"/>
                </a:ext>
              </a:extLst>
            </p:cNvPr>
            <p:cNvSpPr txBox="1"/>
            <p:nvPr/>
          </p:nvSpPr>
          <p:spPr>
            <a:xfrm>
              <a:off x="4282991" y="5973964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EC287E-2B50-7A32-EA2A-087DFE40EA3C}"/>
                </a:ext>
              </a:extLst>
            </p:cNvPr>
            <p:cNvSpPr txBox="1"/>
            <p:nvPr/>
          </p:nvSpPr>
          <p:spPr>
            <a:xfrm>
              <a:off x="3913589" y="5930032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12F1FA-16A0-1323-3332-F4AB5E173E15}"/>
                </a:ext>
              </a:extLst>
            </p:cNvPr>
            <p:cNvSpPr txBox="1"/>
            <p:nvPr/>
          </p:nvSpPr>
          <p:spPr>
            <a:xfrm>
              <a:off x="4017936" y="5724658"/>
              <a:ext cx="607806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88083C4D-1FCF-774C-BFC6-45A7DDCAF86F}"/>
                </a:ext>
              </a:extLst>
            </p:cNvPr>
            <p:cNvSpPr/>
            <p:nvPr/>
          </p:nvSpPr>
          <p:spPr>
            <a:xfrm>
              <a:off x="3750979" y="6265258"/>
              <a:ext cx="597694" cy="118685"/>
            </a:xfrm>
            <a:custGeom>
              <a:avLst/>
              <a:gdLst>
                <a:gd name="connsiteX0" fmla="*/ 502444 w 502444"/>
                <a:gd name="connsiteY0" fmla="*/ 54390 h 118685"/>
                <a:gd name="connsiteX1" fmla="*/ 409575 w 502444"/>
                <a:gd name="connsiteY1" fmla="*/ 2003 h 118685"/>
                <a:gd name="connsiteX2" fmla="*/ 345281 w 502444"/>
                <a:gd name="connsiteY2" fmla="*/ 116303 h 118685"/>
                <a:gd name="connsiteX3" fmla="*/ 285750 w 502444"/>
                <a:gd name="connsiteY3" fmla="*/ 11528 h 118685"/>
                <a:gd name="connsiteX4" fmla="*/ 226219 w 502444"/>
                <a:gd name="connsiteY4" fmla="*/ 118684 h 118685"/>
                <a:gd name="connsiteX5" fmla="*/ 183356 w 502444"/>
                <a:gd name="connsiteY5" fmla="*/ 13909 h 118685"/>
                <a:gd name="connsiteX6" fmla="*/ 119063 w 502444"/>
                <a:gd name="connsiteY6" fmla="*/ 116303 h 118685"/>
                <a:gd name="connsiteX7" fmla="*/ 78581 w 502444"/>
                <a:gd name="connsiteY7" fmla="*/ 56772 h 118685"/>
                <a:gd name="connsiteX8" fmla="*/ 0 w 502444"/>
                <a:gd name="connsiteY8" fmla="*/ 56772 h 11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444" h="118685">
                  <a:moveTo>
                    <a:pt x="502444" y="54390"/>
                  </a:moveTo>
                  <a:cubicBezTo>
                    <a:pt x="469106" y="23037"/>
                    <a:pt x="435769" y="-8316"/>
                    <a:pt x="409575" y="2003"/>
                  </a:cubicBezTo>
                  <a:cubicBezTo>
                    <a:pt x="383381" y="12322"/>
                    <a:pt x="365918" y="114716"/>
                    <a:pt x="345281" y="116303"/>
                  </a:cubicBezTo>
                  <a:cubicBezTo>
                    <a:pt x="324644" y="117890"/>
                    <a:pt x="305594" y="11131"/>
                    <a:pt x="285750" y="11528"/>
                  </a:cubicBezTo>
                  <a:cubicBezTo>
                    <a:pt x="265906" y="11925"/>
                    <a:pt x="243285" y="118287"/>
                    <a:pt x="226219" y="118684"/>
                  </a:cubicBezTo>
                  <a:cubicBezTo>
                    <a:pt x="209153" y="119081"/>
                    <a:pt x="201215" y="14306"/>
                    <a:pt x="183356" y="13909"/>
                  </a:cubicBezTo>
                  <a:cubicBezTo>
                    <a:pt x="165497" y="13512"/>
                    <a:pt x="136525" y="109159"/>
                    <a:pt x="119063" y="116303"/>
                  </a:cubicBezTo>
                  <a:cubicBezTo>
                    <a:pt x="101601" y="123447"/>
                    <a:pt x="98425" y="66694"/>
                    <a:pt x="78581" y="56772"/>
                  </a:cubicBezTo>
                  <a:cubicBezTo>
                    <a:pt x="58737" y="46850"/>
                    <a:pt x="29368" y="51811"/>
                    <a:pt x="0" y="56772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0" name="곱하기 기호 29">
              <a:extLst>
                <a:ext uri="{FF2B5EF4-FFF2-40B4-BE49-F238E27FC236}">
                  <a16:creationId xmlns:a16="http://schemas.microsoft.com/office/drawing/2014/main" id="{189BDFC1-A4A2-91E1-67B1-4CFED1B02119}"/>
                </a:ext>
              </a:extLst>
            </p:cNvPr>
            <p:cNvSpPr/>
            <p:nvPr/>
          </p:nvSpPr>
          <p:spPr>
            <a:xfrm>
              <a:off x="3993924" y="6143376"/>
              <a:ext cx="194392" cy="376625"/>
            </a:xfrm>
            <a:prstGeom prst="mathMultiply">
              <a:avLst/>
            </a:prstGeom>
            <a:solidFill>
              <a:srgbClr val="FF2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B0065D0-D05A-8EFA-ED19-6D42A0EC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764" y="6242976"/>
              <a:ext cx="68314" cy="68314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23778246-7FFD-9A7C-E6A4-E7EBD6306310}"/>
                </a:ext>
              </a:extLst>
            </p:cNvPr>
            <p:cNvSpPr/>
            <p:nvPr/>
          </p:nvSpPr>
          <p:spPr>
            <a:xfrm>
              <a:off x="4416365" y="6311900"/>
              <a:ext cx="60409" cy="282575"/>
            </a:xfrm>
            <a:custGeom>
              <a:avLst/>
              <a:gdLst>
                <a:gd name="connsiteX0" fmla="*/ 0 w 60409"/>
                <a:gd name="connsiteY0" fmla="*/ 0 h 282575"/>
                <a:gd name="connsiteX1" fmla="*/ 50800 w 60409"/>
                <a:gd name="connsiteY1" fmla="*/ 92075 h 282575"/>
                <a:gd name="connsiteX2" fmla="*/ 60325 w 60409"/>
                <a:gd name="connsiteY2" fmla="*/ 282575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09" h="282575">
                  <a:moveTo>
                    <a:pt x="0" y="0"/>
                  </a:moveTo>
                  <a:cubicBezTo>
                    <a:pt x="20373" y="22489"/>
                    <a:pt x="40746" y="44979"/>
                    <a:pt x="50800" y="92075"/>
                  </a:cubicBezTo>
                  <a:cubicBezTo>
                    <a:pt x="60854" y="139171"/>
                    <a:pt x="60589" y="210873"/>
                    <a:pt x="60325" y="282575"/>
                  </a:cubicBezTo>
                </a:path>
              </a:pathLst>
            </a:custGeom>
            <a:noFill/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330A9B-B694-5153-97D5-CF5D1BB1C47E}"/>
                </a:ext>
              </a:extLst>
            </p:cNvPr>
            <p:cNvSpPr txBox="1"/>
            <p:nvPr/>
          </p:nvSpPr>
          <p:spPr>
            <a:xfrm>
              <a:off x="4549254" y="6416921"/>
              <a:ext cx="439071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7B0A07-3AB8-391A-9D8C-D45E4406AC48}"/>
                </a:ext>
              </a:extLst>
            </p:cNvPr>
            <p:cNvSpPr txBox="1"/>
            <p:nvPr/>
          </p:nvSpPr>
          <p:spPr>
            <a:xfrm>
              <a:off x="3313708" y="5488178"/>
              <a:ext cx="1749215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Retention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V)</a:t>
              </a:r>
              <a:endParaRPr lang="en-US" altLang="ko-KR" sz="1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0D8C6-3DCC-A1C7-A6A5-D160A0567DF4}"/>
                </a:ext>
              </a:extLst>
            </p:cNvPr>
            <p:cNvSpPr txBox="1"/>
            <p:nvPr/>
          </p:nvSpPr>
          <p:spPr>
            <a:xfrm>
              <a:off x="3388432" y="6514025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TBT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3B8EF8-B809-091B-DDC2-B2D67BCCA28D}"/>
                </a:ext>
              </a:extLst>
            </p:cNvPr>
            <p:cNvSpPr txBox="1"/>
            <p:nvPr/>
          </p:nvSpPr>
          <p:spPr>
            <a:xfrm>
              <a:off x="3421808" y="6107380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1350C7B-0A88-595F-8911-74810F6666FF}"/>
              </a:ext>
            </a:extLst>
          </p:cNvPr>
          <p:cNvSpPr txBox="1"/>
          <p:nvPr/>
        </p:nvSpPr>
        <p:spPr>
          <a:xfrm>
            <a:off x="2739572" y="1075108"/>
            <a:ext cx="61019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동작에서는 강한 전기장에 의해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발생함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하지만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상태에서는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0V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이므로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충분한 전자가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축적되지 않아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영향이 감소함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AF5E-B0CA-1BEF-604C-E08AB0082CB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FE783-5799-DC38-DBBB-9EE992C845DD}"/>
              </a:ext>
            </a:extLst>
          </p:cNvPr>
          <p:cNvSpPr txBox="1"/>
          <p:nvPr/>
        </p:nvSpPr>
        <p:spPr>
          <a:xfrm>
            <a:off x="2636312" y="4150154"/>
            <a:ext cx="37524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tunneling 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될 수 있음</a:t>
            </a:r>
          </a:p>
        </p:txBody>
      </p:sp>
    </p:spTree>
    <p:extLst>
      <p:ext uri="{BB962C8B-B14F-4D97-AF65-F5344CB8AC3E}">
        <p14:creationId xmlns:p14="http://schemas.microsoft.com/office/powerpoint/2010/main" val="73182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54E95-7B48-71F3-9382-573C6053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5" y="4475550"/>
            <a:ext cx="2438927" cy="4126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E53AB0-8193-AD84-2947-BC2CA446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80" y="4915294"/>
            <a:ext cx="3918517" cy="69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5FF37E-6AED-5563-AB75-CD3E193D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0" y="5684604"/>
            <a:ext cx="3558106" cy="5206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B9C51-92F8-FA00-5CCD-CC60ED6B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3"/>
          <a:stretch>
            <a:fillRect/>
          </a:stretch>
        </p:blipFill>
        <p:spPr>
          <a:xfrm>
            <a:off x="4572000" y="5614372"/>
            <a:ext cx="3805756" cy="59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8566E-2EFC-6A1F-56BA-277D634C0D9C}"/>
              </a:ext>
            </a:extLst>
          </p:cNvPr>
          <p:cNvSpPr txBox="1"/>
          <p:nvPr/>
        </p:nvSpPr>
        <p:spPr>
          <a:xfrm>
            <a:off x="188536" y="3978111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결과식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8E0-4C48-EBB1-6175-3A4CB2D2CA67}"/>
              </a:ext>
            </a:extLst>
          </p:cNvPr>
          <p:cNvSpPr txBox="1"/>
          <p:nvPr/>
        </p:nvSpPr>
        <p:spPr>
          <a:xfrm>
            <a:off x="188536" y="974452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O/N/O/N/O 5-layer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B928F-72AE-53C1-1CBB-4DD6B6AE0364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/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/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/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/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blipFill>
                <a:blip r:embed="rId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F01C8-6523-AED5-8002-4F5DF85A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Alignment with Previous Studies</a:t>
            </a:r>
            <a:endParaRPr lang="ko-KR" altLang="en-US" dirty="0"/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80609AFF-CF88-69DC-BADA-D810DCF68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232635"/>
              </p:ext>
            </p:extLst>
          </p:nvPr>
        </p:nvGraphicFramePr>
        <p:xfrm>
          <a:off x="245965" y="1478566"/>
          <a:ext cx="5523239" cy="3900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1724" imgH="4833106" progId="Origin50.Graph">
                  <p:embed/>
                </p:oleObj>
              </mc:Choice>
              <mc:Fallback>
                <p:oleObj name="Graph" r:id="rId2" imgW="6841724" imgH="483310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5965" y="1478566"/>
                        <a:ext cx="5523239" cy="3900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1C73F9-C15A-3F01-9FA1-C53DF0B5CA9B}"/>
              </a:ext>
            </a:extLst>
          </p:cNvPr>
          <p:cNvSpPr txBox="1"/>
          <p:nvPr/>
        </p:nvSpPr>
        <p:spPr>
          <a:xfrm>
            <a:off x="782425" y="1078456"/>
            <a:ext cx="5986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조형준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Endurance cycle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region D (Jo, TED 2023)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48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BE7987C-E18E-E3BC-9DFA-C2C591888545}"/>
              </a:ext>
            </a:extLst>
          </p:cNvPr>
          <p:cNvSpPr/>
          <p:nvPr/>
        </p:nvSpPr>
        <p:spPr>
          <a:xfrm>
            <a:off x="274151" y="1414385"/>
            <a:ext cx="3938616" cy="3587431"/>
          </a:xfrm>
          <a:prstGeom prst="roundRect">
            <a:avLst>
              <a:gd name="adj" fmla="val 14821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9194162-33F7-E614-537E-318E5112B445}"/>
              </a:ext>
            </a:extLst>
          </p:cNvPr>
          <p:cNvSpPr/>
          <p:nvPr/>
        </p:nvSpPr>
        <p:spPr>
          <a:xfrm>
            <a:off x="834293" y="1976659"/>
            <a:ext cx="2795082" cy="2795082"/>
          </a:xfrm>
          <a:prstGeom prst="ellipse">
            <a:avLst/>
          </a:prstGeom>
          <a:pattFill prst="trellis">
            <a:fgClr>
              <a:srgbClr val="92D05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E6DF536-C418-C7D4-8F6D-D558C19740BE}"/>
              </a:ext>
            </a:extLst>
          </p:cNvPr>
          <p:cNvSpPr/>
          <p:nvPr/>
        </p:nvSpPr>
        <p:spPr>
          <a:xfrm>
            <a:off x="1051545" y="2193911"/>
            <a:ext cx="2360578" cy="23605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2EE4E6-A909-FC01-699D-34B210C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Limited</a:t>
            </a:r>
            <a:r>
              <a:rPr lang="ko-KR" altLang="en-US" dirty="0"/>
              <a:t> </a:t>
            </a:r>
            <a:r>
              <a:rPr lang="en-US" altLang="ko-KR" dirty="0"/>
              <a:t>Contribution of TAT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88DA6-1DDD-4AFE-56F7-6FE64FA08E3A}"/>
              </a:ext>
            </a:extLst>
          </p:cNvPr>
          <p:cNvSpPr txBox="1"/>
          <p:nvPr/>
        </p:nvSpPr>
        <p:spPr>
          <a:xfrm>
            <a:off x="252015" y="935741"/>
            <a:ext cx="832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개념 활용하여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제외 이유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562B87A-D685-7207-1F0D-0701614FE223}"/>
              </a:ext>
            </a:extLst>
          </p:cNvPr>
          <p:cNvSpPr/>
          <p:nvPr/>
        </p:nvSpPr>
        <p:spPr>
          <a:xfrm>
            <a:off x="1194217" y="2336583"/>
            <a:ext cx="2075234" cy="207523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84FF6E5-CF94-2690-53A6-FE6B72D1BD78}"/>
              </a:ext>
            </a:extLst>
          </p:cNvPr>
          <p:cNvSpPr/>
          <p:nvPr/>
        </p:nvSpPr>
        <p:spPr>
          <a:xfrm>
            <a:off x="1505502" y="2647868"/>
            <a:ext cx="1452664" cy="14526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42787-161C-BF0A-F994-B7B75BE605C9}"/>
              </a:ext>
            </a:extLst>
          </p:cNvPr>
          <p:cNvSpPr txBox="1"/>
          <p:nvPr/>
        </p:nvSpPr>
        <p:spPr>
          <a:xfrm>
            <a:off x="1917306" y="382353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3E09B6-7E4D-133B-A36E-71BCC5DA8E4B}"/>
              </a:ext>
            </a:extLst>
          </p:cNvPr>
          <p:cNvSpPr txBox="1"/>
          <p:nvPr/>
        </p:nvSpPr>
        <p:spPr>
          <a:xfrm>
            <a:off x="1751936" y="4100531"/>
            <a:ext cx="9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/>
                </a:solidFill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80C462-F110-4EFA-B18E-4ECCD87CE08F}"/>
              </a:ext>
            </a:extLst>
          </p:cNvPr>
          <p:cNvSpPr txBox="1"/>
          <p:nvPr/>
        </p:nvSpPr>
        <p:spPr>
          <a:xfrm>
            <a:off x="691621" y="452902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5D85EE-D54E-62E7-0203-66C89417E43E}"/>
              </a:ext>
            </a:extLst>
          </p:cNvPr>
          <p:cNvSpPr txBox="1"/>
          <p:nvPr/>
        </p:nvSpPr>
        <p:spPr>
          <a:xfrm>
            <a:off x="834293" y="477591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20C5906-F467-CC3A-F9E3-1BA75607E79C}"/>
              </a:ext>
            </a:extLst>
          </p:cNvPr>
          <p:cNvCxnSpPr/>
          <p:nvPr/>
        </p:nvCxnSpPr>
        <p:spPr>
          <a:xfrm flipH="1">
            <a:off x="1148821" y="4411817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B8FBA15-6BFF-A56D-2A52-2930D5FEB9D0}"/>
              </a:ext>
            </a:extLst>
          </p:cNvPr>
          <p:cNvCxnSpPr>
            <a:cxnSpLocks/>
          </p:cNvCxnSpPr>
          <p:nvPr/>
        </p:nvCxnSpPr>
        <p:spPr>
          <a:xfrm flipH="1">
            <a:off x="1019119" y="4411817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2EED7AB-02E6-DD08-0CD8-4B68EF73B60C}"/>
              </a:ext>
            </a:extLst>
          </p:cNvPr>
          <p:cNvCxnSpPr/>
          <p:nvPr/>
        </p:nvCxnSpPr>
        <p:spPr>
          <a:xfrm flipH="1">
            <a:off x="1367693" y="4629068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A13D0EE-771C-5785-0DE0-686FE8476DEF}"/>
              </a:ext>
            </a:extLst>
          </p:cNvPr>
          <p:cNvCxnSpPr>
            <a:cxnSpLocks/>
          </p:cNvCxnSpPr>
          <p:nvPr/>
        </p:nvCxnSpPr>
        <p:spPr>
          <a:xfrm flipH="1">
            <a:off x="1237991" y="4629068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95A2FEC-D802-5315-E715-9440BD4F8037}"/>
              </a:ext>
            </a:extLst>
          </p:cNvPr>
          <p:cNvCxnSpPr>
            <a:cxnSpLocks/>
          </p:cNvCxnSpPr>
          <p:nvPr/>
        </p:nvCxnSpPr>
        <p:spPr>
          <a:xfrm flipH="1">
            <a:off x="3113808" y="3380686"/>
            <a:ext cx="428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43E964E-314F-30F2-C5CB-BBAE1C3CE130}"/>
              </a:ext>
            </a:extLst>
          </p:cNvPr>
          <p:cNvCxnSpPr>
            <a:cxnSpLocks/>
          </p:cNvCxnSpPr>
          <p:nvPr/>
        </p:nvCxnSpPr>
        <p:spPr>
          <a:xfrm flipH="1" flipV="1">
            <a:off x="3010047" y="3880039"/>
            <a:ext cx="298315" cy="186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3C84424-EEC5-BFF6-452C-54AE0297CA58}"/>
              </a:ext>
            </a:extLst>
          </p:cNvPr>
          <p:cNvCxnSpPr>
            <a:cxnSpLocks/>
          </p:cNvCxnSpPr>
          <p:nvPr/>
        </p:nvCxnSpPr>
        <p:spPr>
          <a:xfrm>
            <a:off x="970480" y="3380686"/>
            <a:ext cx="410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BC2E793-E2E1-E603-695C-E074E942FF26}"/>
              </a:ext>
            </a:extLst>
          </p:cNvPr>
          <p:cNvCxnSpPr>
            <a:cxnSpLocks/>
          </p:cNvCxnSpPr>
          <p:nvPr/>
        </p:nvCxnSpPr>
        <p:spPr>
          <a:xfrm>
            <a:off x="2251289" y="2090150"/>
            <a:ext cx="0" cy="4734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C5B3934-1CE8-ECB0-F0B6-FD7C7328B637}"/>
              </a:ext>
            </a:extLst>
          </p:cNvPr>
          <p:cNvCxnSpPr>
            <a:cxnSpLocks/>
          </p:cNvCxnSpPr>
          <p:nvPr/>
        </p:nvCxnSpPr>
        <p:spPr>
          <a:xfrm flipV="1">
            <a:off x="2251289" y="4314541"/>
            <a:ext cx="0" cy="363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D0F2261-716B-45B3-32E4-F3DA08644233}"/>
              </a:ext>
            </a:extLst>
          </p:cNvPr>
          <p:cNvCxnSpPr>
            <a:cxnSpLocks/>
          </p:cNvCxnSpPr>
          <p:nvPr/>
        </p:nvCxnSpPr>
        <p:spPr>
          <a:xfrm flipH="1" flipV="1">
            <a:off x="2737672" y="4147955"/>
            <a:ext cx="168613" cy="2829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B6A83C2-C031-D2E1-BC17-92D690DF0626}"/>
              </a:ext>
            </a:extLst>
          </p:cNvPr>
          <p:cNvCxnSpPr>
            <a:cxnSpLocks/>
          </p:cNvCxnSpPr>
          <p:nvPr/>
        </p:nvCxnSpPr>
        <p:spPr>
          <a:xfrm flipV="1">
            <a:off x="1634395" y="4204293"/>
            <a:ext cx="166180" cy="2841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8293DBF-BF2A-17A5-3730-64D5ED265080}"/>
              </a:ext>
            </a:extLst>
          </p:cNvPr>
          <p:cNvCxnSpPr>
            <a:cxnSpLocks/>
          </p:cNvCxnSpPr>
          <p:nvPr/>
        </p:nvCxnSpPr>
        <p:spPr>
          <a:xfrm flipV="1">
            <a:off x="1175571" y="3857002"/>
            <a:ext cx="296897" cy="219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7332147-8690-5D02-4611-18572FA7AAA6}"/>
              </a:ext>
            </a:extLst>
          </p:cNvPr>
          <p:cNvCxnSpPr>
            <a:cxnSpLocks/>
          </p:cNvCxnSpPr>
          <p:nvPr/>
        </p:nvCxnSpPr>
        <p:spPr>
          <a:xfrm>
            <a:off x="1098358" y="2758554"/>
            <a:ext cx="342293" cy="2001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8475678-6B11-CBFF-03E9-62F15D944696}"/>
              </a:ext>
            </a:extLst>
          </p:cNvPr>
          <p:cNvCxnSpPr>
            <a:cxnSpLocks/>
          </p:cNvCxnSpPr>
          <p:nvPr/>
        </p:nvCxnSpPr>
        <p:spPr>
          <a:xfrm>
            <a:off x="1505502" y="2343946"/>
            <a:ext cx="295073" cy="342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E8030BE-DEAE-C558-1944-832F3CD5255F}"/>
              </a:ext>
            </a:extLst>
          </p:cNvPr>
          <p:cNvCxnSpPr>
            <a:cxnSpLocks/>
          </p:cNvCxnSpPr>
          <p:nvPr/>
        </p:nvCxnSpPr>
        <p:spPr>
          <a:xfrm flipH="1">
            <a:off x="2699470" y="2326856"/>
            <a:ext cx="240862" cy="3297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EBF30A3-9F6D-FA23-4B53-E67F1C8FE0E2}"/>
              </a:ext>
            </a:extLst>
          </p:cNvPr>
          <p:cNvCxnSpPr>
            <a:cxnSpLocks/>
          </p:cNvCxnSpPr>
          <p:nvPr/>
        </p:nvCxnSpPr>
        <p:spPr>
          <a:xfrm flipH="1">
            <a:off x="2982029" y="2758554"/>
            <a:ext cx="403697" cy="2480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730E3302-1349-0570-552B-503D4AA87974}"/>
              </a:ext>
            </a:extLst>
          </p:cNvPr>
          <p:cNvSpPr/>
          <p:nvPr/>
        </p:nvSpPr>
        <p:spPr>
          <a:xfrm>
            <a:off x="5460089" y="1981505"/>
            <a:ext cx="2795082" cy="2795082"/>
          </a:xfrm>
          <a:prstGeom prst="ellipse">
            <a:avLst/>
          </a:prstGeom>
          <a:pattFill prst="trellis">
            <a:fgClr>
              <a:srgbClr val="92D05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52A6ED0-2622-EBBE-A88F-CDED6D54E93C}"/>
              </a:ext>
            </a:extLst>
          </p:cNvPr>
          <p:cNvSpPr/>
          <p:nvPr/>
        </p:nvSpPr>
        <p:spPr>
          <a:xfrm>
            <a:off x="5677341" y="2198757"/>
            <a:ext cx="2360578" cy="23605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E0C7F59C-F9A2-829F-8D2A-898DFABEC75F}"/>
              </a:ext>
            </a:extLst>
          </p:cNvPr>
          <p:cNvSpPr/>
          <p:nvPr/>
        </p:nvSpPr>
        <p:spPr>
          <a:xfrm>
            <a:off x="5820013" y="2341429"/>
            <a:ext cx="2075234" cy="207523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3020422-C4BE-E02A-9F07-57ADBA7AFB4A}"/>
              </a:ext>
            </a:extLst>
          </p:cNvPr>
          <p:cNvSpPr/>
          <p:nvPr/>
        </p:nvSpPr>
        <p:spPr>
          <a:xfrm>
            <a:off x="6131298" y="2652714"/>
            <a:ext cx="1452664" cy="14526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B7434C-4557-CEBB-5CA1-C649A44A91CB}"/>
              </a:ext>
            </a:extLst>
          </p:cNvPr>
          <p:cNvSpPr txBox="1"/>
          <p:nvPr/>
        </p:nvSpPr>
        <p:spPr>
          <a:xfrm>
            <a:off x="6543102" y="382837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7D963E-811C-FBBC-8E10-15FB711D3081}"/>
              </a:ext>
            </a:extLst>
          </p:cNvPr>
          <p:cNvSpPr txBox="1"/>
          <p:nvPr/>
        </p:nvSpPr>
        <p:spPr>
          <a:xfrm>
            <a:off x="6377732" y="4105377"/>
            <a:ext cx="9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/>
                </a:solidFill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BF22E1-0BB8-2C25-A2A5-E1428E69F98A}"/>
              </a:ext>
            </a:extLst>
          </p:cNvPr>
          <p:cNvSpPr txBox="1"/>
          <p:nvPr/>
        </p:nvSpPr>
        <p:spPr>
          <a:xfrm>
            <a:off x="5317417" y="4533875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376F7D-E571-C2B3-3E63-7AB977024A1C}"/>
              </a:ext>
            </a:extLst>
          </p:cNvPr>
          <p:cNvSpPr txBox="1"/>
          <p:nvPr/>
        </p:nvSpPr>
        <p:spPr>
          <a:xfrm>
            <a:off x="5460089" y="478075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8919A1B-A451-0A6B-8F81-62646D1AD3C7}"/>
              </a:ext>
            </a:extLst>
          </p:cNvPr>
          <p:cNvCxnSpPr/>
          <p:nvPr/>
        </p:nvCxnSpPr>
        <p:spPr>
          <a:xfrm flipH="1">
            <a:off x="5774617" y="4416663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FB51CC5-4F8D-7FD9-7E96-8EBA5CDA6943}"/>
              </a:ext>
            </a:extLst>
          </p:cNvPr>
          <p:cNvCxnSpPr>
            <a:cxnSpLocks/>
          </p:cNvCxnSpPr>
          <p:nvPr/>
        </p:nvCxnSpPr>
        <p:spPr>
          <a:xfrm flipH="1">
            <a:off x="5644915" y="4416663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6A4505B-A343-48C0-9091-434EAF95BE86}"/>
              </a:ext>
            </a:extLst>
          </p:cNvPr>
          <p:cNvCxnSpPr/>
          <p:nvPr/>
        </p:nvCxnSpPr>
        <p:spPr>
          <a:xfrm flipH="1">
            <a:off x="5993489" y="4633914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DB9F78D-75E8-F1AC-023A-96F9B635DD82}"/>
              </a:ext>
            </a:extLst>
          </p:cNvPr>
          <p:cNvCxnSpPr>
            <a:cxnSpLocks/>
          </p:cNvCxnSpPr>
          <p:nvPr/>
        </p:nvCxnSpPr>
        <p:spPr>
          <a:xfrm flipH="1">
            <a:off x="5863787" y="4633914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9D4CAF2-3F39-51C3-6CC8-4D2F6F406B81}"/>
              </a:ext>
            </a:extLst>
          </p:cNvPr>
          <p:cNvCxnSpPr>
            <a:cxnSpLocks/>
          </p:cNvCxnSpPr>
          <p:nvPr/>
        </p:nvCxnSpPr>
        <p:spPr>
          <a:xfrm flipH="1">
            <a:off x="7739604" y="3385532"/>
            <a:ext cx="42801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F02C59D3-EC19-908D-10E6-841B31976D2F}"/>
              </a:ext>
            </a:extLst>
          </p:cNvPr>
          <p:cNvCxnSpPr>
            <a:cxnSpLocks/>
          </p:cNvCxnSpPr>
          <p:nvPr/>
        </p:nvCxnSpPr>
        <p:spPr>
          <a:xfrm flipH="1" flipV="1">
            <a:off x="7635843" y="3884885"/>
            <a:ext cx="298315" cy="186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9529D91-112B-FAC6-E5E9-C8F0B84D6276}"/>
              </a:ext>
            </a:extLst>
          </p:cNvPr>
          <p:cNvCxnSpPr>
            <a:cxnSpLocks/>
          </p:cNvCxnSpPr>
          <p:nvPr/>
        </p:nvCxnSpPr>
        <p:spPr>
          <a:xfrm>
            <a:off x="5596276" y="3385532"/>
            <a:ext cx="41018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E615961A-0D73-9781-D77C-EAF687D40830}"/>
              </a:ext>
            </a:extLst>
          </p:cNvPr>
          <p:cNvCxnSpPr>
            <a:cxnSpLocks/>
          </p:cNvCxnSpPr>
          <p:nvPr/>
        </p:nvCxnSpPr>
        <p:spPr>
          <a:xfrm>
            <a:off x="6877085" y="2094996"/>
            <a:ext cx="0" cy="4734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573A3675-4852-E433-0FBD-4E6AE0929C07}"/>
              </a:ext>
            </a:extLst>
          </p:cNvPr>
          <p:cNvCxnSpPr>
            <a:cxnSpLocks/>
          </p:cNvCxnSpPr>
          <p:nvPr/>
        </p:nvCxnSpPr>
        <p:spPr>
          <a:xfrm flipV="1">
            <a:off x="6877085" y="4319387"/>
            <a:ext cx="0" cy="363166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9B9CBDA-0713-04BD-0223-2880D4AF907E}"/>
              </a:ext>
            </a:extLst>
          </p:cNvPr>
          <p:cNvCxnSpPr>
            <a:cxnSpLocks/>
          </p:cNvCxnSpPr>
          <p:nvPr/>
        </p:nvCxnSpPr>
        <p:spPr>
          <a:xfrm flipH="1" flipV="1">
            <a:off x="7363468" y="4152801"/>
            <a:ext cx="168613" cy="282912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60C449AE-76B4-CA8F-1A2A-EF1DFC19DEE8}"/>
              </a:ext>
            </a:extLst>
          </p:cNvPr>
          <p:cNvCxnSpPr>
            <a:cxnSpLocks/>
          </p:cNvCxnSpPr>
          <p:nvPr/>
        </p:nvCxnSpPr>
        <p:spPr>
          <a:xfrm flipV="1">
            <a:off x="6260191" y="4209139"/>
            <a:ext cx="166180" cy="28419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8FCC4C5E-FAB0-49C1-43FA-52E62D048C40}"/>
              </a:ext>
            </a:extLst>
          </p:cNvPr>
          <p:cNvCxnSpPr>
            <a:cxnSpLocks/>
          </p:cNvCxnSpPr>
          <p:nvPr/>
        </p:nvCxnSpPr>
        <p:spPr>
          <a:xfrm flipV="1">
            <a:off x="5801367" y="3861848"/>
            <a:ext cx="296897" cy="219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581EA01-1EC1-76A8-F5F3-A3C335A7394D}"/>
              </a:ext>
            </a:extLst>
          </p:cNvPr>
          <p:cNvCxnSpPr>
            <a:cxnSpLocks/>
          </p:cNvCxnSpPr>
          <p:nvPr/>
        </p:nvCxnSpPr>
        <p:spPr>
          <a:xfrm>
            <a:off x="5724154" y="2763400"/>
            <a:ext cx="342293" cy="200161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EB0807F-4A8C-4381-E16A-2CED8451EFD6}"/>
              </a:ext>
            </a:extLst>
          </p:cNvPr>
          <p:cNvCxnSpPr>
            <a:cxnSpLocks/>
          </p:cNvCxnSpPr>
          <p:nvPr/>
        </p:nvCxnSpPr>
        <p:spPr>
          <a:xfrm>
            <a:off x="6131298" y="2348792"/>
            <a:ext cx="295073" cy="342833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06BC769C-073E-C8D8-2052-CA2C3390F291}"/>
              </a:ext>
            </a:extLst>
          </p:cNvPr>
          <p:cNvCxnSpPr>
            <a:cxnSpLocks/>
          </p:cNvCxnSpPr>
          <p:nvPr/>
        </p:nvCxnSpPr>
        <p:spPr>
          <a:xfrm flipH="1">
            <a:off x="7325266" y="2331702"/>
            <a:ext cx="240862" cy="329727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2CF4F18-6166-CAE0-88F2-76D642DD042A}"/>
              </a:ext>
            </a:extLst>
          </p:cNvPr>
          <p:cNvCxnSpPr>
            <a:cxnSpLocks/>
          </p:cNvCxnSpPr>
          <p:nvPr/>
        </p:nvCxnSpPr>
        <p:spPr>
          <a:xfrm flipH="1">
            <a:off x="7607825" y="2763400"/>
            <a:ext cx="403697" cy="248053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4EDC39A-7FC1-DF21-ED8A-370629537870}"/>
              </a:ext>
            </a:extLst>
          </p:cNvPr>
          <p:cNvSpPr/>
          <p:nvPr/>
        </p:nvSpPr>
        <p:spPr>
          <a:xfrm>
            <a:off x="6807725" y="2213348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1251A386-23FF-0F26-ADA1-77C5ED8704C5}"/>
              </a:ext>
            </a:extLst>
          </p:cNvPr>
          <p:cNvSpPr/>
          <p:nvPr/>
        </p:nvSpPr>
        <p:spPr>
          <a:xfrm>
            <a:off x="5861356" y="3916499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685EDA62-B28A-5F33-8CC9-F43F5B8441DB}"/>
              </a:ext>
            </a:extLst>
          </p:cNvPr>
          <p:cNvSpPr/>
          <p:nvPr/>
        </p:nvSpPr>
        <p:spPr>
          <a:xfrm>
            <a:off x="7722353" y="3922984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E72083E2-6C41-1F13-B14D-ACE0409DCC37}"/>
              </a:ext>
            </a:extLst>
          </p:cNvPr>
          <p:cNvSpPr/>
          <p:nvPr/>
        </p:nvSpPr>
        <p:spPr>
          <a:xfrm>
            <a:off x="282760" y="1378428"/>
            <a:ext cx="3930009" cy="511541"/>
          </a:xfrm>
          <a:custGeom>
            <a:avLst/>
            <a:gdLst>
              <a:gd name="csX0" fmla="*/ 607664 w 3930009"/>
              <a:gd name="csY0" fmla="*/ 0 h 584647"/>
              <a:gd name="csX1" fmla="*/ 3325790 w 3930009"/>
              <a:gd name="csY1" fmla="*/ 0 h 584647"/>
              <a:gd name="csX2" fmla="*/ 3923637 w 3930009"/>
              <a:gd name="csY2" fmla="*/ 487259 h 584647"/>
              <a:gd name="csX3" fmla="*/ 3930009 w 3930009"/>
              <a:gd name="csY3" fmla="*/ 550468 h 584647"/>
              <a:gd name="csX4" fmla="*/ 3930009 w 3930009"/>
              <a:gd name="csY4" fmla="*/ 584647 h 584647"/>
              <a:gd name="csX5" fmla="*/ 0 w 3930009"/>
              <a:gd name="csY5" fmla="*/ 584647 h 584647"/>
              <a:gd name="csX6" fmla="*/ 9817 w 3930009"/>
              <a:gd name="csY6" fmla="*/ 487259 h 584647"/>
              <a:gd name="csX7" fmla="*/ 607664 w 3930009"/>
              <a:gd name="csY7" fmla="*/ 0 h 584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930009" h="584647">
                <a:moveTo>
                  <a:pt x="607664" y="0"/>
                </a:moveTo>
                <a:lnTo>
                  <a:pt x="3325790" y="0"/>
                </a:lnTo>
                <a:cubicBezTo>
                  <a:pt x="3620690" y="0"/>
                  <a:pt x="3866734" y="209181"/>
                  <a:pt x="3923637" y="487259"/>
                </a:cubicBezTo>
                <a:lnTo>
                  <a:pt x="3930009" y="550468"/>
                </a:lnTo>
                <a:lnTo>
                  <a:pt x="3930009" y="584647"/>
                </a:lnTo>
                <a:lnTo>
                  <a:pt x="0" y="584647"/>
                </a:lnTo>
                <a:lnTo>
                  <a:pt x="9817" y="487259"/>
                </a:lnTo>
                <a:cubicBezTo>
                  <a:pt x="66720" y="209181"/>
                  <a:pt x="312764" y="0"/>
                  <a:pt x="60766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CTN &gt; Si-channel (</a:t>
            </a:r>
            <a:r>
              <a:rPr kumimoji="0" lang="en-US" altLang="ko-KR" sz="2000" b="1" i="0" u="none" strike="noStrike" kern="1200" cap="none" spc="0" normalizeH="0" baseline="0" noProof="0" dirty="0" err="1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Detrap</a:t>
            </a: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 w="9525">
                <a:solidFill>
                  <a:prstClr val="black">
                    <a:alpha val="29000"/>
                  </a:prstClr>
                </a:solidFill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D08574B-1A1D-A853-8FA9-17D4B6549A54}"/>
              </a:ext>
            </a:extLst>
          </p:cNvPr>
          <p:cNvSpPr/>
          <p:nvPr/>
        </p:nvSpPr>
        <p:spPr>
          <a:xfrm>
            <a:off x="4932363" y="1419231"/>
            <a:ext cx="3938616" cy="3587431"/>
          </a:xfrm>
          <a:prstGeom prst="roundRect">
            <a:avLst>
              <a:gd name="adj" fmla="val 14821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3B50051-8540-D79B-3E90-9E116354E493}"/>
              </a:ext>
            </a:extLst>
          </p:cNvPr>
          <p:cNvSpPr/>
          <p:nvPr/>
        </p:nvSpPr>
        <p:spPr>
          <a:xfrm>
            <a:off x="4940972" y="1383274"/>
            <a:ext cx="3930009" cy="511541"/>
          </a:xfrm>
          <a:custGeom>
            <a:avLst/>
            <a:gdLst>
              <a:gd name="csX0" fmla="*/ 607664 w 3930009"/>
              <a:gd name="csY0" fmla="*/ 0 h 584647"/>
              <a:gd name="csX1" fmla="*/ 3325790 w 3930009"/>
              <a:gd name="csY1" fmla="*/ 0 h 584647"/>
              <a:gd name="csX2" fmla="*/ 3923637 w 3930009"/>
              <a:gd name="csY2" fmla="*/ 487259 h 584647"/>
              <a:gd name="csX3" fmla="*/ 3930009 w 3930009"/>
              <a:gd name="csY3" fmla="*/ 550468 h 584647"/>
              <a:gd name="csX4" fmla="*/ 3930009 w 3930009"/>
              <a:gd name="csY4" fmla="*/ 584647 h 584647"/>
              <a:gd name="csX5" fmla="*/ 0 w 3930009"/>
              <a:gd name="csY5" fmla="*/ 584647 h 584647"/>
              <a:gd name="csX6" fmla="*/ 9817 w 3930009"/>
              <a:gd name="csY6" fmla="*/ 487259 h 584647"/>
              <a:gd name="csX7" fmla="*/ 607664 w 3930009"/>
              <a:gd name="csY7" fmla="*/ 0 h 584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930009" h="584647">
                <a:moveTo>
                  <a:pt x="607664" y="0"/>
                </a:moveTo>
                <a:lnTo>
                  <a:pt x="3325790" y="0"/>
                </a:lnTo>
                <a:cubicBezTo>
                  <a:pt x="3620690" y="0"/>
                  <a:pt x="3866734" y="209181"/>
                  <a:pt x="3923637" y="487259"/>
                </a:cubicBezTo>
                <a:lnTo>
                  <a:pt x="3930009" y="550468"/>
                </a:lnTo>
                <a:lnTo>
                  <a:pt x="3930009" y="584647"/>
                </a:lnTo>
                <a:lnTo>
                  <a:pt x="0" y="584647"/>
                </a:lnTo>
                <a:lnTo>
                  <a:pt x="9817" y="487259"/>
                </a:lnTo>
                <a:cubicBezTo>
                  <a:pt x="66720" y="209181"/>
                  <a:pt x="312764" y="0"/>
                  <a:pt x="60766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CTN &gt; TOX &gt; Si-channel (TAT)</a:t>
            </a:r>
            <a:endParaRPr kumimoji="0" lang="ko-KR" altLang="en-US" sz="2000" b="1" i="0" u="none" strike="noStrike" kern="1200" cap="none" spc="0" normalizeH="0" baseline="0" noProof="0" dirty="0">
              <a:ln w="9525">
                <a:solidFill>
                  <a:prstClr val="black">
                    <a:alpha val="29000"/>
                  </a:prstClr>
                </a:solidFill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A25D5D62-9594-E7C5-5617-0493E0617D49}"/>
              </a:ext>
            </a:extLst>
          </p:cNvPr>
          <p:cNvSpPr/>
          <p:nvPr/>
        </p:nvSpPr>
        <p:spPr>
          <a:xfrm>
            <a:off x="272377" y="5148061"/>
            <a:ext cx="3938616" cy="66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CDEF98-10FA-88DC-13E9-8FC4C25F61F8}"/>
              </a:ext>
            </a:extLst>
          </p:cNvPr>
          <p:cNvSpPr txBox="1"/>
          <p:nvPr/>
        </p:nvSpPr>
        <p:spPr>
          <a:xfrm>
            <a:off x="291388" y="5141138"/>
            <a:ext cx="1746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0AA24F-F8F8-F2A9-2708-CC4A5072F235}"/>
              </a:ext>
            </a:extLst>
          </p:cNvPr>
          <p:cNvSpPr txBox="1"/>
          <p:nvPr/>
        </p:nvSpPr>
        <p:spPr>
          <a:xfrm>
            <a:off x="2251288" y="5122088"/>
            <a:ext cx="1978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통과 넓이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2π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centroid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DCF7E265-FAB5-B7E1-C46C-35592126EA0A}"/>
              </a:ext>
            </a:extLst>
          </p:cNvPr>
          <p:cNvSpPr/>
          <p:nvPr/>
        </p:nvSpPr>
        <p:spPr>
          <a:xfrm>
            <a:off x="4928976" y="5126034"/>
            <a:ext cx="3938616" cy="6567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CBF51-393A-246B-2A87-A0933CC705F5}"/>
              </a:ext>
            </a:extLst>
          </p:cNvPr>
          <p:cNvSpPr txBox="1"/>
          <p:nvPr/>
        </p:nvSpPr>
        <p:spPr>
          <a:xfrm>
            <a:off x="4973902" y="5100061"/>
            <a:ext cx="1746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68A3BB24-AA1F-8247-BC37-E37E021E2BD3}"/>
              </a:ext>
            </a:extLst>
          </p:cNvPr>
          <p:cNvSpPr/>
          <p:nvPr/>
        </p:nvSpPr>
        <p:spPr>
          <a:xfrm>
            <a:off x="1917306" y="5328179"/>
            <a:ext cx="358496" cy="29990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FEA4A27-C3C1-4957-2238-B8BB65015ED6}"/>
              </a:ext>
            </a:extLst>
          </p:cNvPr>
          <p:cNvSpPr/>
          <p:nvPr/>
        </p:nvSpPr>
        <p:spPr>
          <a:xfrm>
            <a:off x="6629026" y="5287102"/>
            <a:ext cx="358496" cy="29990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11E0B-9F33-0CE5-5C38-78CADEFFBD7E}"/>
              </a:ext>
            </a:extLst>
          </p:cNvPr>
          <p:cNvSpPr txBox="1"/>
          <p:nvPr/>
        </p:nvSpPr>
        <p:spPr>
          <a:xfrm>
            <a:off x="6914239" y="5087361"/>
            <a:ext cx="1953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통과 넓이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#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endParaRPr lang="ko-KR" altLang="en-US" sz="2000" baseline="30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CE356-7A41-1D2A-0735-B373B1C21538}"/>
              </a:ext>
            </a:extLst>
          </p:cNvPr>
          <p:cNvSpPr txBox="1"/>
          <p:nvPr/>
        </p:nvSpPr>
        <p:spPr>
          <a:xfrm>
            <a:off x="1900890" y="5997924"/>
            <a:ext cx="5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통과 넓이 대폭 감소로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인한 가능 경로 수 감소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827FCD-FB08-E80E-071C-6F2AB66BC54B}"/>
              </a:ext>
            </a:extLst>
          </p:cNvPr>
          <p:cNvSpPr txBox="1"/>
          <p:nvPr/>
        </p:nvSpPr>
        <p:spPr>
          <a:xfrm>
            <a:off x="6998275" y="5811598"/>
            <a:ext cx="1910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1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cf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 </a:t>
            </a:r>
            <a:r>
              <a:rPr lang="en-US" altLang="ko-KR" sz="11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</a:t>
            </a:r>
            <a:r>
              <a:rPr lang="en-US" altLang="ko-KR" sz="11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~ 1.7Å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502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1AF4F-8D7B-49A4-C797-A66808DF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Limited</a:t>
            </a:r>
            <a:r>
              <a:rPr lang="ko-KR" altLang="en-US" dirty="0"/>
              <a:t> </a:t>
            </a:r>
            <a:r>
              <a:rPr lang="en-US" altLang="ko-KR" dirty="0"/>
              <a:t>Contribution of TAT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90E8FCD-9BB8-1DD9-84A7-26901D81198E}"/>
              </a:ext>
            </a:extLst>
          </p:cNvPr>
          <p:cNvSpPr/>
          <p:nvPr/>
        </p:nvSpPr>
        <p:spPr>
          <a:xfrm>
            <a:off x="2696051" y="964162"/>
            <a:ext cx="752272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CTN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F561000-F2AA-726D-D4C5-71C8716A9117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3072187" y="1352966"/>
            <a:ext cx="0" cy="36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CAC175-721B-19E7-C12F-4CB760B55988}"/>
              </a:ext>
            </a:extLst>
          </p:cNvPr>
          <p:cNvSpPr/>
          <p:nvPr/>
        </p:nvSpPr>
        <p:spPr>
          <a:xfrm>
            <a:off x="2696051" y="1718767"/>
            <a:ext cx="752272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TOX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0ACA8A-7259-8446-3F84-76D5BFEE4998}"/>
              </a:ext>
            </a:extLst>
          </p:cNvPr>
          <p:cNvSpPr/>
          <p:nvPr/>
        </p:nvSpPr>
        <p:spPr>
          <a:xfrm>
            <a:off x="2465829" y="2473372"/>
            <a:ext cx="1212715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Si-channel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BE1A83E-4B34-61CD-49C2-9335559280D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072187" y="2107571"/>
            <a:ext cx="0" cy="36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개체 53">
            <a:extLst>
              <a:ext uri="{FF2B5EF4-FFF2-40B4-BE49-F238E27FC236}">
                <a16:creationId xmlns:a16="http://schemas.microsoft.com/office/drawing/2014/main" id="{D8B77745-725F-1DAC-28E4-EAC0AA369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841126"/>
              </p:ext>
            </p:extLst>
          </p:nvPr>
        </p:nvGraphicFramePr>
        <p:xfrm>
          <a:off x="6009012" y="868942"/>
          <a:ext cx="2862614" cy="177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014254" progId="Origin50.Graph">
                  <p:embed/>
                </p:oleObj>
              </mc:Choice>
              <mc:Fallback>
                <p:oleObj name="Graph" r:id="rId2" imgW="4851068" imgH="3014254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D90E9187-7683-BCA0-7070-1E70E8FE2E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09012" y="868942"/>
                        <a:ext cx="2862614" cy="177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223DB183-F6A9-0CFB-EDB7-A638740BFB56}"/>
              </a:ext>
            </a:extLst>
          </p:cNvPr>
          <p:cNvSpPr txBox="1"/>
          <p:nvPr/>
        </p:nvSpPr>
        <p:spPr>
          <a:xfrm>
            <a:off x="4881126" y="2740055"/>
            <a:ext cx="24747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total trap density (measurement)</a:t>
            </a:r>
          </a:p>
          <a:p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1k:  4.49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16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10k: 1.16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17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50k: 1.89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17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  <a:endParaRPr lang="ko-KR" altLang="en-US" sz="1600" baseline="30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AECD9-7DAB-E514-FC0E-C1848AE0F326}"/>
              </a:ext>
            </a:extLst>
          </p:cNvPr>
          <p:cNvSpPr txBox="1"/>
          <p:nvPr/>
        </p:nvSpPr>
        <p:spPr>
          <a:xfrm>
            <a:off x="7095652" y="2740055"/>
            <a:ext cx="15652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[#]</a:t>
            </a:r>
          </a:p>
          <a:p>
            <a:pPr algn="ctr"/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0.55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1.42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2.03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38AB21-674C-12B6-64B4-AD8BBC19F8B5}"/>
              </a:ext>
            </a:extLst>
          </p:cNvPr>
          <p:cNvSpPr/>
          <p:nvPr/>
        </p:nvSpPr>
        <p:spPr>
          <a:xfrm>
            <a:off x="7647648" y="3533898"/>
            <a:ext cx="461301" cy="79675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E8792-8818-8AD6-39E7-006817AA2B2C}"/>
              </a:ext>
            </a:extLst>
          </p:cNvPr>
          <p:cNvSpPr txBox="1"/>
          <p:nvPr/>
        </p:nvSpPr>
        <p:spPr>
          <a:xfrm>
            <a:off x="4881126" y="2253169"/>
            <a:ext cx="10853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EDL</a:t>
            </a:r>
            <a:r>
              <a:rPr lang="ko-KR" altLang="en-US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(2026)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47629-24A0-1827-8411-9BA3C114D09A}"/>
                  </a:ext>
                </a:extLst>
              </p:cNvPr>
              <p:cNvSpPr txBox="1"/>
              <p:nvPr/>
            </p:nvSpPr>
            <p:spPr>
              <a:xfrm>
                <a:off x="3132138" y="1313702"/>
                <a:ext cx="2765822" cy="349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→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𝑇𝑂𝑋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sSup>
                      <m:sSup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𝑡𝑟𝑎𝑝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47629-24A0-1827-8411-9BA3C114D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138" y="1313702"/>
                <a:ext cx="2765822" cy="349326"/>
              </a:xfrm>
              <a:prstGeom prst="rect">
                <a:avLst/>
              </a:prstGeom>
              <a:blipFill>
                <a:blip r:embed="rId4"/>
                <a:stretch>
                  <a:fillRect l="-220" b="-1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5AECF43-0623-FB62-51C5-B7A591C6EBA8}"/>
              </a:ext>
            </a:extLst>
          </p:cNvPr>
          <p:cNvSpPr txBox="1"/>
          <p:nvPr/>
        </p:nvSpPr>
        <p:spPr>
          <a:xfrm>
            <a:off x="3132138" y="2103845"/>
            <a:ext cx="190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1591CE-B245-9C3D-21FA-0D37300DA87C}"/>
              </a:ext>
            </a:extLst>
          </p:cNvPr>
          <p:cNvSpPr txBox="1"/>
          <p:nvPr/>
        </p:nvSpPr>
        <p:spPr>
          <a:xfrm>
            <a:off x="4844500" y="2074045"/>
            <a:ext cx="1137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TED (2025)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80F751E1-96A0-6BE0-7E30-71FE8F3F2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20" y="1021221"/>
            <a:ext cx="1866670" cy="1951695"/>
          </a:xfrm>
          <a:prstGeom prst="rect">
            <a:avLst/>
          </a:prstGeom>
        </p:spPr>
      </p:pic>
      <p:sp>
        <p:nvSpPr>
          <p:cNvPr id="93" name="타원 92">
            <a:extLst>
              <a:ext uri="{FF2B5EF4-FFF2-40B4-BE49-F238E27FC236}">
                <a16:creationId xmlns:a16="http://schemas.microsoft.com/office/drawing/2014/main" id="{EC52590A-2639-1E6B-BB29-75327B5D0E6D}"/>
              </a:ext>
            </a:extLst>
          </p:cNvPr>
          <p:cNvSpPr/>
          <p:nvPr/>
        </p:nvSpPr>
        <p:spPr>
          <a:xfrm>
            <a:off x="5514442" y="1288391"/>
            <a:ext cx="330741" cy="3888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C6D1EFF-5F59-9CE3-6B40-ABA45D5AB00B}"/>
              </a:ext>
            </a:extLst>
          </p:cNvPr>
          <p:cNvCxnSpPr>
            <a:stCxn id="93" idx="6"/>
          </p:cNvCxnSpPr>
          <p:nvPr/>
        </p:nvCxnSpPr>
        <p:spPr>
          <a:xfrm>
            <a:off x="5845183" y="1482793"/>
            <a:ext cx="43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658CF7D-1D51-ECFD-DF4A-6F763AE2C34E}"/>
              </a:ext>
            </a:extLst>
          </p:cNvPr>
          <p:cNvSpPr txBox="1"/>
          <p:nvPr/>
        </p:nvSpPr>
        <p:spPr>
          <a:xfrm>
            <a:off x="174265" y="3074291"/>
            <a:ext cx="442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Effective route count modeling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970888D-FF3A-A95B-9E6C-77A33ADE0BE5}"/>
                  </a:ext>
                </a:extLst>
              </p:cNvPr>
              <p:cNvSpPr txBox="1"/>
              <p:nvPr/>
            </p:nvSpPr>
            <p:spPr>
              <a:xfrm>
                <a:off x="176278" y="3489329"/>
                <a:ext cx="4624467" cy="66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→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𝑇𝑂𝑋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𝜈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𝑇𝐶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#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𝑇𝑂𝑋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𝑐𝑒𝑛𝑡𝑟𝑜𝑖𝑑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𝑊𝐿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970888D-FF3A-A95B-9E6C-77A33ADE0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78" y="3489329"/>
                <a:ext cx="4624467" cy="6674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타원 97">
            <a:extLst>
              <a:ext uri="{FF2B5EF4-FFF2-40B4-BE49-F238E27FC236}">
                <a16:creationId xmlns:a16="http://schemas.microsoft.com/office/drawing/2014/main" id="{29C515B5-D419-F6D7-5D24-E8562D44E92B}"/>
              </a:ext>
            </a:extLst>
          </p:cNvPr>
          <p:cNvSpPr/>
          <p:nvPr/>
        </p:nvSpPr>
        <p:spPr>
          <a:xfrm>
            <a:off x="2701221" y="3496659"/>
            <a:ext cx="2038703" cy="7619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D663782-9B71-5BFC-71DA-D0C56E4FC8B6}"/>
              </a:ext>
            </a:extLst>
          </p:cNvPr>
          <p:cNvSpPr txBox="1"/>
          <p:nvPr/>
        </p:nvSpPr>
        <p:spPr>
          <a:xfrm>
            <a:off x="142672" y="4550539"/>
            <a:ext cx="2323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⸫ Simulation Result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00" name="개체 99">
            <a:extLst>
              <a:ext uri="{FF2B5EF4-FFF2-40B4-BE49-F238E27FC236}">
                <a16:creationId xmlns:a16="http://schemas.microsoft.com/office/drawing/2014/main" id="{7D4F3D6F-7643-059D-D934-D5461E758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49468"/>
              </p:ext>
            </p:extLst>
          </p:nvPr>
        </p:nvGraphicFramePr>
        <p:xfrm>
          <a:off x="3137752" y="4270818"/>
          <a:ext cx="3189920" cy="2253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852293" imgH="3429000" progId="Origin50.Graph">
                  <p:embed/>
                </p:oleObj>
              </mc:Choice>
              <mc:Fallback>
                <p:oleObj name="Graph" r:id="rId7" imgW="4852293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7752" y="4270818"/>
                        <a:ext cx="3189920" cy="2253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개체 100">
            <a:extLst>
              <a:ext uri="{FF2B5EF4-FFF2-40B4-BE49-F238E27FC236}">
                <a16:creationId xmlns:a16="http://schemas.microsoft.com/office/drawing/2014/main" id="{D4AA7C8C-AF68-D8F1-F1FB-461C7DF712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081645"/>
              </p:ext>
            </p:extLst>
          </p:nvPr>
        </p:nvGraphicFramePr>
        <p:xfrm>
          <a:off x="6277583" y="4330649"/>
          <a:ext cx="2524564" cy="1783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852293" imgH="3429000" progId="Origin50.Graph">
                  <p:embed/>
                </p:oleObj>
              </mc:Choice>
              <mc:Fallback>
                <p:oleObj name="Graph" r:id="rId9" imgW="4852293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77583" y="4330649"/>
                        <a:ext cx="2524564" cy="1783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42C7C6B-4E72-C090-7A5D-52D3EEA5A6B4}"/>
              </a:ext>
            </a:extLst>
          </p:cNvPr>
          <p:cNvSpPr/>
          <p:nvPr/>
        </p:nvSpPr>
        <p:spPr>
          <a:xfrm>
            <a:off x="4481913" y="4684532"/>
            <a:ext cx="1463514" cy="12858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913BD9F1-0712-9711-9A22-70C13C398312}"/>
              </a:ext>
            </a:extLst>
          </p:cNvPr>
          <p:cNvCxnSpPr>
            <a:cxnSpLocks/>
          </p:cNvCxnSpPr>
          <p:nvPr/>
        </p:nvCxnSpPr>
        <p:spPr>
          <a:xfrm flipV="1">
            <a:off x="5945427" y="4543244"/>
            <a:ext cx="664951" cy="128588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49B533A-FA31-507A-F9E0-A9FD5BA60E6A}"/>
              </a:ext>
            </a:extLst>
          </p:cNvPr>
          <p:cNvCxnSpPr>
            <a:cxnSpLocks/>
          </p:cNvCxnSpPr>
          <p:nvPr/>
        </p:nvCxnSpPr>
        <p:spPr>
          <a:xfrm>
            <a:off x="5945427" y="4815876"/>
            <a:ext cx="527090" cy="1032474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DE3545D-40CC-5BD7-6526-AC8E559CCCFD}"/>
              </a:ext>
            </a:extLst>
          </p:cNvPr>
          <p:cNvSpPr txBox="1"/>
          <p:nvPr/>
        </p:nvSpPr>
        <p:spPr>
          <a:xfrm>
            <a:off x="583112" y="5147018"/>
            <a:ext cx="24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endurance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별로 차이는 있으나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넓은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route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극복할 순 없다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44924B4-70DE-D7A6-B98C-0C9CF67A3F0A}"/>
              </a:ext>
            </a:extLst>
          </p:cNvPr>
          <p:cNvSpPr txBox="1"/>
          <p:nvPr/>
        </p:nvSpPr>
        <p:spPr>
          <a:xfrm>
            <a:off x="7912462" y="2272639"/>
            <a:ext cx="1137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TED (2025)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019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</a:t>
            </a:r>
            <a:r>
              <a:rPr lang="ko-KR" altLang="en-US" dirty="0"/>
              <a:t> </a:t>
            </a:r>
            <a:r>
              <a:rPr lang="en-US" altLang="ko-KR" dirty="0"/>
              <a:t>Charge Node Analysis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2A503D-4225-61B0-474A-CC164636B134}"/>
              </a:ext>
            </a:extLst>
          </p:cNvPr>
          <p:cNvGrpSpPr/>
          <p:nvPr/>
        </p:nvGrpSpPr>
        <p:grpSpPr>
          <a:xfrm>
            <a:off x="1833988" y="1328020"/>
            <a:ext cx="5493333" cy="2506307"/>
            <a:chOff x="625200" y="3911201"/>
            <a:chExt cx="2751706" cy="125545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1E2ABC-C9B8-3D46-318C-8AD81EFDBFA8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44E6AA6-09F2-B256-F6D5-60031729195C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1FF53F1-0B71-2141-F311-CF9EBE51FABD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004AE03-CDAC-6ED7-099F-ABCD9A2798FF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12D6C0-9E67-B27E-253F-7E6D353D7EB9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F4464B-0025-9B09-9AC9-1BD207967929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13377B-3561-31E0-6E15-C96C1F1CBA06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E37DE-6D2C-C53A-53D8-EAB71F63A7C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0DDCF5-76E4-9558-CF10-3B8D22796B86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28D366-DEB5-080C-6A65-A468ABB1D3E3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5A3B90-B63B-F803-3693-717F63402E82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252F50-1631-5B29-2A18-7BDC43B266D4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3026A5-DDAC-D7EE-68A7-92F5D655322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F24E6-1E0E-1147-8211-E3AACD8F7652}"/>
                </a:ext>
              </a:extLst>
            </p:cNvPr>
            <p:cNvSpPr txBox="1"/>
            <p:nvPr/>
          </p:nvSpPr>
          <p:spPr>
            <a:xfrm>
              <a:off x="2375024" y="3911201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62F419-C190-E18E-7944-F700E3BF2619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85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6512F1-727F-32A1-B75A-FC65130F7B43}"/>
                </a:ext>
              </a:extLst>
            </p:cNvPr>
            <p:cNvSpPr txBox="1"/>
            <p:nvPr/>
          </p:nvSpPr>
          <p:spPr>
            <a:xfrm>
              <a:off x="1688837" y="4354617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B13DF1-5F42-0DF2-401A-E32B39C6C329}"/>
                </a:ext>
              </a:extLst>
            </p:cNvPr>
            <p:cNvSpPr txBox="1"/>
            <p:nvPr/>
          </p:nvSpPr>
          <p:spPr>
            <a:xfrm>
              <a:off x="2143363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2C1B8-B923-577D-46BC-0774954889FA}"/>
                </a:ext>
              </a:extLst>
            </p:cNvPr>
            <p:cNvSpPr txBox="1"/>
            <p:nvPr/>
          </p:nvSpPr>
          <p:spPr>
            <a:xfrm>
              <a:off x="2478696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77D7BF-FC50-9F7E-353D-5DD679B438A1}"/>
                </a:ext>
              </a:extLst>
            </p:cNvPr>
            <p:cNvSpPr txBox="1"/>
            <p:nvPr/>
          </p:nvSpPr>
          <p:spPr>
            <a:xfrm>
              <a:off x="2311029" y="4302815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13EDBE-7793-1B39-8300-A41624EC7A7D}"/>
                </a:ext>
              </a:extLst>
            </p:cNvPr>
            <p:cNvSpPr txBox="1"/>
            <p:nvPr/>
          </p:nvSpPr>
          <p:spPr>
            <a:xfrm>
              <a:off x="155664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2F39DA-FF1A-DB0B-87C2-45831DBE2228}"/>
                </a:ext>
              </a:extLst>
            </p:cNvPr>
            <p:cNvSpPr txBox="1"/>
            <p:nvPr/>
          </p:nvSpPr>
          <p:spPr>
            <a:xfrm>
              <a:off x="198951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9E4998-4D5D-A9B0-90AE-2BC43D625B08}"/>
                </a:ext>
              </a:extLst>
            </p:cNvPr>
            <p:cNvSpPr txBox="1"/>
            <p:nvPr/>
          </p:nvSpPr>
          <p:spPr>
            <a:xfrm>
              <a:off x="2883383" y="4425387"/>
              <a:ext cx="39829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2A82083-6E71-0834-8D5B-8DD96D28D6A2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A205626-EB9F-CA81-66D7-3C648846320B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1BFAB3F-C7E4-AC7B-38FC-6604EE5FF48C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0CC2DAF-2B4C-3E6F-CD64-527850716A0B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4586BB-44DE-C8E5-B7A2-DFE6A6C01CE0}"/>
                </a:ext>
              </a:extLst>
            </p:cNvPr>
            <p:cNvSpPr txBox="1"/>
            <p:nvPr/>
          </p:nvSpPr>
          <p:spPr>
            <a:xfrm rot="19046009">
              <a:off x="1023784" y="4253832"/>
              <a:ext cx="257962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A1607F9-BC49-9687-6799-E8E8058567DF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8588313-F35B-1178-BCFB-4C7A872BF863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6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4ADB8C6-FDD0-C787-E999-2383A62828B3}"/>
                </a:ext>
              </a:extLst>
            </p:cNvPr>
            <p:cNvSpPr txBox="1"/>
            <p:nvPr/>
          </p:nvSpPr>
          <p:spPr>
            <a:xfrm>
              <a:off x="2552466" y="4873730"/>
              <a:ext cx="629362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E8EF53-FE5E-5A30-49C4-7915B2D4A067}"/>
                </a:ext>
              </a:extLst>
            </p:cNvPr>
            <p:cNvSpPr txBox="1"/>
            <p:nvPr/>
          </p:nvSpPr>
          <p:spPr>
            <a:xfrm>
              <a:off x="1657154" y="4948827"/>
              <a:ext cx="857565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왼쪽 중괄호 136">
              <a:extLst>
                <a:ext uri="{FF2B5EF4-FFF2-40B4-BE49-F238E27FC236}">
                  <a16:creationId xmlns:a16="http://schemas.microsoft.com/office/drawing/2014/main" id="{84F40FA2-D013-5416-4527-699E2367FDB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D6A2E9DC-6D22-B21D-001D-086A824010F0}"/>
              </a:ext>
            </a:extLst>
          </p:cNvPr>
          <p:cNvGrpSpPr/>
          <p:nvPr/>
        </p:nvGrpSpPr>
        <p:grpSpPr>
          <a:xfrm>
            <a:off x="896745" y="5001403"/>
            <a:ext cx="6169658" cy="815352"/>
            <a:chOff x="2303921" y="4527578"/>
            <a:chExt cx="6169658" cy="815352"/>
          </a:xfrm>
        </p:grpSpPr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8DFE411-7B4A-0A32-3DB3-90D3CEF354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9DC431EA-C7E3-E1FE-48D9-332E28BDB02F}"/>
                </a:ext>
              </a:extLst>
            </p:cNvPr>
            <p:cNvGrpSpPr/>
            <p:nvPr/>
          </p:nvGrpSpPr>
          <p:grpSpPr>
            <a:xfrm>
              <a:off x="2915777" y="4771606"/>
              <a:ext cx="143736" cy="465698"/>
              <a:chOff x="1663538" y="2271752"/>
              <a:chExt cx="33334" cy="233443"/>
            </a:xfrm>
          </p:grpSpPr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8F325648-A6A7-4CA8-F94A-2EB51B337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5EB1EE71-6C77-568A-F10B-CFAA63F6F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3D528CD-A108-601C-6635-5C785C6F0D9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13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11D78AC-74E1-B90E-7346-B59D4F2DB195}"/>
                </a:ext>
              </a:extLst>
            </p:cNvPr>
            <p:cNvGrpSpPr/>
            <p:nvPr/>
          </p:nvGrpSpPr>
          <p:grpSpPr>
            <a:xfrm>
              <a:off x="3879966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0942312-9F5E-1815-1FDA-4F48384CB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89295952-40F9-707E-51B8-E53F65770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11A1DE4B-1435-8F22-5949-F0103E2B4DF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136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C778AC04-0711-4503-F986-7D06BCF8B2E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29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433180F-DDF2-AF88-461D-2DB381DA8CE0}"/>
                </a:ext>
              </a:extLst>
            </p:cNvPr>
            <p:cNvGrpSpPr/>
            <p:nvPr/>
          </p:nvGrpSpPr>
          <p:grpSpPr>
            <a:xfrm>
              <a:off x="4435153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0F78B2AC-AB48-CAB4-1090-1E0EAE686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DF0802A3-95AD-16A9-B6AB-8E04C7E44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4F262ED2-7C5E-BCE2-00D4-8E974839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2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CE1E3E79-5C2D-4232-AD9A-19B77838B532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82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B9D5BA19-7DE3-73E4-D866-7911D79622D2}"/>
                </a:ext>
              </a:extLst>
            </p:cNvPr>
            <p:cNvGrpSpPr/>
            <p:nvPr/>
          </p:nvGrpSpPr>
          <p:grpSpPr>
            <a:xfrm>
              <a:off x="4989371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F4CAE543-DF6D-7A56-EA78-B3CC8B18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1257E854-1F91-5FC6-75DC-5F093215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8C30F5CD-52D8-AA86-EAC3-5B58CFA8A07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545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5423709A-B85C-3CDD-6CD3-931DEA31B2B9}"/>
                </a:ext>
              </a:extLst>
            </p:cNvPr>
            <p:cNvCxnSpPr>
              <a:cxnSpLocks/>
            </p:cNvCxnSpPr>
            <p:nvPr/>
          </p:nvCxnSpPr>
          <p:spPr>
            <a:xfrm>
              <a:off x="5136700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56879D9-2002-8341-7D0C-F09BEB90746A}"/>
                </a:ext>
              </a:extLst>
            </p:cNvPr>
            <p:cNvGrpSpPr/>
            <p:nvPr/>
          </p:nvGrpSpPr>
          <p:grpSpPr>
            <a:xfrm>
              <a:off x="6611644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6C8F499A-7792-CD9F-8FA3-DA640C61F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A5F8ED73-9C2D-A491-35F0-1A1A9D8872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F51E93D9-D7C6-A6D1-8AB3-7BB4A5B1EC12}"/>
                </a:ext>
              </a:extLst>
            </p:cNvPr>
            <p:cNvCxnSpPr>
              <a:cxnSpLocks/>
            </p:cNvCxnSpPr>
            <p:nvPr/>
          </p:nvCxnSpPr>
          <p:spPr>
            <a:xfrm>
              <a:off x="6408818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06ADA5CB-494E-07A6-7E6F-1D96ED4EDEE5}"/>
                </a:ext>
              </a:extLst>
            </p:cNvPr>
            <p:cNvCxnSpPr>
              <a:cxnSpLocks/>
            </p:cNvCxnSpPr>
            <p:nvPr/>
          </p:nvCxnSpPr>
          <p:spPr>
            <a:xfrm>
              <a:off x="675897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4B68A440-8C7E-C465-6FEB-65E151495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36234" y="5004457"/>
              <a:ext cx="7071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38334FD-B7DF-E730-DA92-52771638644C}"/>
                </a:ext>
              </a:extLst>
            </p:cNvPr>
            <p:cNvGrpSpPr/>
            <p:nvPr/>
          </p:nvGrpSpPr>
          <p:grpSpPr>
            <a:xfrm>
              <a:off x="7646221" y="4771606"/>
              <a:ext cx="143736" cy="465698"/>
              <a:chOff x="1663538" y="2271752"/>
              <a:chExt cx="33334" cy="233443"/>
            </a:xfrm>
          </p:grpSpPr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2493DEA-4BB1-BE3D-2695-A9E60C0E4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4A5A6AFF-0B29-749F-238F-EE2BC7B31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743974C2-B322-DE55-9B4C-F1FC7A504214}"/>
                </a:ext>
              </a:extLst>
            </p:cNvPr>
            <p:cNvCxnSpPr>
              <a:cxnSpLocks/>
            </p:cNvCxnSpPr>
            <p:nvPr/>
          </p:nvCxnSpPr>
          <p:spPr>
            <a:xfrm>
              <a:off x="7790555" y="5004457"/>
              <a:ext cx="6830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/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blipFill>
                  <a:blip r:embed="rId2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/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blipFill>
                  <a:blip r:embed="rId3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/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blipFill>
                  <a:blip r:embed="rId4"/>
                  <a:stretch>
                    <a:fillRect l="-28947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/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blipFill>
                  <a:blip r:embed="rId5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/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blipFill>
                  <a:blip r:embed="rId6"/>
                  <a:stretch>
                    <a:fillRect l="-250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/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blipFill>
                  <a:blip r:embed="rId7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CE6D35-2932-CD2F-A863-1CF7105BC775}"/>
                </a:ext>
              </a:extLst>
            </p:cNvPr>
            <p:cNvSpPr txBox="1"/>
            <p:nvPr/>
          </p:nvSpPr>
          <p:spPr>
            <a:xfrm>
              <a:off x="311211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C26A3AE-6AD2-A403-FB08-3F2DD6B1178C}"/>
                </a:ext>
              </a:extLst>
            </p:cNvPr>
            <p:cNvSpPr txBox="1"/>
            <p:nvPr/>
          </p:nvSpPr>
          <p:spPr>
            <a:xfrm>
              <a:off x="367680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E9C6097-8E69-8DE8-64AD-3697D416946F}"/>
                </a:ext>
              </a:extLst>
            </p:cNvPr>
            <p:cNvSpPr txBox="1"/>
            <p:nvPr/>
          </p:nvSpPr>
          <p:spPr>
            <a:xfrm>
              <a:off x="424149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3CDD3E1-3FDB-F509-B562-811D09B701A4}"/>
                </a:ext>
              </a:extLst>
            </p:cNvPr>
            <p:cNvSpPr txBox="1"/>
            <p:nvPr/>
          </p:nvSpPr>
          <p:spPr>
            <a:xfrm>
              <a:off x="4806185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790F642-9D41-397B-0EBB-68B4A44E09D6}"/>
                </a:ext>
              </a:extLst>
            </p:cNvPr>
            <p:cNvSpPr txBox="1"/>
            <p:nvPr/>
          </p:nvSpPr>
          <p:spPr>
            <a:xfrm>
              <a:off x="5587940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FE36130-CEF3-04FD-2A61-B1AF97904B11}"/>
                </a:ext>
              </a:extLst>
            </p:cNvPr>
            <p:cNvSpPr txBox="1"/>
            <p:nvPr/>
          </p:nvSpPr>
          <p:spPr>
            <a:xfrm>
              <a:off x="6254789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E9A8437-3A4F-6831-B4C1-59530E141D03}"/>
                </a:ext>
              </a:extLst>
            </p:cNvPr>
            <p:cNvSpPr/>
            <p:nvPr/>
          </p:nvSpPr>
          <p:spPr>
            <a:xfrm>
              <a:off x="3632223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56A9055-AF82-3884-0CCC-461DDB3D1A53}"/>
                </a:ext>
              </a:extLst>
            </p:cNvPr>
            <p:cNvSpPr/>
            <p:nvPr/>
          </p:nvSpPr>
          <p:spPr>
            <a:xfrm>
              <a:off x="419691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B43A9A5D-610A-AF7B-C51F-021E0A9FB38D}"/>
                </a:ext>
              </a:extLst>
            </p:cNvPr>
            <p:cNvSpPr/>
            <p:nvPr/>
          </p:nvSpPr>
          <p:spPr>
            <a:xfrm>
              <a:off x="473284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9B6B4969-CEB7-7E95-03CF-DC9C2F6DF9F2}"/>
                </a:ext>
              </a:extLst>
            </p:cNvPr>
            <p:cNvSpPr/>
            <p:nvPr/>
          </p:nvSpPr>
          <p:spPr>
            <a:xfrm>
              <a:off x="529163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DF772A4E-3C93-E5A7-7A95-7F079DE2031E}"/>
                </a:ext>
              </a:extLst>
            </p:cNvPr>
            <p:cNvSpPr/>
            <p:nvPr/>
          </p:nvSpPr>
          <p:spPr>
            <a:xfrm>
              <a:off x="638668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7D3B397A-A258-9578-6D31-D2BE6073AF71}"/>
                </a:ext>
              </a:extLst>
            </p:cNvPr>
            <p:cNvSpPr/>
            <p:nvPr/>
          </p:nvSpPr>
          <p:spPr>
            <a:xfrm>
              <a:off x="6919475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546F02D3-E684-0037-2575-1E6AA71BAFA6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3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40E80BAA-3C7A-7931-AAAE-9CDD49C27053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B118A-05C6-64C9-E2F7-DD109F0125FB}"/>
              </a:ext>
            </a:extLst>
          </p:cNvPr>
          <p:cNvSpPr txBox="1"/>
          <p:nvPr/>
        </p:nvSpPr>
        <p:spPr>
          <a:xfrm>
            <a:off x="409443" y="1097965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charge 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분할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5CC9C04-7F95-140B-5AF0-81EF27621DBB}"/>
              </a:ext>
            </a:extLst>
          </p:cNvPr>
          <p:cNvSpPr/>
          <p:nvPr/>
        </p:nvSpPr>
        <p:spPr>
          <a:xfrm>
            <a:off x="4167077" y="3738026"/>
            <a:ext cx="765318" cy="58477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C1DF-32FF-30D5-ED42-B3DFFFA0091A}"/>
              </a:ext>
            </a:extLst>
          </p:cNvPr>
          <p:cNvSpPr txBox="1"/>
          <p:nvPr/>
        </p:nvSpPr>
        <p:spPr>
          <a:xfrm>
            <a:off x="409443" y="4397193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charge node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ΔQ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표현할 수 있음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4EB86A7-0275-51D1-B097-7F004E84F20C}"/>
              </a:ext>
            </a:extLst>
          </p:cNvPr>
          <p:cNvGrpSpPr/>
          <p:nvPr/>
        </p:nvGrpSpPr>
        <p:grpSpPr>
          <a:xfrm>
            <a:off x="7320881" y="5068122"/>
            <a:ext cx="947738" cy="886470"/>
            <a:chOff x="6105526" y="1766242"/>
            <a:chExt cx="947738" cy="886470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375D809-35E2-12E3-B627-6B0E9D992FDC}"/>
                </a:ext>
              </a:extLst>
            </p:cNvPr>
            <p:cNvSpPr/>
            <p:nvPr/>
          </p:nvSpPr>
          <p:spPr>
            <a:xfrm>
              <a:off x="6105526" y="1766888"/>
              <a:ext cx="885824" cy="8858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581E6AD-496E-5D32-54E3-4238C219E1E8}"/>
                </a:ext>
              </a:extLst>
            </p:cNvPr>
            <p:cNvSpPr/>
            <p:nvPr/>
          </p:nvSpPr>
          <p:spPr>
            <a:xfrm>
              <a:off x="6338275" y="1999637"/>
              <a:ext cx="420326" cy="42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D71CB48E-5CA4-01D2-6BDB-9545F5075268}"/>
                </a:ext>
              </a:extLst>
            </p:cNvPr>
            <p:cNvCxnSpPr>
              <a:endCxn id="20" idx="7"/>
            </p:cNvCxnSpPr>
            <p:nvPr/>
          </p:nvCxnSpPr>
          <p:spPr>
            <a:xfrm flipV="1">
              <a:off x="6553200" y="2061192"/>
              <a:ext cx="143846" cy="158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2F084445-8377-4A54-9298-249E151DAD11}"/>
                </a:ext>
              </a:extLst>
            </p:cNvPr>
            <p:cNvCxnSpPr>
              <a:cxnSpLocks/>
              <a:endCxn id="19" idx="6"/>
            </p:cNvCxnSpPr>
            <p:nvPr/>
          </p:nvCxnSpPr>
          <p:spPr>
            <a:xfrm flipV="1">
              <a:off x="6548438" y="2209800"/>
              <a:ext cx="442912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2A3BDB0-7A89-CE83-2BA8-66BAEF52CB65}"/>
                </a:ext>
              </a:extLst>
            </p:cNvPr>
            <p:cNvCxnSpPr/>
            <p:nvPr/>
          </p:nvCxnSpPr>
          <p:spPr>
            <a:xfrm>
              <a:off x="6448425" y="1853230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BA61BF6-D801-DE29-141E-C8A3B15478EF}"/>
                </a:ext>
              </a:extLst>
            </p:cNvPr>
            <p:cNvCxnSpPr/>
            <p:nvPr/>
          </p:nvCxnSpPr>
          <p:spPr>
            <a:xfrm>
              <a:off x="6448425" y="1907205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619C340-66EA-9C8F-A919-4416D50F6105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6548438" y="1914786"/>
              <a:ext cx="0" cy="84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6D3A822-8FDD-62BC-C451-D2287DA021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8437" y="1766242"/>
              <a:ext cx="0" cy="876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179A447-FF43-A2B1-1EC8-C8000FA928F8}"/>
                    </a:ext>
                  </a:extLst>
                </p:cNvPr>
                <p:cNvSpPr txBox="1"/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9C74366-3F40-4483-E634-DB4EF6861ADD}"/>
                    </a:ext>
                  </a:extLst>
                </p:cNvPr>
                <p:cNvSpPr txBox="1"/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𝑏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98AFF6-3B25-1AB7-F068-52BB7CA73486}"/>
                  </a:ext>
                </a:extLst>
              </p:cNvPr>
              <p:cNvSpPr txBox="1"/>
              <p:nvPr/>
            </p:nvSpPr>
            <p:spPr>
              <a:xfrm>
                <a:off x="7327787" y="4977768"/>
                <a:ext cx="5467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baseline="-3000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98AFF6-3B25-1AB7-F068-52BB7CA73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787" y="4977768"/>
                <a:ext cx="54675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1CD819-364E-9D7B-97F8-0E52D49D2EA5}"/>
                  </a:ext>
                </a:extLst>
              </p:cNvPr>
              <p:cNvSpPr txBox="1"/>
              <p:nvPr/>
            </p:nvSpPr>
            <p:spPr>
              <a:xfrm>
                <a:off x="6987834" y="4397193"/>
                <a:ext cx="1579612" cy="566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𝐶</m:t>
                    </m:r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𝜋𝜀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r>
                                  <m:rPr>
                                    <m:lit/>
                                  </m:r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/</m:t>
                                </m:r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1CD819-364E-9D7B-97F8-0E52D49D2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834" y="4397193"/>
                <a:ext cx="1579612" cy="566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EED9-289A-C75D-E259-CC198740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5F83-BEED-3220-1ABB-195354A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7F814-81C0-B11D-82BA-3C10AE60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5B187-72BA-F9FE-A791-B18A4C829D83}"/>
              </a:ext>
            </a:extLst>
          </p:cNvPr>
          <p:cNvSpPr txBox="1"/>
          <p:nvPr/>
        </p:nvSpPr>
        <p:spPr>
          <a:xfrm>
            <a:off x="580103" y="963561"/>
            <a:ext cx="334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N+2 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전위 분포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6F4FE7-A57F-6A32-681A-2E4753E4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3879798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0DDF5-DA6E-192F-24F4-DF6B5E8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4621154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EC66E-9B73-0F63-EB4A-185634E4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1570745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A7378-CDF4-68F4-07FE-EFADAA096305}"/>
              </a:ext>
            </a:extLst>
          </p:cNvPr>
          <p:cNvSpPr txBox="1"/>
          <p:nvPr/>
        </p:nvSpPr>
        <p:spPr>
          <a:xfrm>
            <a:off x="5306231" y="963561"/>
            <a:ext cx="268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경계조건 행렬식 정리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19C8A-DB6C-16EB-E305-67194412DE18}"/>
              </a:ext>
            </a:extLst>
          </p:cNvPr>
          <p:cNvSpPr txBox="1"/>
          <p:nvPr/>
        </p:nvSpPr>
        <p:spPr>
          <a:xfrm>
            <a:off x="1405304" y="3322920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선형방정식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40FB273B-07DE-550B-C6ED-5B1B98A01187}"/>
              </a:ext>
            </a:extLst>
          </p:cNvPr>
          <p:cNvSpPr/>
          <p:nvPr/>
        </p:nvSpPr>
        <p:spPr>
          <a:xfrm>
            <a:off x="4864932" y="1363671"/>
            <a:ext cx="356707" cy="3447888"/>
          </a:xfrm>
          <a:prstGeom prst="leftBrace">
            <a:avLst>
              <a:gd name="adj1" fmla="val 80279"/>
              <a:gd name="adj2" fmla="val 658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8E10C-866D-D215-EA54-6985C98C0068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550E-6915-D59A-CE8E-8A031A181A7D}"/>
              </a:ext>
            </a:extLst>
          </p:cNvPr>
          <p:cNvSpPr txBox="1"/>
          <p:nvPr/>
        </p:nvSpPr>
        <p:spPr>
          <a:xfrm>
            <a:off x="580104" y="5410986"/>
            <a:ext cx="271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역행렬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계산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…?	x = A</a:t>
            </a:r>
            <a:r>
              <a:rPr lang="en-US" altLang="ko-KR" sz="24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..?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59E2C-4E16-26A4-071A-63101296EA36}"/>
              </a:ext>
            </a:extLst>
          </p:cNvPr>
          <p:cNvSpPr txBox="1"/>
          <p:nvPr/>
        </p:nvSpPr>
        <p:spPr>
          <a:xfrm>
            <a:off x="4572000" y="5664511"/>
            <a:ext cx="376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구하는데 있어 모든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coefficient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계산은 불필요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F34F1C-3C4D-D660-97C8-C53D17206B4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99250" y="6018454"/>
            <a:ext cx="1472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724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7" y="1770233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550" y="2638123"/>
            <a:ext cx="2160900" cy="534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753" y="2805917"/>
            <a:ext cx="2624851" cy="298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502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channel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전기장의 세기가 중요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2744853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Cramer’s rule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따르면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D3E0A-E53D-607A-4FF3-2A882D3950FC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C1F5-C0A9-FA93-07A8-C0C1C143A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77" y="3571780"/>
            <a:ext cx="3629756" cy="15716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48E05-C795-3D57-D309-5023DCBB2510}"/>
              </a:ext>
            </a:extLst>
          </p:cNvPr>
          <p:cNvSpPr txBox="1"/>
          <p:nvPr/>
        </p:nvSpPr>
        <p:spPr>
          <a:xfrm>
            <a:off x="4175806" y="1783053"/>
            <a:ext cx="4567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값을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일치시키는게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구하는 핵심 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46A9C4-EFCA-2894-B40D-A521D8730E6F}"/>
              </a:ext>
            </a:extLst>
          </p:cNvPr>
          <p:cNvSpPr/>
          <p:nvPr/>
        </p:nvSpPr>
        <p:spPr>
          <a:xfrm>
            <a:off x="3212538" y="2014917"/>
            <a:ext cx="890124" cy="30311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99B68F-56A8-91FE-A3C1-038EDFCDB3D6}"/>
                  </a:ext>
                </a:extLst>
              </p:cNvPr>
              <p:cNvSpPr txBox="1"/>
              <p:nvPr/>
            </p:nvSpPr>
            <p:spPr>
              <a:xfrm>
                <a:off x="-774727" y="5545921"/>
                <a:ext cx="7816906" cy="452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∴</m:t>
                      </m:r>
                      <m: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Δ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𝑡ℎ</m:t>
                          </m:r>
                        </m:sub>
                      </m:sSub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=−</m:t>
                      </m:r>
                      <m:func>
                        <m:funcPr>
                          <m:ctrl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,0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 −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det</m:t>
                      </m:r>
                    </m:oMath>
                  </m:oMathPara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99B68F-56A8-91FE-A3C1-038EDFCDB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4727" y="5545921"/>
                <a:ext cx="7816906" cy="4520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099C-7DE6-B5BF-E46D-61FA2C280CB3}"/>
                  </a:ext>
                </a:extLst>
              </p:cNvPr>
              <p:cNvSpPr txBox="1"/>
              <p:nvPr/>
            </p:nvSpPr>
            <p:spPr>
              <a:xfrm>
                <a:off x="5041340" y="3419306"/>
                <a:ext cx="3686924" cy="26775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ko-KR" altLang="en-US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⋱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𝐵𝑂𝑋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73099C-7DE6-B5BF-E46D-61FA2C280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340" y="3419306"/>
                <a:ext cx="3686924" cy="26775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CCC6D7-D585-2B55-CEDB-2857EAD6F2D7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F5BBB-2D30-00D7-79F5-405AED2EA63C}"/>
              </a:ext>
            </a:extLst>
          </p:cNvPr>
          <p:cNvSpPr txBox="1"/>
          <p:nvPr/>
        </p:nvSpPr>
        <p:spPr>
          <a:xfrm>
            <a:off x="1541143" y="5761990"/>
            <a:ext cx="750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비용은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88DD71-58A4-C0F7-7D4B-BA19C07038AA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F921A-9011-3F85-500D-0EB173CEC725}"/>
              </a:ext>
            </a:extLst>
          </p:cNvPr>
          <p:cNvSpPr txBox="1"/>
          <p:nvPr/>
        </p:nvSpPr>
        <p:spPr>
          <a:xfrm>
            <a:off x="806823" y="3679576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BCF5-2405-5B72-05BF-C4316D65EF91}"/>
              </a:ext>
            </a:extLst>
          </p:cNvPr>
          <p:cNvSpPr txBox="1"/>
          <p:nvPr/>
        </p:nvSpPr>
        <p:spPr>
          <a:xfrm>
            <a:off x="344242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76E66-0C5F-6E31-9940-F4C00432FE22}"/>
              </a:ext>
            </a:extLst>
          </p:cNvPr>
          <p:cNvSpPr txBox="1"/>
          <p:nvPr/>
        </p:nvSpPr>
        <p:spPr>
          <a:xfrm>
            <a:off x="1367564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F96E6-0A68-3A23-64B1-5B337DD34AC3}"/>
              </a:ext>
            </a:extLst>
          </p:cNvPr>
          <p:cNvSpPr txBox="1"/>
          <p:nvPr/>
        </p:nvSpPr>
        <p:spPr>
          <a:xfrm>
            <a:off x="-97824" y="3510050"/>
            <a:ext cx="90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228B-9112-3A34-8731-54BE8A79F6D3}"/>
              </a:ext>
            </a:extLst>
          </p:cNvPr>
          <p:cNvSpPr txBox="1"/>
          <p:nvPr/>
        </p:nvSpPr>
        <p:spPr>
          <a:xfrm>
            <a:off x="1840902" y="3404795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9860-FE47-EE4D-586C-5252C3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0F9AB-425E-FA11-7964-DA92B4B8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214A776-0BA0-6D9B-EE09-CF6C8122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89150"/>
              </p:ext>
            </p:extLst>
          </p:nvPr>
        </p:nvGraphicFramePr>
        <p:xfrm>
          <a:off x="94129" y="2477565"/>
          <a:ext cx="3272867" cy="23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429000" progId="Origin50.Graph">
                  <p:embed/>
                </p:oleObj>
              </mc:Choice>
              <mc:Fallback>
                <p:oleObj name="Graph" r:id="rId2" imgW="4851068" imgH="3429000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214A776-0BA0-6D9B-EE09-CF6C8122E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29" y="2477565"/>
                        <a:ext cx="3272867" cy="2313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D5268AF-0DA4-A78D-FBBD-A716375A9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693"/>
              </p:ext>
            </p:extLst>
          </p:nvPr>
        </p:nvGraphicFramePr>
        <p:xfrm>
          <a:off x="3079377" y="2477565"/>
          <a:ext cx="3272870" cy="23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D5268AF-0DA4-A78D-FBBD-A716375A9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9377" y="2477565"/>
                        <a:ext cx="3272870" cy="2312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EA3E0D-66BC-97CB-2974-B02824AC9B4F}"/>
              </a:ext>
            </a:extLst>
          </p:cNvPr>
          <p:cNvSpPr txBox="1"/>
          <p:nvPr/>
        </p:nvSpPr>
        <p:spPr>
          <a:xfrm>
            <a:off x="290596" y="1937786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Numerical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상관관계 실험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D5578-D548-FAD6-E0CD-87F45C626CD9}"/>
              </a:ext>
            </a:extLst>
          </p:cNvPr>
          <p:cNvSpPr txBox="1"/>
          <p:nvPr/>
        </p:nvSpPr>
        <p:spPr>
          <a:xfrm>
            <a:off x="170117" y="4977911"/>
            <a:ext cx="3232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10-140 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D621D-D424-F110-3C45-0440816845D3}"/>
              </a:ext>
            </a:extLst>
          </p:cNvPr>
          <p:cNvSpPr txBox="1"/>
          <p:nvPr/>
        </p:nvSpPr>
        <p:spPr>
          <a:xfrm>
            <a:off x="3403079" y="4978666"/>
            <a:ext cx="2809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5-50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08074A-5398-A5EE-1C42-93ABBC6AA34F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6928542-BF00-FA00-B0C1-85E590104E3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6A4D45-15EB-9A15-5890-816F64A32EA5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746F2A7-0A8B-91A9-BF93-19E3F7248752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C3DD21-A8F3-AE5E-2E0D-B2186A0D3AC4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F6EF07-2A81-EEC2-8EFF-F92E71A4F92D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3260FF-CD2F-D451-3738-A9A7E20B535D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7B55EE-D75B-E80E-A93D-48427165EAE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2A6B0-2BB0-DDE9-59BA-F5EF06917DC1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</p:spTree>
    <p:extLst>
      <p:ext uri="{BB962C8B-B14F-4D97-AF65-F5344CB8AC3E}">
        <p14:creationId xmlns:p14="http://schemas.microsoft.com/office/powerpoint/2010/main" val="391265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4" t="61128" r="14538"/>
          <a:stretch>
            <a:fillRect/>
          </a:stretch>
        </p:blipFill>
        <p:spPr>
          <a:xfrm>
            <a:off x="1652622" y="4350119"/>
            <a:ext cx="3605719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FB1475-1299-9D16-CE2C-045210718D6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65071B-98C4-1AFE-696F-48E64ECF1D5B}"/>
              </a:ext>
            </a:extLst>
          </p:cNvPr>
          <p:cNvGrpSpPr/>
          <p:nvPr/>
        </p:nvGrpSpPr>
        <p:grpSpPr>
          <a:xfrm>
            <a:off x="962958" y="1828348"/>
            <a:ext cx="4351370" cy="1689118"/>
            <a:chOff x="1008979" y="2324100"/>
            <a:chExt cx="4351370" cy="16891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3" imgW="6012550" imgH="2335684" progId="Origin50.Graph">
                        <p:embed/>
                      </p:oleObj>
                    </mc:Choice>
                    <mc:Fallback>
                      <p:oleObj name="Graph" r:id="rId3" imgW="6012550" imgH="2335684" progId="Origin50.Graph">
                        <p:embed/>
                        <p:pic>
                          <p:nvPicPr>
                            <p:cNvPr id="2" name="개체 1">
                              <a:extLst>
                                <a:ext uri="{FF2B5EF4-FFF2-40B4-BE49-F238E27FC236}">
                                  <a16:creationId xmlns:a16="http://schemas.microsoft.com/office/drawing/2014/main" id="{5A8CC464-9F64-C3DA-DC18-C10744D49F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5" imgW="6012550" imgH="2335684" progId="Origin50.Graph">
                        <p:embed/>
                      </p:oleObj>
                    </mc:Choice>
                    <mc:Fallback>
                      <p:oleObj name="Graph" r:id="rId5" imgW="6012550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/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951DCAA-6CC8-B760-13EE-B7B98F210ED1}"/>
                </a:ext>
              </a:extLst>
            </p:cNvPr>
            <p:cNvSpPr/>
            <p:nvPr/>
          </p:nvSpPr>
          <p:spPr>
            <a:xfrm>
              <a:off x="2902427" y="2960108"/>
              <a:ext cx="172873" cy="172873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0DE76E4-7E92-40FA-EF2D-5EE68EED1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8911" y="3046547"/>
              <a:ext cx="12391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99085FB-222D-229D-CFA6-F8B4B521CB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6852" y="2727327"/>
              <a:ext cx="2" cy="6081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3D1D068-1E5E-B21E-C045-8A94A0F862BA}"/>
                </a:ext>
              </a:extLst>
            </p:cNvPr>
            <p:cNvCxnSpPr>
              <a:cxnSpLocks/>
            </p:cNvCxnSpPr>
            <p:nvPr/>
          </p:nvCxnSpPr>
          <p:spPr>
            <a:xfrm>
              <a:off x="4827719" y="2778466"/>
              <a:ext cx="2" cy="690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932EEE7-DCD2-79E4-9F6E-E282117B069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63" y="2632072"/>
              <a:ext cx="2" cy="23656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1CDF9-D48C-E570-D828-2DC4B923877A}"/>
                </a:ext>
              </a:extLst>
            </p:cNvPr>
            <p:cNvSpPr txBox="1"/>
            <p:nvPr/>
          </p:nvSpPr>
          <p:spPr>
            <a:xfrm rot="16200000">
              <a:off x="1162896" y="2898661"/>
              <a:ext cx="799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3.1 eV</a:t>
              </a:r>
              <a:endParaRPr lang="ko-KR" altLang="en-US" sz="11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CA5A6E-F2FA-E672-0003-E7B2BF846745}"/>
                </a:ext>
              </a:extLst>
            </p:cNvPr>
            <p:cNvSpPr txBox="1"/>
            <p:nvPr/>
          </p:nvSpPr>
          <p:spPr>
            <a:xfrm>
              <a:off x="2252634" y="2585061"/>
              <a:ext cx="799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1.0 eV</a:t>
              </a:r>
              <a:endParaRPr lang="ko-KR" altLang="en-US" sz="1100" baseline="-25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8C12D0-1117-7717-FDA0-64AAE0373F3D}"/>
                </a:ext>
              </a:extLst>
            </p:cNvPr>
            <p:cNvSpPr txBox="1"/>
            <p:nvPr/>
          </p:nvSpPr>
          <p:spPr>
            <a:xfrm rot="16200000">
              <a:off x="4530912" y="3024883"/>
              <a:ext cx="906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3.65 eV</a:t>
              </a:r>
              <a:endParaRPr lang="ko-KR" altLang="en-US" sz="1100" baseline="-25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52F07-F07F-DF93-F69C-C157A2EFB5B0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F40A5-6E59-AA1E-DD39-08BF4CD733B9}"/>
              </a:ext>
            </a:extLst>
          </p:cNvPr>
          <p:cNvSpPr txBox="1"/>
          <p:nvPr/>
        </p:nvSpPr>
        <p:spPr>
          <a:xfrm>
            <a:off x="623295" y="3584538"/>
            <a:ext cx="5235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band diagram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 line (WL)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방향으로의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계산</a:t>
            </a: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9D86E16C-2668-BDFB-67AF-17D3DF2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3" b="54372"/>
          <a:stretch>
            <a:fillRect/>
          </a:stretch>
        </p:blipFill>
        <p:spPr>
          <a:xfrm>
            <a:off x="119260" y="4521925"/>
            <a:ext cx="5743704" cy="7103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33"/>
          <a:stretch>
            <a:fillRect/>
          </a:stretch>
        </p:blipFill>
        <p:spPr>
          <a:xfrm>
            <a:off x="94129" y="3308745"/>
            <a:ext cx="5743704" cy="68220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685804" y="5763278"/>
            <a:ext cx="204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전하 분포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763278"/>
            <a:ext cx="3055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>
            <a:cxnSpLocks/>
          </p:cNvCxnSpPr>
          <p:nvPr/>
        </p:nvCxnSpPr>
        <p:spPr>
          <a:xfrm flipH="1">
            <a:off x="2208891" y="4965700"/>
            <a:ext cx="521609" cy="67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56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63AD96-4B77-F53B-65CE-579DC5A3457A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7A803-82ED-C960-87D1-686C061EC82E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A7D5-AE2B-59F2-51AD-65A4E5885624}"/>
              </a:ext>
            </a:extLst>
          </p:cNvPr>
          <p:cNvSpPr txBox="1"/>
          <p:nvPr/>
        </p:nvSpPr>
        <p:spPr>
          <a:xfrm>
            <a:off x="221198" y="3976663"/>
            <a:ext cx="564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위 식을 풀면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시간에 따른 일반해를 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Validation</a:t>
            </a:r>
            <a:r>
              <a:rPr lang="ko-KR" altLang="ko-KR" dirty="0"/>
              <a:t> of Time-</a:t>
            </a:r>
            <a:r>
              <a:rPr lang="ko-KR" altLang="ko-KR" dirty="0" err="1"/>
              <a:t>Step</a:t>
            </a:r>
            <a:r>
              <a:rPr lang="ko-KR" altLang="ko-KR" dirty="0"/>
              <a:t>-</a:t>
            </a:r>
            <a:r>
              <a:rPr lang="ko-KR" altLang="ko-KR" dirty="0" err="1"/>
              <a:t>Free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B8559-A6CB-4679-56E2-9555CFA35DDF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CC4BF23F-9A1E-A8CF-CD5D-C773068B0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44881"/>
              </p:ext>
            </p:extLst>
          </p:nvPr>
        </p:nvGraphicFramePr>
        <p:xfrm>
          <a:off x="317608" y="1589149"/>
          <a:ext cx="5939817" cy="31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CC4BF23F-9A1E-A8CF-CD5D-C773068B0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608" y="1589149"/>
                        <a:ext cx="5939817" cy="31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E695E53B-06B8-4866-D8B4-056CE9310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69977"/>
              </p:ext>
            </p:extLst>
          </p:nvPr>
        </p:nvGraphicFramePr>
        <p:xfrm>
          <a:off x="5942910" y="1405156"/>
          <a:ext cx="2720590" cy="271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E695E53B-06B8-4866-D8B4-056CE9310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2910" y="1405156"/>
                        <a:ext cx="2720590" cy="271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BA3946F-0D9D-D20E-343F-DB58E7B84E28}"/>
              </a:ext>
            </a:extLst>
          </p:cNvPr>
          <p:cNvSpPr/>
          <p:nvPr/>
        </p:nvSpPr>
        <p:spPr>
          <a:xfrm>
            <a:off x="4632968" y="3237176"/>
            <a:ext cx="776459" cy="7881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C47E32-DCF9-3066-374E-B3B5B91FE7BD}"/>
              </a:ext>
            </a:extLst>
          </p:cNvPr>
          <p:cNvCxnSpPr>
            <a:cxnSpLocks/>
          </p:cNvCxnSpPr>
          <p:nvPr/>
        </p:nvCxnSpPr>
        <p:spPr>
          <a:xfrm flipV="1">
            <a:off x="5412783" y="1990641"/>
            <a:ext cx="982837" cy="12384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9B2448-13F2-3A59-4CF3-7B7568869EA4}"/>
              </a:ext>
            </a:extLst>
          </p:cNvPr>
          <p:cNvCxnSpPr>
            <a:cxnSpLocks/>
          </p:cNvCxnSpPr>
          <p:nvPr/>
        </p:nvCxnSpPr>
        <p:spPr>
          <a:xfrm flipV="1">
            <a:off x="5412783" y="3907197"/>
            <a:ext cx="976156" cy="12633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A06D7-A104-27CE-74BB-AF9BE9261D4A}"/>
              </a:ext>
            </a:extLst>
          </p:cNvPr>
          <p:cNvSpPr txBox="1"/>
          <p:nvPr/>
        </p:nvSpPr>
        <p:spPr>
          <a:xfrm>
            <a:off x="609600" y="998706"/>
            <a:ext cx="84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validity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확인하기 위해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수행함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78DCF-0AC9-42F4-FCC8-A364F96D6EA1}"/>
              </a:ext>
            </a:extLst>
          </p:cNvPr>
          <p:cNvSpPr txBox="1"/>
          <p:nvPr/>
        </p:nvSpPr>
        <p:spPr>
          <a:xfrm>
            <a:off x="404602" y="4856657"/>
            <a:ext cx="8645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진행한 결과와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단일계산으로 진행한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차이가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[s]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이상의 시간이 지나야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가량 차이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 결과의 차이가 작아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approximation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유효함을 확인함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912FC59-0819-61D0-A5AD-8B40C19393F8}"/>
              </a:ext>
            </a:extLst>
          </p:cNvPr>
          <p:cNvSpPr/>
          <p:nvPr/>
        </p:nvSpPr>
        <p:spPr>
          <a:xfrm>
            <a:off x="7444673" y="2764821"/>
            <a:ext cx="906308" cy="114237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10136-1934-488E-0CB2-D79D42046EA9}"/>
              </a:ext>
            </a:extLst>
          </p:cNvPr>
          <p:cNvSpPr txBox="1"/>
          <p:nvPr/>
        </p:nvSpPr>
        <p:spPr>
          <a:xfrm>
            <a:off x="6168259" y="2010077"/>
            <a:ext cx="2042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 3% difference</a:t>
            </a:r>
          </a:p>
          <a:p>
            <a:pPr algn="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after 10</a:t>
            </a:r>
            <a:r>
              <a:rPr lang="en-US" altLang="ko-KR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DBA3E-99CC-2403-9B66-32F6B0A6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TCAD Emulation</a:t>
            </a: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D167D98-28C5-E5A9-685D-94869095A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560406"/>
              </p:ext>
            </p:extLst>
          </p:nvPr>
        </p:nvGraphicFramePr>
        <p:xfrm>
          <a:off x="270133" y="2456147"/>
          <a:ext cx="4512278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2293" imgH="3429000" progId="Origin50.Graph">
                  <p:embed/>
                </p:oleObj>
              </mc:Choice>
              <mc:Fallback>
                <p:oleObj name="Graph" r:id="rId2" imgW="4852293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FD167D98-28C5-E5A9-685D-94869095A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133" y="2456147"/>
                        <a:ext cx="4512278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14B6E2C1-3363-1BE2-6647-EE0176479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32575"/>
              </p:ext>
            </p:extLst>
          </p:nvPr>
        </p:nvGraphicFramePr>
        <p:xfrm>
          <a:off x="4312293" y="2456146"/>
          <a:ext cx="4512277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14B6E2C1-3363-1BE2-6647-EE0176479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2293" y="2456146"/>
                        <a:ext cx="4512277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BC5718D-5BED-047F-20A9-523A06430935}"/>
              </a:ext>
            </a:extLst>
          </p:cNvPr>
          <p:cNvSpPr txBox="1"/>
          <p:nvPr/>
        </p:nvSpPr>
        <p:spPr>
          <a:xfrm>
            <a:off x="582626" y="2056680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온도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수렴성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테스트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환경과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사이의 상호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608DE6-0EF3-553C-CD62-5355B43A02DA}"/>
              </a:ext>
            </a:extLst>
          </p:cNvPr>
          <p:cNvSpPr txBox="1"/>
          <p:nvPr/>
        </p:nvSpPr>
        <p:spPr>
          <a:xfrm>
            <a:off x="449107" y="5644409"/>
            <a:ext cx="419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300 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83 K (TCAD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최저온도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45EB9-D1D5-A26A-BAE4-AC75B00ED387}"/>
              </a:ext>
            </a:extLst>
          </p:cNvPr>
          <p:cNvSpPr txBox="1"/>
          <p:nvPr/>
        </p:nvSpPr>
        <p:spPr>
          <a:xfrm>
            <a:off x="4674101" y="5644409"/>
            <a:ext cx="4199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-16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0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지속적으로 확장 가능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C6E05-8A53-01D9-69D6-D1B7752B8F86}"/>
              </a:ext>
            </a:extLst>
          </p:cNvPr>
          <p:cNvSpPr txBox="1"/>
          <p:nvPr/>
        </p:nvSpPr>
        <p:spPr>
          <a:xfrm>
            <a:off x="335647" y="932652"/>
            <a:ext cx="85382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실험적으로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분리하는 기법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transition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억제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분리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195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Emulation</a:t>
            </a:r>
            <a:endParaRPr lang="ko-KR" altLang="en-US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02017"/>
              </p:ext>
            </p:extLst>
          </p:nvPr>
        </p:nvGraphicFramePr>
        <p:xfrm>
          <a:off x="4246004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004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64639"/>
              </p:ext>
            </p:extLst>
          </p:nvPr>
        </p:nvGraphicFramePr>
        <p:xfrm>
          <a:off x="329810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601209" y="3212271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766892" y="3981728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457874" y="869128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655236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236915" y="869128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5347463" y="1565557"/>
            <a:ext cx="37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변화에 따른 변동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7020-E6E8-261A-1309-E318F0030DC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307E3-3C5B-A30F-F588-D2C7BD43FE83}"/>
              </a:ext>
            </a:extLst>
          </p:cNvPr>
          <p:cNvSpPr txBox="1"/>
          <p:nvPr/>
        </p:nvSpPr>
        <p:spPr>
          <a:xfrm>
            <a:off x="532065" y="1269238"/>
            <a:ext cx="4308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측정치와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진행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A.U.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값이지만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조절을 하며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scale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4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31CB-D5AF-B0B9-DC72-6B9FA595B49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5D5B-DFAF-EC00-BB27-B7038E7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and Future Works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62CA-1197-3480-6AE5-83E0224C1610}"/>
              </a:ext>
            </a:extLst>
          </p:cNvPr>
          <p:cNvSpPr txBox="1"/>
          <p:nvPr/>
        </p:nvSpPr>
        <p:spPr>
          <a:xfrm>
            <a:off x="838200" y="4724307"/>
            <a:ext cx="7581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Future Works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cell-to-cell variation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산포 적용 가능한 모델링 셋업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SPICE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reliability simulation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과의 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87DAE-5004-3A5D-5530-833BD49E1D52}"/>
              </a:ext>
            </a:extLst>
          </p:cNvPr>
          <p:cNvSpPr txBox="1"/>
          <p:nvPr/>
        </p:nvSpPr>
        <p:spPr>
          <a:xfrm>
            <a:off x="838200" y="920360"/>
            <a:ext cx="795784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trap-to-band tunneling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전자 임의 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framework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autonomous ODE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 제안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~7000x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시뮬레이션 시간 단축 확인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현 모델 기반으로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성분과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성분 비교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8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6379</TotalTime>
  <Words>1402</Words>
  <Application>Microsoft Office PowerPoint</Application>
  <PresentationFormat>화면 슬라이드 쇼(4:3)</PresentationFormat>
  <Paragraphs>319</Paragraphs>
  <Slides>20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Noto Sans CJK KR</vt:lpstr>
      <vt:lpstr>맑은 고딕</vt:lpstr>
      <vt:lpstr>Arial</vt:lpstr>
      <vt:lpstr>Calibri</vt:lpstr>
      <vt:lpstr>Cambria Math</vt:lpstr>
      <vt:lpstr>Times New Roman</vt:lpstr>
      <vt:lpstr>Office 테마</vt:lpstr>
      <vt:lpstr>Graph</vt:lpstr>
      <vt:lpstr>Origin Graph</vt:lpstr>
      <vt:lpstr>Time-Step-Free Physics-based Modeling of Retention Loss in Cryogenic 3-D NAND Flash </vt:lpstr>
      <vt:lpstr>Content</vt:lpstr>
      <vt:lpstr>Introduction</vt:lpstr>
      <vt:lpstr>BETOX Trapped Electron Detrapping Modeling</vt:lpstr>
      <vt:lpstr>BETOX Trapped Electron Detrapping Modeling</vt:lpstr>
      <vt:lpstr>Alignment with Previous Studies</vt:lpstr>
      <vt:lpstr>Limited Contribution of TAT</vt:lpstr>
      <vt:lpstr>Limited Contribution of TAT</vt:lpstr>
      <vt:lpstr>Visualization of Charge Node Analysis</vt:lpstr>
      <vt:lpstr>Detailed Poisson Solution</vt:lpstr>
      <vt:lpstr>Q-ΔVth Optimized Calculation</vt:lpstr>
      <vt:lpstr>Time-step-free Physics-based Modeling</vt:lpstr>
      <vt:lpstr>Time-step-free Physics-based Modeling</vt:lpstr>
      <vt:lpstr>Time-step-free Physics-based Modeling</vt:lpstr>
      <vt:lpstr>Time-step-free Physics-based Modeling</vt:lpstr>
      <vt:lpstr>Validation of Time-Step-Free Evaluation</vt:lpstr>
      <vt:lpstr>Cryogenic-like TCAD Emulation</vt:lpstr>
      <vt:lpstr>Cryogenic-like Emulation</vt:lpstr>
      <vt:lpstr>Computational Impact</vt:lpstr>
      <vt:lpstr>Summary and 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990</cp:revision>
  <dcterms:created xsi:type="dcterms:W3CDTF">2016-06-02T05:19:04Z</dcterms:created>
  <dcterms:modified xsi:type="dcterms:W3CDTF">2026-07-31T08:40:07Z</dcterms:modified>
  <cp:version/>
</cp:coreProperties>
</file>