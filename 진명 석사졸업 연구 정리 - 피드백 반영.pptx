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341" r:id="rId2"/>
    <p:sldId id="334" r:id="rId3"/>
    <p:sldId id="329" r:id="rId4"/>
    <p:sldId id="342" r:id="rId5"/>
    <p:sldId id="343" r:id="rId6"/>
    <p:sldId id="344" r:id="rId7"/>
    <p:sldId id="330" r:id="rId8"/>
    <p:sldId id="331" r:id="rId9"/>
    <p:sldId id="322" r:id="rId10"/>
    <p:sldId id="333" r:id="rId11"/>
    <p:sldId id="320" r:id="rId12"/>
    <p:sldId id="324" r:id="rId13"/>
    <p:sldId id="339" r:id="rId14"/>
    <p:sldId id="323" r:id="rId15"/>
    <p:sldId id="321" r:id="rId16"/>
    <p:sldId id="328" r:id="rId17"/>
    <p:sldId id="337" r:id="rId18"/>
    <p:sldId id="326" r:id="rId19"/>
    <p:sldId id="327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7" autoAdjust="0"/>
    <p:restoredTop sz="97300" autoAdjust="0"/>
  </p:normalViewPr>
  <p:slideViewPr>
    <p:cSldViewPr snapToGrid="0">
      <p:cViewPr varScale="1">
        <p:scale>
          <a:sx n="106" d="100"/>
          <a:sy n="106" d="100"/>
        </p:scale>
        <p:origin x="1512" y="90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21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3.emf"/><Relationship Id="rId7" Type="http://schemas.openxmlformats.org/officeDocument/2006/relationships/oleObject" Target="../embeddings/oleObject2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6.emf"/><Relationship Id="rId4" Type="http://schemas.openxmlformats.org/officeDocument/2006/relationships/image" Target="../media/image48.png"/><Relationship Id="rId9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.png"/><Relationship Id="rId7" Type="http://schemas.openxmlformats.org/officeDocument/2006/relationships/image" Target="../media/image13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5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oleObject" Target="../embeddings/oleObject6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3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9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emf"/><Relationship Id="rId4" Type="http://schemas.openxmlformats.org/officeDocument/2006/relationships/oleObject" Target="../embeddings/oleObject1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emf"/><Relationship Id="rId4" Type="http://schemas.openxmlformats.org/officeDocument/2006/relationships/oleObject" Target="../embeddings/oleObject13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38" y="739963"/>
            <a:ext cx="8756724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Time-Step-Free Physics-based</a:t>
            </a:r>
            <a:b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Modeling of Retention Loss in</a:t>
            </a:r>
            <a:b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Cryogenic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2026. 07. 29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제외한 이유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274151" y="1414385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460089" y="198150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677341" y="219875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820013" y="234142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6131298" y="265271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543102" y="382837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377732" y="410537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317417" y="453387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460089" y="478075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774617" y="441666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644915" y="441666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993489" y="463391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863787" y="463391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739604" y="338553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635843" y="388488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596276" y="338553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877085" y="209499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877085" y="431938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363468" y="415280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260191" y="420913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801367" y="386184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724154" y="276340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6131298" y="234879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325266" y="233170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607825" y="276340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807725" y="221334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861356" y="391649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722353" y="392298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282760" y="1378428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932363" y="1419231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940972" y="1383274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272377" y="5148061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1388" y="5141138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251288" y="5122088"/>
            <a:ext cx="19787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2π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centroid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20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928976" y="5126034"/>
            <a:ext cx="3938616" cy="65670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973902" y="5100061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1917306" y="5328179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629026" y="5287102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11E0B-9F33-0CE5-5C38-78CADEFFBD7E}"/>
              </a:ext>
            </a:extLst>
          </p:cNvPr>
          <p:cNvSpPr txBox="1"/>
          <p:nvPr/>
        </p:nvSpPr>
        <p:spPr>
          <a:xfrm>
            <a:off x="6914239" y="5087361"/>
            <a:ext cx="19533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#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CE356-7A41-1D2A-0735-B373B1C21538}"/>
              </a:ext>
            </a:extLst>
          </p:cNvPr>
          <p:cNvSpPr txBox="1"/>
          <p:nvPr/>
        </p:nvSpPr>
        <p:spPr>
          <a:xfrm>
            <a:off x="1900890" y="5997924"/>
            <a:ext cx="5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 대폭 감소로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인한 가능 경로 수 감소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27FCD-FB08-E80E-071C-6F2AB66BC54B}"/>
              </a:ext>
            </a:extLst>
          </p:cNvPr>
          <p:cNvSpPr txBox="1"/>
          <p:nvPr/>
        </p:nvSpPr>
        <p:spPr>
          <a:xfrm>
            <a:off x="6998275" y="5811598"/>
            <a:ext cx="19106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cf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 </a:t>
            </a:r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</a:t>
            </a:r>
            <a:r>
              <a:rPr lang="en-US" altLang="ko-KR" sz="11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~ 1.7Å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2696051" y="964162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3072187" y="1352966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2696051" y="1718767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2465829" y="2473372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072187" y="2107571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3841126"/>
              </p:ext>
            </p:extLst>
          </p:nvPr>
        </p:nvGraphicFramePr>
        <p:xfrm>
          <a:off x="6009012" y="868942"/>
          <a:ext cx="2862614" cy="1778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18" name="개체 17">
                        <a:extLst>
                          <a:ext uri="{FF2B5EF4-FFF2-40B4-BE49-F238E27FC236}">
                            <a16:creationId xmlns:a16="http://schemas.microsoft.com/office/drawing/2014/main" id="{D90E9187-7683-BCA0-7070-1E70E8FE2E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09012" y="868942"/>
                        <a:ext cx="2862614" cy="1778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4881126" y="2740055"/>
            <a:ext cx="24747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16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ECD9-7DAB-E514-FC0E-C1848AE0F326}"/>
              </a:ext>
            </a:extLst>
          </p:cNvPr>
          <p:cNvSpPr txBox="1"/>
          <p:nvPr/>
        </p:nvSpPr>
        <p:spPr>
          <a:xfrm>
            <a:off x="7095652" y="2740055"/>
            <a:ext cx="15652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[#]</a:t>
            </a:r>
          </a:p>
          <a:p>
            <a:pPr algn="ctr"/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0.55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1.42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2.03</a:t>
            </a:r>
            <a:endParaRPr lang="ko-KR" altLang="en-US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38AB21-674C-12B6-64B4-AD8BBC19F8B5}"/>
              </a:ext>
            </a:extLst>
          </p:cNvPr>
          <p:cNvSpPr/>
          <p:nvPr/>
        </p:nvSpPr>
        <p:spPr>
          <a:xfrm>
            <a:off x="7647648" y="3533898"/>
            <a:ext cx="461301" cy="79675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E8792-8818-8AD6-39E7-006817AA2B2C}"/>
              </a:ext>
            </a:extLst>
          </p:cNvPr>
          <p:cNvSpPr txBox="1"/>
          <p:nvPr/>
        </p:nvSpPr>
        <p:spPr>
          <a:xfrm>
            <a:off x="4881126" y="2253169"/>
            <a:ext cx="108534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/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sSup>
                      <m:sSup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𝑡𝑟𝑎𝑝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6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blipFill>
                <a:blip r:embed="rId4"/>
                <a:stretch>
                  <a:fillRect l="-220" b="-1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5AECF43-0623-FB62-51C5-B7A591C6EBA8}"/>
              </a:ext>
            </a:extLst>
          </p:cNvPr>
          <p:cNvSpPr txBox="1"/>
          <p:nvPr/>
        </p:nvSpPr>
        <p:spPr>
          <a:xfrm>
            <a:off x="3132138" y="2103845"/>
            <a:ext cx="190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591CE-B245-9C3D-21FA-0D37300DA87C}"/>
              </a:ext>
            </a:extLst>
          </p:cNvPr>
          <p:cNvSpPr txBox="1"/>
          <p:nvPr/>
        </p:nvSpPr>
        <p:spPr>
          <a:xfrm>
            <a:off x="4844500" y="2074045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80F751E1-96A0-6BE0-7E30-71FE8F3F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20" y="1021221"/>
            <a:ext cx="1866670" cy="1951695"/>
          </a:xfrm>
          <a:prstGeom prst="rect">
            <a:avLst/>
          </a:prstGeom>
        </p:spPr>
      </p:pic>
      <p:sp>
        <p:nvSpPr>
          <p:cNvPr id="93" name="타원 92">
            <a:extLst>
              <a:ext uri="{FF2B5EF4-FFF2-40B4-BE49-F238E27FC236}">
                <a16:creationId xmlns:a16="http://schemas.microsoft.com/office/drawing/2014/main" id="{EC52590A-2639-1E6B-BB29-75327B5D0E6D}"/>
              </a:ext>
            </a:extLst>
          </p:cNvPr>
          <p:cNvSpPr/>
          <p:nvPr/>
        </p:nvSpPr>
        <p:spPr>
          <a:xfrm>
            <a:off x="5514442" y="1288391"/>
            <a:ext cx="330741" cy="3888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6D1EFF-5F59-9CE3-6B40-ABA45D5AB00B}"/>
              </a:ext>
            </a:extLst>
          </p:cNvPr>
          <p:cNvCxnSpPr>
            <a:stCxn id="93" idx="6"/>
          </p:cNvCxnSpPr>
          <p:nvPr/>
        </p:nvCxnSpPr>
        <p:spPr>
          <a:xfrm>
            <a:off x="5845183" y="1482793"/>
            <a:ext cx="4324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C658CF7D-1D51-ECFD-DF4A-6F763AE2C34E}"/>
              </a:ext>
            </a:extLst>
          </p:cNvPr>
          <p:cNvSpPr txBox="1"/>
          <p:nvPr/>
        </p:nvSpPr>
        <p:spPr>
          <a:xfrm>
            <a:off x="174265" y="3074291"/>
            <a:ext cx="4429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Effective route count modeling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/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𝜈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#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</m:s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𝑇𝑂𝑋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𝑐𝑒𝑛𝑡𝑟𝑜𝑖𝑑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타원 97">
            <a:extLst>
              <a:ext uri="{FF2B5EF4-FFF2-40B4-BE49-F238E27FC236}">
                <a16:creationId xmlns:a16="http://schemas.microsoft.com/office/drawing/2014/main" id="{29C515B5-D419-F6D7-5D24-E8562D44E92B}"/>
              </a:ext>
            </a:extLst>
          </p:cNvPr>
          <p:cNvSpPr/>
          <p:nvPr/>
        </p:nvSpPr>
        <p:spPr>
          <a:xfrm>
            <a:off x="2701221" y="3496659"/>
            <a:ext cx="2038703" cy="761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D663782-9B71-5BFC-71DA-D0C56E4FC8B6}"/>
              </a:ext>
            </a:extLst>
          </p:cNvPr>
          <p:cNvSpPr txBox="1"/>
          <p:nvPr/>
        </p:nvSpPr>
        <p:spPr>
          <a:xfrm>
            <a:off x="142672" y="4550539"/>
            <a:ext cx="2323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⸫ Simulation Result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100" name="개체 99">
            <a:extLst>
              <a:ext uri="{FF2B5EF4-FFF2-40B4-BE49-F238E27FC236}">
                <a16:creationId xmlns:a16="http://schemas.microsoft.com/office/drawing/2014/main" id="{7D4F3D6F-7643-059D-D934-D5461E7583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849468"/>
              </p:ext>
            </p:extLst>
          </p:nvPr>
        </p:nvGraphicFramePr>
        <p:xfrm>
          <a:off x="3137752" y="4270818"/>
          <a:ext cx="3189920" cy="2253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4852293" imgH="3429000" progId="Origin50.Graph">
                  <p:embed/>
                </p:oleObj>
              </mc:Choice>
              <mc:Fallback>
                <p:oleObj name="Graph" r:id="rId7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7752" y="4270818"/>
                        <a:ext cx="3189920" cy="22539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개체 100">
            <a:extLst>
              <a:ext uri="{FF2B5EF4-FFF2-40B4-BE49-F238E27FC236}">
                <a16:creationId xmlns:a16="http://schemas.microsoft.com/office/drawing/2014/main" id="{D4AA7C8C-AF68-D8F1-F1FB-461C7DF712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9081645"/>
              </p:ext>
            </p:extLst>
          </p:nvPr>
        </p:nvGraphicFramePr>
        <p:xfrm>
          <a:off x="6277583" y="4330649"/>
          <a:ext cx="2524564" cy="1783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9" imgW="4852293" imgH="3429000" progId="Origin50.Graph">
                  <p:embed/>
                </p:oleObj>
              </mc:Choice>
              <mc:Fallback>
                <p:oleObj name="Graph" r:id="rId9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277583" y="4330649"/>
                        <a:ext cx="2524564" cy="1783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42C7C6B-4E72-C090-7A5D-52D3EEA5A6B4}"/>
              </a:ext>
            </a:extLst>
          </p:cNvPr>
          <p:cNvSpPr/>
          <p:nvPr/>
        </p:nvSpPr>
        <p:spPr>
          <a:xfrm>
            <a:off x="4481913" y="4684532"/>
            <a:ext cx="1463514" cy="12858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913BD9F1-0712-9711-9A22-70C13C398312}"/>
              </a:ext>
            </a:extLst>
          </p:cNvPr>
          <p:cNvCxnSpPr>
            <a:cxnSpLocks/>
          </p:cNvCxnSpPr>
          <p:nvPr/>
        </p:nvCxnSpPr>
        <p:spPr>
          <a:xfrm flipV="1">
            <a:off x="5945427" y="4543244"/>
            <a:ext cx="664951" cy="128588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49B533A-FA31-507A-F9E0-A9FD5BA60E6A}"/>
              </a:ext>
            </a:extLst>
          </p:cNvPr>
          <p:cNvCxnSpPr>
            <a:cxnSpLocks/>
          </p:cNvCxnSpPr>
          <p:nvPr/>
        </p:nvCxnSpPr>
        <p:spPr>
          <a:xfrm>
            <a:off x="5945427" y="4815876"/>
            <a:ext cx="527090" cy="1032474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DE3545D-40CC-5BD7-6526-AC8E559CCCFD}"/>
              </a:ext>
            </a:extLst>
          </p:cNvPr>
          <p:cNvSpPr txBox="1"/>
          <p:nvPr/>
        </p:nvSpPr>
        <p:spPr>
          <a:xfrm>
            <a:off x="583112" y="5147018"/>
            <a:ext cx="24890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별로 차이는 있으나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CTN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넓은 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route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극복할 순 없다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4924B4-70DE-D7A6-B98C-0C9CF67A3F0A}"/>
              </a:ext>
            </a:extLst>
          </p:cNvPr>
          <p:cNvSpPr txBox="1"/>
          <p:nvPr/>
        </p:nvSpPr>
        <p:spPr>
          <a:xfrm>
            <a:off x="7912462" y="227263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8232635"/>
              </p:ext>
            </p:extLst>
          </p:nvPr>
        </p:nvGraphicFramePr>
        <p:xfrm>
          <a:off x="245965" y="1478566"/>
          <a:ext cx="5523239" cy="39008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5965" y="1478566"/>
                        <a:ext cx="5523239" cy="39008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782425" y="1078456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cycle </a:t>
            </a:r>
            <a:r>
              <a:rPr lang="en-US" altLang="ko-KR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 D (Jo, TED 2023)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CFA-4AE9-C87A-A0C4-389C69A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06CA8A-3E00-E06C-5092-F220B5B4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8F022FD0-ACA4-98C9-1A38-7C6A3D14B528}"/>
              </a:ext>
            </a:extLst>
          </p:cNvPr>
          <p:cNvGrpSpPr/>
          <p:nvPr/>
        </p:nvGrpSpPr>
        <p:grpSpPr>
          <a:xfrm>
            <a:off x="6677510" y="3167467"/>
            <a:ext cx="2200260" cy="3288813"/>
            <a:chOff x="4155873" y="5829539"/>
            <a:chExt cx="2200260" cy="3288813"/>
          </a:xfrm>
        </p:grpSpPr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B0CC0EDB-2980-8DDE-4097-192140646C78}"/>
                </a:ext>
              </a:extLst>
            </p:cNvPr>
            <p:cNvGrpSpPr/>
            <p:nvPr/>
          </p:nvGrpSpPr>
          <p:grpSpPr>
            <a:xfrm>
              <a:off x="4155873" y="5829539"/>
              <a:ext cx="2200260" cy="3288813"/>
              <a:chOff x="4155873" y="5829539"/>
              <a:chExt cx="2200260" cy="3288813"/>
            </a:xfrm>
          </p:grpSpPr>
          <p:pic>
            <p:nvPicPr>
              <p:cNvPr id="182" name="그림 181" descr="스크린샷, 디자인, 예술이(가) 표시된 사진&#10;&#10;자동 생성된 설명">
                <a:extLst>
                  <a:ext uri="{FF2B5EF4-FFF2-40B4-BE49-F238E27FC236}">
                    <a16:creationId xmlns:a16="http://schemas.microsoft.com/office/drawing/2014/main" id="{1B150861-9878-20FE-6E22-72F9ADF82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856" t="4775" r="29017"/>
              <a:stretch/>
            </p:blipFill>
            <p:spPr>
              <a:xfrm>
                <a:off x="4155873" y="6233981"/>
                <a:ext cx="1987554" cy="2588633"/>
              </a:xfrm>
              <a:prstGeom prst="rect">
                <a:avLst/>
              </a:prstGeom>
            </p:spPr>
          </p:pic>
          <p:sp>
            <p:nvSpPr>
              <p:cNvPr id="183" name="화살표: 아래쪽 182">
                <a:extLst>
                  <a:ext uri="{FF2B5EF4-FFF2-40B4-BE49-F238E27FC236}">
                    <a16:creationId xmlns:a16="http://schemas.microsoft.com/office/drawing/2014/main" id="{1C64350A-9879-73C9-D1DE-E01148706FE9}"/>
                  </a:ext>
                </a:extLst>
              </p:cNvPr>
              <p:cNvSpPr/>
              <p:nvPr/>
            </p:nvSpPr>
            <p:spPr>
              <a:xfrm rot="5400000">
                <a:off x="4689525" y="8049405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4" name="화살표: 아래쪽 183">
                <a:extLst>
                  <a:ext uri="{FF2B5EF4-FFF2-40B4-BE49-F238E27FC236}">
                    <a16:creationId xmlns:a16="http://schemas.microsoft.com/office/drawing/2014/main" id="{95479DC5-511F-5FE9-835F-62BFF680BF45}"/>
                  </a:ext>
                </a:extLst>
              </p:cNvPr>
              <p:cNvSpPr/>
              <p:nvPr/>
            </p:nvSpPr>
            <p:spPr>
              <a:xfrm rot="5400000">
                <a:off x="4592224" y="7919520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5" name="화살표: 아래쪽 184">
                <a:extLst>
                  <a:ext uri="{FF2B5EF4-FFF2-40B4-BE49-F238E27FC236}">
                    <a16:creationId xmlns:a16="http://schemas.microsoft.com/office/drawing/2014/main" id="{791B09F6-6D15-6365-BCD3-051BED19B053}"/>
                  </a:ext>
                </a:extLst>
              </p:cNvPr>
              <p:cNvSpPr/>
              <p:nvPr/>
            </p:nvSpPr>
            <p:spPr>
              <a:xfrm rot="5400000">
                <a:off x="4490073" y="7798983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016D00E6-C014-12C5-9B34-7FCB132CC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6725" y="5896691"/>
                <a:ext cx="0" cy="1535906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>
                <a:extLst>
                  <a:ext uri="{FF2B5EF4-FFF2-40B4-BE49-F238E27FC236}">
                    <a16:creationId xmlns:a16="http://schemas.microsoft.com/office/drawing/2014/main" id="{DCC3EFDD-CB48-0F57-28AB-86599E6DC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5896691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F5BF1A-3EB7-8CBC-2AE9-CD40DB4EBCC4}"/>
                  </a:ext>
                </a:extLst>
              </p:cNvPr>
              <p:cNvSpPr txBox="1"/>
              <p:nvPr/>
            </p:nvSpPr>
            <p:spPr>
              <a:xfrm>
                <a:off x="4566176" y="5829539"/>
                <a:ext cx="1043735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BETOX Region</a:t>
                </a:r>
              </a:p>
              <a:p>
                <a:pPr algn="ctr"/>
                <a:r>
                  <a:rPr lang="en-US" altLang="ko-KR" sz="1013"/>
                  <a:t>(ONO)</a:t>
                </a:r>
              </a:p>
            </p:txBody>
          </p:sp>
          <p:grpSp>
            <p:nvGrpSpPr>
              <p:cNvPr id="189" name="그룹 188">
                <a:extLst>
                  <a:ext uri="{FF2B5EF4-FFF2-40B4-BE49-F238E27FC236}">
                    <a16:creationId xmlns:a16="http://schemas.microsoft.com/office/drawing/2014/main" id="{118F26CA-DA88-FE1C-1AC6-9A8103B90415}"/>
                  </a:ext>
                </a:extLst>
              </p:cNvPr>
              <p:cNvGrpSpPr/>
              <p:nvPr/>
            </p:nvGrpSpPr>
            <p:grpSpPr>
              <a:xfrm>
                <a:off x="4409675" y="6265426"/>
                <a:ext cx="1427217" cy="2124973"/>
                <a:chOff x="4409675" y="6458070"/>
                <a:chExt cx="1427217" cy="2124973"/>
              </a:xfrm>
            </p:grpSpPr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6CA1E149-AE62-AEA9-4EDD-780E24610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09675" y="7575550"/>
                  <a:ext cx="59199" cy="1007493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CCE48783-E6F8-F856-1E5F-E3D4BC4C2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18201" y="7009769"/>
                  <a:ext cx="401449" cy="56578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385DC8FC-E4B8-F28F-58EF-8338CA7188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6700" y="7009769"/>
                  <a:ext cx="30143" cy="100904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직선 연결선 202">
                  <a:extLst>
                    <a:ext uri="{FF2B5EF4-FFF2-40B4-BE49-F238E27FC236}">
                      <a16:creationId xmlns:a16="http://schemas.microsoft.com/office/drawing/2014/main" id="{75B69C6A-0495-04BC-9B14-50A372382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883893" y="7924249"/>
                  <a:ext cx="157410" cy="9456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BDEA1707-83EF-6FE2-B75D-2A1BA8354A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6775" y="6680200"/>
                  <a:ext cx="0" cy="1040384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3196023A-72CE-2505-AA69-304117AC80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96775" y="6458070"/>
                  <a:ext cx="328684" cy="222130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E2C2599A-F5E0-5598-B565-837DF59006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09911" y="6482254"/>
                  <a:ext cx="115548" cy="1501065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A314CE9F-7296-2D91-7ABC-7F93C48CA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26962" y="7909590"/>
                  <a:ext cx="209930" cy="73729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1A430988-E3F7-73C3-C5B2-C66EE68EE4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9061" y="7718808"/>
                  <a:ext cx="341973" cy="20544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0" name="화살표: 아래쪽 189">
                <a:extLst>
                  <a:ext uri="{FF2B5EF4-FFF2-40B4-BE49-F238E27FC236}">
                    <a16:creationId xmlns:a16="http://schemas.microsoft.com/office/drawing/2014/main" id="{30F43438-227F-C99A-BE24-8BF92C956B59}"/>
                  </a:ext>
                </a:extLst>
              </p:cNvPr>
              <p:cNvSpPr/>
              <p:nvPr/>
            </p:nvSpPr>
            <p:spPr>
              <a:xfrm rot="19925906" flipH="1">
                <a:off x="5224310" y="7576453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1" name="직선 연결선 190">
                <a:extLst>
                  <a:ext uri="{FF2B5EF4-FFF2-40B4-BE49-F238E27FC236}">
                    <a16:creationId xmlns:a16="http://schemas.microsoft.com/office/drawing/2014/main" id="{E8C01DC7-791B-4A74-43F2-CB9DDC35C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5627" y="8304239"/>
                <a:ext cx="118266" cy="4648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529AD0C-C28F-02DB-5D61-2264039B3938}"/>
                  </a:ext>
                </a:extLst>
              </p:cNvPr>
              <p:cNvSpPr txBox="1"/>
              <p:nvPr/>
            </p:nvSpPr>
            <p:spPr>
              <a:xfrm>
                <a:off x="4362450" y="8783517"/>
                <a:ext cx="1085850" cy="334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88"/>
                  <a:t>Trap-to-Band Tunneling Emission</a:t>
                </a:r>
                <a:endParaRPr lang="ko-KR" altLang="en-US" sz="788"/>
              </a:p>
            </p:txBody>
          </p:sp>
          <p:sp>
            <p:nvSpPr>
              <p:cNvPr id="194" name="화살표: 아래쪽 193">
                <a:extLst>
                  <a:ext uri="{FF2B5EF4-FFF2-40B4-BE49-F238E27FC236}">
                    <a16:creationId xmlns:a16="http://schemas.microsoft.com/office/drawing/2014/main" id="{283CB6CC-4823-540D-528E-2243C2EDA567}"/>
                  </a:ext>
                </a:extLst>
              </p:cNvPr>
              <p:cNvSpPr/>
              <p:nvPr/>
            </p:nvSpPr>
            <p:spPr>
              <a:xfrm rot="8800769" flipH="1">
                <a:off x="4945085" y="7362945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902812" lon="2358286" rev="1722722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E1A415D3-4B26-4A0D-94BF-358842F56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8217236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D2A5A98-ABFD-BEE5-3591-F7D93E6F5542}"/>
                  </a:ext>
                </a:extLst>
              </p:cNvPr>
              <p:cNvSpPr txBox="1"/>
              <p:nvPr/>
            </p:nvSpPr>
            <p:spPr>
              <a:xfrm>
                <a:off x="5603199" y="8193932"/>
                <a:ext cx="752934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CTN</a:t>
                </a:r>
              </a:p>
              <a:p>
                <a:pPr algn="ctr"/>
                <a:r>
                  <a:rPr lang="en-US" altLang="ko-KR" sz="1013"/>
                  <a:t>Region</a:t>
                </a:r>
              </a:p>
            </p:txBody>
          </p:sp>
          <p:sp>
            <p:nvSpPr>
              <p:cNvPr id="197" name="화살표: 아래쪽 196">
                <a:extLst>
                  <a:ext uri="{FF2B5EF4-FFF2-40B4-BE49-F238E27FC236}">
                    <a16:creationId xmlns:a16="http://schemas.microsoft.com/office/drawing/2014/main" id="{F57EA6A0-48DA-F547-4FB5-7CD1D313A355}"/>
                  </a:ext>
                </a:extLst>
              </p:cNvPr>
              <p:cNvSpPr/>
              <p:nvPr/>
            </p:nvSpPr>
            <p:spPr>
              <a:xfrm rot="1499914" flipH="1">
                <a:off x="4910895" y="7515700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98" name="화살표: 아래쪽 197">
                <a:extLst>
                  <a:ext uri="{FF2B5EF4-FFF2-40B4-BE49-F238E27FC236}">
                    <a16:creationId xmlns:a16="http://schemas.microsoft.com/office/drawing/2014/main" id="{6D269ADA-E1F8-F6C7-2123-AC08F6AD9EF3}"/>
                  </a:ext>
                </a:extLst>
              </p:cNvPr>
              <p:cNvSpPr/>
              <p:nvPr/>
            </p:nvSpPr>
            <p:spPr>
              <a:xfrm rot="1499914" flipH="1">
                <a:off x="5348495" y="7790853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pic>
            <p:nvPicPr>
              <p:cNvPr id="199" name="그림 198">
                <a:extLst>
                  <a:ext uri="{FF2B5EF4-FFF2-40B4-BE49-F238E27FC236}">
                    <a16:creationId xmlns:a16="http://schemas.microsoft.com/office/drawing/2014/main" id="{15FF8E80-68CC-58E2-A545-1FFFEC598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4898933" y="7374919"/>
                <a:ext cx="138613" cy="233739"/>
              </a:xfrm>
              <a:prstGeom prst="rect">
                <a:avLst/>
              </a:prstGeom>
            </p:spPr>
          </p:pic>
        </p:grp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EF71FE24-2A38-E5EF-C1DC-1D2C5766FEF4}"/>
                </a:ext>
              </a:extLst>
            </p:cNvPr>
            <p:cNvSpPr/>
            <p:nvPr/>
          </p:nvSpPr>
          <p:spPr>
            <a:xfrm rot="10800000">
              <a:off x="4188337" y="7548539"/>
              <a:ext cx="939709" cy="111996"/>
            </a:xfrm>
            <a:custGeom>
              <a:avLst/>
              <a:gdLst>
                <a:gd name="connsiteX0" fmla="*/ 0 w 1054100"/>
                <a:gd name="connsiteY0" fmla="*/ 110186 h 199104"/>
                <a:gd name="connsiteX1" fmla="*/ 127000 w 1054100"/>
                <a:gd name="connsiteY1" fmla="*/ 2236 h 199104"/>
                <a:gd name="connsiteX2" fmla="*/ 285750 w 1054100"/>
                <a:gd name="connsiteY2" fmla="*/ 199086 h 199104"/>
                <a:gd name="connsiteX3" fmla="*/ 463550 w 1054100"/>
                <a:gd name="connsiteY3" fmla="*/ 14936 h 199104"/>
                <a:gd name="connsiteX4" fmla="*/ 609600 w 1054100"/>
                <a:gd name="connsiteY4" fmla="*/ 186386 h 199104"/>
                <a:gd name="connsiteX5" fmla="*/ 768350 w 1054100"/>
                <a:gd name="connsiteY5" fmla="*/ 33986 h 199104"/>
                <a:gd name="connsiteX6" fmla="*/ 844550 w 1054100"/>
                <a:gd name="connsiteY6" fmla="*/ 46686 h 199104"/>
                <a:gd name="connsiteX7" fmla="*/ 920750 w 1054100"/>
                <a:gd name="connsiteY7" fmla="*/ 116536 h 199104"/>
                <a:gd name="connsiteX8" fmla="*/ 1054100 w 1054100"/>
                <a:gd name="connsiteY8" fmla="*/ 122886 h 19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4100" h="199104">
                  <a:moveTo>
                    <a:pt x="0" y="110186"/>
                  </a:moveTo>
                  <a:cubicBezTo>
                    <a:pt x="39687" y="48802"/>
                    <a:pt x="79375" y="-12581"/>
                    <a:pt x="127000" y="2236"/>
                  </a:cubicBezTo>
                  <a:cubicBezTo>
                    <a:pt x="174625" y="17053"/>
                    <a:pt x="229658" y="196969"/>
                    <a:pt x="285750" y="199086"/>
                  </a:cubicBezTo>
                  <a:cubicBezTo>
                    <a:pt x="341842" y="201203"/>
                    <a:pt x="409575" y="17053"/>
                    <a:pt x="463550" y="14936"/>
                  </a:cubicBezTo>
                  <a:cubicBezTo>
                    <a:pt x="517525" y="12819"/>
                    <a:pt x="558800" y="183211"/>
                    <a:pt x="609600" y="186386"/>
                  </a:cubicBezTo>
                  <a:cubicBezTo>
                    <a:pt x="660400" y="189561"/>
                    <a:pt x="729192" y="57269"/>
                    <a:pt x="768350" y="33986"/>
                  </a:cubicBezTo>
                  <a:cubicBezTo>
                    <a:pt x="807508" y="10703"/>
                    <a:pt x="819150" y="32928"/>
                    <a:pt x="844550" y="46686"/>
                  </a:cubicBezTo>
                  <a:cubicBezTo>
                    <a:pt x="869950" y="60444"/>
                    <a:pt x="885825" y="103836"/>
                    <a:pt x="920750" y="116536"/>
                  </a:cubicBezTo>
                  <a:cubicBezTo>
                    <a:pt x="955675" y="129236"/>
                    <a:pt x="1004887" y="126061"/>
                    <a:pt x="1054100" y="122886"/>
                  </a:cubicBezTo>
                </a:path>
              </a:pathLst>
            </a:custGeom>
            <a:noFill/>
            <a:ln>
              <a:solidFill>
                <a:srgbClr val="002060"/>
              </a:solidFill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0" name="곱하기 기호 179">
              <a:extLst>
                <a:ext uri="{FF2B5EF4-FFF2-40B4-BE49-F238E27FC236}">
                  <a16:creationId xmlns:a16="http://schemas.microsoft.com/office/drawing/2014/main" id="{CBA223F7-B232-1A2D-94D2-5E76EF447290}"/>
                </a:ext>
              </a:extLst>
            </p:cNvPr>
            <p:cNvSpPr/>
            <p:nvPr/>
          </p:nvSpPr>
          <p:spPr>
            <a:xfrm>
              <a:off x="4567024" y="7440944"/>
              <a:ext cx="178638" cy="368545"/>
            </a:xfrm>
            <a:prstGeom prst="mathMultiply">
              <a:avLst/>
            </a:prstGeom>
            <a:solidFill>
              <a:srgbClr val="FF0000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307CCB46-3ABB-127A-FAAF-8A3D9D498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rcRect l="1" t="4762" r="-1" b="-1"/>
            <a:stretch/>
          </p:blipFill>
          <p:spPr>
            <a:xfrm>
              <a:off x="4883892" y="7608658"/>
              <a:ext cx="155343" cy="208866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EFAC80-0F22-C8E0-9FBF-FA3954430E3E}"/>
              </a:ext>
            </a:extLst>
          </p:cNvPr>
          <p:cNvGrpSpPr/>
          <p:nvPr/>
        </p:nvGrpSpPr>
        <p:grpSpPr>
          <a:xfrm>
            <a:off x="302442" y="1107714"/>
            <a:ext cx="2389490" cy="2321286"/>
            <a:chOff x="1425895" y="5488309"/>
            <a:chExt cx="1801255" cy="17498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049283-9338-CD6C-AEC7-D734628B2046}"/>
                </a:ext>
              </a:extLst>
            </p:cNvPr>
            <p:cNvSpPr txBox="1"/>
            <p:nvPr/>
          </p:nvSpPr>
          <p:spPr>
            <a:xfrm>
              <a:off x="2573623" y="6804516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86E0833D-D55B-9CD4-07AD-1E11DCDE3157}"/>
                </a:ext>
              </a:extLst>
            </p:cNvPr>
            <p:cNvSpPr/>
            <p:nvPr/>
          </p:nvSpPr>
          <p:spPr>
            <a:xfrm>
              <a:off x="1692868" y="5930050"/>
              <a:ext cx="1168400" cy="1308100"/>
            </a:xfrm>
            <a:custGeom>
              <a:avLst/>
              <a:gdLst>
                <a:gd name="connsiteX0" fmla="*/ 0 w 1168400"/>
                <a:gd name="connsiteY0" fmla="*/ 482600 h 1308100"/>
                <a:gd name="connsiteX1" fmla="*/ 292100 w 1168400"/>
                <a:gd name="connsiteY1" fmla="*/ 482600 h 1308100"/>
                <a:gd name="connsiteX2" fmla="*/ 374650 w 1168400"/>
                <a:gd name="connsiteY2" fmla="*/ 488950 h 1308100"/>
                <a:gd name="connsiteX3" fmla="*/ 469900 w 1168400"/>
                <a:gd name="connsiteY3" fmla="*/ 558800 h 1308100"/>
                <a:gd name="connsiteX4" fmla="*/ 514350 w 1168400"/>
                <a:gd name="connsiteY4" fmla="*/ 654050 h 1308100"/>
                <a:gd name="connsiteX5" fmla="*/ 514350 w 1168400"/>
                <a:gd name="connsiteY5" fmla="*/ 0 h 1308100"/>
                <a:gd name="connsiteX6" fmla="*/ 908050 w 1168400"/>
                <a:gd name="connsiteY6" fmla="*/ 825500 h 1308100"/>
                <a:gd name="connsiteX7" fmla="*/ 908050 w 1168400"/>
                <a:gd name="connsiteY7" fmla="*/ 1143000 h 1308100"/>
                <a:gd name="connsiteX8" fmla="*/ 1168400 w 1168400"/>
                <a:gd name="connsiteY8" fmla="*/ 1308100 h 1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8400" h="1308100">
                  <a:moveTo>
                    <a:pt x="0" y="482600"/>
                  </a:moveTo>
                  <a:lnTo>
                    <a:pt x="292100" y="482600"/>
                  </a:lnTo>
                  <a:lnTo>
                    <a:pt x="374650" y="488950"/>
                  </a:lnTo>
                  <a:lnTo>
                    <a:pt x="469900" y="558800"/>
                  </a:lnTo>
                  <a:lnTo>
                    <a:pt x="514350" y="654050"/>
                  </a:lnTo>
                  <a:lnTo>
                    <a:pt x="514350" y="0"/>
                  </a:lnTo>
                  <a:lnTo>
                    <a:pt x="908050" y="825500"/>
                  </a:lnTo>
                  <a:lnTo>
                    <a:pt x="908050" y="1143000"/>
                  </a:lnTo>
                  <a:lnTo>
                    <a:pt x="1168400" y="13081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6AA0B065-4873-01EB-4DB3-76E23F681695}"/>
                </a:ext>
              </a:extLst>
            </p:cNvPr>
            <p:cNvCxnSpPr>
              <a:cxnSpLocks/>
            </p:cNvCxnSpPr>
            <p:nvPr/>
          </p:nvCxnSpPr>
          <p:spPr>
            <a:xfrm>
              <a:off x="2234157" y="6463303"/>
              <a:ext cx="550930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F819483-4FA9-F9CF-3F7F-9B7CC7198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1354" y="6437903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AE402-F62B-6336-8593-2FFDCA940A06}"/>
                </a:ext>
              </a:extLst>
            </p:cNvPr>
            <p:cNvSpPr txBox="1"/>
            <p:nvPr/>
          </p:nvSpPr>
          <p:spPr>
            <a:xfrm>
              <a:off x="1527289" y="6189408"/>
              <a:ext cx="697052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3A0B8FE-FAD4-8836-B9E8-C9B3C1BA4292}"/>
                </a:ext>
              </a:extLst>
            </p:cNvPr>
            <p:cNvSpPr/>
            <p:nvPr/>
          </p:nvSpPr>
          <p:spPr>
            <a:xfrm>
              <a:off x="2118459" y="6438900"/>
              <a:ext cx="78581" cy="123825"/>
            </a:xfrm>
            <a:custGeom>
              <a:avLst/>
              <a:gdLst>
                <a:gd name="connsiteX0" fmla="*/ 0 w 78581"/>
                <a:gd name="connsiteY0" fmla="*/ 4763 h 123825"/>
                <a:gd name="connsiteX1" fmla="*/ 52388 w 78581"/>
                <a:gd name="connsiteY1" fmla="*/ 45244 h 123825"/>
                <a:gd name="connsiteX2" fmla="*/ 78581 w 78581"/>
                <a:gd name="connsiteY2" fmla="*/ 123825 h 123825"/>
                <a:gd name="connsiteX3" fmla="*/ 78581 w 78581"/>
                <a:gd name="connsiteY3" fmla="*/ 0 h 123825"/>
                <a:gd name="connsiteX4" fmla="*/ 0 w 78581"/>
                <a:gd name="connsiteY4" fmla="*/ 4763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581" h="123825">
                  <a:moveTo>
                    <a:pt x="0" y="4763"/>
                  </a:moveTo>
                  <a:lnTo>
                    <a:pt x="52388" y="45244"/>
                  </a:lnTo>
                  <a:lnTo>
                    <a:pt x="78581" y="123825"/>
                  </a:lnTo>
                  <a:lnTo>
                    <a:pt x="78581" y="0"/>
                  </a:lnTo>
                  <a:lnTo>
                    <a:pt x="0" y="4763"/>
                  </a:lnTo>
                  <a:close/>
                </a:path>
              </a:pathLst>
            </a:custGeom>
            <a:solidFill>
              <a:srgbClr val="FF29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B604A2-96F9-A17E-1BE2-E410E7D51089}"/>
                </a:ext>
              </a:extLst>
            </p:cNvPr>
            <p:cNvSpPr txBox="1"/>
            <p:nvPr/>
          </p:nvSpPr>
          <p:spPr>
            <a:xfrm>
              <a:off x="2251906" y="5832380"/>
              <a:ext cx="607806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39C714-1434-DE0B-737C-B0328C917A24}"/>
                </a:ext>
              </a:extLst>
            </p:cNvPr>
            <p:cNvSpPr txBox="1"/>
            <p:nvPr/>
          </p:nvSpPr>
          <p:spPr>
            <a:xfrm>
              <a:off x="2287746" y="6062283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D80AB2B-6B31-3322-218B-2D3E770082B4}"/>
                </a:ext>
              </a:extLst>
            </p:cNvPr>
            <p:cNvSpPr txBox="1"/>
            <p:nvPr/>
          </p:nvSpPr>
          <p:spPr>
            <a:xfrm>
              <a:off x="1695639" y="6384928"/>
              <a:ext cx="439071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6F820-CBE3-E6F1-5ADE-5B2ADC88ABD8}"/>
                </a:ext>
              </a:extLst>
            </p:cNvPr>
            <p:cNvSpPr txBox="1"/>
            <p:nvPr/>
          </p:nvSpPr>
          <p:spPr>
            <a:xfrm>
              <a:off x="1425895" y="5488309"/>
              <a:ext cx="167158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Program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en-US" altLang="ko-KR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11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pgm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B2441F-6E84-C899-8B50-DB8AC9ECB258}"/>
                </a:ext>
              </a:extLst>
            </p:cNvPr>
            <p:cNvSpPr txBox="1"/>
            <p:nvPr/>
          </p:nvSpPr>
          <p:spPr>
            <a:xfrm>
              <a:off x="2737512" y="6308421"/>
              <a:ext cx="48963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ko-K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FN</a:t>
              </a:r>
              <a:endParaRPr lang="ko-KR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7A49C27-FE39-BC58-EA02-A9AB05B7DF6F}"/>
              </a:ext>
            </a:extLst>
          </p:cNvPr>
          <p:cNvGrpSpPr/>
          <p:nvPr/>
        </p:nvGrpSpPr>
        <p:grpSpPr>
          <a:xfrm>
            <a:off x="342245" y="3515595"/>
            <a:ext cx="2349687" cy="2333644"/>
            <a:chOff x="3313708" y="5488178"/>
            <a:chExt cx="1749215" cy="173727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382260-C3EB-5660-76BE-341891F4245D}"/>
                </a:ext>
              </a:extLst>
            </p:cNvPr>
            <p:cNvSpPr txBox="1"/>
            <p:nvPr/>
          </p:nvSpPr>
          <p:spPr>
            <a:xfrm>
              <a:off x="3320094" y="7009381"/>
              <a:ext cx="688143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A0C6900-6EE1-28C9-E3C3-28AE266FB7ED}"/>
                </a:ext>
              </a:extLst>
            </p:cNvPr>
            <p:cNvSpPr/>
            <p:nvPr/>
          </p:nvSpPr>
          <p:spPr>
            <a:xfrm>
              <a:off x="3571815" y="5930050"/>
              <a:ext cx="1041400" cy="1295400"/>
            </a:xfrm>
            <a:custGeom>
              <a:avLst/>
              <a:gdLst>
                <a:gd name="connsiteX0" fmla="*/ 0 w 1041400"/>
                <a:gd name="connsiteY0" fmla="*/ 1295400 h 1295400"/>
                <a:gd name="connsiteX1" fmla="*/ 400050 w 1041400"/>
                <a:gd name="connsiteY1" fmla="*/ 1295400 h 1295400"/>
                <a:gd name="connsiteX2" fmla="*/ 400050 w 1041400"/>
                <a:gd name="connsiteY2" fmla="*/ 368300 h 1295400"/>
                <a:gd name="connsiteX3" fmla="*/ 749300 w 1041400"/>
                <a:gd name="connsiteY3" fmla="*/ 0 h 1295400"/>
                <a:gd name="connsiteX4" fmla="*/ 749300 w 1041400"/>
                <a:gd name="connsiteY4" fmla="*/ 431800 h 1295400"/>
                <a:gd name="connsiteX5" fmla="*/ 1041400 w 1041400"/>
                <a:gd name="connsiteY5" fmla="*/ 2540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1400" h="1295400">
                  <a:moveTo>
                    <a:pt x="0" y="1295400"/>
                  </a:moveTo>
                  <a:lnTo>
                    <a:pt x="400050" y="1295400"/>
                  </a:lnTo>
                  <a:lnTo>
                    <a:pt x="400050" y="368300"/>
                  </a:lnTo>
                  <a:lnTo>
                    <a:pt x="749300" y="0"/>
                  </a:lnTo>
                  <a:lnTo>
                    <a:pt x="749300" y="431800"/>
                  </a:lnTo>
                  <a:lnTo>
                    <a:pt x="1041400" y="2540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58AF1CF0-6BFA-1D01-009C-24DD38085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0760" y="6547727"/>
              <a:ext cx="342900" cy="175022"/>
            </a:xfrm>
            <a:prstGeom prst="line">
              <a:avLst/>
            </a:prstGeom>
            <a:ln>
              <a:solidFill>
                <a:srgbClr val="FF29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CD70CB8-1286-D50C-B74E-ED7CCA5E7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7390" y="6635238"/>
              <a:ext cx="690742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CA36470-331A-F044-827A-14264A3967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9528" y="6547727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E06E01-D165-1F1E-42F1-FC97D0832022}"/>
                </a:ext>
              </a:extLst>
            </p:cNvPr>
            <p:cNvSpPr txBox="1"/>
            <p:nvPr/>
          </p:nvSpPr>
          <p:spPr>
            <a:xfrm>
              <a:off x="4282991" y="5973964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EC287E-2B50-7A32-EA2A-087DFE40EA3C}"/>
                </a:ext>
              </a:extLst>
            </p:cNvPr>
            <p:cNvSpPr txBox="1"/>
            <p:nvPr/>
          </p:nvSpPr>
          <p:spPr>
            <a:xfrm>
              <a:off x="3913589" y="5930032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12F1FA-16A0-1323-3332-F4AB5E173E15}"/>
                </a:ext>
              </a:extLst>
            </p:cNvPr>
            <p:cNvSpPr txBox="1"/>
            <p:nvPr/>
          </p:nvSpPr>
          <p:spPr>
            <a:xfrm>
              <a:off x="4017936" y="5724658"/>
              <a:ext cx="607806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88083C4D-1FCF-774C-BFC6-45A7DDCAF86F}"/>
                </a:ext>
              </a:extLst>
            </p:cNvPr>
            <p:cNvSpPr/>
            <p:nvPr/>
          </p:nvSpPr>
          <p:spPr>
            <a:xfrm>
              <a:off x="3750979" y="6265258"/>
              <a:ext cx="597694" cy="118685"/>
            </a:xfrm>
            <a:custGeom>
              <a:avLst/>
              <a:gdLst>
                <a:gd name="connsiteX0" fmla="*/ 502444 w 502444"/>
                <a:gd name="connsiteY0" fmla="*/ 54390 h 118685"/>
                <a:gd name="connsiteX1" fmla="*/ 409575 w 502444"/>
                <a:gd name="connsiteY1" fmla="*/ 2003 h 118685"/>
                <a:gd name="connsiteX2" fmla="*/ 345281 w 502444"/>
                <a:gd name="connsiteY2" fmla="*/ 116303 h 118685"/>
                <a:gd name="connsiteX3" fmla="*/ 285750 w 502444"/>
                <a:gd name="connsiteY3" fmla="*/ 11528 h 118685"/>
                <a:gd name="connsiteX4" fmla="*/ 226219 w 502444"/>
                <a:gd name="connsiteY4" fmla="*/ 118684 h 118685"/>
                <a:gd name="connsiteX5" fmla="*/ 183356 w 502444"/>
                <a:gd name="connsiteY5" fmla="*/ 13909 h 118685"/>
                <a:gd name="connsiteX6" fmla="*/ 119063 w 502444"/>
                <a:gd name="connsiteY6" fmla="*/ 116303 h 118685"/>
                <a:gd name="connsiteX7" fmla="*/ 78581 w 502444"/>
                <a:gd name="connsiteY7" fmla="*/ 56772 h 118685"/>
                <a:gd name="connsiteX8" fmla="*/ 0 w 502444"/>
                <a:gd name="connsiteY8" fmla="*/ 56772 h 118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2444" h="118685">
                  <a:moveTo>
                    <a:pt x="502444" y="54390"/>
                  </a:moveTo>
                  <a:cubicBezTo>
                    <a:pt x="469106" y="23037"/>
                    <a:pt x="435769" y="-8316"/>
                    <a:pt x="409575" y="2003"/>
                  </a:cubicBezTo>
                  <a:cubicBezTo>
                    <a:pt x="383381" y="12322"/>
                    <a:pt x="365918" y="114716"/>
                    <a:pt x="345281" y="116303"/>
                  </a:cubicBezTo>
                  <a:cubicBezTo>
                    <a:pt x="324644" y="117890"/>
                    <a:pt x="305594" y="11131"/>
                    <a:pt x="285750" y="11528"/>
                  </a:cubicBezTo>
                  <a:cubicBezTo>
                    <a:pt x="265906" y="11925"/>
                    <a:pt x="243285" y="118287"/>
                    <a:pt x="226219" y="118684"/>
                  </a:cubicBezTo>
                  <a:cubicBezTo>
                    <a:pt x="209153" y="119081"/>
                    <a:pt x="201215" y="14306"/>
                    <a:pt x="183356" y="13909"/>
                  </a:cubicBezTo>
                  <a:cubicBezTo>
                    <a:pt x="165497" y="13512"/>
                    <a:pt x="136525" y="109159"/>
                    <a:pt x="119063" y="116303"/>
                  </a:cubicBezTo>
                  <a:cubicBezTo>
                    <a:pt x="101601" y="123447"/>
                    <a:pt x="98425" y="66694"/>
                    <a:pt x="78581" y="56772"/>
                  </a:cubicBezTo>
                  <a:cubicBezTo>
                    <a:pt x="58737" y="46850"/>
                    <a:pt x="29368" y="51811"/>
                    <a:pt x="0" y="567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0" name="곱하기 기호 29">
              <a:extLst>
                <a:ext uri="{FF2B5EF4-FFF2-40B4-BE49-F238E27FC236}">
                  <a16:creationId xmlns:a16="http://schemas.microsoft.com/office/drawing/2014/main" id="{189BDFC1-A4A2-91E1-67B1-4CFED1B02119}"/>
                </a:ext>
              </a:extLst>
            </p:cNvPr>
            <p:cNvSpPr/>
            <p:nvPr/>
          </p:nvSpPr>
          <p:spPr>
            <a:xfrm>
              <a:off x="3993924" y="6143376"/>
              <a:ext cx="194392" cy="376625"/>
            </a:xfrm>
            <a:prstGeom prst="mathMultiply">
              <a:avLst/>
            </a:prstGeom>
            <a:solidFill>
              <a:srgbClr val="FF2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7B0065D0-D05A-8EFA-ED19-6D42A0EC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43764" y="6242976"/>
              <a:ext cx="68314" cy="68314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23778246-7FFD-9A7C-E6A4-E7EBD6306310}"/>
                </a:ext>
              </a:extLst>
            </p:cNvPr>
            <p:cNvSpPr/>
            <p:nvPr/>
          </p:nvSpPr>
          <p:spPr>
            <a:xfrm>
              <a:off x="4416365" y="6311900"/>
              <a:ext cx="60409" cy="282575"/>
            </a:xfrm>
            <a:custGeom>
              <a:avLst/>
              <a:gdLst>
                <a:gd name="connsiteX0" fmla="*/ 0 w 60409"/>
                <a:gd name="connsiteY0" fmla="*/ 0 h 282575"/>
                <a:gd name="connsiteX1" fmla="*/ 50800 w 60409"/>
                <a:gd name="connsiteY1" fmla="*/ 92075 h 282575"/>
                <a:gd name="connsiteX2" fmla="*/ 60325 w 60409"/>
                <a:gd name="connsiteY2" fmla="*/ 282575 h 28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09" h="282575">
                  <a:moveTo>
                    <a:pt x="0" y="0"/>
                  </a:moveTo>
                  <a:cubicBezTo>
                    <a:pt x="20373" y="22489"/>
                    <a:pt x="40746" y="44979"/>
                    <a:pt x="50800" y="92075"/>
                  </a:cubicBezTo>
                  <a:cubicBezTo>
                    <a:pt x="60854" y="139171"/>
                    <a:pt x="60589" y="210873"/>
                    <a:pt x="60325" y="282575"/>
                  </a:cubicBezTo>
                </a:path>
              </a:pathLst>
            </a:custGeom>
            <a:noFill/>
            <a:ln>
              <a:solidFill>
                <a:srgbClr val="0000FF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1330A9B-B694-5153-97D5-CF5D1BB1C47E}"/>
                </a:ext>
              </a:extLst>
            </p:cNvPr>
            <p:cNvSpPr txBox="1"/>
            <p:nvPr/>
          </p:nvSpPr>
          <p:spPr>
            <a:xfrm>
              <a:off x="4549254" y="6416921"/>
              <a:ext cx="439071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7B0A07-3AB8-391A-9D8C-D45E4406AC48}"/>
                </a:ext>
              </a:extLst>
            </p:cNvPr>
            <p:cNvSpPr txBox="1"/>
            <p:nvPr/>
          </p:nvSpPr>
          <p:spPr>
            <a:xfrm>
              <a:off x="3313708" y="5488178"/>
              <a:ext cx="1749215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Retention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V)</a:t>
              </a:r>
              <a:endParaRPr lang="en-US" altLang="ko-KR" sz="11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650D8C6-3DCC-A1C7-A6A5-D160A0567DF4}"/>
                </a:ext>
              </a:extLst>
            </p:cNvPr>
            <p:cNvSpPr txBox="1"/>
            <p:nvPr/>
          </p:nvSpPr>
          <p:spPr>
            <a:xfrm>
              <a:off x="3388432" y="6514025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TBT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93B8EF8-B809-091B-DDC2-B2D67BCCA28D}"/>
                </a:ext>
              </a:extLst>
            </p:cNvPr>
            <p:cNvSpPr txBox="1"/>
            <p:nvPr/>
          </p:nvSpPr>
          <p:spPr>
            <a:xfrm>
              <a:off x="3421808" y="6107380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DT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1350C7B-0A88-595F-8911-74810F6666FF}"/>
              </a:ext>
            </a:extLst>
          </p:cNvPr>
          <p:cNvSpPr txBox="1"/>
          <p:nvPr/>
        </p:nvSpPr>
        <p:spPr>
          <a:xfrm>
            <a:off x="2739572" y="1075108"/>
            <a:ext cx="610198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Program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동작에서는 강한 전기장에 의해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FN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발생함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하지만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상태에서는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0V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이므로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충분한 전자가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축적되지 않아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direct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영향이 감소함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3AF5E-B0CA-1BEF-604C-E08AB0082CB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CFE783-5799-DC38-DBBB-9EE992C845DD}"/>
              </a:ext>
            </a:extLst>
          </p:cNvPr>
          <p:cNvSpPr txBox="1"/>
          <p:nvPr/>
        </p:nvSpPr>
        <p:spPr>
          <a:xfrm>
            <a:off x="2636312" y="4150154"/>
            <a:ext cx="37524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trapped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tunneling 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될 수 있음</a:t>
            </a:r>
          </a:p>
        </p:txBody>
      </p:sp>
    </p:spTree>
    <p:extLst>
      <p:ext uri="{BB962C8B-B14F-4D97-AF65-F5344CB8AC3E}">
        <p14:creationId xmlns:p14="http://schemas.microsoft.com/office/powerpoint/2010/main" val="731828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5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80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3" name="개체 2">
                        <a:extLst>
                          <a:ext uri="{FF2B5EF4-FFF2-40B4-BE49-F238E27FC236}">
                            <a16:creationId xmlns:a16="http://schemas.microsoft.com/office/drawing/2014/main" id="{CC4BF23F-9A1E-A8CF-CD5D-C773068B05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E695E53B-06B8-4866-D8B4-056CE93104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DBA3E-99CC-2403-9B66-32F6B0A6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TCAD Emulation</a:t>
            </a:r>
            <a:endParaRPr lang="ko-KR" altLang="en-US" dirty="0"/>
          </a:p>
        </p:txBody>
      </p:sp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FD167D98-28C5-E5A9-685D-94869095AB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560406"/>
              </p:ext>
            </p:extLst>
          </p:nvPr>
        </p:nvGraphicFramePr>
        <p:xfrm>
          <a:off x="270133" y="2456147"/>
          <a:ext cx="4512278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2293" imgH="3429000" progId="Origin50.Graph">
                  <p:embed/>
                </p:oleObj>
              </mc:Choice>
              <mc:Fallback>
                <p:oleObj name="Graph" r:id="rId2" imgW="4852293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FD167D98-28C5-E5A9-685D-94869095AB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0133" y="2456147"/>
                        <a:ext cx="4512278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개체 6">
            <a:extLst>
              <a:ext uri="{FF2B5EF4-FFF2-40B4-BE49-F238E27FC236}">
                <a16:creationId xmlns:a16="http://schemas.microsoft.com/office/drawing/2014/main" id="{14B6E2C1-3363-1BE2-6647-EE01764791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90832575"/>
              </p:ext>
            </p:extLst>
          </p:nvPr>
        </p:nvGraphicFramePr>
        <p:xfrm>
          <a:off x="4312293" y="2456146"/>
          <a:ext cx="4512277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14B6E2C1-3363-1BE2-6647-EE01764791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12293" y="2456146"/>
                        <a:ext cx="4512277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BC5718D-5BED-047F-20A9-523A06430935}"/>
              </a:ext>
            </a:extLst>
          </p:cNvPr>
          <p:cNvSpPr txBox="1"/>
          <p:nvPr/>
        </p:nvSpPr>
        <p:spPr>
          <a:xfrm>
            <a:off x="582626" y="2056680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온도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–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수렴성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테스트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사이의 상호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608DE6-0EF3-553C-CD62-5355B43A02DA}"/>
              </a:ext>
            </a:extLst>
          </p:cNvPr>
          <p:cNvSpPr txBox="1"/>
          <p:nvPr/>
        </p:nvSpPr>
        <p:spPr>
          <a:xfrm>
            <a:off x="449107" y="5644409"/>
            <a:ext cx="4199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300 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83 K (TCAD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최저온도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345EB9-D1D5-A26A-BAE4-AC75B00ED387}"/>
              </a:ext>
            </a:extLst>
          </p:cNvPr>
          <p:cNvSpPr txBox="1"/>
          <p:nvPr/>
        </p:nvSpPr>
        <p:spPr>
          <a:xfrm>
            <a:off x="4674101" y="5644409"/>
            <a:ext cx="4199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-16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-31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 [cm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</a:p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0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지속적으로 확장 가능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CC6E05-8A53-01D9-69D6-D1B7752B8F86}"/>
              </a:ext>
            </a:extLst>
          </p:cNvPr>
          <p:cNvSpPr txBox="1"/>
          <p:nvPr/>
        </p:nvSpPr>
        <p:spPr>
          <a:xfrm>
            <a:off x="335647" y="932652"/>
            <a:ext cx="85382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실험적으로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분리하는 기법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transition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억제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분리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1955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002017"/>
              </p:ext>
            </p:extLst>
          </p:nvPr>
        </p:nvGraphicFramePr>
        <p:xfrm>
          <a:off x="4246004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3164639"/>
              </p:ext>
            </p:extLst>
          </p:nvPr>
        </p:nvGraphicFramePr>
        <p:xfrm>
          <a:off x="329810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212271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3981728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655236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565557"/>
            <a:ext cx="3702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측정치와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calibration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진행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72430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920360"/>
            <a:ext cx="795784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 모델 기반으로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 비교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6693</TotalTime>
  <Words>1402</Words>
  <Application>Microsoft Office PowerPoint</Application>
  <PresentationFormat>화면 슬라이드 쇼(4:3)</PresentationFormat>
  <Paragraphs>319</Paragraphs>
  <Slides>20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Time-Step-Free Physics-based Modeling of Retention Loss in Cryogenic 3-D NAND Flash </vt:lpstr>
      <vt:lpstr>Content</vt:lpstr>
      <vt:lpstr>Introduction</vt:lpstr>
      <vt:lpstr>Limited Contribution of TAT</vt:lpstr>
      <vt:lpstr>Limited Contribution of TAT</vt:lpstr>
      <vt:lpstr>Alignment with Previous Studies</vt:lpstr>
      <vt:lpstr>BETOX Trapped Electron Detrapping Modeling</vt:lpstr>
      <vt:lpstr>BETOX Trapped Electron Detrapping Modeling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TCAD Emulation</vt:lpstr>
      <vt:lpstr>Cryogenic-like Emulation</vt:lpstr>
      <vt:lpstr>Computational Impact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991</cp:revision>
  <dcterms:created xsi:type="dcterms:W3CDTF">2016-06-02T05:19:04Z</dcterms:created>
  <dcterms:modified xsi:type="dcterms:W3CDTF">2026-08-10T12:49:56Z</dcterms:modified>
  <cp:version/>
</cp:coreProperties>
</file>