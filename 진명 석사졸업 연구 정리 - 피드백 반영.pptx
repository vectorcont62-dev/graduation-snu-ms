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>
  <p:sldMasterIdLst>
    <p:sldMasterId id="2147483672" r:id="rId1"/>
  </p:sldMasterIdLst>
  <p:notesMasterIdLst>
    <p:notesMasterId r:id="rId22"/>
  </p:notesMasterIdLst>
  <p:sldIdLst>
    <p:sldId id="341" r:id="rId2"/>
    <p:sldId id="334" r:id="rId3"/>
    <p:sldId id="329" r:id="rId4"/>
    <p:sldId id="342" r:id="rId5"/>
    <p:sldId id="343" r:id="rId6"/>
    <p:sldId id="331" r:id="rId7"/>
    <p:sldId id="344" r:id="rId8"/>
    <p:sldId id="322" r:id="rId9"/>
    <p:sldId id="333" r:id="rId10"/>
    <p:sldId id="320" r:id="rId11"/>
    <p:sldId id="324" r:id="rId12"/>
    <p:sldId id="339" r:id="rId13"/>
    <p:sldId id="323" r:id="rId14"/>
    <p:sldId id="321" r:id="rId15"/>
    <p:sldId id="328" r:id="rId16"/>
    <p:sldId id="326" r:id="rId17"/>
    <p:sldId id="345" r:id="rId18"/>
    <p:sldId id="346" r:id="rId19"/>
    <p:sldId id="327" r:id="rId20"/>
    <p:sldId id="338" r:id="rId21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3" userDrawn="1">
          <p15:clr>
            <a:srgbClr val="A4A3A4"/>
          </p15:clr>
        </p15:guide>
        <p15:guide id="2" pos="1973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84866"/>
    <a:srgbClr val="BF768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TxStyle/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TxStyle/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17" autoAdjust="0"/>
    <p:restoredTop sz="97300" autoAdjust="0"/>
  </p:normalViewPr>
  <p:slideViewPr>
    <p:cSldViewPr snapToGrid="0">
      <p:cViewPr varScale="1">
        <p:scale>
          <a:sx n="151" d="100"/>
          <a:sy n="151" d="100"/>
        </p:scale>
        <p:origin x="1914" y="108"/>
      </p:cViewPr>
      <p:guideLst>
        <p:guide orient="horz" pos="2183"/>
        <p:guide pos="1973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Grid="0">
      <p:cViewPr varScale="1">
        <p:scale>
          <a:sx n="121" d="100"/>
          <a:sy n="121" d="100"/>
        </p:scale>
        <p:origin x="5022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pPr lvl="0">
              <a:defRPr/>
            </a:pPr>
            <a:fld id="{8180F2F1-247D-439A-AE1A-1AD18BF0EBC5}" type="datetime1">
              <a:rPr lang="ko-KR" altLang="en-US"/>
              <a:pPr lvl="0">
                <a:defRPr/>
              </a:pPr>
              <a:t>2026-08-31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anchor="ctr"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pPr lvl="0">
              <a:defRPr/>
            </a:pPr>
            <a:r>
              <a:rPr lang="ko-KR" altLang="en-US"/>
              <a:t>마스터 텍스트 스타일 편집</a:t>
            </a:r>
          </a:p>
          <a:p>
            <a:pPr lvl="1">
              <a:defRPr/>
            </a:pPr>
            <a:r>
              <a:rPr lang="ko-KR" altLang="en-US"/>
              <a:t>둘째 수준</a:t>
            </a:r>
          </a:p>
          <a:p>
            <a:pPr lvl="2">
              <a:defRPr/>
            </a:pPr>
            <a:r>
              <a:rPr lang="ko-KR" altLang="en-US"/>
              <a:t>셋째 수준</a:t>
            </a:r>
          </a:p>
          <a:p>
            <a:pPr lvl="3">
              <a:defRPr/>
            </a:pPr>
            <a:r>
              <a:rPr lang="ko-KR" altLang="en-US"/>
              <a:t>넷째 수준</a:t>
            </a:r>
          </a:p>
          <a:p>
            <a:pPr lvl="4">
              <a:defRPr/>
            </a:pPr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l">
              <a:defRPr sz="1200"/>
            </a:lvl1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r">
              <a:defRPr sz="1200"/>
            </a:lvl1pPr>
          </a:lstStyle>
          <a:p>
            <a:pPr lvl="0">
              <a:defRPr/>
            </a:pPr>
            <a:fld id="{969D8441-CF3E-4C34-A420-65ADD8A7BB05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C47ACFDF-210B-4108-EB77-9160E7834DA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8650" y="2329156"/>
            <a:ext cx="7886700" cy="219968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kumimoji="1" lang="en-US" sz="3200" b="1" dirty="0">
                <a:solidFill>
                  <a:srgbClr val="0000FF"/>
                </a:solidFill>
                <a:effectLst/>
                <a:latin typeface="Calibri"/>
                <a:ea typeface="굴림"/>
                <a:cs typeface="굴림"/>
              </a:defRPr>
            </a:lvl1pPr>
          </a:lstStyle>
          <a:p>
            <a:pPr lvl="0" algn="ctr"/>
            <a:r>
              <a:rPr lang="ko-KR" altLang="en-US" dirty="0"/>
              <a:t>제목</a:t>
            </a:r>
            <a:br>
              <a:rPr lang="en-US" altLang="ko-KR" dirty="0"/>
            </a:br>
            <a:br>
              <a:rPr lang="en-US" altLang="ko-KR" dirty="0"/>
            </a:br>
            <a:r>
              <a:rPr lang="ko-KR" altLang="en-US" dirty="0"/>
              <a:t>진명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327414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>
            <a:extLst>
              <a:ext uri="{FF2B5EF4-FFF2-40B4-BE49-F238E27FC236}">
                <a16:creationId xmlns:a16="http://schemas.microsoft.com/office/drawing/2014/main" id="{2B732FBD-70BB-590B-EED9-6BA8F8E915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129" y="165556"/>
            <a:ext cx="8955742" cy="590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 algn="ctr">
              <a:defRPr lang="en-US" sz="3600" dirty="0">
                <a:ln>
                  <a:solidFill>
                    <a:srgbClr val="00397F">
                      <a:alpha val="30000"/>
                    </a:srgbClr>
                  </a:solidFill>
                </a:ln>
                <a:solidFill>
                  <a:srgbClr val="00397F"/>
                </a:solidFill>
                <a:latin typeface="Arial" panose="020B0604020202020204" pitchFamily="34" charset="0"/>
                <a:ea typeface="맑은 고딕" panose="020B0503020000020004" pitchFamily="50" charset="-127"/>
                <a:cs typeface="+mn-cs"/>
              </a:defRPr>
            </a:lvl1pPr>
          </a:lstStyle>
          <a:p>
            <a:pPr marL="0" lvl="0" algn="ctr"/>
            <a:endParaRPr lang="en-US" dirty="0"/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A68D360D-C118-14A3-C8B6-E639F8DD026C}"/>
              </a:ext>
            </a:extLst>
          </p:cNvPr>
          <p:cNvCxnSpPr/>
          <p:nvPr userDrawn="1"/>
        </p:nvCxnSpPr>
        <p:spPr>
          <a:xfrm>
            <a:off x="456818" y="877735"/>
            <a:ext cx="8687182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bg1">
                <a:lumMod val="75000"/>
              </a:schemeClr>
            </a:solidFill>
            <a:prstDash val="solid"/>
            <a:round/>
            <a:headEnd type="oval" w="med" len="med"/>
            <a:tailEnd w="med" len="med"/>
          </a:ln>
          <a:effectLst/>
        </p:spPr>
      </p:cxnSp>
      <p:sp>
        <p:nvSpPr>
          <p:cNvPr id="3" name="슬라이드 번호 개체 틀 1">
            <a:extLst>
              <a:ext uri="{FF2B5EF4-FFF2-40B4-BE49-F238E27FC236}">
                <a16:creationId xmlns:a16="http://schemas.microsoft.com/office/drawing/2014/main" id="{2CD00562-DF9D-CABC-715B-747888280836}"/>
              </a:ext>
            </a:extLst>
          </p:cNvPr>
          <p:cNvSpPr txBox="1">
            <a:spLocks/>
          </p:cNvSpPr>
          <p:nvPr userDrawn="1"/>
        </p:nvSpPr>
        <p:spPr>
          <a:xfrm>
            <a:off x="4125611" y="6467849"/>
            <a:ext cx="89089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fld id="{1F989CB1-DA8A-44BB-A4A9-D7F9352F01ED}" type="slidenum">
              <a:rPr lang="ko-KR" altLang="en-US" sz="1800" smtClean="0">
                <a:solidFill>
                  <a:srgbClr val="FFFFFF"/>
                </a:solidFill>
              </a:rPr>
              <a:pPr algn="ctr">
                <a:defRPr/>
              </a:pPr>
              <a:t>‹#›</a:t>
            </a:fld>
            <a:r>
              <a:rPr lang="ko-KR" altLang="en-US" sz="1800" dirty="0">
                <a:solidFill>
                  <a:srgbClr val="FFFFFF"/>
                </a:solidFill>
              </a:rPr>
              <a:t> </a:t>
            </a:r>
            <a:r>
              <a:rPr lang="en-US" altLang="ko-KR" sz="1800" dirty="0">
                <a:solidFill>
                  <a:srgbClr val="FFFFFF"/>
                </a:solidFill>
              </a:rPr>
              <a:t>/ 19</a:t>
            </a:r>
            <a:endParaRPr lang="ko-KR" altLang="en-US" sz="1800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273710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ppendix_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C47ACFDF-210B-4108-EB77-9160E7834DA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8650" y="2329156"/>
            <a:ext cx="7886700" cy="219968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kumimoji="1" lang="en-US" sz="3200" b="1" dirty="0">
                <a:solidFill>
                  <a:srgbClr val="0000FF"/>
                </a:solidFill>
                <a:effectLst/>
                <a:latin typeface="Calibri"/>
                <a:ea typeface="굴림"/>
                <a:cs typeface="굴림"/>
              </a:defRPr>
            </a:lvl1pPr>
          </a:lstStyle>
          <a:p>
            <a:pPr lvl="0" algn="ctr"/>
            <a:r>
              <a:rPr lang="ko-KR" altLang="en-US" dirty="0"/>
              <a:t>제목</a:t>
            </a:r>
            <a:br>
              <a:rPr lang="en-US" altLang="ko-KR" dirty="0"/>
            </a:br>
            <a:br>
              <a:rPr lang="en-US" altLang="ko-KR" dirty="0"/>
            </a:br>
            <a:r>
              <a:rPr lang="ko-KR" altLang="en-US" dirty="0"/>
              <a:t>진명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86372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ppendix_본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>
            <a:extLst>
              <a:ext uri="{FF2B5EF4-FFF2-40B4-BE49-F238E27FC236}">
                <a16:creationId xmlns:a16="http://schemas.microsoft.com/office/drawing/2014/main" id="{2B732FBD-70BB-590B-EED9-6BA8F8E915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129" y="165556"/>
            <a:ext cx="8955742" cy="590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 algn="ctr">
              <a:defRPr lang="en-US" sz="3600" dirty="0">
                <a:ln>
                  <a:solidFill>
                    <a:srgbClr val="00397F">
                      <a:alpha val="30000"/>
                    </a:srgbClr>
                  </a:solidFill>
                </a:ln>
                <a:solidFill>
                  <a:srgbClr val="00397F"/>
                </a:solidFill>
                <a:latin typeface="Arial" panose="020B0604020202020204" pitchFamily="34" charset="0"/>
                <a:ea typeface="맑은 고딕" panose="020B0503020000020004" pitchFamily="50" charset="-127"/>
                <a:cs typeface="+mn-cs"/>
              </a:defRPr>
            </a:lvl1pPr>
          </a:lstStyle>
          <a:p>
            <a:pPr marL="0" lvl="0" algn="ctr"/>
            <a:endParaRPr lang="en-US" dirty="0"/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A68D360D-C118-14A3-C8B6-E639F8DD026C}"/>
              </a:ext>
            </a:extLst>
          </p:cNvPr>
          <p:cNvCxnSpPr/>
          <p:nvPr userDrawn="1"/>
        </p:nvCxnSpPr>
        <p:spPr>
          <a:xfrm>
            <a:off x="456818" y="877735"/>
            <a:ext cx="8687182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bg1">
                <a:lumMod val="75000"/>
              </a:schemeClr>
            </a:solidFill>
            <a:prstDash val="solid"/>
            <a:round/>
            <a:headEnd type="oval" w="med" len="med"/>
            <a:tailEnd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17233037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34A334C5-B9FA-4ED1-A744-F408B6777B24}" type="datetime1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F989CB1-DA8A-44BB-A4A9-D7F9352F01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8009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2329156"/>
            <a:ext cx="7886700" cy="2199687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9E5042A7-DF43-46DE-92FC-CFB97544BBB3}" type="datetime1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F989CB1-DA8A-44BB-A4A9-D7F9352F01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67792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2916D5AD-5A6F-454C-9545-6885344E280D}" type="datetime1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F989CB1-DA8A-44BB-A4A9-D7F9352F01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63163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2329156"/>
            <a:ext cx="7886700" cy="2199687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3F7BB00-28E5-4A3B-9E5F-1F4BB3A8F165}" type="datetime1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F989CB1-DA8A-44BB-A4A9-D7F9352F01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53281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2CEAC59B-C817-48F5-8ACE-D9D17C2470A4}" type="datetime1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F989CB1-DA8A-44BB-A4A9-D7F9352F01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546923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B3B0509C-DF52-4D9E-B08B-80FF4BADBE5B}" type="datetime1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F989CB1-DA8A-44BB-A4A9-D7F9352F01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16182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  <a:prstGeom prst="rect">
            <a:avLst/>
          </a:prstGeo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D7E32654-65AB-44C2-B15A-24814E9FAC6C}" type="datetime1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F989CB1-DA8A-44BB-A4A9-D7F9352F01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7393437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2329156"/>
            <a:ext cx="7886700" cy="2199687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A4443EB-2E16-4E63-8781-456863843F67}" type="datetime1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F989CB1-DA8A-44BB-A4A9-D7F9352F01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6125900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  <a:prstGeom prst="rect">
            <a:avLst/>
          </a:prstGeo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C33B04AE-6A3D-446A-BA2E-D60D9DF7E98F}" type="datetime1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F989CB1-DA8A-44BB-A4A9-D7F9352F01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87923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02F9506-E5DD-4FE8-0BB7-EACC1C891B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329156"/>
            <a:ext cx="7886700" cy="2199687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525DBDE6-F08E-5E13-9BC0-67987A6A885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DDA8C695-F3F3-4DFA-BE8E-F96FA1E20C9A}" type="datetime1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7BAB051-DD19-19B3-C999-DD1B7F47C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796CDF9-9319-B249-5F10-09AFE0D963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F989CB1-DA8A-44BB-A4A9-D7F9352F01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681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7706" y="2329156"/>
            <a:ext cx="7886700" cy="219968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ctr" latinLnBrk="1">
              <a:defRPr/>
            </a:pPr>
            <a:endParaRPr kumimoji="1" lang="ko-KR" altLang="en-US" sz="4400" b="1" dirty="0">
              <a:solidFill>
                <a:srgbClr val="0000FF"/>
              </a:solidFill>
              <a:effectLst/>
              <a:latin typeface="Calibri"/>
              <a:ea typeface="굴림"/>
              <a:cs typeface="굴림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5B2251B-B63B-3A95-4A71-181753A1254A}"/>
              </a:ext>
            </a:extLst>
          </p:cNvPr>
          <p:cNvSpPr/>
          <p:nvPr userDrawn="1"/>
        </p:nvSpPr>
        <p:spPr>
          <a:xfrm>
            <a:off x="-10765" y="6476626"/>
            <a:ext cx="9163643" cy="390252"/>
          </a:xfrm>
          <a:prstGeom prst="rect">
            <a:avLst/>
          </a:prstGeom>
          <a:solidFill>
            <a:srgbClr val="00397F"/>
          </a:solidFill>
          <a:ln w="9525" cap="flat" cmpd="sng" algn="ctr">
            <a:noFill/>
            <a:prstDash val="solid"/>
            <a:round/>
            <a:headEnd w="med" len="med"/>
            <a:tailEnd w="med" len="med"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</a:bodyPr>
          <a:lstStyle/>
          <a:p>
            <a:pPr marL="0" marR="0" lv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None/>
              <a:defRPr/>
            </a:pPr>
            <a:endParaRPr kumimoji="1" lang="ko-KR" altLang="en-US" sz="1600" b="0" i="0" u="none" strike="noStrike" cap="none" normalizeH="0">
              <a:solidFill>
                <a:schemeClr val="tx1"/>
              </a:solidFill>
              <a:effectLst/>
              <a:latin typeface="Times New Roman"/>
              <a:ea typeface="맑은 고딕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5AE41EA-423B-2D50-1B61-33F790630545}"/>
              </a:ext>
            </a:extLst>
          </p:cNvPr>
          <p:cNvSpPr/>
          <p:nvPr userDrawn="1"/>
        </p:nvSpPr>
        <p:spPr>
          <a:xfrm>
            <a:off x="5104660" y="6547575"/>
            <a:ext cx="4039339" cy="23621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lnSpc>
                <a:spcPct val="85000"/>
              </a:lnSpc>
              <a:spcBef>
                <a:spcPct val="20000"/>
              </a:spcBef>
              <a:buClr>
                <a:schemeClr val="accent1"/>
              </a:buClr>
              <a:buSzPct val="70000"/>
              <a:defRPr/>
            </a:pPr>
            <a:r>
              <a:rPr lang="en-US" altLang="ko-KR" sz="1100" b="1" i="1">
                <a:solidFill>
                  <a:schemeClr val="bg1">
                    <a:lumMod val="75000"/>
                  </a:schemeClr>
                </a:solidFill>
                <a:latin typeface="Times New Roman"/>
                <a:ea typeface="맑은 고딕"/>
                <a:cs typeface="Times New Roman"/>
              </a:rPr>
              <a:t>School of Electrical Engineering, Seoul National University</a:t>
            </a:r>
            <a:endParaRPr lang="en-US" altLang="ko-KR" sz="1100" b="1" kern="0">
              <a:solidFill>
                <a:schemeClr val="bg1">
                  <a:lumMod val="75000"/>
                </a:schemeClr>
              </a:solidFill>
              <a:latin typeface="Times New Roman"/>
              <a:ea typeface="맑은 고딕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EE44581E-9BA8-E469-247F-0330F2662E6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6"/>
          <a:stretch>
            <a:fillRect/>
          </a:stretch>
        </p:blipFill>
        <p:spPr>
          <a:xfrm>
            <a:off x="278983" y="6525344"/>
            <a:ext cx="1023426" cy="2878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58227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74" r:id="rId3"/>
    <p:sldLayoutId id="2147483675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  <p:sldLayoutId id="2147483670" r:id="rId12"/>
    <p:sldLayoutId id="2147483671" r:id="rId13"/>
    <p:sldLayoutId id="2147483673" r:id="rId14"/>
  </p:sldLayoutIdLst>
  <p:hf hdr="0" ftr="0" dt="0"/>
  <p:txStyles>
    <p:titleStyle>
      <a:lvl1pPr algn="ctr" defTabSz="914400" rtl="0" eaLnBrk="1" latinLnBrk="1" hangingPunct="1">
        <a:lnSpc>
          <a:spcPct val="90000"/>
        </a:lnSpc>
        <a:spcBef>
          <a:spcPct val="0"/>
        </a:spcBef>
        <a:buNone/>
        <a:defRPr sz="4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emf"/><Relationship Id="rId3" Type="http://schemas.openxmlformats.org/officeDocument/2006/relationships/image" Target="../media/image3.emf"/><Relationship Id="rId7" Type="http://schemas.openxmlformats.org/officeDocument/2006/relationships/oleObject" Target="../embeddings/oleObject2.bin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.png"/><Relationship Id="rId5" Type="http://schemas.openxmlformats.org/officeDocument/2006/relationships/image" Target="../media/image4.png"/><Relationship Id="rId10" Type="http://schemas.openxmlformats.org/officeDocument/2006/relationships/image" Target="../media/image6.emf"/><Relationship Id="rId4" Type="http://schemas.openxmlformats.org/officeDocument/2006/relationships/image" Target="../media/image48.png"/><Relationship Id="rId9" Type="http://schemas.openxmlformats.org/officeDocument/2006/relationships/oleObject" Target="../embeddings/oleObject3.bin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8.png"/><Relationship Id="rId7" Type="http://schemas.openxmlformats.org/officeDocument/2006/relationships/image" Target="../media/image13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0.png"/><Relationship Id="rId10" Type="http://schemas.openxmlformats.org/officeDocument/2006/relationships/image" Target="../media/image11.png"/><Relationship Id="rId4" Type="http://schemas.openxmlformats.org/officeDocument/2006/relationships/image" Target="../media/image9.png"/><Relationship Id="rId9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emf"/><Relationship Id="rId2" Type="http://schemas.openxmlformats.org/officeDocument/2006/relationships/oleObject" Target="../embeddings/oleObject4.bin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11" Type="http://schemas.openxmlformats.org/officeDocument/2006/relationships/image" Target="../media/image23.png"/><Relationship Id="rId5" Type="http://schemas.openxmlformats.org/officeDocument/2006/relationships/image" Target="../media/image19.png"/><Relationship Id="rId10" Type="http://schemas.openxmlformats.org/officeDocument/2006/relationships/image" Target="../media/image22.png"/><Relationship Id="rId4" Type="http://schemas.openxmlformats.org/officeDocument/2006/relationships/image" Target="../media/image18.png"/><Relationship Id="rId9" Type="http://schemas.openxmlformats.org/officeDocument/2006/relationships/image" Target="../media/image3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7" Type="http://schemas.openxmlformats.org/officeDocument/2006/relationships/image" Target="../media/image35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emf"/><Relationship Id="rId2" Type="http://schemas.openxmlformats.org/officeDocument/2006/relationships/oleObject" Target="../embeddings/oleObject5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5.emf"/><Relationship Id="rId4" Type="http://schemas.openxmlformats.org/officeDocument/2006/relationships/oleObject" Target="../embeddings/oleObject6.bin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7" Type="http://schemas.openxmlformats.org/officeDocument/2006/relationships/image" Target="../media/image340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emf"/><Relationship Id="rId5" Type="http://schemas.openxmlformats.org/officeDocument/2006/relationships/oleObject" Target="../embeddings/oleObject7.bin"/><Relationship Id="rId4" Type="http://schemas.openxmlformats.org/officeDocument/2006/relationships/image" Target="../media/image37.emf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sv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emf"/><Relationship Id="rId2" Type="http://schemas.openxmlformats.org/officeDocument/2006/relationships/oleObject" Target="../embeddings/oleObject8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2.emf"/><Relationship Id="rId4" Type="http://schemas.openxmlformats.org/officeDocument/2006/relationships/oleObject" Target="../embeddings/oleObject9.bin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3.bin"/><Relationship Id="rId3" Type="http://schemas.openxmlformats.org/officeDocument/2006/relationships/image" Target="../media/image45.emf"/><Relationship Id="rId7" Type="http://schemas.openxmlformats.org/officeDocument/2006/relationships/image" Target="../media/image47.emf"/><Relationship Id="rId2" Type="http://schemas.openxmlformats.org/officeDocument/2006/relationships/oleObject" Target="../embeddings/oleObject10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12.bin"/><Relationship Id="rId5" Type="http://schemas.openxmlformats.org/officeDocument/2006/relationships/image" Target="../media/image46.emf"/><Relationship Id="rId4" Type="http://schemas.openxmlformats.org/officeDocument/2006/relationships/oleObject" Target="../embeddings/oleObject11.bin"/><Relationship Id="rId9" Type="http://schemas.openxmlformats.org/officeDocument/2006/relationships/image" Target="../media/image48.emf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EAD9BE-B151-7AAD-E452-D503C03C0E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44450" y="739963"/>
            <a:ext cx="9232900" cy="2199687"/>
          </a:xfrm>
        </p:spPr>
        <p:txBody>
          <a:bodyPr/>
          <a:lstStyle/>
          <a:p>
            <a:pPr>
              <a:lnSpc>
                <a:spcPct val="114000"/>
              </a:lnSpc>
              <a:spcBef>
                <a:spcPts val="0"/>
              </a:spcBef>
            </a:pPr>
            <a:r>
              <a:rPr kumimoji="0" lang="en-US" altLang="ko-KR" sz="4000" i="0" u="none" strike="noStrike" kern="1200" cap="none" spc="0" normalizeH="0" baseline="0" noProof="0" dirty="0">
                <a:ln>
                  <a:solidFill>
                    <a:srgbClr val="00397F">
                      <a:alpha val="30000"/>
                    </a:srgbClr>
                  </a:solidFill>
                </a:ln>
                <a:solidFill>
                  <a:srgbClr val="00397F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Physics-based Modeling and Efficient </a:t>
            </a:r>
            <a:r>
              <a:rPr kumimoji="0" lang="en-US" altLang="ko-KR" sz="4000" dirty="0">
                <a:ln>
                  <a:solidFill>
                    <a:srgbClr val="00397F">
                      <a:alpha val="30000"/>
                    </a:srgbClr>
                  </a:solidFill>
                </a:ln>
                <a:solidFill>
                  <a:srgbClr val="00397F"/>
                </a:solidFill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Computational Frameworks </a:t>
            </a:r>
            <a:r>
              <a:rPr kumimoji="0" lang="en-US" altLang="ko-KR" sz="4000" i="0" u="none" strike="noStrike" kern="1200" cap="none" spc="0" normalizeH="0" baseline="0" noProof="0" dirty="0">
                <a:ln>
                  <a:solidFill>
                    <a:srgbClr val="00397F">
                      <a:alpha val="30000"/>
                    </a:srgbClr>
                  </a:solidFill>
                </a:ln>
                <a:solidFill>
                  <a:srgbClr val="00397F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of </a:t>
            </a:r>
            <a:r>
              <a:rPr kumimoji="0" lang="en-US" altLang="ko-KR" sz="4000" dirty="0" err="1">
                <a:ln>
                  <a:solidFill>
                    <a:srgbClr val="00397F">
                      <a:alpha val="30000"/>
                    </a:srgbClr>
                  </a:solidFill>
                </a:ln>
                <a:solidFill>
                  <a:srgbClr val="00397F"/>
                </a:solidFill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Detrapping</a:t>
            </a:r>
            <a:r>
              <a:rPr kumimoji="0" lang="en-US" altLang="ko-KR" sz="4000" dirty="0">
                <a:ln>
                  <a:solidFill>
                    <a:srgbClr val="00397F">
                      <a:alpha val="30000"/>
                    </a:srgbClr>
                  </a:solidFill>
                </a:ln>
                <a:solidFill>
                  <a:srgbClr val="00397F"/>
                </a:solidFill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 </a:t>
            </a:r>
            <a:r>
              <a:rPr kumimoji="0" lang="en-US" altLang="ko-KR" sz="4000" i="0" u="none" strike="noStrike" kern="1200" cap="none" spc="0" normalizeH="0" baseline="0" noProof="0" dirty="0">
                <a:ln>
                  <a:solidFill>
                    <a:srgbClr val="00397F">
                      <a:alpha val="30000"/>
                    </a:srgbClr>
                  </a:solidFill>
                </a:ln>
                <a:solidFill>
                  <a:srgbClr val="00397F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in 3-D NAND Flash </a:t>
            </a:r>
            <a:endParaRPr lang="ko-KR" altLang="en-US" sz="36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FB1B79B-E8A0-4133-BFF3-3E14AF3D2439}"/>
              </a:ext>
            </a:extLst>
          </p:cNvPr>
          <p:cNvSpPr txBox="1">
            <a:spLocks/>
          </p:cNvSpPr>
          <p:nvPr/>
        </p:nvSpPr>
        <p:spPr>
          <a:xfrm>
            <a:off x="1151792" y="4683491"/>
            <a:ext cx="6858000" cy="1224940"/>
          </a:xfrm>
        </p:spPr>
        <p:txBody>
          <a:bodyPr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altLang="ko-K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2026. 08. 31</a:t>
            </a:r>
          </a:p>
          <a:p>
            <a:pPr marL="0" indent="0" algn="ctr">
              <a:buNone/>
            </a:pPr>
            <a:r>
              <a:rPr lang="ko-KR" alt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석사과정</a:t>
            </a:r>
            <a:endParaRPr lang="en-US" altLang="ko-KR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r>
              <a:rPr lang="ko-KR" alt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진 명</a:t>
            </a:r>
            <a:endParaRPr lang="en-US" altLang="ko-KR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B4B3F3CA-58AA-91BB-A047-308EF26AD10A}"/>
              </a:ext>
            </a:extLst>
          </p:cNvPr>
          <p:cNvSpPr/>
          <p:nvPr/>
        </p:nvSpPr>
        <p:spPr>
          <a:xfrm>
            <a:off x="615460" y="3144045"/>
            <a:ext cx="8159261" cy="11887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 defTabSz="914400" fontAlgn="base" latinLnBrk="1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0000"/>
              <a:defRPr/>
            </a:pPr>
            <a:endParaRPr kumimoji="1" lang="en-US" altLang="ko-KR" sz="2500" b="1" kern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altLang="ko-KR" sz="2500" b="1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Electrical and Computer Engineering</a:t>
            </a:r>
          </a:p>
          <a:p>
            <a:pPr algn="ctr"/>
            <a:r>
              <a:rPr lang="en-US" altLang="ko-KR" sz="2500" b="1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Seoul National University</a:t>
            </a:r>
            <a:endParaRPr lang="ko-KR" altLang="en-US" sz="2500" b="1" kern="0" dirty="0">
              <a:solidFill>
                <a:schemeClr val="tx1">
                  <a:lumMod val="50000"/>
                  <a:lumOff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Wingdings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38515767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3130EB-119C-CF9B-60C4-3E5F31E091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Content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54534FF-2A4F-8DDE-7E26-13F638DD3D8E}"/>
              </a:ext>
            </a:extLst>
          </p:cNvPr>
          <p:cNvSpPr txBox="1"/>
          <p:nvPr/>
        </p:nvSpPr>
        <p:spPr>
          <a:xfrm>
            <a:off x="506314" y="1536174"/>
            <a:ext cx="7776446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Introduction: 3-D NAND Flash</a:t>
            </a:r>
            <a:r>
              <a:rPr lang="ko-KR" altLang="en-US" sz="2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의 </a:t>
            </a:r>
            <a:r>
              <a:rPr lang="en-US" altLang="ko-KR" sz="2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Retention Loss</a:t>
            </a:r>
          </a:p>
          <a:p>
            <a:endParaRPr lang="en-US" altLang="ko-KR" sz="24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4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BETOX</a:t>
            </a:r>
            <a:r>
              <a:rPr lang="ko-KR" altLang="en-US" sz="2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en-US" altLang="ko-KR" sz="2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Trapped Electron </a:t>
            </a:r>
            <a:r>
              <a:rPr lang="en-US" altLang="ko-KR" sz="24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Detrapping</a:t>
            </a:r>
            <a:r>
              <a:rPr lang="en-US" altLang="ko-KR" sz="2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ko-KR" altLang="en-US" sz="2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모델링</a:t>
            </a:r>
            <a:endParaRPr lang="en-US" altLang="ko-KR" sz="24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4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4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Time-Step-Free Physics-Based Retention </a:t>
            </a:r>
            <a:r>
              <a:rPr lang="ko-KR" altLang="en-US" sz="2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모델링</a:t>
            </a:r>
            <a:endParaRPr lang="en-US" altLang="ko-KR" sz="24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4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4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Summary and Future Works</a:t>
            </a:r>
            <a:endParaRPr lang="ko-KR" altLang="en-US" sz="24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8630744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10B6771-B904-D06D-3F1E-BC95E197EB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Introduction</a:t>
            </a:r>
            <a:endParaRPr lang="ko-KR" altLang="en-US" dirty="0"/>
          </a:p>
        </p:txBody>
      </p:sp>
      <p:sp>
        <p:nvSpPr>
          <p:cNvPr id="308" name="TextBox 307">
            <a:extLst>
              <a:ext uri="{FF2B5EF4-FFF2-40B4-BE49-F238E27FC236}">
                <a16:creationId xmlns:a16="http://schemas.microsoft.com/office/drawing/2014/main" id="{ED6AAE71-58AD-D1BB-55DE-F3B54D84314F}"/>
              </a:ext>
            </a:extLst>
          </p:cNvPr>
          <p:cNvSpPr txBox="1"/>
          <p:nvPr/>
        </p:nvSpPr>
        <p:spPr>
          <a:xfrm>
            <a:off x="3127118" y="1690062"/>
            <a:ext cx="5762271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3-D NAND Flash memory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는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charge-trap stack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내부에 저장된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trapped electron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을 통해 정보를 저장함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Retention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시간이 증가하면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trapped electron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의 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detrapping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으로 인해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V</a:t>
            </a:r>
            <a:r>
              <a:rPr lang="en-US" altLang="ko-KR" sz="2000" baseline="-25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th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감소 발생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Cylindrical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구조와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CTN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내부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arbitrary trapped electron distribution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을 고려하기 위한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physics-based modeling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필요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312" name="TextBox 311">
            <a:extLst>
              <a:ext uri="{FF2B5EF4-FFF2-40B4-BE49-F238E27FC236}">
                <a16:creationId xmlns:a16="http://schemas.microsoft.com/office/drawing/2014/main" id="{2D96CCE7-A280-B373-6CB7-767DEE18E9E2}"/>
              </a:ext>
            </a:extLst>
          </p:cNvPr>
          <p:cNvSpPr txBox="1"/>
          <p:nvPr/>
        </p:nvSpPr>
        <p:spPr>
          <a:xfrm>
            <a:off x="7777640" y="6205303"/>
            <a:ext cx="13663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Jin, TED 2025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A8A1AACC-D995-3921-A447-F6F0B5598086}"/>
              </a:ext>
            </a:extLst>
          </p:cNvPr>
          <p:cNvGrpSpPr/>
          <p:nvPr/>
        </p:nvGrpSpPr>
        <p:grpSpPr>
          <a:xfrm>
            <a:off x="625316" y="1566952"/>
            <a:ext cx="2302341" cy="3689196"/>
            <a:chOff x="625316" y="1412405"/>
            <a:chExt cx="2302341" cy="3689196"/>
          </a:xfrm>
        </p:grpSpPr>
        <p:pic>
          <p:nvPicPr>
            <p:cNvPr id="211" name="그림 210" descr="로고, 그래픽, 디자인이(가) 표시된 사진&#10;&#10;자동 생성된 설명">
              <a:extLst>
                <a:ext uri="{FF2B5EF4-FFF2-40B4-BE49-F238E27FC236}">
                  <a16:creationId xmlns:a16="http://schemas.microsoft.com/office/drawing/2014/main" id="{20E526E3-9043-CED4-08E9-9DE1295ECBD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8303" t="12315" r="12187"/>
            <a:stretch/>
          </p:blipFill>
          <p:spPr>
            <a:xfrm>
              <a:off x="625316" y="2205492"/>
              <a:ext cx="2064544" cy="2577269"/>
            </a:xfrm>
            <a:prstGeom prst="rect">
              <a:avLst/>
            </a:prstGeom>
          </p:spPr>
        </p:pic>
        <p:sp>
          <p:nvSpPr>
            <p:cNvPr id="221" name="TextBox 220">
              <a:extLst>
                <a:ext uri="{FF2B5EF4-FFF2-40B4-BE49-F238E27FC236}">
                  <a16:creationId xmlns:a16="http://schemas.microsoft.com/office/drawing/2014/main" id="{D6E6291A-5098-30EC-CE55-4904DD2AD286}"/>
                </a:ext>
              </a:extLst>
            </p:cNvPr>
            <p:cNvSpPr txBox="1"/>
            <p:nvPr/>
          </p:nvSpPr>
          <p:spPr>
            <a:xfrm>
              <a:off x="703153" y="4793824"/>
              <a:ext cx="168741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 dirty="0"/>
                <a:t>Trapped</a:t>
              </a:r>
              <a:r>
                <a:rPr lang="ko-KR" altLang="en-US" sz="1400" dirty="0"/>
                <a:t> </a:t>
              </a:r>
              <a:r>
                <a:rPr lang="en-US" altLang="ko-KR" sz="1400" dirty="0"/>
                <a:t>Electrons</a:t>
              </a:r>
              <a:endParaRPr lang="ko-KR" altLang="en-US" sz="1400" dirty="0"/>
            </a:p>
          </p:txBody>
        </p:sp>
        <p:cxnSp>
          <p:nvCxnSpPr>
            <p:cNvPr id="222" name="직선 연결선 221">
              <a:extLst>
                <a:ext uri="{FF2B5EF4-FFF2-40B4-BE49-F238E27FC236}">
                  <a16:creationId xmlns:a16="http://schemas.microsoft.com/office/drawing/2014/main" id="{384FD8E0-8B22-B661-A154-AEAD7A52D28C}"/>
                </a:ext>
              </a:extLst>
            </p:cNvPr>
            <p:cNvCxnSpPr>
              <a:cxnSpLocks/>
              <a:endCxn id="221" idx="0"/>
            </p:cNvCxnSpPr>
            <p:nvPr/>
          </p:nvCxnSpPr>
          <p:spPr>
            <a:xfrm>
              <a:off x="1439704" y="4127520"/>
              <a:ext cx="107156" cy="66630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3" name="직선 연결선 222">
              <a:extLst>
                <a:ext uri="{FF2B5EF4-FFF2-40B4-BE49-F238E27FC236}">
                  <a16:creationId xmlns:a16="http://schemas.microsoft.com/office/drawing/2014/main" id="{D3D91B11-9F4C-7339-FB02-8BD8F41E62AF}"/>
                </a:ext>
              </a:extLst>
            </p:cNvPr>
            <p:cNvCxnSpPr>
              <a:cxnSpLocks/>
              <a:endCxn id="221" idx="0"/>
            </p:cNvCxnSpPr>
            <p:nvPr/>
          </p:nvCxnSpPr>
          <p:spPr>
            <a:xfrm flipH="1">
              <a:off x="1546860" y="4137587"/>
              <a:ext cx="39287" cy="65623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4" name="직선 연결선 223">
              <a:extLst>
                <a:ext uri="{FF2B5EF4-FFF2-40B4-BE49-F238E27FC236}">
                  <a16:creationId xmlns:a16="http://schemas.microsoft.com/office/drawing/2014/main" id="{514A09F0-556C-F0DA-D395-2E3A51E11DC2}"/>
                </a:ext>
              </a:extLst>
            </p:cNvPr>
            <p:cNvCxnSpPr>
              <a:cxnSpLocks/>
            </p:cNvCxnSpPr>
            <p:nvPr/>
          </p:nvCxnSpPr>
          <p:spPr>
            <a:xfrm>
              <a:off x="750332" y="2127308"/>
              <a:ext cx="0" cy="2333364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5" name="직선 연결선 224">
              <a:extLst>
                <a:ext uri="{FF2B5EF4-FFF2-40B4-BE49-F238E27FC236}">
                  <a16:creationId xmlns:a16="http://schemas.microsoft.com/office/drawing/2014/main" id="{E971E9B3-EEB0-045E-77D1-9A95134D755F}"/>
                </a:ext>
              </a:extLst>
            </p:cNvPr>
            <p:cNvCxnSpPr>
              <a:cxnSpLocks/>
            </p:cNvCxnSpPr>
            <p:nvPr/>
          </p:nvCxnSpPr>
          <p:spPr>
            <a:xfrm>
              <a:off x="1361443" y="2172220"/>
              <a:ext cx="0" cy="433682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6" name="직선 연결선 225">
              <a:extLst>
                <a:ext uri="{FF2B5EF4-FFF2-40B4-BE49-F238E27FC236}">
                  <a16:creationId xmlns:a16="http://schemas.microsoft.com/office/drawing/2014/main" id="{A9FDE615-9E6E-C667-8CEB-EE0C2EDC663E}"/>
                </a:ext>
              </a:extLst>
            </p:cNvPr>
            <p:cNvCxnSpPr>
              <a:cxnSpLocks/>
            </p:cNvCxnSpPr>
            <p:nvPr/>
          </p:nvCxnSpPr>
          <p:spPr>
            <a:xfrm>
              <a:off x="1601205" y="2172220"/>
              <a:ext cx="0" cy="460470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7" name="직선 연결선 226">
              <a:extLst>
                <a:ext uri="{FF2B5EF4-FFF2-40B4-BE49-F238E27FC236}">
                  <a16:creationId xmlns:a16="http://schemas.microsoft.com/office/drawing/2014/main" id="{DA19623C-9C73-8BA2-4C99-310E32D02858}"/>
                </a:ext>
              </a:extLst>
            </p:cNvPr>
            <p:cNvCxnSpPr>
              <a:cxnSpLocks/>
            </p:cNvCxnSpPr>
            <p:nvPr/>
          </p:nvCxnSpPr>
          <p:spPr>
            <a:xfrm>
              <a:off x="2178636" y="2172220"/>
              <a:ext cx="0" cy="590397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5" name="직선 연결선 234">
              <a:extLst>
                <a:ext uri="{FF2B5EF4-FFF2-40B4-BE49-F238E27FC236}">
                  <a16:creationId xmlns:a16="http://schemas.microsoft.com/office/drawing/2014/main" id="{A79E245E-07EE-543F-65EA-417903A97819}"/>
                </a:ext>
              </a:extLst>
            </p:cNvPr>
            <p:cNvCxnSpPr>
              <a:cxnSpLocks/>
            </p:cNvCxnSpPr>
            <p:nvPr/>
          </p:nvCxnSpPr>
          <p:spPr>
            <a:xfrm>
              <a:off x="1751224" y="2172220"/>
              <a:ext cx="0" cy="553117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7" name="직선 연결선 236">
              <a:extLst>
                <a:ext uri="{FF2B5EF4-FFF2-40B4-BE49-F238E27FC236}">
                  <a16:creationId xmlns:a16="http://schemas.microsoft.com/office/drawing/2014/main" id="{EA6ED4FB-439C-BD3B-3B49-2107F5462E36}"/>
                </a:ext>
              </a:extLst>
            </p:cNvPr>
            <p:cNvCxnSpPr>
              <a:cxnSpLocks/>
            </p:cNvCxnSpPr>
            <p:nvPr/>
          </p:nvCxnSpPr>
          <p:spPr>
            <a:xfrm>
              <a:off x="1932199" y="2172220"/>
              <a:ext cx="0" cy="572167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9" name="TextBox 278">
              <a:extLst>
                <a:ext uri="{FF2B5EF4-FFF2-40B4-BE49-F238E27FC236}">
                  <a16:creationId xmlns:a16="http://schemas.microsoft.com/office/drawing/2014/main" id="{F2597E20-58D8-FA05-FCB6-80DCF10EE5B5}"/>
                </a:ext>
              </a:extLst>
            </p:cNvPr>
            <p:cNvSpPr txBox="1"/>
            <p:nvPr/>
          </p:nvSpPr>
          <p:spPr>
            <a:xfrm>
              <a:off x="828785" y="2422178"/>
              <a:ext cx="41657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Arial" panose="020B0604020202020204" pitchFamily="34" charset="0"/>
                  <a:ea typeface="맑은 고딕"/>
                  <a:cs typeface="Arial" panose="020B0604020202020204" pitchFamily="34" charset="0"/>
                </a:rPr>
                <a:t>filler</a:t>
              </a:r>
              <a:endParaRPr lang="ko-KR" altLang="en-US" sz="1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Arial" panose="020B0604020202020204" pitchFamily="34" charset="0"/>
                <a:ea typeface="맑은 고딕"/>
                <a:cs typeface="Arial" panose="020B0604020202020204" pitchFamily="34" charset="0"/>
              </a:endParaRPr>
            </a:p>
          </p:txBody>
        </p:sp>
        <p:sp>
          <p:nvSpPr>
            <p:cNvPr id="280" name="TextBox 279">
              <a:extLst>
                <a:ext uri="{FF2B5EF4-FFF2-40B4-BE49-F238E27FC236}">
                  <a16:creationId xmlns:a16="http://schemas.microsoft.com/office/drawing/2014/main" id="{BF043AFA-66B6-668E-E15F-51DCBE267CA7}"/>
                </a:ext>
              </a:extLst>
            </p:cNvPr>
            <p:cNvSpPr txBox="1"/>
            <p:nvPr/>
          </p:nvSpPr>
          <p:spPr>
            <a:xfrm>
              <a:off x="1243574" y="1412405"/>
              <a:ext cx="628538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Arial" panose="020B0604020202020204" pitchFamily="34" charset="0"/>
                  <a:ea typeface="맑은 고딕"/>
                  <a:cs typeface="Arial" panose="020B0604020202020204" pitchFamily="34" charset="0"/>
                </a:rPr>
                <a:t>channel</a:t>
              </a:r>
              <a:endParaRPr lang="ko-KR" altLang="en-US" sz="1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Arial" panose="020B0604020202020204" pitchFamily="34" charset="0"/>
                <a:ea typeface="맑은 고딕"/>
                <a:cs typeface="Arial" panose="020B0604020202020204" pitchFamily="34" charset="0"/>
              </a:endParaRPr>
            </a:p>
          </p:txBody>
        </p:sp>
        <p:sp>
          <p:nvSpPr>
            <p:cNvPr id="282" name="TextBox 281">
              <a:extLst>
                <a:ext uri="{FF2B5EF4-FFF2-40B4-BE49-F238E27FC236}">
                  <a16:creationId xmlns:a16="http://schemas.microsoft.com/office/drawing/2014/main" id="{5F3AAB7A-8D0D-43E6-9770-7BADED14D656}"/>
                </a:ext>
              </a:extLst>
            </p:cNvPr>
            <p:cNvSpPr txBox="1"/>
            <p:nvPr/>
          </p:nvSpPr>
          <p:spPr>
            <a:xfrm>
              <a:off x="1762029" y="1595720"/>
              <a:ext cx="628538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Arial" panose="020B0604020202020204" pitchFamily="34" charset="0"/>
                  <a:ea typeface="맑은 고딕"/>
                  <a:cs typeface="Arial" panose="020B0604020202020204" pitchFamily="34" charset="0"/>
                </a:rPr>
                <a:t>BETOX</a:t>
              </a:r>
              <a:endParaRPr lang="ko-KR" altLang="en-US" sz="1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Arial" panose="020B0604020202020204" pitchFamily="34" charset="0"/>
                <a:ea typeface="맑은 고딕"/>
                <a:cs typeface="Arial" panose="020B0604020202020204" pitchFamily="34" charset="0"/>
              </a:endParaRPr>
            </a:p>
          </p:txBody>
        </p:sp>
        <p:sp>
          <p:nvSpPr>
            <p:cNvPr id="283" name="TextBox 282">
              <a:extLst>
                <a:ext uri="{FF2B5EF4-FFF2-40B4-BE49-F238E27FC236}">
                  <a16:creationId xmlns:a16="http://schemas.microsoft.com/office/drawing/2014/main" id="{FC025F4E-C1FF-CCA5-9550-AFD410C81D93}"/>
                </a:ext>
              </a:extLst>
            </p:cNvPr>
            <p:cNvSpPr txBox="1"/>
            <p:nvPr/>
          </p:nvSpPr>
          <p:spPr>
            <a:xfrm>
              <a:off x="1955481" y="1770775"/>
              <a:ext cx="628538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Arial" panose="020B0604020202020204" pitchFamily="34" charset="0"/>
                  <a:ea typeface="맑은 고딕"/>
                  <a:cs typeface="Arial" panose="020B0604020202020204" pitchFamily="34" charset="0"/>
                </a:rPr>
                <a:t>CTN</a:t>
              </a:r>
              <a:endParaRPr lang="ko-KR" altLang="en-US" sz="1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Arial" panose="020B0604020202020204" pitchFamily="34" charset="0"/>
                <a:ea typeface="맑은 고딕"/>
                <a:cs typeface="Arial" panose="020B0604020202020204" pitchFamily="34" charset="0"/>
              </a:endParaRPr>
            </a:p>
          </p:txBody>
        </p:sp>
        <p:sp>
          <p:nvSpPr>
            <p:cNvPr id="284" name="TextBox 283">
              <a:extLst>
                <a:ext uri="{FF2B5EF4-FFF2-40B4-BE49-F238E27FC236}">
                  <a16:creationId xmlns:a16="http://schemas.microsoft.com/office/drawing/2014/main" id="{504F71FC-466C-DDEF-2C91-25CC717B1DCB}"/>
                </a:ext>
              </a:extLst>
            </p:cNvPr>
            <p:cNvSpPr txBox="1"/>
            <p:nvPr/>
          </p:nvSpPr>
          <p:spPr>
            <a:xfrm>
              <a:off x="2299119" y="1966432"/>
              <a:ext cx="628538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Arial" panose="020B0604020202020204" pitchFamily="34" charset="0"/>
                  <a:ea typeface="맑은 고딕"/>
                  <a:cs typeface="Arial" panose="020B0604020202020204" pitchFamily="34" charset="0"/>
                </a:rPr>
                <a:t>BOX</a:t>
              </a:r>
              <a:endParaRPr lang="ko-KR" altLang="en-US" sz="1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Arial" panose="020B0604020202020204" pitchFamily="34" charset="0"/>
                <a:ea typeface="맑은 고딕"/>
                <a:cs typeface="Arial" panose="020B0604020202020204" pitchFamily="34" charset="0"/>
              </a:endParaRPr>
            </a:p>
          </p:txBody>
        </p:sp>
        <p:cxnSp>
          <p:nvCxnSpPr>
            <p:cNvPr id="287" name="직선 화살표 연결선 286">
              <a:extLst>
                <a:ext uri="{FF2B5EF4-FFF2-40B4-BE49-F238E27FC236}">
                  <a16:creationId xmlns:a16="http://schemas.microsoft.com/office/drawing/2014/main" id="{15B0EF47-B033-D9C7-CCD8-5F91DF32369E}"/>
                </a:ext>
              </a:extLst>
            </p:cNvPr>
            <p:cNvCxnSpPr>
              <a:cxnSpLocks/>
            </p:cNvCxnSpPr>
            <p:nvPr/>
          </p:nvCxnSpPr>
          <p:spPr>
            <a:xfrm>
              <a:off x="1679115" y="1721113"/>
              <a:ext cx="158893" cy="0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9" name="직선 화살표 연결선 288">
              <a:extLst>
                <a:ext uri="{FF2B5EF4-FFF2-40B4-BE49-F238E27FC236}">
                  <a16:creationId xmlns:a16="http://schemas.microsoft.com/office/drawing/2014/main" id="{7D685740-6A5A-5851-E175-12DEDAFCB5D2}"/>
                </a:ext>
              </a:extLst>
            </p:cNvPr>
            <p:cNvCxnSpPr>
              <a:cxnSpLocks/>
            </p:cNvCxnSpPr>
            <p:nvPr/>
          </p:nvCxnSpPr>
          <p:spPr>
            <a:xfrm>
              <a:off x="1854991" y="1897326"/>
              <a:ext cx="171551" cy="0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0" name="직선 화살표 연결선 289">
              <a:extLst>
                <a:ext uri="{FF2B5EF4-FFF2-40B4-BE49-F238E27FC236}">
                  <a16:creationId xmlns:a16="http://schemas.microsoft.com/office/drawing/2014/main" id="{2AE7640F-F59B-4118-1378-2C2CAE547F4C}"/>
                </a:ext>
              </a:extLst>
            </p:cNvPr>
            <p:cNvCxnSpPr>
              <a:cxnSpLocks/>
            </p:cNvCxnSpPr>
            <p:nvPr/>
          </p:nvCxnSpPr>
          <p:spPr>
            <a:xfrm>
              <a:off x="2089785" y="2089543"/>
              <a:ext cx="282726" cy="0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7" name="직선 화살표 연결선 296">
              <a:extLst>
                <a:ext uri="{FF2B5EF4-FFF2-40B4-BE49-F238E27FC236}">
                  <a16:creationId xmlns:a16="http://schemas.microsoft.com/office/drawing/2014/main" id="{89538A71-88D9-E8B1-41CC-8D112A2B401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67413" y="1658626"/>
              <a:ext cx="0" cy="513594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9" name="직선 화살표 연결선 298">
              <a:extLst>
                <a:ext uri="{FF2B5EF4-FFF2-40B4-BE49-F238E27FC236}">
                  <a16:creationId xmlns:a16="http://schemas.microsoft.com/office/drawing/2014/main" id="{6597BB9F-2C9D-14B4-9A0D-D354B58578A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79587" y="1720275"/>
              <a:ext cx="0" cy="492378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1" name="직선 화살표 연결선 300">
              <a:extLst>
                <a:ext uri="{FF2B5EF4-FFF2-40B4-BE49-F238E27FC236}">
                  <a16:creationId xmlns:a16="http://schemas.microsoft.com/office/drawing/2014/main" id="{9E32A56A-F006-A54A-CBCA-D338A04B5FF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49567" y="1893885"/>
              <a:ext cx="0" cy="375607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3" name="직선 화살표 연결선 302">
              <a:extLst>
                <a:ext uri="{FF2B5EF4-FFF2-40B4-BE49-F238E27FC236}">
                  <a16:creationId xmlns:a16="http://schemas.microsoft.com/office/drawing/2014/main" id="{4A274FDA-4DA0-4DC6-5765-6922987E42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089785" y="2089542"/>
              <a:ext cx="0" cy="269723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1" name="TextBox 310">
              <a:extLst>
                <a:ext uri="{FF2B5EF4-FFF2-40B4-BE49-F238E27FC236}">
                  <a16:creationId xmlns:a16="http://schemas.microsoft.com/office/drawing/2014/main" id="{8FD311D3-9D28-3880-7D83-BBA441596096}"/>
                </a:ext>
              </a:extLst>
            </p:cNvPr>
            <p:cNvSpPr txBox="1"/>
            <p:nvPr/>
          </p:nvSpPr>
          <p:spPr>
            <a:xfrm>
              <a:off x="2113200" y="3409811"/>
              <a:ext cx="628538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Arial" panose="020B0604020202020204" pitchFamily="34" charset="0"/>
                  <a:ea typeface="맑은 고딕"/>
                  <a:cs typeface="Arial" panose="020B0604020202020204" pitchFamily="34" charset="0"/>
                </a:rPr>
                <a:t>WL</a:t>
              </a:r>
              <a:endParaRPr lang="ko-KR" altLang="en-US" sz="1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Arial" panose="020B0604020202020204" pitchFamily="34" charset="0"/>
                <a:ea typeface="맑은 고딕"/>
                <a:cs typeface="Arial" panose="020B0604020202020204" pitchFamily="34" charset="0"/>
              </a:endParaRPr>
            </a:p>
          </p:txBody>
        </p:sp>
        <p:cxnSp>
          <p:nvCxnSpPr>
            <p:cNvPr id="3" name="직선 화살표 연결선 2">
              <a:extLst>
                <a:ext uri="{FF2B5EF4-FFF2-40B4-BE49-F238E27FC236}">
                  <a16:creationId xmlns:a16="http://schemas.microsoft.com/office/drawing/2014/main" id="{8557ABA5-7680-ABCC-E903-BC38D3F540E3}"/>
                </a:ext>
              </a:extLst>
            </p:cNvPr>
            <p:cNvCxnSpPr/>
            <p:nvPr/>
          </p:nvCxnSpPr>
          <p:spPr>
            <a:xfrm flipH="1" flipV="1">
              <a:off x="1302867" y="4021435"/>
              <a:ext cx="126668" cy="38384"/>
            </a:xfrm>
            <a:prstGeom prst="straightConnector1">
              <a:avLst/>
            </a:prstGeom>
            <a:ln>
              <a:solidFill>
                <a:srgbClr val="BF7687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직선 화살표 연결선 3">
              <a:extLst>
                <a:ext uri="{FF2B5EF4-FFF2-40B4-BE49-F238E27FC236}">
                  <a16:creationId xmlns:a16="http://schemas.microsoft.com/office/drawing/2014/main" id="{8E580F8D-3297-EE0F-130D-21EB1E98D1BC}"/>
                </a:ext>
              </a:extLst>
            </p:cNvPr>
            <p:cNvCxnSpPr/>
            <p:nvPr/>
          </p:nvCxnSpPr>
          <p:spPr>
            <a:xfrm flipH="1" flipV="1">
              <a:off x="1302867" y="3939282"/>
              <a:ext cx="126668" cy="38384"/>
            </a:xfrm>
            <a:prstGeom prst="straightConnector1">
              <a:avLst/>
            </a:prstGeom>
            <a:ln>
              <a:solidFill>
                <a:srgbClr val="BF7687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직선 화살표 연결선 4">
              <a:extLst>
                <a:ext uri="{FF2B5EF4-FFF2-40B4-BE49-F238E27FC236}">
                  <a16:creationId xmlns:a16="http://schemas.microsoft.com/office/drawing/2014/main" id="{C35DDF68-9830-E57A-5FAE-3B090ADF0091}"/>
                </a:ext>
              </a:extLst>
            </p:cNvPr>
            <p:cNvCxnSpPr/>
            <p:nvPr/>
          </p:nvCxnSpPr>
          <p:spPr>
            <a:xfrm flipH="1" flipV="1">
              <a:off x="1302867" y="3857129"/>
              <a:ext cx="126668" cy="38384"/>
            </a:xfrm>
            <a:prstGeom prst="straightConnector1">
              <a:avLst/>
            </a:prstGeom>
            <a:ln>
              <a:solidFill>
                <a:srgbClr val="BF7687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직선 화살표 연결선 5">
              <a:extLst>
                <a:ext uri="{FF2B5EF4-FFF2-40B4-BE49-F238E27FC236}">
                  <a16:creationId xmlns:a16="http://schemas.microsoft.com/office/drawing/2014/main" id="{33C3006B-DBF8-18B3-2F7B-646A490F90F5}"/>
                </a:ext>
              </a:extLst>
            </p:cNvPr>
            <p:cNvCxnSpPr/>
            <p:nvPr/>
          </p:nvCxnSpPr>
          <p:spPr>
            <a:xfrm flipH="1" flipV="1">
              <a:off x="1302867" y="3774976"/>
              <a:ext cx="126668" cy="38384"/>
            </a:xfrm>
            <a:prstGeom prst="straightConnector1">
              <a:avLst/>
            </a:prstGeom>
            <a:ln>
              <a:solidFill>
                <a:srgbClr val="BF7687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직선 화살표 연결선 6">
              <a:extLst>
                <a:ext uri="{FF2B5EF4-FFF2-40B4-BE49-F238E27FC236}">
                  <a16:creationId xmlns:a16="http://schemas.microsoft.com/office/drawing/2014/main" id="{2385ED26-D5F2-0715-25F7-DD515645B863}"/>
                </a:ext>
              </a:extLst>
            </p:cNvPr>
            <p:cNvCxnSpPr/>
            <p:nvPr/>
          </p:nvCxnSpPr>
          <p:spPr>
            <a:xfrm flipH="1" flipV="1">
              <a:off x="1302867" y="3692823"/>
              <a:ext cx="126668" cy="38384"/>
            </a:xfrm>
            <a:prstGeom prst="straightConnector1">
              <a:avLst/>
            </a:prstGeom>
            <a:ln>
              <a:solidFill>
                <a:srgbClr val="BF7687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직선 화살표 연결선 7">
              <a:extLst>
                <a:ext uri="{FF2B5EF4-FFF2-40B4-BE49-F238E27FC236}">
                  <a16:creationId xmlns:a16="http://schemas.microsoft.com/office/drawing/2014/main" id="{4DDD404D-6C69-7730-BF4B-998E0F350BB2}"/>
                </a:ext>
              </a:extLst>
            </p:cNvPr>
            <p:cNvCxnSpPr/>
            <p:nvPr/>
          </p:nvCxnSpPr>
          <p:spPr>
            <a:xfrm flipH="1" flipV="1">
              <a:off x="1302867" y="3604966"/>
              <a:ext cx="126668" cy="38384"/>
            </a:xfrm>
            <a:prstGeom prst="straightConnector1">
              <a:avLst/>
            </a:prstGeom>
            <a:ln>
              <a:solidFill>
                <a:srgbClr val="BF7687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직선 화살표 연결선 8">
              <a:extLst>
                <a:ext uri="{FF2B5EF4-FFF2-40B4-BE49-F238E27FC236}">
                  <a16:creationId xmlns:a16="http://schemas.microsoft.com/office/drawing/2014/main" id="{B6799101-8D2D-7390-4852-97F91DF4343D}"/>
                </a:ext>
              </a:extLst>
            </p:cNvPr>
            <p:cNvCxnSpPr/>
            <p:nvPr/>
          </p:nvCxnSpPr>
          <p:spPr>
            <a:xfrm flipH="1" flipV="1">
              <a:off x="1302867" y="3529584"/>
              <a:ext cx="126668" cy="38384"/>
            </a:xfrm>
            <a:prstGeom prst="straightConnector1">
              <a:avLst/>
            </a:prstGeom>
            <a:ln>
              <a:solidFill>
                <a:srgbClr val="BF7687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직선 화살표 연결선 9">
              <a:extLst>
                <a:ext uri="{FF2B5EF4-FFF2-40B4-BE49-F238E27FC236}">
                  <a16:creationId xmlns:a16="http://schemas.microsoft.com/office/drawing/2014/main" id="{D9423BDF-DB07-A356-8389-EEE89B97C777}"/>
                </a:ext>
              </a:extLst>
            </p:cNvPr>
            <p:cNvCxnSpPr/>
            <p:nvPr/>
          </p:nvCxnSpPr>
          <p:spPr>
            <a:xfrm flipH="1" flipV="1">
              <a:off x="1302867" y="3455855"/>
              <a:ext cx="126668" cy="38384"/>
            </a:xfrm>
            <a:prstGeom prst="straightConnector1">
              <a:avLst/>
            </a:prstGeom>
            <a:ln>
              <a:solidFill>
                <a:srgbClr val="BF7687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직선 화살표 연결선 10">
              <a:extLst>
                <a:ext uri="{FF2B5EF4-FFF2-40B4-BE49-F238E27FC236}">
                  <a16:creationId xmlns:a16="http://schemas.microsoft.com/office/drawing/2014/main" id="{37FADE82-12F8-9B83-DDE6-65BBBBA3092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326291" y="3416353"/>
              <a:ext cx="257025" cy="77886"/>
            </a:xfrm>
            <a:prstGeom prst="straightConnector1">
              <a:avLst/>
            </a:prstGeom>
            <a:ln>
              <a:solidFill>
                <a:srgbClr val="FFFF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직선 화살표 연결선 11">
              <a:extLst>
                <a:ext uri="{FF2B5EF4-FFF2-40B4-BE49-F238E27FC236}">
                  <a16:creationId xmlns:a16="http://schemas.microsoft.com/office/drawing/2014/main" id="{7896BFB9-0B4A-C5E5-D6D0-2D8A22F01E6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326291" y="3548152"/>
              <a:ext cx="257025" cy="77886"/>
            </a:xfrm>
            <a:prstGeom prst="straightConnector1">
              <a:avLst/>
            </a:prstGeom>
            <a:ln>
              <a:solidFill>
                <a:srgbClr val="FFFF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직선 화살표 연결선 12">
              <a:extLst>
                <a:ext uri="{FF2B5EF4-FFF2-40B4-BE49-F238E27FC236}">
                  <a16:creationId xmlns:a16="http://schemas.microsoft.com/office/drawing/2014/main" id="{42E369B9-A19F-6C09-CCAE-8C1043C0E8C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326291" y="3679951"/>
              <a:ext cx="257025" cy="77886"/>
            </a:xfrm>
            <a:prstGeom prst="straightConnector1">
              <a:avLst/>
            </a:prstGeom>
            <a:ln>
              <a:solidFill>
                <a:srgbClr val="FFFF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직선 화살표 연결선 13">
              <a:extLst>
                <a:ext uri="{FF2B5EF4-FFF2-40B4-BE49-F238E27FC236}">
                  <a16:creationId xmlns:a16="http://schemas.microsoft.com/office/drawing/2014/main" id="{65B411AF-FC04-512F-F9FA-A975E53E996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326291" y="3811750"/>
              <a:ext cx="257025" cy="77886"/>
            </a:xfrm>
            <a:prstGeom prst="straightConnector1">
              <a:avLst/>
            </a:prstGeom>
            <a:ln>
              <a:solidFill>
                <a:srgbClr val="FFFF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직선 화살표 연결선 14">
              <a:extLst>
                <a:ext uri="{FF2B5EF4-FFF2-40B4-BE49-F238E27FC236}">
                  <a16:creationId xmlns:a16="http://schemas.microsoft.com/office/drawing/2014/main" id="{07FDCE58-E30B-D0D6-8FAF-15EA4BEDDEC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326291" y="3943549"/>
              <a:ext cx="257025" cy="77886"/>
            </a:xfrm>
            <a:prstGeom prst="straightConnector1">
              <a:avLst/>
            </a:prstGeom>
            <a:ln>
              <a:solidFill>
                <a:srgbClr val="FFFF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직선 화살표 연결선 15">
              <a:extLst>
                <a:ext uri="{FF2B5EF4-FFF2-40B4-BE49-F238E27FC236}">
                  <a16:creationId xmlns:a16="http://schemas.microsoft.com/office/drawing/2014/main" id="{3AD5945A-7541-1EC8-141A-9576B5E669F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719207" y="3631113"/>
              <a:ext cx="326431" cy="98918"/>
            </a:xfrm>
            <a:prstGeom prst="straightConnector1">
              <a:avLst/>
            </a:prstGeom>
            <a:ln>
              <a:solidFill>
                <a:srgbClr val="FFFF00"/>
              </a:solidFill>
              <a:headEnd type="triangl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화살표 연결선 16">
              <a:extLst>
                <a:ext uri="{FF2B5EF4-FFF2-40B4-BE49-F238E27FC236}">
                  <a16:creationId xmlns:a16="http://schemas.microsoft.com/office/drawing/2014/main" id="{3DE328A6-0FB7-67FD-08DF-1E218E5E920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719207" y="3790102"/>
              <a:ext cx="326431" cy="98918"/>
            </a:xfrm>
            <a:prstGeom prst="straightConnector1">
              <a:avLst/>
            </a:prstGeom>
            <a:ln>
              <a:solidFill>
                <a:srgbClr val="FFFF00"/>
              </a:solidFill>
              <a:headEnd type="triangl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직선 화살표 연결선 17">
              <a:extLst>
                <a:ext uri="{FF2B5EF4-FFF2-40B4-BE49-F238E27FC236}">
                  <a16:creationId xmlns:a16="http://schemas.microsoft.com/office/drawing/2014/main" id="{6861D00B-AC07-BD1C-3733-88252F79A86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719207" y="3949091"/>
              <a:ext cx="326431" cy="98918"/>
            </a:xfrm>
            <a:prstGeom prst="straightConnector1">
              <a:avLst/>
            </a:prstGeom>
            <a:ln>
              <a:solidFill>
                <a:srgbClr val="FFFF00"/>
              </a:solidFill>
              <a:headEnd type="triangl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486335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사각형: 둥근 모서리 88">
            <a:extLst>
              <a:ext uri="{FF2B5EF4-FFF2-40B4-BE49-F238E27FC236}">
                <a16:creationId xmlns:a16="http://schemas.microsoft.com/office/drawing/2014/main" id="{CBE7987C-E18E-E3BC-9DFA-C2C591888545}"/>
              </a:ext>
            </a:extLst>
          </p:cNvPr>
          <p:cNvSpPr/>
          <p:nvPr/>
        </p:nvSpPr>
        <p:spPr>
          <a:xfrm>
            <a:off x="274151" y="1414385"/>
            <a:ext cx="3938616" cy="3587431"/>
          </a:xfrm>
          <a:prstGeom prst="roundRect">
            <a:avLst>
              <a:gd name="adj" fmla="val 14821"/>
            </a:avLst>
          </a:prstGeom>
          <a:noFill/>
          <a:ln w="1905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D9194162-33F7-E614-537E-318E5112B445}"/>
              </a:ext>
            </a:extLst>
          </p:cNvPr>
          <p:cNvSpPr/>
          <p:nvPr/>
        </p:nvSpPr>
        <p:spPr>
          <a:xfrm>
            <a:off x="834293" y="1976659"/>
            <a:ext cx="2795082" cy="2795082"/>
          </a:xfrm>
          <a:prstGeom prst="ellipse">
            <a:avLst/>
          </a:prstGeom>
          <a:pattFill prst="trellis">
            <a:fgClr>
              <a:srgbClr val="92D050"/>
            </a:fgClr>
            <a:bgClr>
              <a:schemeClr val="bg1"/>
            </a:bgClr>
          </a:pattFill>
          <a:ln w="12700"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CE6DF536-C418-C7D4-8F6D-D558C19740BE}"/>
              </a:ext>
            </a:extLst>
          </p:cNvPr>
          <p:cNvSpPr/>
          <p:nvPr/>
        </p:nvSpPr>
        <p:spPr>
          <a:xfrm>
            <a:off x="1051545" y="2193911"/>
            <a:ext cx="2360578" cy="2360578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AE2EE4E6-A909-FC01-699D-34B210CF9B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129" y="165556"/>
            <a:ext cx="8955742" cy="590931"/>
          </a:xfrm>
        </p:spPr>
        <p:txBody>
          <a:bodyPr/>
          <a:lstStyle/>
          <a:p>
            <a:r>
              <a:rPr lang="en-US" altLang="ko-KR" dirty="0"/>
              <a:t>Limited</a:t>
            </a:r>
            <a:r>
              <a:rPr lang="ko-KR" altLang="en-US" dirty="0"/>
              <a:t> </a:t>
            </a:r>
            <a:r>
              <a:rPr lang="en-US" altLang="ko-KR" dirty="0"/>
              <a:t>Contribution of TAT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F788DA6-1DDD-4AFE-56F7-6FE64FA08E3A}"/>
              </a:ext>
            </a:extLst>
          </p:cNvPr>
          <p:cNvSpPr txBox="1"/>
          <p:nvPr/>
        </p:nvSpPr>
        <p:spPr>
          <a:xfrm>
            <a:off x="252015" y="935741"/>
            <a:ext cx="832039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가능 경로 수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(Route Count)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개념 활용하여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TAT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제외 이유</a:t>
            </a:r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E562B87A-D685-7207-1F0D-0701614FE223}"/>
              </a:ext>
            </a:extLst>
          </p:cNvPr>
          <p:cNvSpPr/>
          <p:nvPr/>
        </p:nvSpPr>
        <p:spPr>
          <a:xfrm>
            <a:off x="1194217" y="2336583"/>
            <a:ext cx="2075234" cy="2075234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284FF6E5-CF94-2690-53A6-FE6B72D1BD78}"/>
              </a:ext>
            </a:extLst>
          </p:cNvPr>
          <p:cNvSpPr/>
          <p:nvPr/>
        </p:nvSpPr>
        <p:spPr>
          <a:xfrm>
            <a:off x="1505502" y="2647868"/>
            <a:ext cx="1452664" cy="1452664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C242787-161C-BF0A-F994-B7B75BE605C9}"/>
              </a:ext>
            </a:extLst>
          </p:cNvPr>
          <p:cNvSpPr txBox="1"/>
          <p:nvPr/>
        </p:nvSpPr>
        <p:spPr>
          <a:xfrm>
            <a:off x="1917306" y="3823533"/>
            <a:ext cx="62905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filler</a:t>
            </a:r>
            <a:endParaRPr lang="ko-KR" altLang="en-US" sz="12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03E09B6-7E4D-133B-A36E-71BCC5DA8E4B}"/>
              </a:ext>
            </a:extLst>
          </p:cNvPr>
          <p:cNvSpPr txBox="1"/>
          <p:nvPr/>
        </p:nvSpPr>
        <p:spPr>
          <a:xfrm>
            <a:off x="1751936" y="4100531"/>
            <a:ext cx="95979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/>
                </a:solidFill>
                <a:latin typeface="Times New Roman"/>
                <a:ea typeface="맑은 고딕"/>
                <a:cs typeface="Times New Roman"/>
              </a:rPr>
              <a:t>Si-channel</a:t>
            </a:r>
            <a:endParaRPr lang="ko-KR" altLang="en-US" sz="1200" b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/>
              </a:solidFill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980C462-F110-4EFA-B18E-4ECCD87CE08F}"/>
              </a:ext>
            </a:extLst>
          </p:cNvPr>
          <p:cNvSpPr txBox="1"/>
          <p:nvPr/>
        </p:nvSpPr>
        <p:spPr>
          <a:xfrm>
            <a:off x="691621" y="4529029"/>
            <a:ext cx="62905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TOX</a:t>
            </a:r>
            <a:endParaRPr lang="ko-KR" altLang="en-US" sz="12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35D85EE-D54E-62E7-0203-66C89417E43E}"/>
              </a:ext>
            </a:extLst>
          </p:cNvPr>
          <p:cNvSpPr txBox="1"/>
          <p:nvPr/>
        </p:nvSpPr>
        <p:spPr>
          <a:xfrm>
            <a:off x="834293" y="4775913"/>
            <a:ext cx="62905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CTN</a:t>
            </a:r>
            <a:endParaRPr lang="ko-KR" altLang="en-US" sz="12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D20C5906-F467-CC3A-F9E3-1BA75607E79C}"/>
              </a:ext>
            </a:extLst>
          </p:cNvPr>
          <p:cNvCxnSpPr/>
          <p:nvPr/>
        </p:nvCxnSpPr>
        <p:spPr>
          <a:xfrm flipH="1">
            <a:off x="1148821" y="4411817"/>
            <a:ext cx="768485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0B8FBA15-6BFF-A56D-2A52-2930D5FEB9D0}"/>
              </a:ext>
            </a:extLst>
          </p:cNvPr>
          <p:cNvCxnSpPr>
            <a:cxnSpLocks/>
          </p:cNvCxnSpPr>
          <p:nvPr/>
        </p:nvCxnSpPr>
        <p:spPr>
          <a:xfrm flipH="1">
            <a:off x="1019119" y="4411817"/>
            <a:ext cx="142672" cy="14267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92EED7AB-02E6-DD08-0CD8-4B68EF73B60C}"/>
              </a:ext>
            </a:extLst>
          </p:cNvPr>
          <p:cNvCxnSpPr/>
          <p:nvPr/>
        </p:nvCxnSpPr>
        <p:spPr>
          <a:xfrm flipH="1">
            <a:off x="1367693" y="4629068"/>
            <a:ext cx="768485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6A13D0EE-771C-5785-0DE0-686FE8476DEF}"/>
              </a:ext>
            </a:extLst>
          </p:cNvPr>
          <p:cNvCxnSpPr>
            <a:cxnSpLocks/>
          </p:cNvCxnSpPr>
          <p:nvPr/>
        </p:nvCxnSpPr>
        <p:spPr>
          <a:xfrm flipH="1">
            <a:off x="1237991" y="4629068"/>
            <a:ext cx="142672" cy="14267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095A2FEC-D802-5315-E715-9440BD4F8037}"/>
              </a:ext>
            </a:extLst>
          </p:cNvPr>
          <p:cNvCxnSpPr>
            <a:cxnSpLocks/>
          </p:cNvCxnSpPr>
          <p:nvPr/>
        </p:nvCxnSpPr>
        <p:spPr>
          <a:xfrm flipH="1">
            <a:off x="3113808" y="3380686"/>
            <a:ext cx="428017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직선 화살표 연결선 32">
            <a:extLst>
              <a:ext uri="{FF2B5EF4-FFF2-40B4-BE49-F238E27FC236}">
                <a16:creationId xmlns:a16="http://schemas.microsoft.com/office/drawing/2014/main" id="{A43E964E-314F-30F2-C5CB-BBAE1C3CE130}"/>
              </a:ext>
            </a:extLst>
          </p:cNvPr>
          <p:cNvCxnSpPr>
            <a:cxnSpLocks/>
          </p:cNvCxnSpPr>
          <p:nvPr/>
        </p:nvCxnSpPr>
        <p:spPr>
          <a:xfrm flipH="1" flipV="1">
            <a:off x="3010047" y="3880039"/>
            <a:ext cx="298315" cy="18644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53C84424-EEC5-BFF6-452C-54AE0297CA58}"/>
              </a:ext>
            </a:extLst>
          </p:cNvPr>
          <p:cNvCxnSpPr>
            <a:cxnSpLocks/>
          </p:cNvCxnSpPr>
          <p:nvPr/>
        </p:nvCxnSpPr>
        <p:spPr>
          <a:xfrm>
            <a:off x="970480" y="3380686"/>
            <a:ext cx="410183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FBC2E793-E2E1-E603-695C-E074E942FF26}"/>
              </a:ext>
            </a:extLst>
          </p:cNvPr>
          <p:cNvCxnSpPr>
            <a:cxnSpLocks/>
          </p:cNvCxnSpPr>
          <p:nvPr/>
        </p:nvCxnSpPr>
        <p:spPr>
          <a:xfrm>
            <a:off x="2251289" y="2090150"/>
            <a:ext cx="0" cy="47341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FC5B3934-1CE8-ECB0-F0B6-FD7C7328B637}"/>
              </a:ext>
            </a:extLst>
          </p:cNvPr>
          <p:cNvCxnSpPr>
            <a:cxnSpLocks/>
          </p:cNvCxnSpPr>
          <p:nvPr/>
        </p:nvCxnSpPr>
        <p:spPr>
          <a:xfrm flipV="1">
            <a:off x="2251289" y="4314541"/>
            <a:ext cx="0" cy="36316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화살표 연결선 42">
            <a:extLst>
              <a:ext uri="{FF2B5EF4-FFF2-40B4-BE49-F238E27FC236}">
                <a16:creationId xmlns:a16="http://schemas.microsoft.com/office/drawing/2014/main" id="{1D0F2261-716B-45B3-32E4-F3DA08644233}"/>
              </a:ext>
            </a:extLst>
          </p:cNvPr>
          <p:cNvCxnSpPr>
            <a:cxnSpLocks/>
          </p:cNvCxnSpPr>
          <p:nvPr/>
        </p:nvCxnSpPr>
        <p:spPr>
          <a:xfrm flipH="1" flipV="1">
            <a:off x="2737672" y="4147955"/>
            <a:ext cx="168613" cy="28291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1B6A83C2-C031-D2E1-BC17-92D690DF0626}"/>
              </a:ext>
            </a:extLst>
          </p:cNvPr>
          <p:cNvCxnSpPr>
            <a:cxnSpLocks/>
          </p:cNvCxnSpPr>
          <p:nvPr/>
        </p:nvCxnSpPr>
        <p:spPr>
          <a:xfrm flipV="1">
            <a:off x="1634395" y="4204293"/>
            <a:ext cx="166180" cy="28419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직선 화살표 연결선 47">
            <a:extLst>
              <a:ext uri="{FF2B5EF4-FFF2-40B4-BE49-F238E27FC236}">
                <a16:creationId xmlns:a16="http://schemas.microsoft.com/office/drawing/2014/main" id="{F8293DBF-BF2A-17A5-3730-64D5ED265080}"/>
              </a:ext>
            </a:extLst>
          </p:cNvPr>
          <p:cNvCxnSpPr>
            <a:cxnSpLocks/>
          </p:cNvCxnSpPr>
          <p:nvPr/>
        </p:nvCxnSpPr>
        <p:spPr>
          <a:xfrm flipV="1">
            <a:off x="1175571" y="3857002"/>
            <a:ext cx="296897" cy="21954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87332147-8690-5D02-4611-18572FA7AAA6}"/>
              </a:ext>
            </a:extLst>
          </p:cNvPr>
          <p:cNvCxnSpPr>
            <a:cxnSpLocks/>
          </p:cNvCxnSpPr>
          <p:nvPr/>
        </p:nvCxnSpPr>
        <p:spPr>
          <a:xfrm>
            <a:off x="1098358" y="2758554"/>
            <a:ext cx="342293" cy="20016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직선 화살표 연결선 52">
            <a:extLst>
              <a:ext uri="{FF2B5EF4-FFF2-40B4-BE49-F238E27FC236}">
                <a16:creationId xmlns:a16="http://schemas.microsoft.com/office/drawing/2014/main" id="{08475678-6B11-CBFF-03E9-62F15D944696}"/>
              </a:ext>
            </a:extLst>
          </p:cNvPr>
          <p:cNvCxnSpPr>
            <a:cxnSpLocks/>
          </p:cNvCxnSpPr>
          <p:nvPr/>
        </p:nvCxnSpPr>
        <p:spPr>
          <a:xfrm>
            <a:off x="1505502" y="2343946"/>
            <a:ext cx="295073" cy="34283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직선 화살표 연결선 54">
            <a:extLst>
              <a:ext uri="{FF2B5EF4-FFF2-40B4-BE49-F238E27FC236}">
                <a16:creationId xmlns:a16="http://schemas.microsoft.com/office/drawing/2014/main" id="{3E8030BE-DEAE-C558-1944-832F3CD5255F}"/>
              </a:ext>
            </a:extLst>
          </p:cNvPr>
          <p:cNvCxnSpPr>
            <a:cxnSpLocks/>
          </p:cNvCxnSpPr>
          <p:nvPr/>
        </p:nvCxnSpPr>
        <p:spPr>
          <a:xfrm flipH="1">
            <a:off x="2699470" y="2326856"/>
            <a:ext cx="240862" cy="32972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7EBF30A3-9F6D-FA23-4B53-E67F1C8FE0E2}"/>
              </a:ext>
            </a:extLst>
          </p:cNvPr>
          <p:cNvCxnSpPr>
            <a:cxnSpLocks/>
          </p:cNvCxnSpPr>
          <p:nvPr/>
        </p:nvCxnSpPr>
        <p:spPr>
          <a:xfrm flipH="1">
            <a:off x="2982029" y="2758554"/>
            <a:ext cx="403697" cy="24805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타원 60">
            <a:extLst>
              <a:ext uri="{FF2B5EF4-FFF2-40B4-BE49-F238E27FC236}">
                <a16:creationId xmlns:a16="http://schemas.microsoft.com/office/drawing/2014/main" id="{730E3302-1349-0570-552B-503D4AA87974}"/>
              </a:ext>
            </a:extLst>
          </p:cNvPr>
          <p:cNvSpPr/>
          <p:nvPr/>
        </p:nvSpPr>
        <p:spPr>
          <a:xfrm>
            <a:off x="5460089" y="1981505"/>
            <a:ext cx="2795082" cy="2795082"/>
          </a:xfrm>
          <a:prstGeom prst="ellipse">
            <a:avLst/>
          </a:prstGeom>
          <a:pattFill prst="trellis">
            <a:fgClr>
              <a:srgbClr val="92D050"/>
            </a:fgClr>
            <a:bgClr>
              <a:schemeClr val="bg1"/>
            </a:bgClr>
          </a:pattFill>
          <a:ln w="12700"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752A6ED0-2622-EBBE-A88F-CDED6D54E93C}"/>
              </a:ext>
            </a:extLst>
          </p:cNvPr>
          <p:cNvSpPr/>
          <p:nvPr/>
        </p:nvSpPr>
        <p:spPr>
          <a:xfrm>
            <a:off x="5677341" y="2198757"/>
            <a:ext cx="2360578" cy="2360578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E0C7F59C-F9A2-829F-8D2A-898DFABEC75F}"/>
              </a:ext>
            </a:extLst>
          </p:cNvPr>
          <p:cNvSpPr/>
          <p:nvPr/>
        </p:nvSpPr>
        <p:spPr>
          <a:xfrm>
            <a:off x="5820013" y="2341429"/>
            <a:ext cx="2075234" cy="2075234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83020422-C4BE-E02A-9F07-57ADBA7AFB4A}"/>
              </a:ext>
            </a:extLst>
          </p:cNvPr>
          <p:cNvSpPr/>
          <p:nvPr/>
        </p:nvSpPr>
        <p:spPr>
          <a:xfrm>
            <a:off x="6131298" y="2652714"/>
            <a:ext cx="1452664" cy="1452664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EB7434C-4557-CEBB-5CA1-C649A44A91CB}"/>
              </a:ext>
            </a:extLst>
          </p:cNvPr>
          <p:cNvSpPr txBox="1"/>
          <p:nvPr/>
        </p:nvSpPr>
        <p:spPr>
          <a:xfrm>
            <a:off x="6543102" y="3828379"/>
            <a:ext cx="62905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filler</a:t>
            </a:r>
            <a:endParaRPr lang="ko-KR" altLang="en-US" sz="12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57D963E-811C-FBBC-8E10-15FB711D3081}"/>
              </a:ext>
            </a:extLst>
          </p:cNvPr>
          <p:cNvSpPr txBox="1"/>
          <p:nvPr/>
        </p:nvSpPr>
        <p:spPr>
          <a:xfrm>
            <a:off x="6377732" y="4105377"/>
            <a:ext cx="95979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/>
                </a:solidFill>
                <a:latin typeface="Times New Roman"/>
                <a:ea typeface="맑은 고딕"/>
                <a:cs typeface="Times New Roman"/>
              </a:rPr>
              <a:t>Si-channel</a:t>
            </a:r>
            <a:endParaRPr lang="ko-KR" altLang="en-US" sz="1200" b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/>
              </a:solidFill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0BBF22E1-0BB8-2C25-A2A5-E1428E69F98A}"/>
              </a:ext>
            </a:extLst>
          </p:cNvPr>
          <p:cNvSpPr txBox="1"/>
          <p:nvPr/>
        </p:nvSpPr>
        <p:spPr>
          <a:xfrm>
            <a:off x="5317417" y="4533875"/>
            <a:ext cx="62905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TOX</a:t>
            </a:r>
            <a:endParaRPr lang="ko-KR" altLang="en-US" sz="12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AA376F7D-E571-C2B3-3E63-7AB977024A1C}"/>
              </a:ext>
            </a:extLst>
          </p:cNvPr>
          <p:cNvSpPr txBox="1"/>
          <p:nvPr/>
        </p:nvSpPr>
        <p:spPr>
          <a:xfrm>
            <a:off x="5460089" y="4780759"/>
            <a:ext cx="62905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CTN</a:t>
            </a:r>
            <a:endParaRPr lang="ko-KR" altLang="en-US" sz="12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cxnSp>
        <p:nvCxnSpPr>
          <p:cNvPr id="69" name="직선 연결선 68">
            <a:extLst>
              <a:ext uri="{FF2B5EF4-FFF2-40B4-BE49-F238E27FC236}">
                <a16:creationId xmlns:a16="http://schemas.microsoft.com/office/drawing/2014/main" id="{58919A1B-A451-0A6B-8F81-62646D1AD3C7}"/>
              </a:ext>
            </a:extLst>
          </p:cNvPr>
          <p:cNvCxnSpPr/>
          <p:nvPr/>
        </p:nvCxnSpPr>
        <p:spPr>
          <a:xfrm flipH="1">
            <a:off x="5774617" y="4416663"/>
            <a:ext cx="768485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직선 연결선 69">
            <a:extLst>
              <a:ext uri="{FF2B5EF4-FFF2-40B4-BE49-F238E27FC236}">
                <a16:creationId xmlns:a16="http://schemas.microsoft.com/office/drawing/2014/main" id="{EFB51CC5-4F8D-7FD9-7E96-8EBA5CDA6943}"/>
              </a:ext>
            </a:extLst>
          </p:cNvPr>
          <p:cNvCxnSpPr>
            <a:cxnSpLocks/>
          </p:cNvCxnSpPr>
          <p:nvPr/>
        </p:nvCxnSpPr>
        <p:spPr>
          <a:xfrm flipH="1">
            <a:off x="5644915" y="4416663"/>
            <a:ext cx="142672" cy="14267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D6A4505B-A343-48C0-9091-434EAF95BE86}"/>
              </a:ext>
            </a:extLst>
          </p:cNvPr>
          <p:cNvCxnSpPr/>
          <p:nvPr/>
        </p:nvCxnSpPr>
        <p:spPr>
          <a:xfrm flipH="1">
            <a:off x="5993489" y="4633914"/>
            <a:ext cx="768485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연결선 71">
            <a:extLst>
              <a:ext uri="{FF2B5EF4-FFF2-40B4-BE49-F238E27FC236}">
                <a16:creationId xmlns:a16="http://schemas.microsoft.com/office/drawing/2014/main" id="{4DB9F78D-75E8-F1AC-023A-96F9B635DD82}"/>
              </a:ext>
            </a:extLst>
          </p:cNvPr>
          <p:cNvCxnSpPr>
            <a:cxnSpLocks/>
          </p:cNvCxnSpPr>
          <p:nvPr/>
        </p:nvCxnSpPr>
        <p:spPr>
          <a:xfrm flipH="1">
            <a:off x="5863787" y="4633914"/>
            <a:ext cx="142672" cy="14267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직선 화살표 연결선 72">
            <a:extLst>
              <a:ext uri="{FF2B5EF4-FFF2-40B4-BE49-F238E27FC236}">
                <a16:creationId xmlns:a16="http://schemas.microsoft.com/office/drawing/2014/main" id="{A9D4CAF2-3F39-51C3-6CC8-4D2F6F406B81}"/>
              </a:ext>
            </a:extLst>
          </p:cNvPr>
          <p:cNvCxnSpPr>
            <a:cxnSpLocks/>
          </p:cNvCxnSpPr>
          <p:nvPr/>
        </p:nvCxnSpPr>
        <p:spPr>
          <a:xfrm flipH="1">
            <a:off x="7739604" y="3385532"/>
            <a:ext cx="428017" cy="0"/>
          </a:xfrm>
          <a:prstGeom prst="straightConnector1">
            <a:avLst/>
          </a:prstGeom>
          <a:ln w="12700">
            <a:solidFill>
              <a:schemeClr val="tx1"/>
            </a:solidFill>
            <a:prstDash val="dash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직선 화살표 연결선 73">
            <a:extLst>
              <a:ext uri="{FF2B5EF4-FFF2-40B4-BE49-F238E27FC236}">
                <a16:creationId xmlns:a16="http://schemas.microsoft.com/office/drawing/2014/main" id="{F02C59D3-EC19-908D-10E6-841B31976D2F}"/>
              </a:ext>
            </a:extLst>
          </p:cNvPr>
          <p:cNvCxnSpPr>
            <a:cxnSpLocks/>
          </p:cNvCxnSpPr>
          <p:nvPr/>
        </p:nvCxnSpPr>
        <p:spPr>
          <a:xfrm flipH="1" flipV="1">
            <a:off x="7635843" y="3884885"/>
            <a:ext cx="298315" cy="18644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직선 화살표 연결선 74">
            <a:extLst>
              <a:ext uri="{FF2B5EF4-FFF2-40B4-BE49-F238E27FC236}">
                <a16:creationId xmlns:a16="http://schemas.microsoft.com/office/drawing/2014/main" id="{19529D91-112B-FAC6-E5E9-C8F0B84D6276}"/>
              </a:ext>
            </a:extLst>
          </p:cNvPr>
          <p:cNvCxnSpPr>
            <a:cxnSpLocks/>
          </p:cNvCxnSpPr>
          <p:nvPr/>
        </p:nvCxnSpPr>
        <p:spPr>
          <a:xfrm>
            <a:off x="5596276" y="3385532"/>
            <a:ext cx="410183" cy="0"/>
          </a:xfrm>
          <a:prstGeom prst="straightConnector1">
            <a:avLst/>
          </a:prstGeom>
          <a:ln w="12700">
            <a:solidFill>
              <a:schemeClr val="tx1"/>
            </a:solidFill>
            <a:prstDash val="dash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E615961A-0D73-9781-D77C-EAF687D40830}"/>
              </a:ext>
            </a:extLst>
          </p:cNvPr>
          <p:cNvCxnSpPr>
            <a:cxnSpLocks/>
          </p:cNvCxnSpPr>
          <p:nvPr/>
        </p:nvCxnSpPr>
        <p:spPr>
          <a:xfrm>
            <a:off x="6877085" y="2094996"/>
            <a:ext cx="0" cy="47341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직선 화살표 연결선 76">
            <a:extLst>
              <a:ext uri="{FF2B5EF4-FFF2-40B4-BE49-F238E27FC236}">
                <a16:creationId xmlns:a16="http://schemas.microsoft.com/office/drawing/2014/main" id="{573A3675-4852-E433-0FBD-4E6AE0929C07}"/>
              </a:ext>
            </a:extLst>
          </p:cNvPr>
          <p:cNvCxnSpPr>
            <a:cxnSpLocks/>
          </p:cNvCxnSpPr>
          <p:nvPr/>
        </p:nvCxnSpPr>
        <p:spPr>
          <a:xfrm flipV="1">
            <a:off x="6877085" y="4319387"/>
            <a:ext cx="0" cy="363166"/>
          </a:xfrm>
          <a:prstGeom prst="straightConnector1">
            <a:avLst/>
          </a:prstGeom>
          <a:ln w="12700">
            <a:solidFill>
              <a:schemeClr val="tx1"/>
            </a:solidFill>
            <a:prstDash val="dash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E9B9CBDA-0713-04BD-0223-2880D4AF907E}"/>
              </a:ext>
            </a:extLst>
          </p:cNvPr>
          <p:cNvCxnSpPr>
            <a:cxnSpLocks/>
          </p:cNvCxnSpPr>
          <p:nvPr/>
        </p:nvCxnSpPr>
        <p:spPr>
          <a:xfrm flipH="1" flipV="1">
            <a:off x="7363468" y="4152801"/>
            <a:ext cx="168613" cy="282912"/>
          </a:xfrm>
          <a:prstGeom prst="straightConnector1">
            <a:avLst/>
          </a:prstGeom>
          <a:ln w="12700">
            <a:solidFill>
              <a:schemeClr val="tx1"/>
            </a:solidFill>
            <a:prstDash val="dash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60C449AE-76B4-CA8F-1A2A-EF1DFC19DEE8}"/>
              </a:ext>
            </a:extLst>
          </p:cNvPr>
          <p:cNvCxnSpPr>
            <a:cxnSpLocks/>
          </p:cNvCxnSpPr>
          <p:nvPr/>
        </p:nvCxnSpPr>
        <p:spPr>
          <a:xfrm flipV="1">
            <a:off x="6260191" y="4209139"/>
            <a:ext cx="166180" cy="284190"/>
          </a:xfrm>
          <a:prstGeom prst="straightConnector1">
            <a:avLst/>
          </a:prstGeom>
          <a:ln w="12700">
            <a:solidFill>
              <a:schemeClr val="tx1"/>
            </a:solidFill>
            <a:prstDash val="dash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직선 화살표 연결선 79">
            <a:extLst>
              <a:ext uri="{FF2B5EF4-FFF2-40B4-BE49-F238E27FC236}">
                <a16:creationId xmlns:a16="http://schemas.microsoft.com/office/drawing/2014/main" id="{8FCC4C5E-FAB0-49C1-43FA-52E62D048C40}"/>
              </a:ext>
            </a:extLst>
          </p:cNvPr>
          <p:cNvCxnSpPr>
            <a:cxnSpLocks/>
          </p:cNvCxnSpPr>
          <p:nvPr/>
        </p:nvCxnSpPr>
        <p:spPr>
          <a:xfrm flipV="1">
            <a:off x="5801367" y="3861848"/>
            <a:ext cx="296897" cy="21954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직선 화살표 연결선 80">
            <a:extLst>
              <a:ext uri="{FF2B5EF4-FFF2-40B4-BE49-F238E27FC236}">
                <a16:creationId xmlns:a16="http://schemas.microsoft.com/office/drawing/2014/main" id="{0581EA01-1EC1-76A8-F5F3-A3C335A7394D}"/>
              </a:ext>
            </a:extLst>
          </p:cNvPr>
          <p:cNvCxnSpPr>
            <a:cxnSpLocks/>
          </p:cNvCxnSpPr>
          <p:nvPr/>
        </p:nvCxnSpPr>
        <p:spPr>
          <a:xfrm>
            <a:off x="5724154" y="2763400"/>
            <a:ext cx="342293" cy="200161"/>
          </a:xfrm>
          <a:prstGeom prst="straightConnector1">
            <a:avLst/>
          </a:prstGeom>
          <a:ln w="12700">
            <a:solidFill>
              <a:schemeClr val="tx1"/>
            </a:solidFill>
            <a:prstDash val="dash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0EB0807F-4A8C-4381-E16A-2CED8451EFD6}"/>
              </a:ext>
            </a:extLst>
          </p:cNvPr>
          <p:cNvCxnSpPr>
            <a:cxnSpLocks/>
          </p:cNvCxnSpPr>
          <p:nvPr/>
        </p:nvCxnSpPr>
        <p:spPr>
          <a:xfrm>
            <a:off x="6131298" y="2348792"/>
            <a:ext cx="295073" cy="342833"/>
          </a:xfrm>
          <a:prstGeom prst="straightConnector1">
            <a:avLst/>
          </a:prstGeom>
          <a:ln w="12700">
            <a:solidFill>
              <a:schemeClr val="tx1"/>
            </a:solidFill>
            <a:prstDash val="dash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직선 화살표 연결선 82">
            <a:extLst>
              <a:ext uri="{FF2B5EF4-FFF2-40B4-BE49-F238E27FC236}">
                <a16:creationId xmlns:a16="http://schemas.microsoft.com/office/drawing/2014/main" id="{06BC769C-073E-C8D8-2052-CA2C3390F291}"/>
              </a:ext>
            </a:extLst>
          </p:cNvPr>
          <p:cNvCxnSpPr>
            <a:cxnSpLocks/>
          </p:cNvCxnSpPr>
          <p:nvPr/>
        </p:nvCxnSpPr>
        <p:spPr>
          <a:xfrm flipH="1">
            <a:off x="7325266" y="2331702"/>
            <a:ext cx="240862" cy="329727"/>
          </a:xfrm>
          <a:prstGeom prst="straightConnector1">
            <a:avLst/>
          </a:prstGeom>
          <a:ln w="12700">
            <a:solidFill>
              <a:schemeClr val="tx1"/>
            </a:solidFill>
            <a:prstDash val="dash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직선 화살표 연결선 83">
            <a:extLst>
              <a:ext uri="{FF2B5EF4-FFF2-40B4-BE49-F238E27FC236}">
                <a16:creationId xmlns:a16="http://schemas.microsoft.com/office/drawing/2014/main" id="{52CF4F18-6166-CAE0-88F2-76D642DD042A}"/>
              </a:ext>
            </a:extLst>
          </p:cNvPr>
          <p:cNvCxnSpPr>
            <a:cxnSpLocks/>
          </p:cNvCxnSpPr>
          <p:nvPr/>
        </p:nvCxnSpPr>
        <p:spPr>
          <a:xfrm flipH="1">
            <a:off x="7607825" y="2763400"/>
            <a:ext cx="403697" cy="248053"/>
          </a:xfrm>
          <a:prstGeom prst="straightConnector1">
            <a:avLst/>
          </a:prstGeom>
          <a:ln w="12700">
            <a:solidFill>
              <a:schemeClr val="tx1"/>
            </a:solidFill>
            <a:prstDash val="dash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타원 84">
            <a:extLst>
              <a:ext uri="{FF2B5EF4-FFF2-40B4-BE49-F238E27FC236}">
                <a16:creationId xmlns:a16="http://schemas.microsoft.com/office/drawing/2014/main" id="{84EDC39A-7FC1-DF21-ED8A-370629537870}"/>
              </a:ext>
            </a:extLst>
          </p:cNvPr>
          <p:cNvSpPr/>
          <p:nvPr/>
        </p:nvSpPr>
        <p:spPr>
          <a:xfrm>
            <a:off x="6807725" y="2213348"/>
            <a:ext cx="123217" cy="12321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6" name="타원 85">
            <a:extLst>
              <a:ext uri="{FF2B5EF4-FFF2-40B4-BE49-F238E27FC236}">
                <a16:creationId xmlns:a16="http://schemas.microsoft.com/office/drawing/2014/main" id="{1251A386-23FF-0F26-ADA1-77C5ED8704C5}"/>
              </a:ext>
            </a:extLst>
          </p:cNvPr>
          <p:cNvSpPr/>
          <p:nvPr/>
        </p:nvSpPr>
        <p:spPr>
          <a:xfrm>
            <a:off x="5861356" y="3916499"/>
            <a:ext cx="123217" cy="12321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7" name="타원 86">
            <a:extLst>
              <a:ext uri="{FF2B5EF4-FFF2-40B4-BE49-F238E27FC236}">
                <a16:creationId xmlns:a16="http://schemas.microsoft.com/office/drawing/2014/main" id="{685EDA62-B28A-5F33-8CC9-F43F5B8441DB}"/>
              </a:ext>
            </a:extLst>
          </p:cNvPr>
          <p:cNvSpPr/>
          <p:nvPr/>
        </p:nvSpPr>
        <p:spPr>
          <a:xfrm>
            <a:off x="7722353" y="3922984"/>
            <a:ext cx="123217" cy="12321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5" name="자유형: 도형 94">
            <a:extLst>
              <a:ext uri="{FF2B5EF4-FFF2-40B4-BE49-F238E27FC236}">
                <a16:creationId xmlns:a16="http://schemas.microsoft.com/office/drawing/2014/main" id="{E72083E2-6C41-1F13-B14D-ACE0409DCC37}"/>
              </a:ext>
            </a:extLst>
          </p:cNvPr>
          <p:cNvSpPr/>
          <p:nvPr/>
        </p:nvSpPr>
        <p:spPr>
          <a:xfrm>
            <a:off x="282760" y="1378428"/>
            <a:ext cx="3930009" cy="511541"/>
          </a:xfrm>
          <a:custGeom>
            <a:avLst/>
            <a:gdLst>
              <a:gd name="csX0" fmla="*/ 607664 w 3930009"/>
              <a:gd name="csY0" fmla="*/ 0 h 584647"/>
              <a:gd name="csX1" fmla="*/ 3325790 w 3930009"/>
              <a:gd name="csY1" fmla="*/ 0 h 584647"/>
              <a:gd name="csX2" fmla="*/ 3923637 w 3930009"/>
              <a:gd name="csY2" fmla="*/ 487259 h 584647"/>
              <a:gd name="csX3" fmla="*/ 3930009 w 3930009"/>
              <a:gd name="csY3" fmla="*/ 550468 h 584647"/>
              <a:gd name="csX4" fmla="*/ 3930009 w 3930009"/>
              <a:gd name="csY4" fmla="*/ 584647 h 584647"/>
              <a:gd name="csX5" fmla="*/ 0 w 3930009"/>
              <a:gd name="csY5" fmla="*/ 584647 h 584647"/>
              <a:gd name="csX6" fmla="*/ 9817 w 3930009"/>
              <a:gd name="csY6" fmla="*/ 487259 h 584647"/>
              <a:gd name="csX7" fmla="*/ 607664 w 3930009"/>
              <a:gd name="csY7" fmla="*/ 0 h 584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3930009" h="584647">
                <a:moveTo>
                  <a:pt x="607664" y="0"/>
                </a:moveTo>
                <a:lnTo>
                  <a:pt x="3325790" y="0"/>
                </a:lnTo>
                <a:cubicBezTo>
                  <a:pt x="3620690" y="0"/>
                  <a:pt x="3866734" y="209181"/>
                  <a:pt x="3923637" y="487259"/>
                </a:cubicBezTo>
                <a:lnTo>
                  <a:pt x="3930009" y="550468"/>
                </a:lnTo>
                <a:lnTo>
                  <a:pt x="3930009" y="584647"/>
                </a:lnTo>
                <a:lnTo>
                  <a:pt x="0" y="584647"/>
                </a:lnTo>
                <a:lnTo>
                  <a:pt x="9817" y="487259"/>
                </a:lnTo>
                <a:cubicBezTo>
                  <a:pt x="66720" y="209181"/>
                  <a:pt x="312764" y="0"/>
                  <a:pt x="607664" y="0"/>
                </a:cubicBezTo>
                <a:close/>
              </a:path>
            </a:pathLst>
          </a:custGeom>
          <a:solidFill>
            <a:schemeClr val="accent1">
              <a:lumMod val="75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 dirty="0">
                <a:ln w="9525">
                  <a:solidFill>
                    <a:prstClr val="black">
                      <a:alpha val="29000"/>
                    </a:prstClr>
                  </a:solidFill>
                </a:ln>
                <a:solidFill>
                  <a:schemeClr val="bg1"/>
                </a:solidFill>
                <a:effectLst/>
                <a:uLnTx/>
                <a:uFillTx/>
                <a:latin typeface="Arial" panose="020B0604020202020204" pitchFamily="34" charset="0"/>
                <a:ea typeface="맑은 고딕"/>
                <a:cs typeface="Arial" panose="020B0604020202020204" pitchFamily="34" charset="0"/>
              </a:rPr>
              <a:t>CTN &gt; Si-channel (</a:t>
            </a:r>
            <a:r>
              <a:rPr kumimoji="0" lang="en-US" altLang="ko-KR" sz="2000" b="1" i="0" u="none" strike="noStrike" kern="1200" cap="none" spc="0" normalizeH="0" baseline="0" noProof="0" dirty="0" err="1">
                <a:ln w="9525">
                  <a:solidFill>
                    <a:prstClr val="black">
                      <a:alpha val="29000"/>
                    </a:prstClr>
                  </a:solidFill>
                </a:ln>
                <a:solidFill>
                  <a:schemeClr val="bg1"/>
                </a:solidFill>
                <a:effectLst/>
                <a:uLnTx/>
                <a:uFillTx/>
                <a:latin typeface="Arial" panose="020B0604020202020204" pitchFamily="34" charset="0"/>
                <a:ea typeface="맑은 고딕"/>
                <a:cs typeface="Arial" panose="020B0604020202020204" pitchFamily="34" charset="0"/>
              </a:rPr>
              <a:t>Detrap</a:t>
            </a:r>
            <a:r>
              <a:rPr kumimoji="0" lang="en-US" altLang="ko-KR" sz="2000" b="1" i="0" u="none" strike="noStrike" kern="1200" cap="none" spc="0" normalizeH="0" baseline="0" noProof="0" dirty="0">
                <a:ln w="9525">
                  <a:solidFill>
                    <a:prstClr val="black">
                      <a:alpha val="29000"/>
                    </a:prstClr>
                  </a:solidFill>
                </a:ln>
                <a:solidFill>
                  <a:schemeClr val="bg1"/>
                </a:solidFill>
                <a:effectLst/>
                <a:uLnTx/>
                <a:uFillTx/>
                <a:latin typeface="Arial" panose="020B0604020202020204" pitchFamily="34" charset="0"/>
                <a:ea typeface="맑은 고딕"/>
                <a:cs typeface="Arial" panose="020B0604020202020204" pitchFamily="34" charset="0"/>
              </a:rPr>
              <a:t>)</a:t>
            </a:r>
            <a:endParaRPr kumimoji="0" lang="ko-KR" altLang="en-US" sz="2000" b="1" i="0" u="none" strike="noStrike" kern="1200" cap="none" spc="0" normalizeH="0" baseline="0" noProof="0" dirty="0">
              <a:ln w="9525">
                <a:solidFill>
                  <a:prstClr val="black">
                    <a:alpha val="29000"/>
                  </a:prstClr>
                </a:solidFill>
              </a:ln>
              <a:solidFill>
                <a:schemeClr val="bg1"/>
              </a:solidFill>
              <a:effectLst/>
              <a:uLnTx/>
              <a:uFillTx/>
              <a:latin typeface="Arial" panose="020B0604020202020204" pitchFamily="34" charset="0"/>
              <a:ea typeface="맑은 고딕"/>
              <a:cs typeface="Arial" panose="020B0604020202020204" pitchFamily="34" charset="0"/>
            </a:endParaRPr>
          </a:p>
        </p:txBody>
      </p:sp>
      <p:sp>
        <p:nvSpPr>
          <p:cNvPr id="96" name="사각형: 둥근 모서리 95">
            <a:extLst>
              <a:ext uri="{FF2B5EF4-FFF2-40B4-BE49-F238E27FC236}">
                <a16:creationId xmlns:a16="http://schemas.microsoft.com/office/drawing/2014/main" id="{0D08574B-1A1D-A853-8FA9-17D4B6549A54}"/>
              </a:ext>
            </a:extLst>
          </p:cNvPr>
          <p:cNvSpPr/>
          <p:nvPr/>
        </p:nvSpPr>
        <p:spPr>
          <a:xfrm>
            <a:off x="4932363" y="1419231"/>
            <a:ext cx="3938616" cy="3587431"/>
          </a:xfrm>
          <a:prstGeom prst="roundRect">
            <a:avLst>
              <a:gd name="adj" fmla="val 14821"/>
            </a:avLst>
          </a:prstGeom>
          <a:noFill/>
          <a:ln w="1905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7" name="자유형: 도형 96">
            <a:extLst>
              <a:ext uri="{FF2B5EF4-FFF2-40B4-BE49-F238E27FC236}">
                <a16:creationId xmlns:a16="http://schemas.microsoft.com/office/drawing/2014/main" id="{E3B50051-8540-D79B-3E90-9E116354E493}"/>
              </a:ext>
            </a:extLst>
          </p:cNvPr>
          <p:cNvSpPr/>
          <p:nvPr/>
        </p:nvSpPr>
        <p:spPr>
          <a:xfrm>
            <a:off x="4940972" y="1383274"/>
            <a:ext cx="3930009" cy="511541"/>
          </a:xfrm>
          <a:custGeom>
            <a:avLst/>
            <a:gdLst>
              <a:gd name="csX0" fmla="*/ 607664 w 3930009"/>
              <a:gd name="csY0" fmla="*/ 0 h 584647"/>
              <a:gd name="csX1" fmla="*/ 3325790 w 3930009"/>
              <a:gd name="csY1" fmla="*/ 0 h 584647"/>
              <a:gd name="csX2" fmla="*/ 3923637 w 3930009"/>
              <a:gd name="csY2" fmla="*/ 487259 h 584647"/>
              <a:gd name="csX3" fmla="*/ 3930009 w 3930009"/>
              <a:gd name="csY3" fmla="*/ 550468 h 584647"/>
              <a:gd name="csX4" fmla="*/ 3930009 w 3930009"/>
              <a:gd name="csY4" fmla="*/ 584647 h 584647"/>
              <a:gd name="csX5" fmla="*/ 0 w 3930009"/>
              <a:gd name="csY5" fmla="*/ 584647 h 584647"/>
              <a:gd name="csX6" fmla="*/ 9817 w 3930009"/>
              <a:gd name="csY6" fmla="*/ 487259 h 584647"/>
              <a:gd name="csX7" fmla="*/ 607664 w 3930009"/>
              <a:gd name="csY7" fmla="*/ 0 h 584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3930009" h="584647">
                <a:moveTo>
                  <a:pt x="607664" y="0"/>
                </a:moveTo>
                <a:lnTo>
                  <a:pt x="3325790" y="0"/>
                </a:lnTo>
                <a:cubicBezTo>
                  <a:pt x="3620690" y="0"/>
                  <a:pt x="3866734" y="209181"/>
                  <a:pt x="3923637" y="487259"/>
                </a:cubicBezTo>
                <a:lnTo>
                  <a:pt x="3930009" y="550468"/>
                </a:lnTo>
                <a:lnTo>
                  <a:pt x="3930009" y="584647"/>
                </a:lnTo>
                <a:lnTo>
                  <a:pt x="0" y="584647"/>
                </a:lnTo>
                <a:lnTo>
                  <a:pt x="9817" y="487259"/>
                </a:lnTo>
                <a:cubicBezTo>
                  <a:pt x="66720" y="209181"/>
                  <a:pt x="312764" y="0"/>
                  <a:pt x="607664" y="0"/>
                </a:cubicBezTo>
                <a:close/>
              </a:path>
            </a:pathLst>
          </a:custGeom>
          <a:solidFill>
            <a:schemeClr val="accent1">
              <a:lumMod val="75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 dirty="0">
                <a:ln w="9525">
                  <a:solidFill>
                    <a:prstClr val="black">
                      <a:alpha val="29000"/>
                    </a:prstClr>
                  </a:solidFill>
                </a:ln>
                <a:solidFill>
                  <a:schemeClr val="bg1"/>
                </a:solidFill>
                <a:effectLst/>
                <a:uLnTx/>
                <a:uFillTx/>
                <a:latin typeface="Arial" panose="020B0604020202020204" pitchFamily="34" charset="0"/>
                <a:ea typeface="맑은 고딕"/>
                <a:cs typeface="Arial" panose="020B0604020202020204" pitchFamily="34" charset="0"/>
              </a:rPr>
              <a:t>CTN &gt; TOX &gt; Si-channel (TAT)</a:t>
            </a:r>
            <a:endParaRPr kumimoji="0" lang="ko-KR" altLang="en-US" sz="2000" b="1" i="0" u="none" strike="noStrike" kern="1200" cap="none" spc="0" normalizeH="0" baseline="0" noProof="0" dirty="0">
              <a:ln w="9525">
                <a:solidFill>
                  <a:prstClr val="black">
                    <a:alpha val="29000"/>
                  </a:prstClr>
                </a:solidFill>
              </a:ln>
              <a:solidFill>
                <a:schemeClr val="bg1"/>
              </a:solidFill>
              <a:effectLst/>
              <a:uLnTx/>
              <a:uFillTx/>
              <a:latin typeface="Arial" panose="020B0604020202020204" pitchFamily="34" charset="0"/>
              <a:ea typeface="맑은 고딕"/>
              <a:cs typeface="Arial" panose="020B0604020202020204" pitchFamily="34" charset="0"/>
            </a:endParaRPr>
          </a:p>
        </p:txBody>
      </p:sp>
      <p:sp>
        <p:nvSpPr>
          <p:cNvPr id="98" name="사각형: 둥근 모서리 97">
            <a:extLst>
              <a:ext uri="{FF2B5EF4-FFF2-40B4-BE49-F238E27FC236}">
                <a16:creationId xmlns:a16="http://schemas.microsoft.com/office/drawing/2014/main" id="{A25D5D62-9594-E7C5-5617-0493E0617D49}"/>
              </a:ext>
            </a:extLst>
          </p:cNvPr>
          <p:cNvSpPr/>
          <p:nvPr/>
        </p:nvSpPr>
        <p:spPr>
          <a:xfrm>
            <a:off x="272377" y="5148061"/>
            <a:ext cx="3938616" cy="66014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ABCDEF98-10FA-88DC-13E9-8FC4C25F61F8}"/>
              </a:ext>
            </a:extLst>
          </p:cNvPr>
          <p:cNvSpPr txBox="1"/>
          <p:nvPr/>
        </p:nvSpPr>
        <p:spPr>
          <a:xfrm>
            <a:off x="291388" y="5141138"/>
            <a:ext cx="174611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가능 경로 수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algn="ctr"/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(Route Count)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190AA24F-F8F8-F2A9-2708-CC4A5072F235}"/>
              </a:ext>
            </a:extLst>
          </p:cNvPr>
          <p:cNvSpPr txBox="1"/>
          <p:nvPr/>
        </p:nvSpPr>
        <p:spPr>
          <a:xfrm>
            <a:off x="2251288" y="5122088"/>
            <a:ext cx="19787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detrap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통과 넓이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algn="ctr"/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2π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r</a:t>
            </a:r>
            <a:r>
              <a:rPr lang="en-US" altLang="ko-KR" sz="2000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TOX</a:t>
            </a:r>
            <a:r>
              <a:rPr lang="en-US" altLang="ko-KR" sz="2000" baseline="-25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, centroid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L</a:t>
            </a:r>
            <a:r>
              <a:rPr lang="en-US" altLang="ko-KR" sz="2000" baseline="-25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WL</a:t>
            </a:r>
            <a:endParaRPr lang="ko-KR" altLang="en-US" sz="2000" baseline="-25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01" name="사각형: 둥근 모서리 100">
            <a:extLst>
              <a:ext uri="{FF2B5EF4-FFF2-40B4-BE49-F238E27FC236}">
                <a16:creationId xmlns:a16="http://schemas.microsoft.com/office/drawing/2014/main" id="{DCF7E265-FAB5-B7E1-C46C-35592126EA0A}"/>
              </a:ext>
            </a:extLst>
          </p:cNvPr>
          <p:cNvSpPr/>
          <p:nvPr/>
        </p:nvSpPr>
        <p:spPr>
          <a:xfrm>
            <a:off x="4928976" y="5126034"/>
            <a:ext cx="3938616" cy="656708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927CBF51-393A-246B-2A87-A0933CC705F5}"/>
              </a:ext>
            </a:extLst>
          </p:cNvPr>
          <p:cNvSpPr txBox="1"/>
          <p:nvPr/>
        </p:nvSpPr>
        <p:spPr>
          <a:xfrm>
            <a:off x="4973902" y="5100061"/>
            <a:ext cx="174611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가능 경로 수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algn="ctr"/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(Route Count)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04" name="화살표: 오른쪽 103">
            <a:extLst>
              <a:ext uri="{FF2B5EF4-FFF2-40B4-BE49-F238E27FC236}">
                <a16:creationId xmlns:a16="http://schemas.microsoft.com/office/drawing/2014/main" id="{68A3BB24-AA1F-8247-BC37-E37E021E2BD3}"/>
              </a:ext>
            </a:extLst>
          </p:cNvPr>
          <p:cNvSpPr/>
          <p:nvPr/>
        </p:nvSpPr>
        <p:spPr>
          <a:xfrm>
            <a:off x="1917306" y="5328179"/>
            <a:ext cx="358496" cy="299903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5" name="화살표: 오른쪽 104">
            <a:extLst>
              <a:ext uri="{FF2B5EF4-FFF2-40B4-BE49-F238E27FC236}">
                <a16:creationId xmlns:a16="http://schemas.microsoft.com/office/drawing/2014/main" id="{7FEA4A27-C3C1-4957-2238-B8BB65015ED6}"/>
              </a:ext>
            </a:extLst>
          </p:cNvPr>
          <p:cNvSpPr/>
          <p:nvPr/>
        </p:nvSpPr>
        <p:spPr>
          <a:xfrm>
            <a:off x="6629026" y="5287102"/>
            <a:ext cx="358496" cy="299903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1411E0B-9F33-0CE5-5C38-78CADEFFBD7E}"/>
              </a:ext>
            </a:extLst>
          </p:cNvPr>
          <p:cNvSpPr txBox="1"/>
          <p:nvPr/>
        </p:nvSpPr>
        <p:spPr>
          <a:xfrm>
            <a:off x="6914239" y="5087361"/>
            <a:ext cx="195335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TAT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통과 넓이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algn="ctr"/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#</a:t>
            </a:r>
            <a:r>
              <a:rPr lang="en-US" altLang="ko-KR" sz="2000" baseline="-25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trap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a</a:t>
            </a:r>
            <a:r>
              <a:rPr lang="en-US" altLang="ko-KR" sz="2000" baseline="-25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trap</a:t>
            </a:r>
            <a:r>
              <a:rPr lang="en-US" altLang="ko-KR" sz="2000" baseline="30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2</a:t>
            </a:r>
            <a:endParaRPr lang="ko-KR" altLang="en-US" sz="2000" baseline="30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CECE356-7A41-1D2A-0735-B373B1C21538}"/>
              </a:ext>
            </a:extLst>
          </p:cNvPr>
          <p:cNvSpPr txBox="1"/>
          <p:nvPr/>
        </p:nvSpPr>
        <p:spPr>
          <a:xfrm>
            <a:off x="1900890" y="5997924"/>
            <a:ext cx="54243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통과 넓이 대폭 감소로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인한 가능 경로 수 감소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5827FCD-FB08-E80E-071C-6F2AB66BC54B}"/>
              </a:ext>
            </a:extLst>
          </p:cNvPr>
          <p:cNvSpPr txBox="1"/>
          <p:nvPr/>
        </p:nvSpPr>
        <p:spPr>
          <a:xfrm>
            <a:off x="6998275" y="5811598"/>
            <a:ext cx="191067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11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cf</a:t>
            </a:r>
            <a:r>
              <a:rPr lang="en-US" altLang="ko-KR" sz="11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) </a:t>
            </a:r>
            <a:r>
              <a:rPr lang="en-US" altLang="ko-KR" sz="11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a</a:t>
            </a:r>
            <a:r>
              <a:rPr lang="en-US" altLang="ko-KR" sz="1100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trap</a:t>
            </a:r>
            <a:r>
              <a:rPr lang="en-US" altLang="ko-KR" sz="11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~ 1.7Å</a:t>
            </a:r>
            <a:endParaRPr lang="ko-KR" altLang="en-US" sz="1050" dirty="0"/>
          </a:p>
        </p:txBody>
      </p:sp>
    </p:spTree>
    <p:extLst>
      <p:ext uri="{BB962C8B-B14F-4D97-AF65-F5344CB8AC3E}">
        <p14:creationId xmlns:p14="http://schemas.microsoft.com/office/powerpoint/2010/main" val="1850295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31AF4F-8D7B-49A4-C797-A66808DF79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Limited</a:t>
            </a:r>
            <a:r>
              <a:rPr lang="ko-KR" altLang="en-US" dirty="0"/>
              <a:t> </a:t>
            </a:r>
            <a:r>
              <a:rPr lang="en-US" altLang="ko-KR" dirty="0"/>
              <a:t>Contribution of TAT</a:t>
            </a:r>
            <a:endParaRPr lang="ko-KR" altLang="en-US" dirty="0"/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090E8FCD-9BB8-1DD9-84A7-26901D81198E}"/>
              </a:ext>
            </a:extLst>
          </p:cNvPr>
          <p:cNvSpPr/>
          <p:nvPr/>
        </p:nvSpPr>
        <p:spPr>
          <a:xfrm>
            <a:off x="2696051" y="964162"/>
            <a:ext cx="752272" cy="388804"/>
          </a:xfrm>
          <a:prstGeom prst="roundRect">
            <a:avLst/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CTN</a:t>
            </a:r>
            <a:endParaRPr lang="ko-KR" altLang="en-US" dirty="0">
              <a:solidFill>
                <a:schemeClr val="tx1"/>
              </a:solidFill>
            </a:endParaRP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6F561000-F2AA-726D-D4C5-71C8716A9117}"/>
              </a:ext>
            </a:extLst>
          </p:cNvPr>
          <p:cNvCxnSpPr>
            <a:cxnSpLocks/>
            <a:stCxn id="8" idx="2"/>
            <a:endCxn id="12" idx="0"/>
          </p:cNvCxnSpPr>
          <p:nvPr/>
        </p:nvCxnSpPr>
        <p:spPr>
          <a:xfrm>
            <a:off x="3072187" y="1352966"/>
            <a:ext cx="0" cy="36580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62CAC175-721B-19E7-C12F-4CB760B55988}"/>
              </a:ext>
            </a:extLst>
          </p:cNvPr>
          <p:cNvSpPr/>
          <p:nvPr/>
        </p:nvSpPr>
        <p:spPr>
          <a:xfrm>
            <a:off x="2696051" y="1718767"/>
            <a:ext cx="752272" cy="388804"/>
          </a:xfrm>
          <a:prstGeom prst="roundRect">
            <a:avLst/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TOX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AB0ACA8A-7259-8446-3F84-76D5BFEE4998}"/>
              </a:ext>
            </a:extLst>
          </p:cNvPr>
          <p:cNvSpPr/>
          <p:nvPr/>
        </p:nvSpPr>
        <p:spPr>
          <a:xfrm>
            <a:off x="2465829" y="2473372"/>
            <a:ext cx="1212715" cy="388804"/>
          </a:xfrm>
          <a:prstGeom prst="roundRect">
            <a:avLst/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Si-channel</a:t>
            </a:r>
            <a:endParaRPr lang="ko-KR" altLang="en-US" dirty="0">
              <a:solidFill>
                <a:schemeClr val="tx1"/>
              </a:solidFill>
            </a:endParaRPr>
          </a:p>
        </p:txBody>
      </p: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DBE1A83E-4B34-61CD-49C2-9335559280DA}"/>
              </a:ext>
            </a:extLst>
          </p:cNvPr>
          <p:cNvCxnSpPr>
            <a:cxnSpLocks/>
            <a:stCxn id="12" idx="2"/>
            <a:endCxn id="13" idx="0"/>
          </p:cNvCxnSpPr>
          <p:nvPr/>
        </p:nvCxnSpPr>
        <p:spPr>
          <a:xfrm>
            <a:off x="3072187" y="2107571"/>
            <a:ext cx="0" cy="36580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4" name="개체 53">
            <a:extLst>
              <a:ext uri="{FF2B5EF4-FFF2-40B4-BE49-F238E27FC236}">
                <a16:creationId xmlns:a16="http://schemas.microsoft.com/office/drawing/2014/main" id="{D8B77745-725F-1DAC-28E4-EAC0AA3694BE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83841126"/>
              </p:ext>
            </p:extLst>
          </p:nvPr>
        </p:nvGraphicFramePr>
        <p:xfrm>
          <a:off x="6009012" y="868942"/>
          <a:ext cx="2862614" cy="177882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2" imgW="4851068" imgH="3014254" progId="Origin50.Graph">
                  <p:embed/>
                </p:oleObj>
              </mc:Choice>
              <mc:Fallback>
                <p:oleObj name="Graph" r:id="rId2" imgW="4851068" imgH="3014254" progId="Origin50.Graph">
                  <p:embed/>
                  <p:pic>
                    <p:nvPicPr>
                      <p:cNvPr id="54" name="개체 53">
                        <a:extLst>
                          <a:ext uri="{FF2B5EF4-FFF2-40B4-BE49-F238E27FC236}">
                            <a16:creationId xmlns:a16="http://schemas.microsoft.com/office/drawing/2014/main" id="{D8B77745-725F-1DAC-28E4-EAC0AA3694B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6009012" y="868942"/>
                        <a:ext cx="2862614" cy="1778829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5" name="TextBox 54">
            <a:extLst>
              <a:ext uri="{FF2B5EF4-FFF2-40B4-BE49-F238E27FC236}">
                <a16:creationId xmlns:a16="http://schemas.microsoft.com/office/drawing/2014/main" id="{223DB183-F6A9-0CFB-EDB7-A638740BFB56}"/>
              </a:ext>
            </a:extLst>
          </p:cNvPr>
          <p:cNvSpPr txBox="1"/>
          <p:nvPr/>
        </p:nvSpPr>
        <p:spPr>
          <a:xfrm>
            <a:off x="4881126" y="2740055"/>
            <a:ext cx="2474721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BETOX total trap density (measurement)</a:t>
            </a:r>
          </a:p>
          <a:p>
            <a:endParaRPr lang="en-US" altLang="ko-KR" sz="16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r>
              <a:rPr lang="en-US" altLang="ko-KR" sz="16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1k:  4.49 </a:t>
            </a:r>
            <a:r>
              <a:rPr lang="ko-KR" altLang="en-US" sz="16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×</a:t>
            </a:r>
            <a:r>
              <a:rPr lang="en-US" altLang="ko-KR" sz="16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10</a:t>
            </a:r>
            <a:r>
              <a:rPr lang="en-US" altLang="ko-KR" sz="1600" baseline="30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16</a:t>
            </a:r>
            <a:r>
              <a:rPr lang="en-US" altLang="ko-KR" sz="16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cm</a:t>
            </a:r>
            <a:r>
              <a:rPr lang="en-US" altLang="ko-KR" sz="1600" baseline="30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-3</a:t>
            </a:r>
          </a:p>
          <a:p>
            <a:r>
              <a:rPr lang="en-US" altLang="ko-KR" sz="16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10k: 1.16 </a:t>
            </a:r>
            <a:r>
              <a:rPr lang="ko-KR" altLang="en-US" sz="16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×</a:t>
            </a:r>
            <a:r>
              <a:rPr lang="en-US" altLang="ko-KR" sz="16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10</a:t>
            </a:r>
            <a:r>
              <a:rPr lang="en-US" altLang="ko-KR" sz="1600" baseline="30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17</a:t>
            </a:r>
            <a:r>
              <a:rPr lang="en-US" altLang="ko-KR" sz="16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cm</a:t>
            </a:r>
            <a:r>
              <a:rPr lang="en-US" altLang="ko-KR" sz="1600" baseline="30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-3</a:t>
            </a:r>
            <a:endParaRPr lang="en-US" altLang="ko-KR" sz="16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r>
              <a:rPr lang="en-US" altLang="ko-KR" sz="16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50k: 1.89 </a:t>
            </a:r>
            <a:r>
              <a:rPr lang="ko-KR" altLang="en-US" sz="16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×</a:t>
            </a:r>
            <a:r>
              <a:rPr lang="en-US" altLang="ko-KR" sz="16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10</a:t>
            </a:r>
            <a:r>
              <a:rPr lang="en-US" altLang="ko-KR" sz="1600" baseline="30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17</a:t>
            </a:r>
            <a:r>
              <a:rPr lang="en-US" altLang="ko-KR" sz="16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cm</a:t>
            </a:r>
            <a:r>
              <a:rPr lang="en-US" altLang="ko-KR" sz="1600" baseline="30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-3</a:t>
            </a:r>
            <a:endParaRPr lang="ko-KR" altLang="en-US" sz="1600" baseline="30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D0AECD9-7DAB-E514-FC0E-C1848AE0F326}"/>
              </a:ext>
            </a:extLst>
          </p:cNvPr>
          <p:cNvSpPr txBox="1"/>
          <p:nvPr/>
        </p:nvSpPr>
        <p:spPr>
          <a:xfrm>
            <a:off x="6975890" y="2740055"/>
            <a:ext cx="1804818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BETOX</a:t>
            </a:r>
            <a:r>
              <a:rPr lang="ko-KR" altLang="en-US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trap</a:t>
            </a:r>
            <a:r>
              <a:rPr lang="ko-KR" altLang="en-US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[#]</a:t>
            </a:r>
          </a:p>
          <a:p>
            <a:pPr algn="ctr"/>
            <a:endParaRPr lang="en-US" altLang="ko-KR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algn="ctr"/>
            <a:endParaRPr lang="en-US" altLang="ko-KR" sz="16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algn="ctr"/>
            <a:r>
              <a:rPr lang="en-US" altLang="ko-KR" sz="16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0.55</a:t>
            </a:r>
          </a:p>
          <a:p>
            <a:pPr algn="ctr"/>
            <a:r>
              <a:rPr lang="en-US" altLang="ko-KR" sz="16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1.42</a:t>
            </a:r>
          </a:p>
          <a:p>
            <a:pPr algn="ctr"/>
            <a:r>
              <a:rPr lang="en-US" altLang="ko-KR" sz="16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2.03</a:t>
            </a:r>
            <a:endParaRPr lang="ko-KR" altLang="en-US" sz="16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F38AB21-674C-12B6-64B4-AD8BBC19F8B5}"/>
              </a:ext>
            </a:extLst>
          </p:cNvPr>
          <p:cNvSpPr/>
          <p:nvPr/>
        </p:nvSpPr>
        <p:spPr>
          <a:xfrm>
            <a:off x="7647648" y="3533898"/>
            <a:ext cx="461301" cy="796751"/>
          </a:xfrm>
          <a:prstGeom prst="rect">
            <a:avLst/>
          </a:prstGeom>
          <a:noFill/>
          <a:ln w="28575">
            <a:solidFill>
              <a:schemeClr val="tx2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00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78E8792-8818-8AD6-39E7-006817AA2B2C}"/>
              </a:ext>
            </a:extLst>
          </p:cNvPr>
          <p:cNvSpPr txBox="1"/>
          <p:nvPr/>
        </p:nvSpPr>
        <p:spPr>
          <a:xfrm>
            <a:off x="4881126" y="2253169"/>
            <a:ext cx="1085341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75000"/>
                  </a:schemeClr>
                </a:solidFill>
                <a:latin typeface="Times New Roman"/>
                <a:ea typeface="맑은 고딕"/>
                <a:cs typeface="Times New Roman"/>
              </a:rPr>
              <a:t>Jin, EDL</a:t>
            </a:r>
            <a:r>
              <a:rPr lang="ko-KR" altLang="en-US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75000"/>
                  </a:schemeClr>
                </a:solidFill>
                <a:latin typeface="Times New Roman"/>
                <a:ea typeface="맑은 고딕"/>
                <a:cs typeface="Times New Roman"/>
              </a:rPr>
              <a:t> </a:t>
            </a:r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75000"/>
                  </a:schemeClr>
                </a:solidFill>
                <a:latin typeface="Times New Roman"/>
                <a:ea typeface="맑은 고딕"/>
                <a:cs typeface="Times New Roman"/>
              </a:rPr>
              <a:t>(2026)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5847629-24A0-1827-8411-9BA3C114D09A}"/>
                  </a:ext>
                </a:extLst>
              </p:cNvPr>
              <p:cNvSpPr txBox="1"/>
              <p:nvPr/>
            </p:nvSpPr>
            <p:spPr>
              <a:xfrm>
                <a:off x="3132138" y="1313702"/>
                <a:ext cx="2765822" cy="34932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6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𝜈</m:t>
                        </m:r>
                      </m:e>
                      <m:sub>
                        <m:r>
                          <a:rPr lang="en-US" altLang="ko-KR" sz="16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𝐶𝑇𝑁</m:t>
                        </m:r>
                        <m:r>
                          <a:rPr lang="en-US" altLang="ko-KR" sz="16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→</m:t>
                        </m:r>
                        <m:r>
                          <a:rPr lang="en-US" altLang="ko-KR" sz="16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𝑇𝑂𝑋</m:t>
                        </m:r>
                      </m:sub>
                    </m:sSub>
                    <m:r>
                      <a:rPr lang="en-US" altLang="ko-KR" sz="16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</m:t>
                    </m:r>
                    <m:f>
                      <m:fPr>
                        <m:ctrlPr>
                          <a:rPr lang="en-US" altLang="ko-KR" sz="16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6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  <m:r>
                          <a:rPr lang="en-US" altLang="ko-KR" sz="16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𝜋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altLang="ko-KR" sz="16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ℏ</m:t>
                        </m:r>
                      </m:den>
                    </m:f>
                    <m:sSup>
                      <m:sSupPr>
                        <m:ctrlPr>
                          <a:rPr lang="en-US" altLang="ko-KR" sz="16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p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altLang="ko-KR" sz="16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ko-KR" sz="16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6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𝐸</m:t>
                                </m:r>
                              </m:e>
                              <m:sub>
                                <m:r>
                                  <a:rPr lang="en-US" altLang="ko-KR" sz="16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𝑇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altLang="ko-KR" sz="16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</m:sup>
                    </m:sSup>
                    <m:sSub>
                      <m:sSubPr>
                        <m:ctrlPr>
                          <a:rPr lang="en-US" altLang="ko-KR" sz="16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6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𝑉</m:t>
                        </m:r>
                      </m:e>
                      <m:sub>
                        <m:r>
                          <a:rPr lang="en-US" altLang="ko-KR" sz="16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𝑡𝑟𝑎𝑝</m:t>
                        </m:r>
                      </m:sub>
                    </m:sSub>
                    <m:r>
                      <a:rPr lang="en-US" altLang="ko-KR" sz="16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×</m:t>
                    </m:r>
                    <m:sSub>
                      <m:sSubPr>
                        <m:ctrlPr>
                          <a:rPr lang="en-US" altLang="ko-KR" sz="16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6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𝐷</m:t>
                        </m:r>
                      </m:e>
                      <m:sub>
                        <m:r>
                          <a:rPr lang="en-US" altLang="ko-KR" sz="16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𝑡</m:t>
                        </m:r>
                      </m:sub>
                    </m:sSub>
                    <m:r>
                      <a:rPr lang="en-US" altLang="ko-KR" sz="16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</m:t>
                    </m:r>
                  </m:oMath>
                </a14:m>
                <a:r>
                  <a:rPr lang="ko-KR" altLang="en-US" sz="16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5847629-24A0-1827-8411-9BA3C114D0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32138" y="1313702"/>
                <a:ext cx="2765822" cy="349326"/>
              </a:xfrm>
              <a:prstGeom prst="rect">
                <a:avLst/>
              </a:prstGeom>
              <a:blipFill>
                <a:blip r:embed="rId4"/>
                <a:stretch>
                  <a:fillRect l="-220" b="-175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65AECF43-0623-FB62-51C5-B7A591C6EBA8}"/>
              </a:ext>
            </a:extLst>
          </p:cNvPr>
          <p:cNvSpPr txBox="1"/>
          <p:nvPr/>
        </p:nvSpPr>
        <p:spPr>
          <a:xfrm>
            <a:off x="3132138" y="2103845"/>
            <a:ext cx="1906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Detrapping</a:t>
            </a:r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Model</a:t>
            </a:r>
            <a:endParaRPr lang="ko-KR" altLang="en-US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01591CE-B245-9C3D-21FA-0D37300DA87C}"/>
              </a:ext>
            </a:extLst>
          </p:cNvPr>
          <p:cNvSpPr txBox="1"/>
          <p:nvPr/>
        </p:nvSpPr>
        <p:spPr>
          <a:xfrm>
            <a:off x="4844500" y="2074045"/>
            <a:ext cx="1137409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75000"/>
                  </a:schemeClr>
                </a:solidFill>
                <a:latin typeface="Times New Roman"/>
                <a:ea typeface="맑은 고딕"/>
                <a:cs typeface="Times New Roman"/>
              </a:rPr>
              <a:t>Jin, TED (2025)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7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  <p:pic>
        <p:nvPicPr>
          <p:cNvPr id="92" name="그림 91">
            <a:extLst>
              <a:ext uri="{FF2B5EF4-FFF2-40B4-BE49-F238E27FC236}">
                <a16:creationId xmlns:a16="http://schemas.microsoft.com/office/drawing/2014/main" id="{80F751E1-96A0-6BE0-7E30-71FE8F3F278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1420" y="1021221"/>
            <a:ext cx="1866670" cy="1951695"/>
          </a:xfrm>
          <a:prstGeom prst="rect">
            <a:avLst/>
          </a:prstGeom>
        </p:spPr>
      </p:pic>
      <p:sp>
        <p:nvSpPr>
          <p:cNvPr id="93" name="타원 92">
            <a:extLst>
              <a:ext uri="{FF2B5EF4-FFF2-40B4-BE49-F238E27FC236}">
                <a16:creationId xmlns:a16="http://schemas.microsoft.com/office/drawing/2014/main" id="{EC52590A-2639-1E6B-BB29-75327B5D0E6D}"/>
              </a:ext>
            </a:extLst>
          </p:cNvPr>
          <p:cNvSpPr/>
          <p:nvPr/>
        </p:nvSpPr>
        <p:spPr>
          <a:xfrm>
            <a:off x="5514442" y="1288391"/>
            <a:ext cx="330741" cy="388804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95" name="직선 화살표 연결선 94">
            <a:extLst>
              <a:ext uri="{FF2B5EF4-FFF2-40B4-BE49-F238E27FC236}">
                <a16:creationId xmlns:a16="http://schemas.microsoft.com/office/drawing/2014/main" id="{6C6D1EFF-5F59-9CE3-6B40-ABA45D5AB00B}"/>
              </a:ext>
            </a:extLst>
          </p:cNvPr>
          <p:cNvCxnSpPr>
            <a:stCxn id="93" idx="6"/>
          </p:cNvCxnSpPr>
          <p:nvPr/>
        </p:nvCxnSpPr>
        <p:spPr>
          <a:xfrm>
            <a:off x="5845183" y="1482793"/>
            <a:ext cx="43240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TextBox 95">
            <a:extLst>
              <a:ext uri="{FF2B5EF4-FFF2-40B4-BE49-F238E27FC236}">
                <a16:creationId xmlns:a16="http://schemas.microsoft.com/office/drawing/2014/main" id="{C658CF7D-1D51-ECFD-DF4A-6F763AE2C34E}"/>
              </a:ext>
            </a:extLst>
          </p:cNvPr>
          <p:cNvSpPr txBox="1"/>
          <p:nvPr/>
        </p:nvSpPr>
        <p:spPr>
          <a:xfrm>
            <a:off x="174265" y="3074291"/>
            <a:ext cx="44293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Effective route count modeling</a:t>
            </a:r>
            <a:endParaRPr lang="ko-KR" altLang="en-US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A970888D-FF3A-A95B-9E6C-77A33ADE0BE5}"/>
                  </a:ext>
                </a:extLst>
              </p:cNvPr>
              <p:cNvSpPr txBox="1"/>
              <p:nvPr/>
            </p:nvSpPr>
            <p:spPr>
              <a:xfrm>
                <a:off x="176278" y="3489329"/>
                <a:ext cx="4624467" cy="66742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0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20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𝑒</m:t>
                        </m:r>
                      </m:e>
                      <m:sub>
                        <m:r>
                          <a:rPr lang="en-US" altLang="ko-KR" sz="20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𝐶𝑇𝑁</m:t>
                        </m:r>
                        <m:r>
                          <a:rPr lang="en-US" altLang="ko-KR" sz="20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→</m:t>
                        </m:r>
                        <m:r>
                          <a:rPr lang="en-US" altLang="ko-KR" sz="20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𝑇𝑂𝑋</m:t>
                        </m:r>
                      </m:sub>
                    </m:sSub>
                    <m:r>
                      <a:rPr lang="en-US" altLang="ko-KR" sz="20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</m:t>
                    </m:r>
                    <m:r>
                      <a:rPr lang="en-US" altLang="ko-KR" sz="20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𝜈</m:t>
                    </m:r>
                    <m:r>
                      <a:rPr lang="en-US" altLang="ko-KR" sz="20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×</m:t>
                    </m:r>
                    <m:d>
                      <m:dPr>
                        <m:begChr m:val="|"/>
                        <m:endChr m:val="|"/>
                        <m:ctrlPr>
                          <a:rPr lang="en-US" altLang="ko-KR" sz="20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r>
                          <a:rPr lang="en-US" altLang="ko-KR" sz="20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𝑇𝐶</m:t>
                        </m:r>
                      </m:e>
                    </m:d>
                    <m:r>
                      <a:rPr lang="en-US" altLang="ko-KR" sz="20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×</m:t>
                    </m:r>
                    <m:f>
                      <m:fPr>
                        <m:ctrlPr>
                          <a:rPr lang="en-US" altLang="ko-KR" sz="20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20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20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#</m:t>
                            </m:r>
                          </m:e>
                          <m:sub>
                            <m:r>
                              <a:rPr lang="en-US" altLang="ko-KR" sz="20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𝑡𝑟𝑎𝑝</m:t>
                            </m:r>
                          </m:sub>
                        </m:sSub>
                        <m:r>
                          <a:rPr lang="en-US" altLang="ko-KR" sz="20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 </m:t>
                        </m:r>
                        <m:sSubSup>
                          <m:sSubSupPr>
                            <m:ctrlPr>
                              <a:rPr lang="en-US" altLang="ko-KR" sz="20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SupPr>
                          <m:e>
                            <m:r>
                              <a:rPr lang="en-US" altLang="ko-KR" sz="20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𝑎</m:t>
                            </m:r>
                          </m:e>
                          <m:sub>
                            <m:r>
                              <a:rPr lang="en-US" altLang="ko-KR" sz="20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𝑡𝑟𝑎𝑝</m:t>
                            </m:r>
                          </m:sub>
                          <m:sup>
                            <m:r>
                              <a:rPr lang="en-US" altLang="ko-KR" sz="20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</m:sup>
                        </m:sSubSup>
                      </m:num>
                      <m:den>
                        <m:r>
                          <a:rPr lang="en-US" altLang="ko-KR" sz="20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  <m:r>
                          <a:rPr lang="en-US" altLang="ko-KR" sz="20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𝜋</m:t>
                        </m:r>
                        <m:sSub>
                          <m:sSubPr>
                            <m:ctrlPr>
                              <a:rPr lang="en-US" altLang="ko-KR" sz="20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20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b>
                            <m:r>
                              <a:rPr lang="en-US" altLang="ko-KR" sz="20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𝑇𝑂𝑋</m:t>
                            </m:r>
                            <m:r>
                              <a:rPr lang="en-US" altLang="ko-KR" sz="20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,</m:t>
                            </m:r>
                            <m:r>
                              <a:rPr lang="en-US" altLang="ko-KR" sz="20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𝑐𝑒𝑛𝑡𝑟𝑜𝑖𝑑</m:t>
                            </m:r>
                          </m:sub>
                        </m:sSub>
                        <m:sSub>
                          <m:sSubPr>
                            <m:ctrlPr>
                              <a:rPr lang="en-US" altLang="ko-KR" sz="20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20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𝐿</m:t>
                            </m:r>
                          </m:e>
                          <m:sub>
                            <m:r>
                              <a:rPr lang="en-US" altLang="ko-KR" sz="20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𝑊𝐿</m:t>
                            </m:r>
                          </m:sub>
                        </m:sSub>
                      </m:den>
                    </m:f>
                    <m:r>
                      <a:rPr lang="en-US" altLang="ko-KR" sz="20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</m:t>
                    </m:r>
                  </m:oMath>
                </a14:m>
                <a:r>
                  <a:rPr lang="ko-KR" altLang="en-US" sz="20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</a:p>
            </p:txBody>
          </p:sp>
        </mc:Choice>
        <mc:Fallback xmlns="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A970888D-FF3A-A95B-9E6C-77A33ADE0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6278" y="3489329"/>
                <a:ext cx="4624467" cy="66742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8" name="타원 97">
            <a:extLst>
              <a:ext uri="{FF2B5EF4-FFF2-40B4-BE49-F238E27FC236}">
                <a16:creationId xmlns:a16="http://schemas.microsoft.com/office/drawing/2014/main" id="{29C515B5-D419-F6D7-5D24-E8562D44E92B}"/>
              </a:ext>
            </a:extLst>
          </p:cNvPr>
          <p:cNvSpPr/>
          <p:nvPr/>
        </p:nvSpPr>
        <p:spPr>
          <a:xfrm>
            <a:off x="2701221" y="3496659"/>
            <a:ext cx="2038703" cy="761907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1D663782-9B71-5BFC-71DA-D0C56E4FC8B6}"/>
              </a:ext>
            </a:extLst>
          </p:cNvPr>
          <p:cNvSpPr txBox="1"/>
          <p:nvPr/>
        </p:nvSpPr>
        <p:spPr>
          <a:xfrm>
            <a:off x="142672" y="4550539"/>
            <a:ext cx="232315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⸫ Simulation Result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graphicFrame>
        <p:nvGraphicFramePr>
          <p:cNvPr id="100" name="개체 99">
            <a:extLst>
              <a:ext uri="{FF2B5EF4-FFF2-40B4-BE49-F238E27FC236}">
                <a16:creationId xmlns:a16="http://schemas.microsoft.com/office/drawing/2014/main" id="{7D4F3D6F-7643-059D-D934-D5461E75839B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88849468"/>
              </p:ext>
            </p:extLst>
          </p:nvPr>
        </p:nvGraphicFramePr>
        <p:xfrm>
          <a:off x="3137752" y="4270818"/>
          <a:ext cx="3189920" cy="225391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7" imgW="4852293" imgH="3429000" progId="Origin50.Graph">
                  <p:embed/>
                </p:oleObj>
              </mc:Choice>
              <mc:Fallback>
                <p:oleObj name="Graph" r:id="rId7" imgW="4852293" imgH="3429000" progId="Origin50.Graph">
                  <p:embed/>
                  <p:pic>
                    <p:nvPicPr>
                      <p:cNvPr id="100" name="개체 99">
                        <a:extLst>
                          <a:ext uri="{FF2B5EF4-FFF2-40B4-BE49-F238E27FC236}">
                            <a16:creationId xmlns:a16="http://schemas.microsoft.com/office/drawing/2014/main" id="{7D4F3D6F-7643-059D-D934-D5461E75839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3137752" y="4270818"/>
                        <a:ext cx="3189920" cy="225391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1" name="개체 100">
            <a:extLst>
              <a:ext uri="{FF2B5EF4-FFF2-40B4-BE49-F238E27FC236}">
                <a16:creationId xmlns:a16="http://schemas.microsoft.com/office/drawing/2014/main" id="{D4AA7C8C-AF68-D8F1-F1FB-461C7DF712B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49081645"/>
              </p:ext>
            </p:extLst>
          </p:nvPr>
        </p:nvGraphicFramePr>
        <p:xfrm>
          <a:off x="6277583" y="4330649"/>
          <a:ext cx="2524564" cy="1783794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9" imgW="4852293" imgH="3429000" progId="Origin50.Graph">
                  <p:embed/>
                </p:oleObj>
              </mc:Choice>
              <mc:Fallback>
                <p:oleObj name="Graph" r:id="rId9" imgW="4852293" imgH="3429000" progId="Origin50.Graph">
                  <p:embed/>
                  <p:pic>
                    <p:nvPicPr>
                      <p:cNvPr id="101" name="개체 100">
                        <a:extLst>
                          <a:ext uri="{FF2B5EF4-FFF2-40B4-BE49-F238E27FC236}">
                            <a16:creationId xmlns:a16="http://schemas.microsoft.com/office/drawing/2014/main" id="{D4AA7C8C-AF68-D8F1-F1FB-461C7DF712B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6277583" y="4330649"/>
                        <a:ext cx="2524564" cy="1783794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2" name="직사각형 101">
            <a:extLst>
              <a:ext uri="{FF2B5EF4-FFF2-40B4-BE49-F238E27FC236}">
                <a16:creationId xmlns:a16="http://schemas.microsoft.com/office/drawing/2014/main" id="{C42C7C6B-4E72-C090-7A5D-52D3EEA5A6B4}"/>
              </a:ext>
            </a:extLst>
          </p:cNvPr>
          <p:cNvSpPr/>
          <p:nvPr/>
        </p:nvSpPr>
        <p:spPr>
          <a:xfrm>
            <a:off x="4481913" y="4684532"/>
            <a:ext cx="1463514" cy="128588"/>
          </a:xfrm>
          <a:prstGeom prst="rect">
            <a:avLst/>
          </a:prstGeom>
          <a:noFill/>
          <a:ln>
            <a:prstDash val="sysDot"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4" name="직선 연결선 103">
            <a:extLst>
              <a:ext uri="{FF2B5EF4-FFF2-40B4-BE49-F238E27FC236}">
                <a16:creationId xmlns:a16="http://schemas.microsoft.com/office/drawing/2014/main" id="{913BD9F1-0712-9711-9A22-70C13C398312}"/>
              </a:ext>
            </a:extLst>
          </p:cNvPr>
          <p:cNvCxnSpPr>
            <a:cxnSpLocks/>
          </p:cNvCxnSpPr>
          <p:nvPr/>
        </p:nvCxnSpPr>
        <p:spPr>
          <a:xfrm flipV="1">
            <a:off x="5945427" y="4543244"/>
            <a:ext cx="664951" cy="128588"/>
          </a:xfrm>
          <a:prstGeom prst="line">
            <a:avLst/>
          </a:prstGeom>
          <a:ln>
            <a:solidFill>
              <a:srgbClr val="28486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직선 연결선 104">
            <a:extLst>
              <a:ext uri="{FF2B5EF4-FFF2-40B4-BE49-F238E27FC236}">
                <a16:creationId xmlns:a16="http://schemas.microsoft.com/office/drawing/2014/main" id="{949B533A-FA31-507A-F9E0-A9FD5BA60E6A}"/>
              </a:ext>
            </a:extLst>
          </p:cNvPr>
          <p:cNvCxnSpPr>
            <a:cxnSpLocks/>
          </p:cNvCxnSpPr>
          <p:nvPr/>
        </p:nvCxnSpPr>
        <p:spPr>
          <a:xfrm>
            <a:off x="5945427" y="4815876"/>
            <a:ext cx="527090" cy="1032474"/>
          </a:xfrm>
          <a:prstGeom prst="line">
            <a:avLst/>
          </a:prstGeom>
          <a:ln>
            <a:solidFill>
              <a:srgbClr val="28486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TextBox 117">
            <a:extLst>
              <a:ext uri="{FF2B5EF4-FFF2-40B4-BE49-F238E27FC236}">
                <a16:creationId xmlns:a16="http://schemas.microsoft.com/office/drawing/2014/main" id="{EDE3545D-40CC-5BD7-6526-AC8E559CCCFD}"/>
              </a:ext>
            </a:extLst>
          </p:cNvPr>
          <p:cNvSpPr txBox="1"/>
          <p:nvPr/>
        </p:nvSpPr>
        <p:spPr>
          <a:xfrm>
            <a:off x="583112" y="5147018"/>
            <a:ext cx="248907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endurance </a:t>
            </a:r>
            <a:r>
              <a:rPr lang="ko-KR" altLang="en-US" sz="16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별로 차이는 있으나</a:t>
            </a:r>
            <a:r>
              <a:rPr lang="en-US" altLang="ko-KR" sz="16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, CTN </a:t>
            </a:r>
            <a:r>
              <a:rPr lang="en-US" altLang="ko-KR" sz="16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detrap</a:t>
            </a:r>
            <a:r>
              <a:rPr lang="ko-KR" altLang="en-US" sz="16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의 넓은 </a:t>
            </a:r>
            <a:r>
              <a:rPr lang="en-US" altLang="ko-KR" sz="16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emission route</a:t>
            </a:r>
            <a:r>
              <a:rPr lang="ko-KR" altLang="en-US" sz="16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를 극복할 순 없다</a:t>
            </a: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344924B4-70DE-D7A6-B98C-0C9CF67A3F0A}"/>
              </a:ext>
            </a:extLst>
          </p:cNvPr>
          <p:cNvSpPr txBox="1"/>
          <p:nvPr/>
        </p:nvSpPr>
        <p:spPr>
          <a:xfrm>
            <a:off x="7912462" y="2272639"/>
            <a:ext cx="1137409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75000"/>
                  </a:schemeClr>
                </a:solidFill>
                <a:latin typeface="Times New Roman"/>
                <a:ea typeface="맑은 고딕"/>
                <a:cs typeface="Times New Roman"/>
              </a:rPr>
              <a:t>Jin, TED (2025)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7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5901902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1A623DB-6BD2-709E-782E-22837D9C5E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129" y="193256"/>
            <a:ext cx="8955742" cy="535531"/>
          </a:xfrm>
        </p:spPr>
        <p:txBody>
          <a:bodyPr/>
          <a:lstStyle/>
          <a:p>
            <a:r>
              <a:rPr lang="en-US" altLang="ko-KR" sz="3200" dirty="0"/>
              <a:t>BETOX Trapped Electron </a:t>
            </a:r>
            <a:r>
              <a:rPr lang="en-US" altLang="ko-KR" sz="3200" dirty="0" err="1"/>
              <a:t>Detrapping</a:t>
            </a:r>
            <a:r>
              <a:rPr lang="en-US" altLang="ko-KR" sz="3200" dirty="0"/>
              <a:t> Modeling</a:t>
            </a:r>
            <a:endParaRPr lang="ko-KR" altLang="en-US" sz="320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3654E95-7B48-71F3-9382-573C6053EC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321" y="4475550"/>
            <a:ext cx="2438927" cy="412647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D0E53AB0-8193-AD84-2947-BC2CA446A5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406" y="4915294"/>
            <a:ext cx="3918517" cy="699078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CF5FF37E-6AED-5563-AB75-CD3E193D95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1406" y="5684604"/>
            <a:ext cx="3558106" cy="520699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3E5B9C51-92F8-FA00-5CCD-CC60ED6BB9C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2273"/>
          <a:stretch>
            <a:fillRect/>
          </a:stretch>
        </p:blipFill>
        <p:spPr>
          <a:xfrm>
            <a:off x="4306926" y="5614372"/>
            <a:ext cx="3805756" cy="59093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9D8566E-2EFC-6A1F-56BA-277D634C0D9C}"/>
              </a:ext>
            </a:extLst>
          </p:cNvPr>
          <p:cNvSpPr txBox="1"/>
          <p:nvPr/>
        </p:nvSpPr>
        <p:spPr>
          <a:xfrm>
            <a:off x="188536" y="3978111"/>
            <a:ext cx="879520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Emission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rate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모델링 </a:t>
            </a:r>
            <a:r>
              <a:rPr lang="ko-KR" altLang="en-US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결과식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(Jin, TED 2025)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83918E0-4C48-EBB1-6175-3A4CB2D2CA67}"/>
              </a:ext>
            </a:extLst>
          </p:cNvPr>
          <p:cNvSpPr txBox="1"/>
          <p:nvPr/>
        </p:nvSpPr>
        <p:spPr>
          <a:xfrm>
            <a:off x="188536" y="974452"/>
            <a:ext cx="879520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BETOX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의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O/N/O/N/O 5-layer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구조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Poisson solution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76B928F-72AE-53C1-1CBB-4DD6B6AE0364}"/>
              </a:ext>
            </a:extLst>
          </p:cNvPr>
          <p:cNvSpPr txBox="1"/>
          <p:nvPr/>
        </p:nvSpPr>
        <p:spPr>
          <a:xfrm>
            <a:off x="7777640" y="6205303"/>
            <a:ext cx="13663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Jin, TED 2025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857CC26-D0CA-579C-DD96-07EA1420425A}"/>
                  </a:ext>
                </a:extLst>
              </p:cNvPr>
              <p:cNvSpPr txBox="1"/>
              <p:nvPr/>
            </p:nvSpPr>
            <p:spPr>
              <a:xfrm>
                <a:off x="233072" y="1327792"/>
                <a:ext cx="4931777" cy="139910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𝑉</m:t>
                        </m:r>
                      </m:e>
                      <m:sub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𝑂</m:t>
                        </m:r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e>
                    </m:d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</m:t>
                    </m:r>
                    <m:f>
                      <m:f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𝐾</m:t>
                        </m:r>
                      </m:num>
                      <m:den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𝑜𝑥</m:t>
                            </m:r>
                          </m:sub>
                        </m:sSub>
                      </m:den>
                    </m:f>
                    <m:func>
                      <m:funcPr>
                        <m:ctrl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ln</m:t>
                        </m:r>
                      </m:fName>
                      <m:e>
                        <m:f>
                          <m:f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0</m:t>
                                </m:r>
                              </m:sub>
                            </m:sSub>
                          </m:den>
                        </m:f>
                      </m:e>
                    </m:func>
                  </m:oMath>
                </a14:m>
                <a:r>
                  <a:rPr lang="ko-KR" altLang="en-US" sz="11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  <a:endParaRPr lang="en-US" altLang="ko-KR" sz="11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𝑉</m:t>
                        </m:r>
                      </m:e>
                      <m:sub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𝑁</m:t>
                        </m:r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e>
                    </m:d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</m:t>
                    </m:r>
                    <m:f>
                      <m:f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𝐾</m:t>
                        </m:r>
                      </m:num>
                      <m:den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𝑜𝑥</m:t>
                            </m:r>
                          </m:sub>
                        </m:sSub>
                      </m:den>
                    </m:f>
                    <m:func>
                      <m:funcPr>
                        <m:ctrl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ln</m:t>
                        </m:r>
                      </m:fName>
                      <m:e>
                        <m:f>
                          <m:f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𝑂</m:t>
                                </m:r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1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0</m:t>
                                </m:r>
                              </m:sub>
                            </m:sSub>
                          </m:den>
                        </m:f>
                      </m:e>
                    </m:func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+</m:t>
                    </m:r>
                    <m:f>
                      <m:f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𝐾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sub>
                        </m:sSub>
                      </m:den>
                    </m:f>
                    <m:func>
                      <m:funcPr>
                        <m:ctrl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ln</m:t>
                        </m:r>
                      </m:fName>
                      <m:e>
                        <m:f>
                          <m:f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𝑂</m:t>
                                </m:r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1</m:t>
                                </m:r>
                              </m:sub>
                            </m:sSub>
                          </m:den>
                        </m:f>
                      </m:e>
                    </m:func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+</m:t>
                    </m:r>
                    <m:f>
                      <m:f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𝑞</m:t>
                        </m:r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𝑡</m:t>
                            </m:r>
                            <m:r>
                              <m:rPr>
                                <m:lit/>
                              </m:r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_</m:t>
                            </m:r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𝑡𝑛</m:t>
                            </m:r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</m:sSub>
                      </m:num>
                      <m:den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4</m:t>
                        </m:r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sub>
                        </m:sSub>
                      </m:den>
                    </m:f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</m:t>
                    </m:r>
                    <m:d>
                      <m:d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p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p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</m:sup>
                        </m:sSup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−</m:t>
                        </m:r>
                        <m:sSubSup>
                          <m:sSubSup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Sup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𝑂</m:t>
                            </m:r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  <m:sup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r>
                  <a:rPr lang="ko-KR" altLang="en-US" sz="11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  <a:endParaRPr lang="en-US" altLang="ko-KR" sz="11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𝑉</m:t>
                        </m:r>
                      </m:e>
                      <m:sub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𝑂</m:t>
                        </m:r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e>
                    </m:d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</m:t>
                    </m:r>
                    <m:sSub>
                      <m:sSub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𝑉</m:t>
                        </m:r>
                      </m:e>
                      <m:sub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𝑁</m:t>
                        </m:r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+</m:t>
                    </m:r>
                    <m:f>
                      <m:f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𝐾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𝑜𝑥</m:t>
                            </m:r>
                          </m:sub>
                        </m:sSub>
                      </m:den>
                    </m:f>
                    <m:func>
                      <m:funcPr>
                        <m:ctrl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ln</m:t>
                        </m:r>
                      </m:fName>
                      <m:e>
                        <m:f>
                          <m:f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𝑛</m:t>
                                </m:r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1</m:t>
                                </m:r>
                              </m:sub>
                            </m:sSub>
                          </m:den>
                        </m:f>
                      </m:e>
                    </m:func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</m:t>
                    </m:r>
                  </m:oMath>
                </a14:m>
                <a:r>
                  <a:rPr lang="ko-KR" altLang="en-US" sz="11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  <a:endParaRPr lang="en-US" altLang="ko-KR" sz="11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𝑉</m:t>
                        </m:r>
                      </m:e>
                      <m:sub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𝐶𝑇𝑁</m:t>
                        </m:r>
                      </m:sub>
                    </m:sSub>
                    <m:d>
                      <m:d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e>
                    </m:d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</m:t>
                    </m:r>
                    <m:sSub>
                      <m:sSub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𝑉</m:t>
                        </m:r>
                      </m:e>
                      <m:sub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𝑂</m:t>
                        </m:r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𝑡𝑜𝑥</m:t>
                            </m:r>
                          </m:sub>
                        </m:sSub>
                      </m:e>
                    </m:d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+</m:t>
                    </m:r>
                    <m:f>
                      <m:f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𝐾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3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sub>
                        </m:sSub>
                      </m:den>
                    </m:f>
                    <m:func>
                      <m:funcPr>
                        <m:ctrl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ln</m:t>
                        </m:r>
                      </m:fName>
                      <m:e>
                        <m:f>
                          <m:f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𝑡𝑜𝑥</m:t>
                                </m:r>
                              </m:sub>
                            </m:sSub>
                          </m:den>
                        </m:f>
                      </m:e>
                    </m:func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+</m:t>
                    </m:r>
                    <m:f>
                      <m:f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𝑞</m:t>
                        </m:r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𝑡</m:t>
                            </m:r>
                            <m:r>
                              <m:rPr>
                                <m:lit/>
                              </m:r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_</m:t>
                            </m:r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𝑐𝑡𝑛</m:t>
                            </m:r>
                          </m:sub>
                        </m:sSub>
                      </m:num>
                      <m:den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4</m:t>
                        </m:r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sub>
                        </m:sSub>
                      </m:den>
                    </m:f>
                    <m:d>
                      <m:d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p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p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</m:sup>
                        </m:sSup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−</m:t>
                        </m:r>
                        <m:sSubSup>
                          <m:sSubSup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Sup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𝑡𝑜𝑥</m:t>
                            </m:r>
                          </m:sub>
                          <m:sup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r>
                  <a:rPr lang="ko-KR" altLang="en-US" sz="11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  <a:endParaRPr lang="en-US" altLang="ko-KR" sz="11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𝑉</m:t>
                        </m:r>
                      </m:e>
                      <m:sub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𝑏𝑜𝑥</m:t>
                        </m:r>
                      </m:sub>
                    </m:sSub>
                    <m:d>
                      <m:d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e>
                    </m:d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</m:t>
                    </m:r>
                    <m:sSub>
                      <m:sSub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𝑉</m:t>
                        </m:r>
                      </m:e>
                      <m:sub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𝐶𝑇𝑁</m:t>
                        </m:r>
                      </m:sub>
                    </m:sSub>
                    <m:d>
                      <m:d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𝐶𝑇𝑁</m:t>
                            </m:r>
                          </m:sub>
                        </m:sSub>
                      </m:e>
                    </m:d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+</m:t>
                    </m:r>
                    <m:f>
                      <m:f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𝐾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4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𝑜𝑥</m:t>
                            </m:r>
                          </m:sub>
                        </m:sSub>
                      </m:den>
                    </m:f>
                    <m:func>
                      <m:funcPr>
                        <m:ctrl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ln</m:t>
                        </m:r>
                      </m:fName>
                      <m:e>
                        <m:f>
                          <m:f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𝐶𝑇𝑁</m:t>
                                </m:r>
                              </m:sub>
                            </m:sSub>
                          </m:den>
                        </m:f>
                      </m:e>
                    </m:func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=</m:t>
                    </m:r>
                    <m:sSub>
                      <m:sSub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𝑉</m:t>
                        </m:r>
                      </m:e>
                      <m:sub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𝑔</m:t>
                        </m:r>
                      </m:sub>
                    </m:sSub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−</m:t>
                    </m:r>
                    <m:f>
                      <m:f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𝐾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4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𝑜𝑥</m:t>
                            </m:r>
                          </m:sub>
                        </m:sSub>
                      </m:den>
                    </m:f>
                    <m:func>
                      <m:funcPr>
                        <m:ctrl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ln</m:t>
                        </m:r>
                      </m:fName>
                      <m:e>
                        <m:f>
                          <m:f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𝑏𝑜𝑥</m:t>
                                </m:r>
                              </m:sub>
                            </m:sSub>
                          </m:num>
                          <m:den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den>
                        </m:f>
                      </m:e>
                    </m:func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</m:t>
                    </m:r>
                  </m:oMath>
                </a14:m>
                <a:r>
                  <a:rPr lang="ko-KR" altLang="en-US" sz="11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857CC26-D0CA-579C-DD96-07EA142042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3072" y="1327792"/>
                <a:ext cx="4931777" cy="139910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092A3E4-9359-43FD-FE18-6B4B1B822481}"/>
                  </a:ext>
                </a:extLst>
              </p:cNvPr>
              <p:cNvSpPr txBox="1"/>
              <p:nvPr/>
            </p:nvSpPr>
            <p:spPr>
              <a:xfrm>
                <a:off x="380321" y="2727061"/>
                <a:ext cx="8560732" cy="84138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sz="105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𝐾</m:t>
                    </m:r>
                    <m:r>
                      <a:rPr lang="en-US" altLang="ko-KR" sz="105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</m:t>
                    </m:r>
                    <m:f>
                      <m:fPr>
                        <m:ctrlP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𝑉</m:t>
                            </m:r>
                          </m:e>
                          <m:sub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𝑔</m:t>
                            </m:r>
                          </m:sub>
                        </m:sSub>
                      </m:num>
                      <m:den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𝛼</m:t>
                        </m:r>
                      </m:den>
                    </m:f>
                    <m:r>
                      <a:rPr lang="en-US" altLang="ko-KR" sz="105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−</m:t>
                    </m:r>
                    <m:f>
                      <m:fPr>
                        <m:ctrlP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𝑞</m:t>
                        </m:r>
                        <m:sSub>
                          <m:sSub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e>
                          <m:sub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𝑡</m:t>
                            </m:r>
                            <m:r>
                              <m:rPr>
                                <m:lit/>
                              </m:r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_</m:t>
                            </m:r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𝑡𝑛</m:t>
                            </m:r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</m:sSub>
                        <m:d>
                          <m:d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Sup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𝑛</m:t>
                                </m:r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2</m:t>
                                </m:r>
                              </m:sup>
                            </m:sSubSup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−</m:t>
                            </m:r>
                            <m:sSubSup>
                              <m:sSubSup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Sup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𝑂</m:t>
                                </m:r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2</m:t>
                                </m:r>
                              </m:sup>
                            </m:sSubSup>
                          </m:e>
                        </m:d>
                      </m:num>
                      <m:den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𝛼</m:t>
                        </m:r>
                      </m:den>
                    </m:f>
                    <m:r>
                      <a:rPr lang="en-US" altLang="ko-KR" sz="105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</m:t>
                    </m:r>
                    <m:d>
                      <m:dPr>
                        <m:begChr m:val="{"/>
                        <m:endChr m:val="}"/>
                        <m:ctrlP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 −</m:t>
                        </m:r>
                        <m:f>
                          <m:f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sSubSup>
                              <m:sSubSup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Sup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𝑂</m:t>
                                </m:r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2</m:t>
                                </m:r>
                              </m:sup>
                            </m:sSubSup>
                          </m:num>
                          <m:den>
                            <m:sSubSup>
                              <m:sSubSup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Sup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𝑛</m:t>
                                </m:r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2</m:t>
                                </m:r>
                              </m:sup>
                            </m:sSubSup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−</m:t>
                            </m:r>
                            <m:sSubSup>
                              <m:sSubSup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Sup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𝑂</m:t>
                                </m:r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2</m:t>
                                </m:r>
                              </m:sup>
                            </m:sSubSup>
                          </m:den>
                        </m:f>
                        <m:f>
                          <m:f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𝑛</m:t>
                                </m:r>
                              </m:sub>
                            </m:sSub>
                          </m:den>
                        </m:f>
                        <m:func>
                          <m:funcPr>
                            <m:ctrlPr>
                              <a:rPr lang="en-US" altLang="ko-KR" sz="105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altLang="ko-KR" sz="105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ln</m:t>
                            </m:r>
                          </m:fName>
                          <m:e>
                            <m:f>
                              <m:f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𝑛</m:t>
                                    </m:r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1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sSubPr>
                                    <m:ctrlP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𝑂</m:t>
                                    </m:r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</m:e>
                        </m:func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+</m:t>
                        </m:r>
                        <m:f>
                          <m:f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  <m:sSub>
                              <m:sSub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𝑛</m:t>
                                </m:r>
                              </m:sub>
                            </m:sSub>
                          </m:den>
                        </m:f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+</m:t>
                        </m:r>
                        <m:f>
                          <m:f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𝑜𝑥</m:t>
                                </m:r>
                              </m:sub>
                            </m:sSub>
                          </m:den>
                        </m:f>
                        <m:func>
                          <m:funcPr>
                            <m:ctrlPr>
                              <a:rPr lang="en-US" altLang="ko-KR" sz="105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altLang="ko-KR" sz="105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ln</m:t>
                            </m:r>
                          </m:fName>
                          <m:e>
                            <m:f>
                              <m:f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𝑡𝑜𝑥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sSubPr>
                                    <m:ctrlP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𝑛</m:t>
                                    </m:r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</m:e>
                        </m:func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+</m:t>
                        </m:r>
                        <m:f>
                          <m:f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𝑛</m:t>
                                </m:r>
                              </m:sub>
                            </m:sSub>
                          </m:den>
                        </m:f>
                        <m:func>
                          <m:funcPr>
                            <m:ctrlPr>
                              <a:rPr lang="en-US" altLang="ko-KR" sz="105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altLang="ko-KR" sz="105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ln</m:t>
                            </m:r>
                          </m:fName>
                          <m:e>
                            <m:f>
                              <m:f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𝐶𝑇𝑁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sSubPr>
                                    <m:ctrlP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𝑡𝑜𝑥</m:t>
                                    </m:r>
                                  </m:sub>
                                </m:sSub>
                              </m:den>
                            </m:f>
                          </m:e>
                        </m:func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+</m:t>
                        </m:r>
                        <m:f>
                          <m:f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𝑜𝑥</m:t>
                                </m:r>
                              </m:sub>
                            </m:sSub>
                          </m:den>
                        </m:f>
                        <m:func>
                          <m:funcPr>
                            <m:ctrlPr>
                              <a:rPr lang="en-US" altLang="ko-KR" sz="105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altLang="ko-KR" sz="105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ln</m:t>
                            </m:r>
                          </m:fName>
                          <m:e>
                            <m:f>
                              <m:f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𝑏𝑜𝑥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sSubPr>
                                    <m:ctrlP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𝐶𝑇𝑁</m:t>
                                    </m:r>
                                  </m:sub>
                                </m:sSub>
                              </m:den>
                            </m:f>
                          </m:e>
                        </m:func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 </m:t>
                        </m:r>
                      </m:e>
                    </m:d>
                    <m:r>
                      <a:rPr lang="en-US" altLang="ko-KR" sz="105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 −</m:t>
                    </m:r>
                    <m:f>
                      <m:fPr>
                        <m:ctrl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𝑞</m:t>
                        </m:r>
                        <m:sSub>
                          <m:sSubPr>
                            <m:ctrlP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e>
                          <m:sub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𝐶𝑇𝑁</m:t>
                            </m:r>
                          </m:sub>
                        </m:sSub>
                        <m:d>
                          <m:dPr>
                            <m:ctrlP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en-US" altLang="ko-KR" sz="1050" i="1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SupPr>
                              <m:e>
                                <m:r>
                                  <a:rPr lang="en-US" altLang="ko-KR" sz="1050" i="1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𝐶𝑇𝑁</m:t>
                                </m:r>
                              </m:sub>
                              <m:sup>
                                <m:r>
                                  <a:rPr lang="en-US" altLang="ko-KR" sz="1050" i="1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2</m:t>
                                </m:r>
                              </m:sup>
                            </m:sSubSup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−</m:t>
                            </m:r>
                            <m:sSubSup>
                              <m:sSubSupPr>
                                <m:ctrlPr>
                                  <a:rPr lang="en-US" altLang="ko-KR" sz="1050" i="1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SupPr>
                              <m:e>
                                <m:r>
                                  <a:rPr lang="en-US" altLang="ko-KR" sz="1050" i="1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𝑡𝑜𝑥</m:t>
                                </m:r>
                              </m:sub>
                              <m:sup>
                                <m:r>
                                  <a:rPr lang="en-US" altLang="ko-KR" sz="1050" i="1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2</m:t>
                                </m:r>
                              </m:sup>
                            </m:sSubSup>
                          </m:e>
                        </m:d>
                      </m:num>
                      <m:den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𝛼</m:t>
                        </m:r>
                      </m:den>
                    </m:f>
                    <m:d>
                      <m:dPr>
                        <m:begChr m:val="{"/>
                        <m:endChr m:val="}"/>
                        <m:ctrlP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 −</m:t>
                        </m:r>
                        <m:f>
                          <m:f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sSubSup>
                              <m:sSubSup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Sup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𝑡𝑜𝑥</m:t>
                                </m:r>
                              </m:sub>
                              <m:sup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2</m:t>
                                </m:r>
                              </m:sup>
                            </m:sSubSup>
                          </m:num>
                          <m:den>
                            <m:sSubSup>
                              <m:sSubSup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Sup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𝐶𝑇𝑁</m:t>
                                </m:r>
                              </m:sub>
                              <m:sup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2</m:t>
                                </m:r>
                              </m:sup>
                            </m:sSubSup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−</m:t>
                            </m:r>
                            <m:sSubSup>
                              <m:sSubSup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Sup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𝑡𝑜𝑥</m:t>
                                </m:r>
                              </m:sub>
                              <m:sup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2</m:t>
                                </m:r>
                              </m:sup>
                            </m:sSubSup>
                          </m:den>
                        </m:f>
                        <m:f>
                          <m:f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𝑛</m:t>
                                </m:r>
                              </m:sub>
                            </m:sSub>
                          </m:den>
                        </m:f>
                        <m:func>
                          <m:funcPr>
                            <m:ctrlPr>
                              <a:rPr lang="en-US" altLang="ko-KR" sz="105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altLang="ko-KR" sz="105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ln</m:t>
                            </m:r>
                          </m:fName>
                          <m:e>
                            <m:f>
                              <m:f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𝐶𝑇𝑁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sSubPr>
                                    <m:ctrlP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𝑡𝑜𝑥</m:t>
                                    </m:r>
                                  </m:sub>
                                </m:sSub>
                              </m:den>
                            </m:f>
                          </m:e>
                        </m:func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 +</m:t>
                        </m:r>
                        <m:f>
                          <m:f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  <m:sSub>
                              <m:sSub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𝑛</m:t>
                                </m:r>
                              </m:sub>
                            </m:sSub>
                          </m:den>
                        </m:f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+</m:t>
                        </m:r>
                        <m:f>
                          <m:f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𝑜𝑥</m:t>
                                </m:r>
                              </m:sub>
                            </m:sSub>
                          </m:den>
                        </m:f>
                        <m:func>
                          <m:funcPr>
                            <m:ctrlPr>
                              <a:rPr lang="en-US" altLang="ko-KR" sz="105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altLang="ko-KR" sz="105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ln</m:t>
                            </m:r>
                          </m:fName>
                          <m:e>
                            <m:f>
                              <m:f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𝑏𝑜𝑥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sSubPr>
                                    <m:ctrlP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𝐶𝑇𝑁</m:t>
                                    </m:r>
                                  </m:sub>
                                </m:sSub>
                              </m:den>
                            </m:f>
                          </m:e>
                        </m:func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 </m:t>
                        </m:r>
                      </m:e>
                    </m:d>
                  </m:oMath>
                </a14:m>
                <a:r>
                  <a:rPr lang="ko-KR" altLang="en-US" sz="105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  <a:endParaRPr lang="en-US" altLang="ko-KR" sz="105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𝐾</m:t>
                        </m:r>
                      </m:e>
                      <m:sub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sub>
                    </m:sSub>
                    <m:r>
                      <a:rPr lang="en-US" altLang="ko-KR" sz="105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</m:t>
                    </m:r>
                    <m:r>
                      <a:rPr lang="en-US" altLang="ko-KR" sz="105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𝐾</m:t>
                    </m:r>
                    <m:r>
                      <a:rPr lang="en-US" altLang="ko-KR" sz="105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−</m:t>
                    </m:r>
                    <m:f>
                      <m:fPr>
                        <m:ctrlP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𝑞</m:t>
                        </m:r>
                      </m:e>
                      <m:sub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𝑡</m:t>
                        </m:r>
                        <m:r>
                          <m:rPr>
                            <m:lit/>
                          </m:rP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_</m:t>
                        </m:r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𝑡𝑛</m:t>
                        </m:r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sub>
                    </m:sSub>
                    <m:sSubSup>
                      <m:sSubSupPr>
                        <m:ctrlP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SupPr>
                      <m:e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e>
                      <m:sub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𝑂</m:t>
                        </m:r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sub>
                      <m:sup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ko-KR" altLang="en-US" sz="105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  <a:r>
                  <a:rPr lang="en-US" altLang="ko-KR" sz="105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,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𝐾</m:t>
                        </m:r>
                      </m:e>
                      <m:sub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</m:sub>
                    </m:sSub>
                    <m:r>
                      <a:rPr lang="en-US" altLang="ko-KR" sz="105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</m:t>
                    </m:r>
                    <m:r>
                      <a:rPr lang="en-US" altLang="ko-KR" sz="105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𝐾</m:t>
                    </m:r>
                    <m:r>
                      <a:rPr lang="en-US" altLang="ko-KR" sz="105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+</m:t>
                    </m:r>
                  </m:oMath>
                </a14:m>
                <a:r>
                  <a:rPr lang="en-US" altLang="ko-KR" sz="105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ea typeface="맑은 고딕"/>
                    <a:cs typeface="Times New Roman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𝑞</m:t>
                        </m:r>
                      </m:e>
                      <m:sub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𝑡</m:t>
                        </m:r>
                        <m:r>
                          <m:rPr>
                            <m:lit/>
                          </m:r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_</m:t>
                        </m:r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𝑡𝑛</m:t>
                        </m:r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SupPr>
                          <m:e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b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𝑡𝑛</m:t>
                            </m:r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  <m:sup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</m:sup>
                        </m:sSubSup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−</m:t>
                        </m:r>
                        <m:sSubSup>
                          <m:sSubSupPr>
                            <m:ctrlP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SupPr>
                          <m:e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b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𝑂</m:t>
                            </m:r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  <m:sup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endParaRPr lang="en-US" altLang="ko-KR" sz="105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𝐾</m:t>
                        </m:r>
                      </m:e>
                      <m:sub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3</m:t>
                        </m:r>
                      </m:sub>
                    </m:sSub>
                    <m:r>
                      <a:rPr lang="en-US" altLang="ko-KR" sz="105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</m:t>
                    </m:r>
                    <m:r>
                      <a:rPr lang="en-US" altLang="ko-KR" sz="105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𝐾</m:t>
                    </m:r>
                    <m:r>
                      <a:rPr lang="en-US" altLang="ko-KR" sz="105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+</m:t>
                    </m:r>
                    <m:f>
                      <m:fPr>
                        <m:ctrlP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𝑞</m:t>
                        </m:r>
                      </m:e>
                      <m:sub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𝑡</m:t>
                        </m:r>
                        <m:r>
                          <m:rPr>
                            <m:lit/>
                          </m:r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_</m:t>
                        </m:r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𝑡𝑛</m:t>
                        </m:r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SupPr>
                          <m:e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b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𝑡𝑛</m:t>
                            </m:r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  <m:sup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</m:sup>
                        </m:sSubSup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−</m:t>
                        </m:r>
                        <m:sSubSup>
                          <m:sSubSupPr>
                            <m:ctrlP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SupPr>
                          <m:e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b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𝑂</m:t>
                            </m:r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  <m:sup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</m:sup>
                        </m:sSubSup>
                      </m:e>
                    </m:d>
                    <m:r>
                      <a:rPr lang="en-US" altLang="ko-KR" sz="1050" i="1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−</m:t>
                    </m:r>
                    <m:f>
                      <m:fPr>
                        <m:ctrl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𝑞</m:t>
                        </m:r>
                      </m:e>
                      <m:sub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𝑡</m:t>
                        </m:r>
                        <m:r>
                          <m:rPr>
                            <m:lit/>
                          </m:r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_</m:t>
                        </m:r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𝐶𝑇𝑁</m:t>
                        </m:r>
                      </m:sub>
                    </m:sSub>
                    <m:sSubSup>
                      <m:sSubSupPr>
                        <m:ctrl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SupPr>
                      <m:e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e>
                      <m:sub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𝑡𝑜𝑥</m:t>
                        </m:r>
                      </m:sub>
                      <m:sup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ko-KR" altLang="en-US" sz="105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  <a:r>
                  <a:rPr lang="en-US" altLang="ko-KR" sz="105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,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𝐾</m:t>
                        </m:r>
                      </m:e>
                      <m:sub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4</m:t>
                        </m:r>
                      </m:sub>
                    </m:sSub>
                    <m:r>
                      <a:rPr lang="en-US" altLang="ko-KR" sz="1050" i="1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</m:t>
                    </m:r>
                    <m:r>
                      <a:rPr lang="en-US" altLang="ko-KR" sz="1050" i="1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𝐾</m:t>
                    </m:r>
                    <m:r>
                      <a:rPr lang="en-US" altLang="ko-KR" sz="1050" i="1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+</m:t>
                    </m:r>
                    <m:f>
                      <m:fPr>
                        <m:ctrl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𝑞</m:t>
                        </m:r>
                      </m:e>
                      <m:sub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𝑡</m:t>
                        </m:r>
                        <m:r>
                          <m:rPr>
                            <m:lit/>
                          </m:r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_</m:t>
                        </m:r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𝑡𝑛</m:t>
                        </m:r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SupPr>
                          <m:e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b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𝑡𝑛</m:t>
                            </m:r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  <m:sup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</m:sup>
                        </m:sSubSup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−</m:t>
                        </m:r>
                        <m:sSubSup>
                          <m:sSubSupPr>
                            <m:ctrlP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SupPr>
                          <m:e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b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𝑂</m:t>
                            </m:r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  <m:sup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</m:sup>
                        </m:sSubSup>
                      </m:e>
                    </m:d>
                    <m:r>
                      <a:rPr lang="en-US" altLang="ko-KR" sz="105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+</m:t>
                    </m:r>
                    <m:f>
                      <m:fPr>
                        <m:ctrl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𝑞</m:t>
                        </m:r>
                      </m:e>
                      <m:sub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𝑡</m:t>
                        </m:r>
                        <m:r>
                          <m:rPr>
                            <m:lit/>
                          </m:r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_</m:t>
                        </m:r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𝐶𝑇𝑁</m:t>
                        </m:r>
                      </m:sub>
                    </m:sSub>
                    <m:d>
                      <m:dPr>
                        <m:ctrlP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SupPr>
                          <m:e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b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𝐶𝑇𝑁</m:t>
                            </m:r>
                          </m:sub>
                          <m:sup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</m:sup>
                        </m:sSubSup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− </m:t>
                        </m:r>
                        <m:sSubSup>
                          <m:sSubSupPr>
                            <m:ctrlP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SupPr>
                          <m:e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b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𝑡𝑜𝑥</m:t>
                            </m:r>
                          </m:sub>
                          <m:sup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r>
                  <a:rPr lang="ko-KR" altLang="en-US" sz="105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092A3E4-9359-43FD-FE18-6B4B1B8224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321" y="2727061"/>
                <a:ext cx="8560732" cy="84138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6BDA0D8-D123-884F-5FA7-AE2E947422D7}"/>
                  </a:ext>
                </a:extLst>
              </p:cNvPr>
              <p:cNvSpPr txBox="1"/>
              <p:nvPr/>
            </p:nvSpPr>
            <p:spPr>
              <a:xfrm>
                <a:off x="5078721" y="1248385"/>
                <a:ext cx="2340242" cy="15177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𝐹</m:t>
                        </m:r>
                      </m:e>
                      <m:sub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𝑂</m:t>
                        </m:r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e>
                    </m:d>
                    <m:r>
                      <a:rPr lang="en-US" altLang="ko-KR" sz="12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=−</m:t>
                    </m:r>
                    <m:f>
                      <m:f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𝐾</m:t>
                        </m:r>
                      </m:num>
                      <m:den>
                        <m:sSub>
                          <m:sSubPr>
                            <m:ctrlP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𝑜𝑥</m:t>
                            </m:r>
                          </m:sub>
                        </m:sSub>
                      </m:den>
                    </m:f>
                    <m:f>
                      <m:f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den>
                    </m:f>
                  </m:oMath>
                </a14:m>
                <a:r>
                  <a:rPr lang="ko-KR" altLang="en-US" sz="12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  <a:endParaRPr lang="en-US" altLang="ko-KR" sz="12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𝐹</m:t>
                        </m:r>
                      </m:e>
                      <m:sub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𝑛</m:t>
                        </m:r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e>
                    </m:d>
                    <m:r>
                      <a:rPr lang="en-US" altLang="ko-KR" sz="12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=−</m:t>
                    </m:r>
                    <m:f>
                      <m:f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𝐾</m:t>
                            </m:r>
                          </m:e>
                          <m:sub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sub>
                        </m:sSub>
                      </m:den>
                    </m:f>
                    <m:f>
                      <m:f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den>
                    </m:f>
                    <m:r>
                      <a:rPr lang="en-US" altLang="ko-KR" sz="12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−</m:t>
                    </m:r>
                    <m:f>
                      <m:f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𝑞</m:t>
                        </m:r>
                        <m:sSub>
                          <m:sSubPr>
                            <m:ctrlP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e>
                          <m:sub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𝑡</m:t>
                            </m:r>
                            <m:r>
                              <m:rPr>
                                <m:lit/>
                              </m:rP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_</m:t>
                            </m:r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𝑡𝑛</m:t>
                            </m:r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</m:sSub>
                      </m:num>
                      <m:den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  <m:sSub>
                          <m:sSubPr>
                            <m:ctrlP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sub>
                        </m:sSub>
                      </m:den>
                    </m:f>
                    <m:r>
                      <a:rPr lang="en-US" altLang="ko-KR" sz="12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𝑟</m:t>
                    </m:r>
                  </m:oMath>
                </a14:m>
                <a:r>
                  <a:rPr lang="ko-KR" altLang="en-US" sz="12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  <a:endParaRPr lang="en-US" altLang="ko-KR" sz="12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𝐹</m:t>
                        </m:r>
                      </m:e>
                      <m:sub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𝑂</m:t>
                        </m:r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e>
                    </m:d>
                    <m:r>
                      <a:rPr lang="en-US" altLang="ko-KR" sz="12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=−</m:t>
                    </m:r>
                    <m:f>
                      <m:f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𝐾</m:t>
                            </m:r>
                          </m:e>
                          <m:sub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𝑜𝑥</m:t>
                            </m:r>
                          </m:sub>
                        </m:sSub>
                      </m:den>
                    </m:f>
                    <m:f>
                      <m:f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den>
                    </m:f>
                    <m:r>
                      <a:rPr lang="en-US" altLang="ko-KR" sz="12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</m:t>
                    </m:r>
                  </m:oMath>
                </a14:m>
                <a:r>
                  <a:rPr lang="ko-KR" altLang="en-US" sz="12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  <a:endParaRPr lang="en-US" altLang="ko-KR" sz="12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𝐹</m:t>
                        </m:r>
                      </m:e>
                      <m:sub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𝐶𝑇𝑁</m:t>
                        </m:r>
                      </m:sub>
                    </m:sSub>
                    <m:d>
                      <m:d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e>
                    </m:d>
                    <m:r>
                      <a:rPr lang="en-US" altLang="ko-KR" sz="12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=−</m:t>
                    </m:r>
                    <m:f>
                      <m:f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𝐾</m:t>
                            </m:r>
                          </m:e>
                          <m:sub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3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sub>
                        </m:sSub>
                      </m:den>
                    </m:f>
                    <m:f>
                      <m:f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den>
                    </m:f>
                    <m:r>
                      <a:rPr lang="en-US" altLang="ko-KR" sz="12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−</m:t>
                    </m:r>
                    <m:f>
                      <m:f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𝑞</m:t>
                        </m:r>
                        <m:sSub>
                          <m:sSubPr>
                            <m:ctrlP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e>
                          <m:sub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𝑡</m:t>
                            </m:r>
                            <m:r>
                              <m:rPr>
                                <m:lit/>
                              </m:rP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_</m:t>
                            </m:r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𝐶𝑇𝑁</m:t>
                            </m:r>
                          </m:sub>
                        </m:sSub>
                      </m:num>
                      <m:den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  <m:sSub>
                          <m:sSubPr>
                            <m:ctrlP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sub>
                        </m:sSub>
                      </m:den>
                    </m:f>
                    <m:r>
                      <a:rPr lang="en-US" altLang="ko-KR" sz="12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</m:t>
                    </m:r>
                    <m:r>
                      <a:rPr lang="en-US" altLang="ko-KR" sz="12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𝑟</m:t>
                    </m:r>
                  </m:oMath>
                </a14:m>
                <a:r>
                  <a:rPr lang="ko-KR" altLang="en-US" sz="12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  <a:endParaRPr lang="en-US" altLang="ko-KR" sz="12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𝐹</m:t>
                        </m:r>
                      </m:e>
                      <m:sub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𝑏𝑜𝑥</m:t>
                        </m:r>
                      </m:sub>
                    </m:sSub>
                    <m:d>
                      <m:d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e>
                    </m:d>
                    <m:r>
                      <a:rPr lang="en-US" altLang="ko-KR" sz="12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=−</m:t>
                    </m:r>
                    <m:f>
                      <m:f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𝐾</m:t>
                            </m:r>
                          </m:e>
                          <m:sub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4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𝑜𝑥</m:t>
                            </m:r>
                          </m:sub>
                        </m:sSub>
                      </m:den>
                    </m:f>
                    <m:f>
                      <m:f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den>
                    </m:f>
                  </m:oMath>
                </a14:m>
                <a:r>
                  <a:rPr lang="en-US" altLang="ko-KR" sz="12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6BDA0D8-D123-884F-5FA7-AE2E947422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78721" y="1248385"/>
                <a:ext cx="2340242" cy="1517723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122DF6FB-8710-1CC3-ADB0-5F96955AA85D}"/>
                  </a:ext>
                </a:extLst>
              </p:cNvPr>
              <p:cNvSpPr txBox="1"/>
              <p:nvPr/>
            </p:nvSpPr>
            <p:spPr>
              <a:xfrm>
                <a:off x="462835" y="3595542"/>
                <a:ext cx="3491725" cy="26084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𝛼</m:t>
                    </m:r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</m:t>
                    </m:r>
                    <m:f>
                      <m:fPr>
                        <m:ctrl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𝑜𝑥</m:t>
                            </m:r>
                          </m:sub>
                        </m:sSub>
                      </m:den>
                    </m:f>
                    <m:r>
                      <m:rPr>
                        <m:sty m:val="p"/>
                      </m:rPr>
                      <a:rPr lang="en-US" altLang="ko-KR" sz="1100" b="0" i="0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ln</m:t>
                    </m:r>
                    <m:f>
                      <m:f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r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o</m:t>
                            </m:r>
                            <m: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r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o</m:t>
                            </m:r>
                          </m:sub>
                        </m:sSub>
                      </m:den>
                    </m:f>
                    <m:r>
                      <a:rPr lang="en-US" altLang="ko-KR" sz="1100" b="0" i="0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+</m:t>
                    </m:r>
                    <m:f>
                      <m:fPr>
                        <m:ctrl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sSub>
                          <m:sSubPr>
                            <m:ctrlPr>
                              <a:rPr lang="en-US" altLang="ko-KR" sz="110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sub>
                        </m:sSub>
                      </m:den>
                    </m:f>
                    <m:r>
                      <m:rPr>
                        <m:sty m:val="p"/>
                      </m:rPr>
                      <a:rPr lang="en-US" altLang="ko-KR" sz="1100" b="0" i="0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ln</m:t>
                    </m:r>
                    <m:f>
                      <m:f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r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n</m:t>
                            </m:r>
                            <m: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r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o</m:t>
                            </m:r>
                            <m: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</m:sSub>
                      </m:den>
                    </m:f>
                    <m:r>
                      <a:rPr lang="en-US" altLang="ko-KR" sz="1100" b="0" i="0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+</m:t>
                    </m:r>
                    <m:f>
                      <m:fPr>
                        <m:ctrl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sSub>
                          <m:sSubPr>
                            <m:ctrlPr>
                              <a:rPr lang="en-US" altLang="ko-KR" sz="110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ox</m:t>
                            </m:r>
                          </m:sub>
                        </m:sSub>
                      </m:den>
                    </m:f>
                    <m:r>
                      <a:rPr lang="en-US" altLang="ko-KR" sz="1100" b="0" i="0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</m:t>
                    </m:r>
                    <m:r>
                      <m:rPr>
                        <m:sty m:val="p"/>
                      </m:rPr>
                      <a:rPr lang="en-US" altLang="ko-KR" sz="1100" b="0" i="0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ln</m:t>
                    </m:r>
                    <m:f>
                      <m:f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r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tox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r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n</m:t>
                            </m:r>
                            <m: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</m:sSub>
                      </m:den>
                    </m:f>
                    <m:r>
                      <a:rPr lang="en-US" altLang="ko-KR" sz="1100" b="0" i="0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+</m:t>
                    </m:r>
                    <m:f>
                      <m:fPr>
                        <m:ctrl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sSub>
                          <m:sSubPr>
                            <m:ctrlPr>
                              <a:rPr lang="en-US" altLang="ko-KR" sz="110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sub>
                        </m:sSub>
                      </m:den>
                    </m:f>
                    <m:r>
                      <m:rPr>
                        <m:sty m:val="p"/>
                      </m:rPr>
                      <a:rPr lang="en-US" altLang="ko-KR" sz="1100" b="0" i="0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ln</m:t>
                    </m:r>
                    <m:f>
                      <m:f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r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ctn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r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tox</m:t>
                            </m:r>
                          </m:sub>
                        </m:sSub>
                      </m:den>
                    </m:f>
                    <m:r>
                      <a:rPr lang="en-US" altLang="ko-KR" sz="1100" b="0" i="0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+</m:t>
                    </m:r>
                    <m:f>
                      <m:fPr>
                        <m:ctrl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sSub>
                          <m:sSubPr>
                            <m:ctrlPr>
                              <a:rPr lang="en-US" altLang="ko-KR" sz="110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𝑜𝑥</m:t>
                            </m:r>
                          </m:sub>
                        </m:sSub>
                      </m:den>
                    </m:f>
                    <m:r>
                      <a:rPr lang="en-US" altLang="ko-KR" sz="1100" b="0" i="0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</m:t>
                    </m:r>
                    <m:r>
                      <m:rPr>
                        <m:sty m:val="p"/>
                      </m:rPr>
                      <a:rPr lang="en-US" altLang="ko-KR" sz="1100" b="0" i="0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ln</m:t>
                    </m:r>
                    <m:f>
                      <m:f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r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box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r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ctn</m:t>
                            </m:r>
                          </m:sub>
                        </m:sSub>
                      </m:den>
                    </m:f>
                  </m:oMath>
                </a14:m>
                <a:r>
                  <a:rPr lang="ko-KR" altLang="en-US" sz="11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122DF6FB-8710-1CC3-ADB0-5F96955AA8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2835" y="3595542"/>
                <a:ext cx="3491725" cy="260841"/>
              </a:xfrm>
              <a:prstGeom prst="rect">
                <a:avLst/>
              </a:prstGeom>
              <a:blipFill>
                <a:blip r:embed="rId9"/>
                <a:stretch>
                  <a:fillRect b="-232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6" name="그림 95">
            <a:extLst>
              <a:ext uri="{FF2B5EF4-FFF2-40B4-BE49-F238E27FC236}">
                <a16:creationId xmlns:a16="http://schemas.microsoft.com/office/drawing/2014/main" id="{834A3055-3E03-AD39-93F2-DA88F6032FEF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08797" y="3465186"/>
            <a:ext cx="1873747" cy="18883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21277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5F01C8-6523-AED5-8002-4F5DF85A43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Alignment with Previous Studies</a:t>
            </a:r>
            <a:endParaRPr lang="ko-KR" altLang="en-US" dirty="0"/>
          </a:p>
        </p:txBody>
      </p:sp>
      <p:graphicFrame>
        <p:nvGraphicFramePr>
          <p:cNvPr id="4" name="개체 3">
            <a:extLst>
              <a:ext uri="{FF2B5EF4-FFF2-40B4-BE49-F238E27FC236}">
                <a16:creationId xmlns:a16="http://schemas.microsoft.com/office/drawing/2014/main" id="{80609AFF-CF88-69DC-BADA-D810DCF68E11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8390413"/>
              </p:ext>
            </p:extLst>
          </p:nvPr>
        </p:nvGraphicFramePr>
        <p:xfrm>
          <a:off x="548391" y="1459701"/>
          <a:ext cx="5767953" cy="407370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2" imgW="6841724" imgH="4833106" progId="Origin50.Graph">
                  <p:embed/>
                </p:oleObj>
              </mc:Choice>
              <mc:Fallback>
                <p:oleObj name="Graph" r:id="rId2" imgW="6841724" imgH="4833106" progId="Origin50.Graph">
                  <p:embed/>
                  <p:pic>
                    <p:nvPicPr>
                      <p:cNvPr id="4" name="개체 3">
                        <a:extLst>
                          <a:ext uri="{FF2B5EF4-FFF2-40B4-BE49-F238E27FC236}">
                            <a16:creationId xmlns:a16="http://schemas.microsoft.com/office/drawing/2014/main" id="{80609AFF-CF88-69DC-BADA-D810DCF68E1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548391" y="1459701"/>
                        <a:ext cx="5767953" cy="4073701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461C73F9-C15A-3F01-9FA1-C53DF0B5CA9B}"/>
              </a:ext>
            </a:extLst>
          </p:cNvPr>
          <p:cNvSpPr txBox="1"/>
          <p:nvPr/>
        </p:nvSpPr>
        <p:spPr>
          <a:xfrm>
            <a:off x="490325" y="1046892"/>
            <a:ext cx="59860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조형준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P/E cycle region D (Jo, TED 2023)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측정치 비교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7945B94-1091-57B0-9F8D-87162319591D}"/>
              </a:ext>
            </a:extLst>
          </p:cNvPr>
          <p:cNvSpPr txBox="1"/>
          <p:nvPr/>
        </p:nvSpPr>
        <p:spPr>
          <a:xfrm>
            <a:off x="6316344" y="1865335"/>
            <a:ext cx="2180294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측정 상황 구현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0V ~ -5V </a:t>
            </a:r>
            <a:b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</a:b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WL voltage sweep</a:t>
            </a:r>
          </a:p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in 2ms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9A64173-AAA5-CEEF-56CA-C643DDA3300B}"/>
              </a:ext>
            </a:extLst>
          </p:cNvPr>
          <p:cNvSpPr txBox="1"/>
          <p:nvPr/>
        </p:nvSpPr>
        <p:spPr>
          <a:xfrm>
            <a:off x="6316344" y="3856230"/>
            <a:ext cx="266611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근거</a:t>
            </a:r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)</a:t>
            </a:r>
          </a:p>
          <a:p>
            <a:r>
              <a:rPr lang="ko-KR" altLang="en-US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조형준 졸업논문 내용 중</a:t>
            </a:r>
            <a:endParaRPr lang="en-US" altLang="ko-KR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P/E cycle period 20ms</a:t>
            </a:r>
            <a:endParaRPr lang="ko-KR" altLang="en-US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BC55935-840F-9415-ADA8-61417C939764}"/>
              </a:ext>
            </a:extLst>
          </p:cNvPr>
          <p:cNvSpPr txBox="1"/>
          <p:nvPr/>
        </p:nvSpPr>
        <p:spPr>
          <a:xfrm>
            <a:off x="425450" y="5701402"/>
            <a:ext cx="80747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Tx/>
              <a:buChar char="-"/>
            </a:pP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측정상황 최대한 모사하여 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detrapping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만으로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P/E cycle dependent region D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부분에 대한 설명 가능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6C10CFE-7E33-4379-8F91-7139F71C259B}"/>
              </a:ext>
            </a:extLst>
          </p:cNvPr>
          <p:cNvSpPr txBox="1"/>
          <p:nvPr/>
        </p:nvSpPr>
        <p:spPr>
          <a:xfrm>
            <a:off x="7334250" y="945292"/>
            <a:ext cx="164820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(confidential)</a:t>
            </a:r>
            <a:endParaRPr lang="ko-KR" altLang="en-US" sz="2000" b="1" i="1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814848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3FFB13-C180-6B13-EB4E-EE5BC27557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D7508F-D494-EA77-A7ED-80849A6253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Visualization of</a:t>
            </a:r>
            <a:r>
              <a:rPr lang="ko-KR" altLang="en-US" dirty="0"/>
              <a:t> </a:t>
            </a:r>
            <a:r>
              <a:rPr lang="en-US" altLang="ko-KR" dirty="0"/>
              <a:t>Charge Node Analysis</a:t>
            </a:r>
            <a:endParaRPr lang="ko-KR" altLang="en-US" dirty="0"/>
          </a:p>
        </p:txBody>
      </p:sp>
      <p:grpSp>
        <p:nvGrpSpPr>
          <p:cNvPr id="40" name="그룹 39">
            <a:extLst>
              <a:ext uri="{FF2B5EF4-FFF2-40B4-BE49-F238E27FC236}">
                <a16:creationId xmlns:a16="http://schemas.microsoft.com/office/drawing/2014/main" id="{B72A503D-4225-61B0-474A-CC164636B134}"/>
              </a:ext>
            </a:extLst>
          </p:cNvPr>
          <p:cNvGrpSpPr/>
          <p:nvPr/>
        </p:nvGrpSpPr>
        <p:grpSpPr>
          <a:xfrm>
            <a:off x="1833988" y="1328020"/>
            <a:ext cx="5493333" cy="2506307"/>
            <a:chOff x="625200" y="3911201"/>
            <a:chExt cx="2751706" cy="1255453"/>
          </a:xfrm>
        </p:grpSpPr>
        <p:sp>
          <p:nvSpPr>
            <p:cNvPr id="41" name="타원 40">
              <a:extLst>
                <a:ext uri="{FF2B5EF4-FFF2-40B4-BE49-F238E27FC236}">
                  <a16:creationId xmlns:a16="http://schemas.microsoft.com/office/drawing/2014/main" id="{BF1E2ABC-C9B8-3D46-318C-8AD81EFDBFA8}"/>
                </a:ext>
              </a:extLst>
            </p:cNvPr>
            <p:cNvSpPr/>
            <p:nvPr/>
          </p:nvSpPr>
          <p:spPr>
            <a:xfrm>
              <a:off x="710049" y="4215920"/>
              <a:ext cx="571304" cy="571304"/>
            </a:xfrm>
            <a:prstGeom prst="ellipse">
              <a:avLst/>
            </a:prstGeom>
            <a:gradFill flip="none" rotWithShape="1">
              <a:gsLst>
                <a:gs pos="0">
                  <a:srgbClr val="FFFF00"/>
                </a:gs>
                <a:gs pos="68000">
                  <a:schemeClr val="bg1">
                    <a:lumMod val="87000"/>
                  </a:schemeClr>
                </a:gs>
                <a:gs pos="100000">
                  <a:schemeClr val="accent1">
                    <a:lumMod val="10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400"/>
            </a:p>
          </p:txBody>
        </p:sp>
        <p:sp>
          <p:nvSpPr>
            <p:cNvPr id="43" name="타원 42">
              <a:extLst>
                <a:ext uri="{FF2B5EF4-FFF2-40B4-BE49-F238E27FC236}">
                  <a16:creationId xmlns:a16="http://schemas.microsoft.com/office/drawing/2014/main" id="{944E6AA6-09F2-B256-F6D5-60031729195C}"/>
                </a:ext>
              </a:extLst>
            </p:cNvPr>
            <p:cNvSpPr/>
            <p:nvPr/>
          </p:nvSpPr>
          <p:spPr>
            <a:xfrm>
              <a:off x="859275" y="4365146"/>
              <a:ext cx="272853" cy="272853"/>
            </a:xfrm>
            <a:prstGeom prst="ellipse">
              <a:avLst/>
            </a:prstGeom>
            <a:solidFill>
              <a:schemeClr val="bg1"/>
            </a:soli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400"/>
            </a:p>
          </p:txBody>
        </p:sp>
        <p:sp>
          <p:nvSpPr>
            <p:cNvPr id="44" name="타원 43">
              <a:extLst>
                <a:ext uri="{FF2B5EF4-FFF2-40B4-BE49-F238E27FC236}">
                  <a16:creationId xmlns:a16="http://schemas.microsoft.com/office/drawing/2014/main" id="{F1FF53F1-0B71-2141-F311-CF9EBE51FABD}"/>
                </a:ext>
              </a:extLst>
            </p:cNvPr>
            <p:cNvSpPr/>
            <p:nvPr/>
          </p:nvSpPr>
          <p:spPr>
            <a:xfrm>
              <a:off x="1595454" y="4360656"/>
              <a:ext cx="272853" cy="272853"/>
            </a:xfrm>
            <a:prstGeom prst="ellipse">
              <a:avLst/>
            </a:prstGeom>
            <a:solidFill>
              <a:srgbClr val="FFE38B"/>
            </a:solidFill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400"/>
            </a:p>
          </p:txBody>
        </p:sp>
        <p:sp>
          <p:nvSpPr>
            <p:cNvPr id="45" name="타원 44">
              <a:extLst>
                <a:ext uri="{FF2B5EF4-FFF2-40B4-BE49-F238E27FC236}">
                  <a16:creationId xmlns:a16="http://schemas.microsoft.com/office/drawing/2014/main" id="{D004AE03-CDAC-6ED7-099F-ABCD9A2798FF}"/>
                </a:ext>
              </a:extLst>
            </p:cNvPr>
            <p:cNvSpPr/>
            <p:nvPr/>
          </p:nvSpPr>
          <p:spPr>
            <a:xfrm>
              <a:off x="2009950" y="4350409"/>
              <a:ext cx="309600" cy="309600"/>
            </a:xfrm>
            <a:prstGeom prst="ellipse">
              <a:avLst/>
            </a:prstGeom>
            <a:solidFill>
              <a:srgbClr val="FFD85B"/>
            </a:solidFill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400"/>
            </a:p>
          </p:txBody>
        </p:sp>
        <p:sp>
          <p:nvSpPr>
            <p:cNvPr id="46" name="타원 45">
              <a:extLst>
                <a:ext uri="{FF2B5EF4-FFF2-40B4-BE49-F238E27FC236}">
                  <a16:creationId xmlns:a16="http://schemas.microsoft.com/office/drawing/2014/main" id="{BF12D6C0-9E67-B27E-253F-7E6D353D7EB9}"/>
                </a:ext>
              </a:extLst>
            </p:cNvPr>
            <p:cNvSpPr/>
            <p:nvPr/>
          </p:nvSpPr>
          <p:spPr>
            <a:xfrm>
              <a:off x="2796877" y="4219557"/>
              <a:ext cx="571304" cy="571304"/>
            </a:xfrm>
            <a:prstGeom prst="ellipse">
              <a:avLst/>
            </a:prstGeom>
            <a:solidFill>
              <a:srgbClr val="9FD6EF"/>
            </a:solidFill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400"/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CDF4464B-0025-9B09-9AC9-1BD207967929}"/>
                </a:ext>
              </a:extLst>
            </p:cNvPr>
            <p:cNvSpPr txBox="1"/>
            <p:nvPr/>
          </p:nvSpPr>
          <p:spPr>
            <a:xfrm>
              <a:off x="756460" y="3999966"/>
              <a:ext cx="494704" cy="2004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2000">
                  <a:latin typeface="Arial" panose="020B0604020202020204" pitchFamily="34" charset="0"/>
                  <a:cs typeface="Arial" panose="020B0604020202020204" pitchFamily="34" charset="0"/>
                </a:rPr>
                <a:t>Q</a:t>
              </a:r>
              <a:endParaRPr lang="ko-KR" altLang="en-US" sz="2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2213377B-3561-31E0-6E15-C96C1F1CBA06}"/>
                </a:ext>
              </a:extLst>
            </p:cNvPr>
            <p:cNvSpPr txBox="1"/>
            <p:nvPr/>
          </p:nvSpPr>
          <p:spPr>
            <a:xfrm>
              <a:off x="1437503" y="4017428"/>
              <a:ext cx="588754" cy="18500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baseline="-25000">
                  <a:latin typeface="Arial" panose="020B0604020202020204" pitchFamily="34" charset="0"/>
                  <a:cs typeface="Arial" panose="020B0604020202020204" pitchFamily="34" charset="0"/>
                </a:rPr>
                <a:t>0</a:t>
              </a:r>
              <a:endParaRPr lang="ko-KR" altLang="en-US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721E37DE-6D2C-C53A-53D8-EAB71F63A7C9}"/>
                </a:ext>
              </a:extLst>
            </p:cNvPr>
            <p:cNvSpPr txBox="1"/>
            <p:nvPr/>
          </p:nvSpPr>
          <p:spPr>
            <a:xfrm>
              <a:off x="1870373" y="4017428"/>
              <a:ext cx="588754" cy="18500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dirty="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baseline="-25000" dirty="0">
                  <a:latin typeface="Arial" panose="020B0604020202020204" pitchFamily="34" charset="0"/>
                  <a:cs typeface="Arial" panose="020B0604020202020204" pitchFamily="34" charset="0"/>
                </a:rPr>
                <a:t>1</a:t>
              </a:r>
              <a:endParaRPr lang="ko-KR" altLang="en-US" baseline="-250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0B0DDCF5-76E4-9558-CF10-3B8D22796B86}"/>
                </a:ext>
              </a:extLst>
            </p:cNvPr>
            <p:cNvSpPr txBox="1"/>
            <p:nvPr/>
          </p:nvSpPr>
          <p:spPr>
            <a:xfrm>
              <a:off x="2788152" y="4017428"/>
              <a:ext cx="588754" cy="18500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baseline="-25000">
                  <a:latin typeface="Arial" panose="020B0604020202020204" pitchFamily="34" charset="0"/>
                  <a:cs typeface="Arial" panose="020B0604020202020204" pitchFamily="34" charset="0"/>
                </a:rPr>
                <a:t>N</a:t>
              </a:r>
              <a:endParaRPr lang="ko-KR" altLang="en-US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4728D366-DEB5-080C-6A65-A468ABB1D3E3}"/>
                </a:ext>
              </a:extLst>
            </p:cNvPr>
            <p:cNvSpPr txBox="1"/>
            <p:nvPr/>
          </p:nvSpPr>
          <p:spPr>
            <a:xfrm>
              <a:off x="1134091" y="3999966"/>
              <a:ext cx="494704" cy="2004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2000">
                  <a:latin typeface="Arial" panose="020B0604020202020204" pitchFamily="34" charset="0"/>
                  <a:cs typeface="Arial" panose="020B0604020202020204" pitchFamily="34" charset="0"/>
                </a:rPr>
                <a:t>=</a:t>
              </a:r>
              <a:endParaRPr lang="ko-KR" altLang="en-US" sz="2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915A3B90-B63B-F803-3693-717F63402E82}"/>
                </a:ext>
              </a:extLst>
            </p:cNvPr>
            <p:cNvSpPr txBox="1"/>
            <p:nvPr/>
          </p:nvSpPr>
          <p:spPr>
            <a:xfrm>
              <a:off x="1700963" y="4032817"/>
              <a:ext cx="494704" cy="1695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ko-KR" altLang="en-US" sz="1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86252F50-1631-5B29-2A18-7BDC43B266D4}"/>
                </a:ext>
              </a:extLst>
            </p:cNvPr>
            <p:cNvSpPr txBox="1"/>
            <p:nvPr/>
          </p:nvSpPr>
          <p:spPr>
            <a:xfrm>
              <a:off x="2124311" y="4033302"/>
              <a:ext cx="494704" cy="1695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ko-KR" altLang="en-US" sz="1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ED3026A5-DDAC-D7EE-68A7-92F5D6553221}"/>
                </a:ext>
              </a:extLst>
            </p:cNvPr>
            <p:cNvSpPr txBox="1"/>
            <p:nvPr/>
          </p:nvSpPr>
          <p:spPr>
            <a:xfrm>
              <a:off x="2625737" y="4032817"/>
              <a:ext cx="494704" cy="1695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ko-KR" altLang="en-US" sz="1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B01F24E6-1E0E-1147-8211-E3AACD8F7652}"/>
                </a:ext>
              </a:extLst>
            </p:cNvPr>
            <p:cNvSpPr txBox="1"/>
            <p:nvPr/>
          </p:nvSpPr>
          <p:spPr>
            <a:xfrm>
              <a:off x="2375024" y="3911201"/>
              <a:ext cx="494704" cy="2929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3200" dirty="0">
                  <a:latin typeface="Arial" panose="020B0604020202020204" pitchFamily="34" charset="0"/>
                  <a:cs typeface="Arial" panose="020B0604020202020204" pitchFamily="34" charset="0"/>
                </a:rPr>
                <a:t>...</a:t>
              </a:r>
              <a:endParaRPr lang="ko-KR" altLang="en-US" sz="32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BE62F419-C190-E18E-7944-F700E3BF2619}"/>
                </a:ext>
              </a:extLst>
            </p:cNvPr>
            <p:cNvSpPr txBox="1"/>
            <p:nvPr/>
          </p:nvSpPr>
          <p:spPr>
            <a:xfrm>
              <a:off x="1187590" y="4303226"/>
              <a:ext cx="494704" cy="38542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4400">
                  <a:latin typeface="Arial" panose="020B0604020202020204" pitchFamily="34" charset="0"/>
                  <a:cs typeface="Arial" panose="020B0604020202020204" pitchFamily="34" charset="0"/>
                </a:rPr>
                <a:t>=</a:t>
              </a:r>
              <a:endParaRPr lang="ko-KR" altLang="en-US" sz="44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8F6512F1-727F-32A1-B75A-FC65130F7B43}"/>
                </a:ext>
              </a:extLst>
            </p:cNvPr>
            <p:cNvSpPr txBox="1"/>
            <p:nvPr/>
          </p:nvSpPr>
          <p:spPr>
            <a:xfrm>
              <a:off x="1688837" y="4354617"/>
              <a:ext cx="494704" cy="2929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3200" dirty="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ko-KR" altLang="en-US" sz="32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17B13DF1-5F42-0DF2-401A-E32B39C6C329}"/>
                </a:ext>
              </a:extLst>
            </p:cNvPr>
            <p:cNvSpPr txBox="1"/>
            <p:nvPr/>
          </p:nvSpPr>
          <p:spPr>
            <a:xfrm>
              <a:off x="2143363" y="4352544"/>
              <a:ext cx="494704" cy="2929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320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ko-KR" altLang="en-US" sz="3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C412C1B8-B923-577D-46BC-0774954889FA}"/>
                </a:ext>
              </a:extLst>
            </p:cNvPr>
            <p:cNvSpPr txBox="1"/>
            <p:nvPr/>
          </p:nvSpPr>
          <p:spPr>
            <a:xfrm>
              <a:off x="2478696" y="4352544"/>
              <a:ext cx="494704" cy="2929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320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ko-KR" altLang="en-US" sz="3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8D77D7BF-FC50-9F7E-353D-5DD679B438A1}"/>
                </a:ext>
              </a:extLst>
            </p:cNvPr>
            <p:cNvSpPr txBox="1"/>
            <p:nvPr/>
          </p:nvSpPr>
          <p:spPr>
            <a:xfrm>
              <a:off x="2311029" y="4302815"/>
              <a:ext cx="494704" cy="2929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3200">
                  <a:latin typeface="Arial" panose="020B0604020202020204" pitchFamily="34" charset="0"/>
                  <a:cs typeface="Arial" panose="020B0604020202020204" pitchFamily="34" charset="0"/>
                </a:rPr>
                <a:t>...</a:t>
              </a:r>
              <a:endParaRPr lang="ko-KR" altLang="en-US" sz="3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9513EDBE-7793-1B39-8300-A41624EC7A7D}"/>
                </a:ext>
              </a:extLst>
            </p:cNvPr>
            <p:cNvSpPr txBox="1"/>
            <p:nvPr/>
          </p:nvSpPr>
          <p:spPr>
            <a:xfrm>
              <a:off x="1556649" y="4425387"/>
              <a:ext cx="350462" cy="1541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 b="1" dirty="0">
                  <a:latin typeface="Arial" panose="020B0604020202020204" pitchFamily="34" charset="0"/>
                  <a:cs typeface="Arial" panose="020B0604020202020204" pitchFamily="34" charset="0"/>
                </a:rPr>
                <a:t>r</a:t>
              </a:r>
              <a:r>
                <a:rPr lang="en-US" altLang="ko-KR" sz="1400" b="1" baseline="-25000" dirty="0">
                  <a:latin typeface="Arial" panose="020B0604020202020204" pitchFamily="34" charset="0"/>
                  <a:cs typeface="Arial" panose="020B0604020202020204" pitchFamily="34" charset="0"/>
                </a:rPr>
                <a:t>0</a:t>
              </a:r>
              <a:endParaRPr lang="ko-KR" altLang="en-US" sz="1400" b="1" baseline="-250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0E2F39DA-FF1A-DB0B-87C2-45831DBE2228}"/>
                </a:ext>
              </a:extLst>
            </p:cNvPr>
            <p:cNvSpPr txBox="1"/>
            <p:nvPr/>
          </p:nvSpPr>
          <p:spPr>
            <a:xfrm>
              <a:off x="1989519" y="4425387"/>
              <a:ext cx="350462" cy="1541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 b="1">
                  <a:latin typeface="Arial" panose="020B0604020202020204" pitchFamily="34" charset="0"/>
                  <a:cs typeface="Arial" panose="020B0604020202020204" pitchFamily="34" charset="0"/>
                </a:rPr>
                <a:t>r</a:t>
              </a:r>
              <a:r>
                <a:rPr lang="en-US" altLang="ko-KR" sz="1400" b="1" baseline="-25000">
                  <a:latin typeface="Arial" panose="020B0604020202020204" pitchFamily="34" charset="0"/>
                  <a:cs typeface="Arial" panose="020B0604020202020204" pitchFamily="34" charset="0"/>
                </a:rPr>
                <a:t>1</a:t>
              </a:r>
              <a:endParaRPr lang="ko-KR" altLang="en-US" sz="1400" b="1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719E4998-4D5D-A9B0-90AE-2BC43D625B08}"/>
                </a:ext>
              </a:extLst>
            </p:cNvPr>
            <p:cNvSpPr txBox="1"/>
            <p:nvPr/>
          </p:nvSpPr>
          <p:spPr>
            <a:xfrm>
              <a:off x="2883383" y="4425387"/>
              <a:ext cx="398292" cy="1541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 b="1">
                  <a:latin typeface="Arial" panose="020B0604020202020204" pitchFamily="34" charset="0"/>
                  <a:cs typeface="Arial" panose="020B0604020202020204" pitchFamily="34" charset="0"/>
                </a:rPr>
                <a:t>r</a:t>
              </a:r>
              <a:r>
                <a:rPr lang="en-US" altLang="ko-KR" sz="1400" b="1" baseline="-25000">
                  <a:latin typeface="Arial" panose="020B0604020202020204" pitchFamily="34" charset="0"/>
                  <a:cs typeface="Arial" panose="020B0604020202020204" pitchFamily="34" charset="0"/>
                </a:rPr>
                <a:t>N</a:t>
              </a:r>
              <a:endParaRPr lang="ko-KR" altLang="en-US" sz="1400" b="1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8" name="타원 127">
              <a:extLst>
                <a:ext uri="{FF2B5EF4-FFF2-40B4-BE49-F238E27FC236}">
                  <a16:creationId xmlns:a16="http://schemas.microsoft.com/office/drawing/2014/main" id="{02A82083-6E71-0834-8D5B-8DD96D28D6A2}"/>
                </a:ext>
              </a:extLst>
            </p:cNvPr>
            <p:cNvSpPr/>
            <p:nvPr/>
          </p:nvSpPr>
          <p:spPr>
            <a:xfrm>
              <a:off x="859275" y="4365146"/>
              <a:ext cx="272853" cy="272853"/>
            </a:xfrm>
            <a:prstGeom prst="ellipse">
              <a:avLst/>
            </a:prstGeom>
            <a:noFill/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400"/>
            </a:p>
          </p:txBody>
        </p:sp>
        <p:sp>
          <p:nvSpPr>
            <p:cNvPr id="129" name="타원 128">
              <a:extLst>
                <a:ext uri="{FF2B5EF4-FFF2-40B4-BE49-F238E27FC236}">
                  <a16:creationId xmlns:a16="http://schemas.microsoft.com/office/drawing/2014/main" id="{8A205626-EB9F-CA81-66D7-3C648846320B}"/>
                </a:ext>
              </a:extLst>
            </p:cNvPr>
            <p:cNvSpPr/>
            <p:nvPr/>
          </p:nvSpPr>
          <p:spPr>
            <a:xfrm>
              <a:off x="840901" y="4346772"/>
              <a:ext cx="309600" cy="309600"/>
            </a:xfrm>
            <a:prstGeom prst="ellipse">
              <a:avLst/>
            </a:prstGeom>
            <a:noFill/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400"/>
            </a:p>
          </p:txBody>
        </p:sp>
        <p:sp>
          <p:nvSpPr>
            <p:cNvPr id="130" name="타원 129">
              <a:extLst>
                <a:ext uri="{FF2B5EF4-FFF2-40B4-BE49-F238E27FC236}">
                  <a16:creationId xmlns:a16="http://schemas.microsoft.com/office/drawing/2014/main" id="{D1BFAB3F-C7E4-AC7B-38FC-6604EE5FF48C}"/>
                </a:ext>
              </a:extLst>
            </p:cNvPr>
            <p:cNvSpPr/>
            <p:nvPr/>
          </p:nvSpPr>
          <p:spPr>
            <a:xfrm>
              <a:off x="710049" y="4221336"/>
              <a:ext cx="571304" cy="560472"/>
            </a:xfrm>
            <a:prstGeom prst="ellipse">
              <a:avLst/>
            </a:prstGeom>
            <a:noFill/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400"/>
            </a:p>
          </p:txBody>
        </p:sp>
        <p:sp>
          <p:nvSpPr>
            <p:cNvPr id="131" name="타원 130">
              <a:extLst>
                <a:ext uri="{FF2B5EF4-FFF2-40B4-BE49-F238E27FC236}">
                  <a16:creationId xmlns:a16="http://schemas.microsoft.com/office/drawing/2014/main" id="{C0CC2DAF-2B4C-3E6F-CD64-527850716A0B}"/>
                </a:ext>
              </a:extLst>
            </p:cNvPr>
            <p:cNvSpPr/>
            <p:nvPr/>
          </p:nvSpPr>
          <p:spPr>
            <a:xfrm>
              <a:off x="822901" y="4328772"/>
              <a:ext cx="345600" cy="345600"/>
            </a:xfrm>
            <a:prstGeom prst="ellipse">
              <a:avLst/>
            </a:prstGeom>
            <a:noFill/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400"/>
            </a:p>
          </p:txBody>
        </p:sp>
        <p:sp>
          <p:nvSpPr>
            <p:cNvPr id="132" name="TextBox 131">
              <a:extLst>
                <a:ext uri="{FF2B5EF4-FFF2-40B4-BE49-F238E27FC236}">
                  <a16:creationId xmlns:a16="http://schemas.microsoft.com/office/drawing/2014/main" id="{BF4586BB-44DE-C8E5-B7A2-DFE6A6C01CE0}"/>
                </a:ext>
              </a:extLst>
            </p:cNvPr>
            <p:cNvSpPr txBox="1"/>
            <p:nvPr/>
          </p:nvSpPr>
          <p:spPr>
            <a:xfrm rot="19046009">
              <a:off x="1023784" y="4253832"/>
              <a:ext cx="257962" cy="1695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600">
                  <a:latin typeface="Arial" panose="020B0604020202020204" pitchFamily="34" charset="0"/>
                  <a:cs typeface="Arial" panose="020B0604020202020204" pitchFamily="34" charset="0"/>
                </a:rPr>
                <a:t>...</a:t>
              </a:r>
              <a:endParaRPr lang="ko-KR" altLang="en-US" sz="16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33" name="TextBox 132">
              <a:extLst>
                <a:ext uri="{FF2B5EF4-FFF2-40B4-BE49-F238E27FC236}">
                  <a16:creationId xmlns:a16="http://schemas.microsoft.com/office/drawing/2014/main" id="{9A1607F9-BC49-9687-6799-E8E8058567DF}"/>
                </a:ext>
              </a:extLst>
            </p:cNvPr>
            <p:cNvSpPr txBox="1"/>
            <p:nvPr/>
          </p:nvSpPr>
          <p:spPr>
            <a:xfrm>
              <a:off x="625200" y="4777741"/>
              <a:ext cx="756243" cy="1541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>
                  <a:latin typeface="Arial" panose="020B0604020202020204" pitchFamily="34" charset="0"/>
                  <a:cs typeface="Arial" panose="020B0604020202020204" pitchFamily="34" charset="0"/>
                </a:rPr>
                <a:t>CTN charge</a:t>
              </a:r>
              <a:endParaRPr lang="ko-KR" altLang="en-US" sz="14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34" name="TextBox 133">
              <a:extLst>
                <a:ext uri="{FF2B5EF4-FFF2-40B4-BE49-F238E27FC236}">
                  <a16:creationId xmlns:a16="http://schemas.microsoft.com/office/drawing/2014/main" id="{58588313-F35B-1178-BCFB-4C7A872BF863}"/>
                </a:ext>
              </a:extLst>
            </p:cNvPr>
            <p:cNvSpPr txBox="1"/>
            <p:nvPr/>
          </p:nvSpPr>
          <p:spPr>
            <a:xfrm>
              <a:off x="1563412" y="4734879"/>
              <a:ext cx="970554" cy="1695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600" dirty="0" err="1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1600" baseline="-25000" dirty="0" err="1">
                  <a:latin typeface="Arial" panose="020B0604020202020204" pitchFamily="34" charset="0"/>
                  <a:cs typeface="Arial" panose="020B0604020202020204" pitchFamily="34" charset="0"/>
                </a:rPr>
                <a:t>i</a:t>
              </a:r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 = </a:t>
              </a:r>
              <a:r>
                <a:rPr lang="en-US" altLang="ko-KR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π</a:t>
              </a:r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r</a:t>
              </a:r>
              <a:r>
                <a:rPr lang="en-US" altLang="ko-KR" sz="1600" baseline="-25000" dirty="0">
                  <a:latin typeface="Arial" panose="020B0604020202020204" pitchFamily="34" charset="0"/>
                  <a:cs typeface="Arial" panose="020B0604020202020204" pitchFamily="34" charset="0"/>
                </a:rPr>
                <a:t>i</a:t>
              </a:r>
              <a:r>
                <a:rPr lang="en-US" altLang="ko-KR" sz="1600" baseline="30000" dirty="0">
                  <a:latin typeface="Arial" panose="020B0604020202020204" pitchFamily="34" charset="0"/>
                  <a:cs typeface="Arial" panose="020B0604020202020204" pitchFamily="34" charset="0"/>
                </a:rPr>
                <a:t>2</a:t>
              </a:r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(n</a:t>
              </a:r>
              <a:r>
                <a:rPr lang="en-US" altLang="ko-KR" sz="1600" baseline="-25000" dirty="0">
                  <a:latin typeface="Arial" panose="020B0604020202020204" pitchFamily="34" charset="0"/>
                  <a:cs typeface="Arial" panose="020B0604020202020204" pitchFamily="34" charset="0"/>
                </a:rPr>
                <a:t>t,i+1</a:t>
              </a:r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-n</a:t>
              </a:r>
              <a:r>
                <a:rPr lang="en-US" altLang="ko-KR" sz="1600" baseline="-25000" dirty="0">
                  <a:latin typeface="Arial" panose="020B0604020202020204" pitchFamily="34" charset="0"/>
                  <a:cs typeface="Arial" panose="020B0604020202020204" pitchFamily="34" charset="0"/>
                </a:rPr>
                <a:t>t,i</a:t>
              </a:r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)</a:t>
              </a:r>
              <a:endParaRPr lang="ko-KR" altLang="en-US" sz="1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35" name="TextBox 134">
              <a:extLst>
                <a:ext uri="{FF2B5EF4-FFF2-40B4-BE49-F238E27FC236}">
                  <a16:creationId xmlns:a16="http://schemas.microsoft.com/office/drawing/2014/main" id="{94ADB8C6-FDD0-C787-E999-2383A62828B3}"/>
                </a:ext>
              </a:extLst>
            </p:cNvPr>
            <p:cNvSpPr txBox="1"/>
            <p:nvPr/>
          </p:nvSpPr>
          <p:spPr>
            <a:xfrm>
              <a:off x="2552466" y="4873730"/>
              <a:ext cx="629362" cy="2929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n</a:t>
              </a:r>
              <a:r>
                <a:rPr lang="en-US" altLang="ko-KR" sz="1600" baseline="-25000" dirty="0">
                  <a:latin typeface="Arial" panose="020B0604020202020204" pitchFamily="34" charset="0"/>
                  <a:cs typeface="Arial" panose="020B0604020202020204" pitchFamily="34" charset="0"/>
                </a:rPr>
                <a:t>t,0</a:t>
              </a:r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 = 0</a:t>
              </a:r>
            </a:p>
            <a:p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n</a:t>
              </a:r>
              <a:r>
                <a:rPr lang="en-US" altLang="ko-KR" sz="1600" baseline="-25000" dirty="0">
                  <a:latin typeface="Arial" panose="020B0604020202020204" pitchFamily="34" charset="0"/>
                  <a:cs typeface="Arial" panose="020B0604020202020204" pitchFamily="34" charset="0"/>
                </a:rPr>
                <a:t>t,N+1</a:t>
              </a:r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 = 0</a:t>
              </a:r>
              <a:endParaRPr lang="ko-KR" altLang="en-US" sz="1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36" name="TextBox 135">
              <a:extLst>
                <a:ext uri="{FF2B5EF4-FFF2-40B4-BE49-F238E27FC236}">
                  <a16:creationId xmlns:a16="http://schemas.microsoft.com/office/drawing/2014/main" id="{03E8EF53-FE5E-5A30-49C4-7915B2D4A067}"/>
                </a:ext>
              </a:extLst>
            </p:cNvPr>
            <p:cNvSpPr txBox="1"/>
            <p:nvPr/>
          </p:nvSpPr>
          <p:spPr>
            <a:xfrm>
              <a:off x="1657154" y="4948827"/>
              <a:ext cx="857565" cy="1695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where, </a:t>
              </a:r>
              <a:r>
                <a:rPr lang="en-US" altLang="ko-KR" sz="1600" dirty="0" err="1">
                  <a:latin typeface="Arial" panose="020B0604020202020204" pitchFamily="34" charset="0"/>
                  <a:cs typeface="Arial" panose="020B0604020202020204" pitchFamily="34" charset="0"/>
                </a:rPr>
                <a:t>i</a:t>
              </a:r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=1-N</a:t>
              </a:r>
              <a:endParaRPr lang="ko-KR" altLang="en-US" sz="1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37" name="왼쪽 중괄호 136">
              <a:extLst>
                <a:ext uri="{FF2B5EF4-FFF2-40B4-BE49-F238E27FC236}">
                  <a16:creationId xmlns:a16="http://schemas.microsoft.com/office/drawing/2014/main" id="{84F40FA2-D013-5416-4527-699E2367FDB0}"/>
                </a:ext>
              </a:extLst>
            </p:cNvPr>
            <p:cNvSpPr/>
            <p:nvPr/>
          </p:nvSpPr>
          <p:spPr>
            <a:xfrm>
              <a:off x="2504776" y="4937390"/>
              <a:ext cx="61691" cy="200055"/>
            </a:xfrm>
            <a:prstGeom prst="leftBrace">
              <a:avLst>
                <a:gd name="adj1" fmla="val 36719"/>
                <a:gd name="adj2" fmla="val 50000"/>
              </a:avLst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 sz="4400"/>
            </a:p>
          </p:txBody>
        </p:sp>
      </p:grpSp>
      <p:grpSp>
        <p:nvGrpSpPr>
          <p:cNvPr id="263" name="그룹 262">
            <a:extLst>
              <a:ext uri="{FF2B5EF4-FFF2-40B4-BE49-F238E27FC236}">
                <a16:creationId xmlns:a16="http://schemas.microsoft.com/office/drawing/2014/main" id="{D6A2E9DC-6D22-B21D-001D-086A824010F0}"/>
              </a:ext>
            </a:extLst>
          </p:cNvPr>
          <p:cNvGrpSpPr/>
          <p:nvPr/>
        </p:nvGrpSpPr>
        <p:grpSpPr>
          <a:xfrm>
            <a:off x="896745" y="5001403"/>
            <a:ext cx="6169658" cy="815352"/>
            <a:chOff x="2303921" y="4527578"/>
            <a:chExt cx="6169658" cy="815352"/>
          </a:xfrm>
        </p:grpSpPr>
        <p:cxnSp>
          <p:nvCxnSpPr>
            <p:cNvPr id="173" name="직선 연결선 172">
              <a:extLst>
                <a:ext uri="{FF2B5EF4-FFF2-40B4-BE49-F238E27FC236}">
                  <a16:creationId xmlns:a16="http://schemas.microsoft.com/office/drawing/2014/main" id="{18DFE411-7B4A-0A32-3DB3-90D3CEF354B5}"/>
                </a:ext>
              </a:extLst>
            </p:cNvPr>
            <p:cNvCxnSpPr>
              <a:cxnSpLocks/>
            </p:cNvCxnSpPr>
            <p:nvPr/>
          </p:nvCxnSpPr>
          <p:spPr>
            <a:xfrm>
              <a:off x="2303921" y="5004457"/>
              <a:ext cx="6118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4" name="그룹 173">
              <a:extLst>
                <a:ext uri="{FF2B5EF4-FFF2-40B4-BE49-F238E27FC236}">
                  <a16:creationId xmlns:a16="http://schemas.microsoft.com/office/drawing/2014/main" id="{9DC431EA-C7E3-E1FE-48D9-332E28BDB02F}"/>
                </a:ext>
              </a:extLst>
            </p:cNvPr>
            <p:cNvGrpSpPr/>
            <p:nvPr/>
          </p:nvGrpSpPr>
          <p:grpSpPr>
            <a:xfrm>
              <a:off x="2915777" y="4771606"/>
              <a:ext cx="143736" cy="465698"/>
              <a:chOff x="1663538" y="2271752"/>
              <a:chExt cx="33334" cy="233443"/>
            </a:xfrm>
          </p:grpSpPr>
          <p:cxnSp>
            <p:nvCxnSpPr>
              <p:cNvPr id="221" name="직선 연결선 220">
                <a:extLst>
                  <a:ext uri="{FF2B5EF4-FFF2-40B4-BE49-F238E27FC236}">
                    <a16:creationId xmlns:a16="http://schemas.microsoft.com/office/drawing/2014/main" id="{8F325648-A6A7-4CA8-F94A-2EB51B3376D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6872" y="2271752"/>
                <a:ext cx="0" cy="2334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2" name="직선 연결선 221">
                <a:extLst>
                  <a:ext uri="{FF2B5EF4-FFF2-40B4-BE49-F238E27FC236}">
                    <a16:creationId xmlns:a16="http://schemas.microsoft.com/office/drawing/2014/main" id="{5EB1EE71-6C77-568A-F10B-CFAA63F6FF9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63538" y="2271752"/>
                <a:ext cx="0" cy="2334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75" name="직선 연결선 174">
              <a:extLst>
                <a:ext uri="{FF2B5EF4-FFF2-40B4-BE49-F238E27FC236}">
                  <a16:creationId xmlns:a16="http://schemas.microsoft.com/office/drawing/2014/main" id="{83D528CD-A108-601C-6635-5C785C6F0D99}"/>
                </a:ext>
              </a:extLst>
            </p:cNvPr>
            <p:cNvCxnSpPr>
              <a:cxnSpLocks/>
            </p:cNvCxnSpPr>
            <p:nvPr/>
          </p:nvCxnSpPr>
          <p:spPr>
            <a:xfrm>
              <a:off x="3059513" y="5004457"/>
              <a:ext cx="6118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6" name="그룹 175">
              <a:extLst>
                <a:ext uri="{FF2B5EF4-FFF2-40B4-BE49-F238E27FC236}">
                  <a16:creationId xmlns:a16="http://schemas.microsoft.com/office/drawing/2014/main" id="{411D78AC-74E1-B90E-7346-B59D4F2DB195}"/>
                </a:ext>
              </a:extLst>
            </p:cNvPr>
            <p:cNvGrpSpPr/>
            <p:nvPr/>
          </p:nvGrpSpPr>
          <p:grpSpPr>
            <a:xfrm>
              <a:off x="3879966" y="4772228"/>
              <a:ext cx="143736" cy="465698"/>
              <a:chOff x="1663538" y="2271752"/>
              <a:chExt cx="33334" cy="233443"/>
            </a:xfrm>
          </p:grpSpPr>
          <p:cxnSp>
            <p:nvCxnSpPr>
              <p:cNvPr id="219" name="직선 연결선 218">
                <a:extLst>
                  <a:ext uri="{FF2B5EF4-FFF2-40B4-BE49-F238E27FC236}">
                    <a16:creationId xmlns:a16="http://schemas.microsoft.com/office/drawing/2014/main" id="{B0942312-9F5E-1815-1FDA-4F48384CBA2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6872" y="2271752"/>
                <a:ext cx="0" cy="2334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0" name="직선 연결선 219">
                <a:extLst>
                  <a:ext uri="{FF2B5EF4-FFF2-40B4-BE49-F238E27FC236}">
                    <a16:creationId xmlns:a16="http://schemas.microsoft.com/office/drawing/2014/main" id="{89295952-40F9-707E-51B8-E53F657703D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63538" y="2271752"/>
                <a:ext cx="0" cy="2334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77" name="직선 연결선 176">
              <a:extLst>
                <a:ext uri="{FF2B5EF4-FFF2-40B4-BE49-F238E27FC236}">
                  <a16:creationId xmlns:a16="http://schemas.microsoft.com/office/drawing/2014/main" id="{11A1DE4B-1435-8F22-5949-F0103E2B4DF9}"/>
                </a:ext>
              </a:extLst>
            </p:cNvPr>
            <p:cNvCxnSpPr>
              <a:cxnSpLocks/>
            </p:cNvCxnSpPr>
            <p:nvPr/>
          </p:nvCxnSpPr>
          <p:spPr>
            <a:xfrm>
              <a:off x="3677136" y="5005076"/>
              <a:ext cx="21732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8" name="직선 연결선 177">
              <a:extLst>
                <a:ext uri="{FF2B5EF4-FFF2-40B4-BE49-F238E27FC236}">
                  <a16:creationId xmlns:a16="http://schemas.microsoft.com/office/drawing/2014/main" id="{C778AC04-0711-4503-F986-7D06BCF8B2ED}"/>
                </a:ext>
              </a:extLst>
            </p:cNvPr>
            <p:cNvCxnSpPr>
              <a:cxnSpLocks/>
            </p:cNvCxnSpPr>
            <p:nvPr/>
          </p:nvCxnSpPr>
          <p:spPr>
            <a:xfrm>
              <a:off x="4027294" y="5005076"/>
              <a:ext cx="21732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9" name="그룹 178">
              <a:extLst>
                <a:ext uri="{FF2B5EF4-FFF2-40B4-BE49-F238E27FC236}">
                  <a16:creationId xmlns:a16="http://schemas.microsoft.com/office/drawing/2014/main" id="{1433180F-DDF2-AF88-461D-2DB381DA8CE0}"/>
                </a:ext>
              </a:extLst>
            </p:cNvPr>
            <p:cNvGrpSpPr/>
            <p:nvPr/>
          </p:nvGrpSpPr>
          <p:grpSpPr>
            <a:xfrm>
              <a:off x="4435153" y="4772228"/>
              <a:ext cx="143736" cy="465698"/>
              <a:chOff x="1663538" y="2271752"/>
              <a:chExt cx="33334" cy="233443"/>
            </a:xfrm>
          </p:grpSpPr>
          <p:cxnSp>
            <p:nvCxnSpPr>
              <p:cNvPr id="217" name="직선 연결선 216">
                <a:extLst>
                  <a:ext uri="{FF2B5EF4-FFF2-40B4-BE49-F238E27FC236}">
                    <a16:creationId xmlns:a16="http://schemas.microsoft.com/office/drawing/2014/main" id="{0F78B2AC-AB48-CAB4-1090-1E0EAE68605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6872" y="2271752"/>
                <a:ext cx="0" cy="2334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8" name="직선 연결선 217">
                <a:extLst>
                  <a:ext uri="{FF2B5EF4-FFF2-40B4-BE49-F238E27FC236}">
                    <a16:creationId xmlns:a16="http://schemas.microsoft.com/office/drawing/2014/main" id="{DF0802A3-95AD-16A9-B6AB-8E04C7E44DA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63538" y="2271752"/>
                <a:ext cx="0" cy="2334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80" name="직선 연결선 179">
              <a:extLst>
                <a:ext uri="{FF2B5EF4-FFF2-40B4-BE49-F238E27FC236}">
                  <a16:creationId xmlns:a16="http://schemas.microsoft.com/office/drawing/2014/main" id="{4F262ED2-7C5E-BCE2-00D4-8E974839AABF}"/>
                </a:ext>
              </a:extLst>
            </p:cNvPr>
            <p:cNvCxnSpPr>
              <a:cxnSpLocks/>
            </p:cNvCxnSpPr>
            <p:nvPr/>
          </p:nvCxnSpPr>
          <p:spPr>
            <a:xfrm>
              <a:off x="4232324" y="5005076"/>
              <a:ext cx="21732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1" name="직선 연결선 180">
              <a:extLst>
                <a:ext uri="{FF2B5EF4-FFF2-40B4-BE49-F238E27FC236}">
                  <a16:creationId xmlns:a16="http://schemas.microsoft.com/office/drawing/2014/main" id="{CE1E3E79-5C2D-4232-AD9A-19B77838B532}"/>
                </a:ext>
              </a:extLst>
            </p:cNvPr>
            <p:cNvCxnSpPr>
              <a:cxnSpLocks/>
            </p:cNvCxnSpPr>
            <p:nvPr/>
          </p:nvCxnSpPr>
          <p:spPr>
            <a:xfrm>
              <a:off x="4582482" y="5005076"/>
              <a:ext cx="21732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82" name="그룹 181">
              <a:extLst>
                <a:ext uri="{FF2B5EF4-FFF2-40B4-BE49-F238E27FC236}">
                  <a16:creationId xmlns:a16="http://schemas.microsoft.com/office/drawing/2014/main" id="{B9D5BA19-7DE3-73E4-D866-7911D79622D2}"/>
                </a:ext>
              </a:extLst>
            </p:cNvPr>
            <p:cNvGrpSpPr/>
            <p:nvPr/>
          </p:nvGrpSpPr>
          <p:grpSpPr>
            <a:xfrm>
              <a:off x="4989371" y="4772228"/>
              <a:ext cx="143736" cy="465698"/>
              <a:chOff x="1663538" y="2271752"/>
              <a:chExt cx="33334" cy="233443"/>
            </a:xfrm>
          </p:grpSpPr>
          <p:cxnSp>
            <p:nvCxnSpPr>
              <p:cNvPr id="215" name="직선 연결선 214">
                <a:extLst>
                  <a:ext uri="{FF2B5EF4-FFF2-40B4-BE49-F238E27FC236}">
                    <a16:creationId xmlns:a16="http://schemas.microsoft.com/office/drawing/2014/main" id="{F4CAE543-DF6D-7A56-EA78-B3CC8B18372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6872" y="2271752"/>
                <a:ext cx="0" cy="2334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6" name="직선 연결선 215">
                <a:extLst>
                  <a:ext uri="{FF2B5EF4-FFF2-40B4-BE49-F238E27FC236}">
                    <a16:creationId xmlns:a16="http://schemas.microsoft.com/office/drawing/2014/main" id="{1257E854-1F91-5FC6-75DC-5F093215D57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63538" y="2271752"/>
                <a:ext cx="0" cy="2334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83" name="직선 연결선 182">
              <a:extLst>
                <a:ext uri="{FF2B5EF4-FFF2-40B4-BE49-F238E27FC236}">
                  <a16:creationId xmlns:a16="http://schemas.microsoft.com/office/drawing/2014/main" id="{8C30F5CD-52D8-AA86-EAC3-5B58CFA8A07E}"/>
                </a:ext>
              </a:extLst>
            </p:cNvPr>
            <p:cNvCxnSpPr>
              <a:cxnSpLocks/>
            </p:cNvCxnSpPr>
            <p:nvPr/>
          </p:nvCxnSpPr>
          <p:spPr>
            <a:xfrm>
              <a:off x="4786545" y="5005076"/>
              <a:ext cx="21732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4" name="직선 연결선 183">
              <a:extLst>
                <a:ext uri="{FF2B5EF4-FFF2-40B4-BE49-F238E27FC236}">
                  <a16:creationId xmlns:a16="http://schemas.microsoft.com/office/drawing/2014/main" id="{5423709A-B85C-3CDD-6CD3-931DEA31B2B9}"/>
                </a:ext>
              </a:extLst>
            </p:cNvPr>
            <p:cNvCxnSpPr>
              <a:cxnSpLocks/>
            </p:cNvCxnSpPr>
            <p:nvPr/>
          </p:nvCxnSpPr>
          <p:spPr>
            <a:xfrm>
              <a:off x="5136700" y="5005076"/>
              <a:ext cx="21732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85" name="그룹 184">
              <a:extLst>
                <a:ext uri="{FF2B5EF4-FFF2-40B4-BE49-F238E27FC236}">
                  <a16:creationId xmlns:a16="http://schemas.microsoft.com/office/drawing/2014/main" id="{F56879D9-2002-8341-7D0C-F09BEB90746A}"/>
                </a:ext>
              </a:extLst>
            </p:cNvPr>
            <p:cNvGrpSpPr/>
            <p:nvPr/>
          </p:nvGrpSpPr>
          <p:grpSpPr>
            <a:xfrm>
              <a:off x="6611644" y="4772228"/>
              <a:ext cx="143736" cy="465698"/>
              <a:chOff x="1663538" y="2271752"/>
              <a:chExt cx="33334" cy="233443"/>
            </a:xfrm>
          </p:grpSpPr>
          <p:cxnSp>
            <p:nvCxnSpPr>
              <p:cNvPr id="213" name="직선 연결선 212">
                <a:extLst>
                  <a:ext uri="{FF2B5EF4-FFF2-40B4-BE49-F238E27FC236}">
                    <a16:creationId xmlns:a16="http://schemas.microsoft.com/office/drawing/2014/main" id="{6C8F499A-7792-CD9F-8FA3-DA640C61F8F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6872" y="2271752"/>
                <a:ext cx="0" cy="2334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4" name="직선 연결선 213">
                <a:extLst>
                  <a:ext uri="{FF2B5EF4-FFF2-40B4-BE49-F238E27FC236}">
                    <a16:creationId xmlns:a16="http://schemas.microsoft.com/office/drawing/2014/main" id="{A5F8ED73-9C2D-A491-35F0-1A1A9D88724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63538" y="2271752"/>
                <a:ext cx="0" cy="2334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86" name="직선 연결선 185">
              <a:extLst>
                <a:ext uri="{FF2B5EF4-FFF2-40B4-BE49-F238E27FC236}">
                  <a16:creationId xmlns:a16="http://schemas.microsoft.com/office/drawing/2014/main" id="{F51E93D9-D7C6-A6D1-8AB3-7BB4A5B1EC12}"/>
                </a:ext>
              </a:extLst>
            </p:cNvPr>
            <p:cNvCxnSpPr>
              <a:cxnSpLocks/>
            </p:cNvCxnSpPr>
            <p:nvPr/>
          </p:nvCxnSpPr>
          <p:spPr>
            <a:xfrm>
              <a:off x="6408818" y="5005076"/>
              <a:ext cx="21732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7" name="직선 연결선 186">
              <a:extLst>
                <a:ext uri="{FF2B5EF4-FFF2-40B4-BE49-F238E27FC236}">
                  <a16:creationId xmlns:a16="http://schemas.microsoft.com/office/drawing/2014/main" id="{06ADA5CB-494E-07A6-7E6F-1D96ED4EDEE5}"/>
                </a:ext>
              </a:extLst>
            </p:cNvPr>
            <p:cNvCxnSpPr>
              <a:cxnSpLocks/>
            </p:cNvCxnSpPr>
            <p:nvPr/>
          </p:nvCxnSpPr>
          <p:spPr>
            <a:xfrm>
              <a:off x="6758973" y="5005076"/>
              <a:ext cx="21732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8" name="직선 연결선 187">
              <a:extLst>
                <a:ext uri="{FF2B5EF4-FFF2-40B4-BE49-F238E27FC236}">
                  <a16:creationId xmlns:a16="http://schemas.microsoft.com/office/drawing/2014/main" id="{4B68A440-8C7E-C465-6FEB-65E1514950C8}"/>
                </a:ext>
              </a:extLst>
            </p:cNvPr>
            <p:cNvCxnSpPr>
              <a:cxnSpLocks/>
            </p:cNvCxnSpPr>
            <p:nvPr/>
          </p:nvCxnSpPr>
          <p:spPr>
            <a:xfrm>
              <a:off x="6936234" y="5004457"/>
              <a:ext cx="707184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89" name="그룹 188">
              <a:extLst>
                <a:ext uri="{FF2B5EF4-FFF2-40B4-BE49-F238E27FC236}">
                  <a16:creationId xmlns:a16="http://schemas.microsoft.com/office/drawing/2014/main" id="{638334FD-B7DF-E730-DA92-52771638644C}"/>
                </a:ext>
              </a:extLst>
            </p:cNvPr>
            <p:cNvGrpSpPr/>
            <p:nvPr/>
          </p:nvGrpSpPr>
          <p:grpSpPr>
            <a:xfrm>
              <a:off x="7646221" y="4771606"/>
              <a:ext cx="143736" cy="465698"/>
              <a:chOff x="1663538" y="2271752"/>
              <a:chExt cx="33334" cy="233443"/>
            </a:xfrm>
          </p:grpSpPr>
          <p:cxnSp>
            <p:nvCxnSpPr>
              <p:cNvPr id="211" name="직선 연결선 210">
                <a:extLst>
                  <a:ext uri="{FF2B5EF4-FFF2-40B4-BE49-F238E27FC236}">
                    <a16:creationId xmlns:a16="http://schemas.microsoft.com/office/drawing/2014/main" id="{12493DEA-4BB1-BE3D-2695-A9E60C0E4C1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6872" y="2271752"/>
                <a:ext cx="0" cy="2334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2" name="직선 연결선 211">
                <a:extLst>
                  <a:ext uri="{FF2B5EF4-FFF2-40B4-BE49-F238E27FC236}">
                    <a16:creationId xmlns:a16="http://schemas.microsoft.com/office/drawing/2014/main" id="{4A5A6AFF-0B29-749F-238F-EE2BC7B31E0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63538" y="2271752"/>
                <a:ext cx="0" cy="2334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90" name="직선 연결선 189">
              <a:extLst>
                <a:ext uri="{FF2B5EF4-FFF2-40B4-BE49-F238E27FC236}">
                  <a16:creationId xmlns:a16="http://schemas.microsoft.com/office/drawing/2014/main" id="{743974C2-B322-DE55-9B4C-F1FC7A504214}"/>
                </a:ext>
              </a:extLst>
            </p:cNvPr>
            <p:cNvCxnSpPr>
              <a:cxnSpLocks/>
            </p:cNvCxnSpPr>
            <p:nvPr/>
          </p:nvCxnSpPr>
          <p:spPr>
            <a:xfrm>
              <a:off x="7790555" y="5004457"/>
              <a:ext cx="683024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1" name="TextBox 190">
                  <a:extLst>
                    <a:ext uri="{FF2B5EF4-FFF2-40B4-BE49-F238E27FC236}">
                      <a16:creationId xmlns:a16="http://schemas.microsoft.com/office/drawing/2014/main" id="{D9C0D60D-A841-B617-4DCC-FF29293E2CD5}"/>
                    </a:ext>
                  </a:extLst>
                </p:cNvPr>
                <p:cNvSpPr txBox="1"/>
                <p:nvPr/>
              </p:nvSpPr>
              <p:spPr>
                <a:xfrm>
                  <a:off x="2787501" y="4527578"/>
                  <a:ext cx="412998" cy="21544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sSubPr>
                            <m:ctrlP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  <m:t>𝐓𝐎𝐗</m:t>
                            </m:r>
                          </m:sub>
                        </m:sSub>
                      </m:oMath>
                    </m:oMathPara>
                  </a14:m>
                  <a:endParaRPr lang="ko-KR" altLang="en-US" sz="1400" b="1" dirty="0"/>
                </a:p>
              </p:txBody>
            </p:sp>
          </mc:Choice>
          <mc:Fallback xmlns="">
            <p:sp>
              <p:nvSpPr>
                <p:cNvPr id="191" name="TextBox 190">
                  <a:extLst>
                    <a:ext uri="{FF2B5EF4-FFF2-40B4-BE49-F238E27FC236}">
                      <a16:creationId xmlns:a16="http://schemas.microsoft.com/office/drawing/2014/main" id="{D9C0D60D-A841-B617-4DCC-FF29293E2CD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87501" y="4527578"/>
                  <a:ext cx="412998" cy="215443"/>
                </a:xfrm>
                <a:prstGeom prst="rect">
                  <a:avLst/>
                </a:prstGeom>
                <a:blipFill>
                  <a:blip r:embed="rId2"/>
                  <a:stretch>
                    <a:fillRect l="-13235" b="-14286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2" name="TextBox 191">
                  <a:extLst>
                    <a:ext uri="{FF2B5EF4-FFF2-40B4-BE49-F238E27FC236}">
                      <a16:creationId xmlns:a16="http://schemas.microsoft.com/office/drawing/2014/main" id="{11FD9BF9-B663-1C1B-1894-078C1D9CECEC}"/>
                    </a:ext>
                  </a:extLst>
                </p:cNvPr>
                <p:cNvSpPr txBox="1"/>
                <p:nvPr/>
              </p:nvSpPr>
              <p:spPr>
                <a:xfrm>
                  <a:off x="3859944" y="4527578"/>
                  <a:ext cx="231857" cy="21544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sSubPr>
                            <m:ctrlP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ko-KR" altLang="en-US" sz="1400" b="1"/>
                </a:p>
              </p:txBody>
            </p:sp>
          </mc:Choice>
          <mc:Fallback xmlns="">
            <p:sp>
              <p:nvSpPr>
                <p:cNvPr id="192" name="TextBox 191">
                  <a:extLst>
                    <a:ext uri="{FF2B5EF4-FFF2-40B4-BE49-F238E27FC236}">
                      <a16:creationId xmlns:a16="http://schemas.microsoft.com/office/drawing/2014/main" id="{11FD9BF9-B663-1C1B-1894-078C1D9CEC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59944" y="4527578"/>
                  <a:ext cx="231857" cy="215443"/>
                </a:xfrm>
                <a:prstGeom prst="rect">
                  <a:avLst/>
                </a:prstGeom>
                <a:blipFill>
                  <a:blip r:embed="rId3"/>
                  <a:stretch>
                    <a:fillRect l="-26316" b="-14286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3" name="TextBox 192">
                  <a:extLst>
                    <a:ext uri="{FF2B5EF4-FFF2-40B4-BE49-F238E27FC236}">
                      <a16:creationId xmlns:a16="http://schemas.microsoft.com/office/drawing/2014/main" id="{96FE84B9-8AD2-92F0-ADAE-94F2C3F8DFA0}"/>
                    </a:ext>
                  </a:extLst>
                </p:cNvPr>
                <p:cNvSpPr txBox="1"/>
                <p:nvPr/>
              </p:nvSpPr>
              <p:spPr>
                <a:xfrm>
                  <a:off x="4434716" y="4527578"/>
                  <a:ext cx="231857" cy="21544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sSubPr>
                            <m:ctrlP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en-US" altLang="ko-KR" sz="1400" b="1" i="1" smtClean="0"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oMath>
                    </m:oMathPara>
                  </a14:m>
                  <a:endParaRPr lang="ko-KR" altLang="en-US" sz="1400" b="1"/>
                </a:p>
              </p:txBody>
            </p:sp>
          </mc:Choice>
          <mc:Fallback xmlns="">
            <p:sp>
              <p:nvSpPr>
                <p:cNvPr id="193" name="TextBox 192">
                  <a:extLst>
                    <a:ext uri="{FF2B5EF4-FFF2-40B4-BE49-F238E27FC236}">
                      <a16:creationId xmlns:a16="http://schemas.microsoft.com/office/drawing/2014/main" id="{96FE84B9-8AD2-92F0-ADAE-94F2C3F8DF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4716" y="4527578"/>
                  <a:ext cx="231857" cy="215443"/>
                </a:xfrm>
                <a:prstGeom prst="rect">
                  <a:avLst/>
                </a:prstGeom>
                <a:blipFill>
                  <a:blip r:embed="rId4"/>
                  <a:stretch>
                    <a:fillRect l="-28947" b="-14286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4" name="TextBox 193">
                  <a:extLst>
                    <a:ext uri="{FF2B5EF4-FFF2-40B4-BE49-F238E27FC236}">
                      <a16:creationId xmlns:a16="http://schemas.microsoft.com/office/drawing/2014/main" id="{6A7406FE-6856-026D-382C-4F31FED57733}"/>
                    </a:ext>
                  </a:extLst>
                </p:cNvPr>
                <p:cNvSpPr txBox="1"/>
                <p:nvPr/>
              </p:nvSpPr>
              <p:spPr>
                <a:xfrm>
                  <a:off x="4987680" y="4527578"/>
                  <a:ext cx="231857" cy="21544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sSubPr>
                            <m:ctrlP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en-US" altLang="ko-KR" sz="1400" b="1" i="1" smtClean="0">
                                <a:latin typeface="Cambria Math" panose="02040503050406030204" pitchFamily="18" charset="0"/>
                              </a:rPr>
                              <m:t>𝟑</m:t>
                            </m:r>
                          </m:sub>
                        </m:sSub>
                      </m:oMath>
                    </m:oMathPara>
                  </a14:m>
                  <a:endParaRPr lang="ko-KR" altLang="en-US" sz="1400" b="1"/>
                </a:p>
              </p:txBody>
            </p:sp>
          </mc:Choice>
          <mc:Fallback xmlns="">
            <p:sp>
              <p:nvSpPr>
                <p:cNvPr id="194" name="TextBox 193">
                  <a:extLst>
                    <a:ext uri="{FF2B5EF4-FFF2-40B4-BE49-F238E27FC236}">
                      <a16:creationId xmlns:a16="http://schemas.microsoft.com/office/drawing/2014/main" id="{6A7406FE-6856-026D-382C-4F31FED577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87680" y="4527578"/>
                  <a:ext cx="231857" cy="215443"/>
                </a:xfrm>
                <a:prstGeom prst="rect">
                  <a:avLst/>
                </a:prstGeom>
                <a:blipFill>
                  <a:blip r:embed="rId5"/>
                  <a:stretch>
                    <a:fillRect l="-26316" b="-14286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5" name="TextBox 194">
                  <a:extLst>
                    <a:ext uri="{FF2B5EF4-FFF2-40B4-BE49-F238E27FC236}">
                      <a16:creationId xmlns:a16="http://schemas.microsoft.com/office/drawing/2014/main" id="{64DE1BBB-7A83-BBAE-7085-375F85F94A13}"/>
                    </a:ext>
                  </a:extLst>
                </p:cNvPr>
                <p:cNvSpPr txBox="1"/>
                <p:nvPr/>
              </p:nvSpPr>
              <p:spPr>
                <a:xfrm>
                  <a:off x="6587654" y="4527578"/>
                  <a:ext cx="244683" cy="21544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sSubPr>
                            <m:ctrlP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  <m:t>𝐍</m:t>
                            </m:r>
                          </m:sub>
                        </m:sSub>
                      </m:oMath>
                    </m:oMathPara>
                  </a14:m>
                  <a:endParaRPr lang="ko-KR" altLang="en-US" sz="1400" b="1"/>
                </a:p>
              </p:txBody>
            </p:sp>
          </mc:Choice>
          <mc:Fallback xmlns="">
            <p:sp>
              <p:nvSpPr>
                <p:cNvPr id="195" name="TextBox 194">
                  <a:extLst>
                    <a:ext uri="{FF2B5EF4-FFF2-40B4-BE49-F238E27FC236}">
                      <a16:creationId xmlns:a16="http://schemas.microsoft.com/office/drawing/2014/main" id="{64DE1BBB-7A83-BBAE-7085-375F85F94A1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87654" y="4527578"/>
                  <a:ext cx="244683" cy="215443"/>
                </a:xfrm>
                <a:prstGeom prst="rect">
                  <a:avLst/>
                </a:prstGeom>
                <a:blipFill>
                  <a:blip r:embed="rId6"/>
                  <a:stretch>
                    <a:fillRect l="-25000" b="-14286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7" name="TextBox 196">
                  <a:extLst>
                    <a:ext uri="{FF2B5EF4-FFF2-40B4-BE49-F238E27FC236}">
                      <a16:creationId xmlns:a16="http://schemas.microsoft.com/office/drawing/2014/main" id="{2320E5BC-61E5-3416-2B2D-C2BB5047ACA4}"/>
                    </a:ext>
                  </a:extLst>
                </p:cNvPr>
                <p:cNvSpPr txBox="1"/>
                <p:nvPr/>
              </p:nvSpPr>
              <p:spPr>
                <a:xfrm>
                  <a:off x="7539668" y="4527578"/>
                  <a:ext cx="414602" cy="21544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sSubPr>
                            <m:ctrlP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  <m:t>𝐁𝐎𝐗</m:t>
                            </m:r>
                          </m:sub>
                        </m:sSub>
                      </m:oMath>
                    </m:oMathPara>
                  </a14:m>
                  <a:endParaRPr lang="ko-KR" altLang="en-US" sz="1400" b="1"/>
                </a:p>
              </p:txBody>
            </p:sp>
          </mc:Choice>
          <mc:Fallback xmlns="">
            <p:sp>
              <p:nvSpPr>
                <p:cNvPr id="197" name="TextBox 196">
                  <a:extLst>
                    <a:ext uri="{FF2B5EF4-FFF2-40B4-BE49-F238E27FC236}">
                      <a16:creationId xmlns:a16="http://schemas.microsoft.com/office/drawing/2014/main" id="{2320E5BC-61E5-3416-2B2D-C2BB5047ACA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39668" y="4527578"/>
                  <a:ext cx="414602" cy="215443"/>
                </a:xfrm>
                <a:prstGeom prst="rect">
                  <a:avLst/>
                </a:prstGeom>
                <a:blipFill>
                  <a:blip r:embed="rId7"/>
                  <a:stretch>
                    <a:fillRect l="-13235" b="-14286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98" name="TextBox 197">
              <a:extLst>
                <a:ext uri="{FF2B5EF4-FFF2-40B4-BE49-F238E27FC236}">
                  <a16:creationId xmlns:a16="http://schemas.microsoft.com/office/drawing/2014/main" id="{38CE6D35-2932-CD2F-A863-1CF7105BC775}"/>
                </a:ext>
              </a:extLst>
            </p:cNvPr>
            <p:cNvSpPr txBox="1"/>
            <p:nvPr/>
          </p:nvSpPr>
          <p:spPr>
            <a:xfrm>
              <a:off x="3112116" y="5065931"/>
              <a:ext cx="103384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1200" baseline="-25000">
                  <a:latin typeface="Arial" panose="020B0604020202020204" pitchFamily="34" charset="0"/>
                  <a:cs typeface="Arial" panose="020B0604020202020204" pitchFamily="34" charset="0"/>
                </a:rPr>
                <a:t>0</a:t>
              </a:r>
              <a:endParaRPr lang="ko-KR" altLang="en-US" sz="12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99" name="TextBox 198">
              <a:extLst>
                <a:ext uri="{FF2B5EF4-FFF2-40B4-BE49-F238E27FC236}">
                  <a16:creationId xmlns:a16="http://schemas.microsoft.com/office/drawing/2014/main" id="{FC26A3AE-6AD2-A403-FB08-3F2DD6B1178C}"/>
                </a:ext>
              </a:extLst>
            </p:cNvPr>
            <p:cNvSpPr txBox="1"/>
            <p:nvPr/>
          </p:nvSpPr>
          <p:spPr>
            <a:xfrm>
              <a:off x="3676806" y="5065931"/>
              <a:ext cx="103384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1200" baseline="-25000">
                  <a:latin typeface="Arial" panose="020B0604020202020204" pitchFamily="34" charset="0"/>
                  <a:cs typeface="Arial" panose="020B0604020202020204" pitchFamily="34" charset="0"/>
                </a:rPr>
                <a:t>1</a:t>
              </a:r>
              <a:endParaRPr lang="ko-KR" altLang="en-US" sz="12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00" name="TextBox 199">
              <a:extLst>
                <a:ext uri="{FF2B5EF4-FFF2-40B4-BE49-F238E27FC236}">
                  <a16:creationId xmlns:a16="http://schemas.microsoft.com/office/drawing/2014/main" id="{EE9C6097-8E69-8DE8-64AD-3697D416946F}"/>
                </a:ext>
              </a:extLst>
            </p:cNvPr>
            <p:cNvSpPr txBox="1"/>
            <p:nvPr/>
          </p:nvSpPr>
          <p:spPr>
            <a:xfrm>
              <a:off x="4241496" y="5065931"/>
              <a:ext cx="103384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1200" baseline="-25000">
                  <a:latin typeface="Arial" panose="020B0604020202020204" pitchFamily="34" charset="0"/>
                  <a:cs typeface="Arial" panose="020B0604020202020204" pitchFamily="34" charset="0"/>
                </a:rPr>
                <a:t>2</a:t>
              </a:r>
              <a:endParaRPr lang="ko-KR" altLang="en-US" sz="12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01" name="TextBox 200">
              <a:extLst>
                <a:ext uri="{FF2B5EF4-FFF2-40B4-BE49-F238E27FC236}">
                  <a16:creationId xmlns:a16="http://schemas.microsoft.com/office/drawing/2014/main" id="{83CDD3E1-3FDB-F509-B562-811D09B701A4}"/>
                </a:ext>
              </a:extLst>
            </p:cNvPr>
            <p:cNvSpPr txBox="1"/>
            <p:nvPr/>
          </p:nvSpPr>
          <p:spPr>
            <a:xfrm>
              <a:off x="4806185" y="5065931"/>
              <a:ext cx="103384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1200" baseline="-25000">
                  <a:latin typeface="Arial" panose="020B0604020202020204" pitchFamily="34" charset="0"/>
                  <a:cs typeface="Arial" panose="020B0604020202020204" pitchFamily="34" charset="0"/>
                </a:rPr>
                <a:t>3</a:t>
              </a:r>
              <a:endParaRPr lang="ko-KR" altLang="en-US" sz="12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02" name="TextBox 201">
              <a:extLst>
                <a:ext uri="{FF2B5EF4-FFF2-40B4-BE49-F238E27FC236}">
                  <a16:creationId xmlns:a16="http://schemas.microsoft.com/office/drawing/2014/main" id="{B790F642-9D41-397B-0EBB-68B4A44E09D6}"/>
                </a:ext>
              </a:extLst>
            </p:cNvPr>
            <p:cNvSpPr txBox="1"/>
            <p:nvPr/>
          </p:nvSpPr>
          <p:spPr>
            <a:xfrm>
              <a:off x="5587940" y="5065931"/>
              <a:ext cx="133369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1200" baseline="-25000">
                  <a:latin typeface="Arial" panose="020B0604020202020204" pitchFamily="34" charset="0"/>
                  <a:cs typeface="Arial" panose="020B0604020202020204" pitchFamily="34" charset="0"/>
                </a:rPr>
                <a:t>N-1</a:t>
              </a:r>
              <a:endParaRPr lang="ko-KR" altLang="en-US" sz="12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03" name="TextBox 202">
              <a:extLst>
                <a:ext uri="{FF2B5EF4-FFF2-40B4-BE49-F238E27FC236}">
                  <a16:creationId xmlns:a16="http://schemas.microsoft.com/office/drawing/2014/main" id="{CFE36130-CEF3-04FD-2A61-B1AF97904B11}"/>
                </a:ext>
              </a:extLst>
            </p:cNvPr>
            <p:cNvSpPr txBox="1"/>
            <p:nvPr/>
          </p:nvSpPr>
          <p:spPr>
            <a:xfrm>
              <a:off x="6254789" y="5065931"/>
              <a:ext cx="133369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1200" baseline="-25000">
                  <a:latin typeface="Arial" panose="020B0604020202020204" pitchFamily="34" charset="0"/>
                  <a:cs typeface="Arial" panose="020B0604020202020204" pitchFamily="34" charset="0"/>
                </a:rPr>
                <a:t>N</a:t>
              </a:r>
              <a:endParaRPr lang="ko-KR" altLang="en-US" sz="12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04" name="타원 203">
              <a:extLst>
                <a:ext uri="{FF2B5EF4-FFF2-40B4-BE49-F238E27FC236}">
                  <a16:creationId xmlns:a16="http://schemas.microsoft.com/office/drawing/2014/main" id="{1E9A8437-3A4F-6831-B4C1-59530E141D03}"/>
                </a:ext>
              </a:extLst>
            </p:cNvPr>
            <p:cNvSpPr/>
            <p:nvPr/>
          </p:nvSpPr>
          <p:spPr>
            <a:xfrm>
              <a:off x="3632223" y="4978272"/>
              <a:ext cx="71098" cy="71098"/>
            </a:xfrm>
            <a:prstGeom prst="ellipse">
              <a:avLst/>
            </a:prstGeom>
            <a:solidFill>
              <a:schemeClr val="tx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000"/>
            </a:p>
          </p:txBody>
        </p:sp>
        <p:sp>
          <p:nvSpPr>
            <p:cNvPr id="205" name="타원 204">
              <a:extLst>
                <a:ext uri="{FF2B5EF4-FFF2-40B4-BE49-F238E27FC236}">
                  <a16:creationId xmlns:a16="http://schemas.microsoft.com/office/drawing/2014/main" id="{656A9055-AF82-3884-0CCC-461DDB3D1A53}"/>
                </a:ext>
              </a:extLst>
            </p:cNvPr>
            <p:cNvSpPr/>
            <p:nvPr/>
          </p:nvSpPr>
          <p:spPr>
            <a:xfrm>
              <a:off x="4196918" y="4978272"/>
              <a:ext cx="71098" cy="71098"/>
            </a:xfrm>
            <a:prstGeom prst="ellipse">
              <a:avLst/>
            </a:prstGeom>
            <a:solidFill>
              <a:schemeClr val="tx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000"/>
            </a:p>
          </p:txBody>
        </p:sp>
        <p:sp>
          <p:nvSpPr>
            <p:cNvPr id="206" name="타원 205">
              <a:extLst>
                <a:ext uri="{FF2B5EF4-FFF2-40B4-BE49-F238E27FC236}">
                  <a16:creationId xmlns:a16="http://schemas.microsoft.com/office/drawing/2014/main" id="{B43A9A5D-610A-AF7B-C51F-021E0A9FB38D}"/>
                </a:ext>
              </a:extLst>
            </p:cNvPr>
            <p:cNvSpPr/>
            <p:nvPr/>
          </p:nvSpPr>
          <p:spPr>
            <a:xfrm>
              <a:off x="4732846" y="4978272"/>
              <a:ext cx="71098" cy="71098"/>
            </a:xfrm>
            <a:prstGeom prst="ellipse">
              <a:avLst/>
            </a:prstGeom>
            <a:solidFill>
              <a:schemeClr val="tx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000"/>
            </a:p>
          </p:txBody>
        </p:sp>
        <p:sp>
          <p:nvSpPr>
            <p:cNvPr id="207" name="타원 206">
              <a:extLst>
                <a:ext uri="{FF2B5EF4-FFF2-40B4-BE49-F238E27FC236}">
                  <a16:creationId xmlns:a16="http://schemas.microsoft.com/office/drawing/2014/main" id="{9B6B4969-CEB7-7E95-03CF-DC9C2F6DF9F2}"/>
                </a:ext>
              </a:extLst>
            </p:cNvPr>
            <p:cNvSpPr/>
            <p:nvPr/>
          </p:nvSpPr>
          <p:spPr>
            <a:xfrm>
              <a:off x="5291638" y="4978272"/>
              <a:ext cx="71098" cy="71098"/>
            </a:xfrm>
            <a:prstGeom prst="ellipse">
              <a:avLst/>
            </a:prstGeom>
            <a:solidFill>
              <a:schemeClr val="tx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000"/>
            </a:p>
          </p:txBody>
        </p:sp>
        <p:sp>
          <p:nvSpPr>
            <p:cNvPr id="208" name="타원 207">
              <a:extLst>
                <a:ext uri="{FF2B5EF4-FFF2-40B4-BE49-F238E27FC236}">
                  <a16:creationId xmlns:a16="http://schemas.microsoft.com/office/drawing/2014/main" id="{DF772A4E-3C93-E5A7-7A95-7F079DE2031E}"/>
                </a:ext>
              </a:extLst>
            </p:cNvPr>
            <p:cNvSpPr/>
            <p:nvPr/>
          </p:nvSpPr>
          <p:spPr>
            <a:xfrm>
              <a:off x="6386686" y="4978272"/>
              <a:ext cx="71098" cy="71098"/>
            </a:xfrm>
            <a:prstGeom prst="ellipse">
              <a:avLst/>
            </a:prstGeom>
            <a:solidFill>
              <a:schemeClr val="tx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000"/>
            </a:p>
          </p:txBody>
        </p:sp>
        <p:sp>
          <p:nvSpPr>
            <p:cNvPr id="209" name="타원 208">
              <a:extLst>
                <a:ext uri="{FF2B5EF4-FFF2-40B4-BE49-F238E27FC236}">
                  <a16:creationId xmlns:a16="http://schemas.microsoft.com/office/drawing/2014/main" id="{7D3B397A-A258-9578-6D31-D2BE6073AF71}"/>
                </a:ext>
              </a:extLst>
            </p:cNvPr>
            <p:cNvSpPr/>
            <p:nvPr/>
          </p:nvSpPr>
          <p:spPr>
            <a:xfrm>
              <a:off x="6919475" y="4978272"/>
              <a:ext cx="71098" cy="71098"/>
            </a:xfrm>
            <a:prstGeom prst="ellipse">
              <a:avLst/>
            </a:prstGeom>
            <a:solidFill>
              <a:schemeClr val="tx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000"/>
            </a:p>
          </p:txBody>
        </p:sp>
        <p:cxnSp>
          <p:nvCxnSpPr>
            <p:cNvPr id="210" name="직선 연결선 209">
              <a:extLst>
                <a:ext uri="{FF2B5EF4-FFF2-40B4-BE49-F238E27FC236}">
                  <a16:creationId xmlns:a16="http://schemas.microsoft.com/office/drawing/2014/main" id="{546F02D3-E684-0037-2575-1E6AA71BAFA6}"/>
                </a:ext>
              </a:extLst>
            </p:cNvPr>
            <p:cNvCxnSpPr>
              <a:cxnSpLocks/>
            </p:cNvCxnSpPr>
            <p:nvPr/>
          </p:nvCxnSpPr>
          <p:spPr>
            <a:xfrm>
              <a:off x="6161733" y="5005076"/>
              <a:ext cx="21732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5" name="TextBox 264">
            <a:extLst>
              <a:ext uri="{FF2B5EF4-FFF2-40B4-BE49-F238E27FC236}">
                <a16:creationId xmlns:a16="http://schemas.microsoft.com/office/drawing/2014/main" id="{40E80BAA-3C7A-7931-AAAE-9CDD49C27053}"/>
              </a:ext>
            </a:extLst>
          </p:cNvPr>
          <p:cNvSpPr txBox="1"/>
          <p:nvPr/>
        </p:nvSpPr>
        <p:spPr>
          <a:xfrm>
            <a:off x="7777640" y="6205303"/>
            <a:ext cx="13663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Jin, EDL 2026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C6B118A-05C6-64C9-E2F7-DD109F0125FB}"/>
              </a:ext>
            </a:extLst>
          </p:cNvPr>
          <p:cNvSpPr txBox="1"/>
          <p:nvPr/>
        </p:nvSpPr>
        <p:spPr>
          <a:xfrm>
            <a:off x="409443" y="1097965"/>
            <a:ext cx="86404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CTN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영역을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개의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radial charge cell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으로 분할</a:t>
            </a:r>
          </a:p>
        </p:txBody>
      </p:sp>
      <p:sp>
        <p:nvSpPr>
          <p:cNvPr id="5" name="화살표: 아래쪽 4">
            <a:extLst>
              <a:ext uri="{FF2B5EF4-FFF2-40B4-BE49-F238E27FC236}">
                <a16:creationId xmlns:a16="http://schemas.microsoft.com/office/drawing/2014/main" id="{F5CC9C04-7F95-140B-5AF0-81EF27621DBB}"/>
              </a:ext>
            </a:extLst>
          </p:cNvPr>
          <p:cNvSpPr/>
          <p:nvPr/>
        </p:nvSpPr>
        <p:spPr>
          <a:xfrm>
            <a:off x="4167077" y="3738026"/>
            <a:ext cx="765318" cy="584774"/>
          </a:xfrm>
          <a:prstGeom prst="downArrow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7F4C1DF-32FF-30D5-ED42-B3DFFFA0091A}"/>
              </a:ext>
            </a:extLst>
          </p:cNvPr>
          <p:cNvSpPr txBox="1"/>
          <p:nvPr/>
        </p:nvSpPr>
        <p:spPr>
          <a:xfrm>
            <a:off x="409443" y="4397193"/>
            <a:ext cx="86404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각각의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equivalent charge node 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ΔQ</a:t>
            </a:r>
            <a:r>
              <a:rPr lang="en-US" altLang="ko-KR" sz="2000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i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으로 표현할 수 있음</a:t>
            </a:r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84EB86A7-0275-51D1-B097-7F004E84F20C}"/>
              </a:ext>
            </a:extLst>
          </p:cNvPr>
          <p:cNvGrpSpPr/>
          <p:nvPr/>
        </p:nvGrpSpPr>
        <p:grpSpPr>
          <a:xfrm>
            <a:off x="7320881" y="5068122"/>
            <a:ext cx="947738" cy="886470"/>
            <a:chOff x="6105526" y="1766242"/>
            <a:chExt cx="947738" cy="886470"/>
          </a:xfrm>
        </p:grpSpPr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0375D809-35E2-12E3-B627-6B0E9D992FDC}"/>
                </a:ext>
              </a:extLst>
            </p:cNvPr>
            <p:cNvSpPr/>
            <p:nvPr/>
          </p:nvSpPr>
          <p:spPr>
            <a:xfrm>
              <a:off x="6105526" y="1766888"/>
              <a:ext cx="885824" cy="885824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타원 19">
              <a:extLst>
                <a:ext uri="{FF2B5EF4-FFF2-40B4-BE49-F238E27FC236}">
                  <a16:creationId xmlns:a16="http://schemas.microsoft.com/office/drawing/2014/main" id="{7581E6AD-496E-5D32-54E3-4238C219E1E8}"/>
                </a:ext>
              </a:extLst>
            </p:cNvPr>
            <p:cNvSpPr/>
            <p:nvPr/>
          </p:nvSpPr>
          <p:spPr>
            <a:xfrm>
              <a:off x="6338275" y="1999637"/>
              <a:ext cx="420326" cy="420326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21" name="직선 화살표 연결선 20">
              <a:extLst>
                <a:ext uri="{FF2B5EF4-FFF2-40B4-BE49-F238E27FC236}">
                  <a16:creationId xmlns:a16="http://schemas.microsoft.com/office/drawing/2014/main" id="{D71CB48E-5CA4-01D2-6BDB-9545F5075268}"/>
                </a:ext>
              </a:extLst>
            </p:cNvPr>
            <p:cNvCxnSpPr>
              <a:endCxn id="20" idx="7"/>
            </p:cNvCxnSpPr>
            <p:nvPr/>
          </p:nvCxnSpPr>
          <p:spPr>
            <a:xfrm flipV="1">
              <a:off x="6553200" y="2061192"/>
              <a:ext cx="143846" cy="15813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직선 화살표 연결선 21">
              <a:extLst>
                <a:ext uri="{FF2B5EF4-FFF2-40B4-BE49-F238E27FC236}">
                  <a16:creationId xmlns:a16="http://schemas.microsoft.com/office/drawing/2014/main" id="{2F084445-8377-4A54-9298-249E151DAD11}"/>
                </a:ext>
              </a:extLst>
            </p:cNvPr>
            <p:cNvCxnSpPr>
              <a:cxnSpLocks/>
              <a:endCxn id="19" idx="6"/>
            </p:cNvCxnSpPr>
            <p:nvPr/>
          </p:nvCxnSpPr>
          <p:spPr>
            <a:xfrm flipV="1">
              <a:off x="6548438" y="2209800"/>
              <a:ext cx="442912" cy="952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직선 연결선 22">
              <a:extLst>
                <a:ext uri="{FF2B5EF4-FFF2-40B4-BE49-F238E27FC236}">
                  <a16:creationId xmlns:a16="http://schemas.microsoft.com/office/drawing/2014/main" id="{E2A3BDB0-7A89-CE83-2BA8-66BAEF52CB65}"/>
                </a:ext>
              </a:extLst>
            </p:cNvPr>
            <p:cNvCxnSpPr/>
            <p:nvPr/>
          </p:nvCxnSpPr>
          <p:spPr>
            <a:xfrm>
              <a:off x="6448425" y="1853230"/>
              <a:ext cx="200025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직선 연결선 23">
              <a:extLst>
                <a:ext uri="{FF2B5EF4-FFF2-40B4-BE49-F238E27FC236}">
                  <a16:creationId xmlns:a16="http://schemas.microsoft.com/office/drawing/2014/main" id="{ABA61BF6-D801-DE29-141E-C8A3B15478EF}"/>
                </a:ext>
              </a:extLst>
            </p:cNvPr>
            <p:cNvCxnSpPr/>
            <p:nvPr/>
          </p:nvCxnSpPr>
          <p:spPr>
            <a:xfrm>
              <a:off x="6448425" y="1907205"/>
              <a:ext cx="200025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직선 연결선 24">
              <a:extLst>
                <a:ext uri="{FF2B5EF4-FFF2-40B4-BE49-F238E27FC236}">
                  <a16:creationId xmlns:a16="http://schemas.microsoft.com/office/drawing/2014/main" id="{7619C340-66EA-9C8F-A919-4416D50F6105}"/>
                </a:ext>
              </a:extLst>
            </p:cNvPr>
            <p:cNvCxnSpPr>
              <a:cxnSpLocks/>
              <a:stCxn id="20" idx="0"/>
            </p:cNvCxnSpPr>
            <p:nvPr/>
          </p:nvCxnSpPr>
          <p:spPr>
            <a:xfrm flipV="1">
              <a:off x="6548438" y="1914786"/>
              <a:ext cx="0" cy="8485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직선 연결선 25">
              <a:extLst>
                <a:ext uri="{FF2B5EF4-FFF2-40B4-BE49-F238E27FC236}">
                  <a16:creationId xmlns:a16="http://schemas.microsoft.com/office/drawing/2014/main" id="{26D3A822-8FDD-62BC-C451-D2287DA0212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48437" y="1766242"/>
              <a:ext cx="0" cy="8761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3179A447-FF43-A2B1-1EC8-C8000FA928F8}"/>
                    </a:ext>
                  </a:extLst>
                </p:cNvPr>
                <p:cNvSpPr txBox="1"/>
                <p:nvPr/>
              </p:nvSpPr>
              <p:spPr>
                <a:xfrm>
                  <a:off x="6433343" y="1961263"/>
                  <a:ext cx="336551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altLang="ko-KR" sz="1050" b="0" i="1" dirty="0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𝑎</m:t>
                      </m:r>
                    </m:oMath>
                  </a14:m>
                  <a:r>
                    <a:rPr lang="ko-KR" altLang="en-US" sz="1050" dirty="0">
                      <a:ln w="9525">
                        <a:solidFill>
                          <a:schemeClr val="tx1">
                            <a:alpha val="29000"/>
                          </a:schemeClr>
                        </a:solidFill>
                      </a:ln>
                      <a:latin typeface="Times New Roman"/>
                      <a:ea typeface="맑은 고딕"/>
                      <a:cs typeface="Times New Roman"/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14D1E24-7CC3-76F6-BEA4-E42EE728E4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33343" y="1961263"/>
                  <a:ext cx="336551" cy="261610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F9C74366-3F40-4483-E634-DB4EF6861ADD}"/>
                    </a:ext>
                  </a:extLst>
                </p:cNvPr>
                <p:cNvSpPr txBox="1"/>
                <p:nvPr/>
              </p:nvSpPr>
              <p:spPr>
                <a:xfrm>
                  <a:off x="6716713" y="2157595"/>
                  <a:ext cx="336551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altLang="ko-KR" sz="1050" b="0" i="1" dirty="0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𝑏</m:t>
                      </m:r>
                    </m:oMath>
                  </a14:m>
                  <a:r>
                    <a:rPr lang="ko-KR" altLang="en-US" sz="1050" dirty="0">
                      <a:ln w="9525">
                        <a:solidFill>
                          <a:schemeClr val="tx1">
                            <a:alpha val="29000"/>
                          </a:schemeClr>
                        </a:solidFill>
                      </a:ln>
                      <a:latin typeface="Times New Roman"/>
                      <a:ea typeface="맑은 고딕"/>
                      <a:cs typeface="Times New Roman"/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44E1D0FB-CE49-6B85-C3E8-E3F33F71F3B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16713" y="2157595"/>
                  <a:ext cx="336551" cy="261610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6298AFF6-3B25-1AB7-F068-52BB7CA73486}"/>
                  </a:ext>
                </a:extLst>
              </p:cNvPr>
              <p:cNvSpPr txBox="1"/>
              <p:nvPr/>
            </p:nvSpPr>
            <p:spPr>
              <a:xfrm>
                <a:off x="7327787" y="4977768"/>
                <a:ext cx="54675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ko-KR" sz="1800" b="0" i="1" baseline="-3000" dirty="0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𝐶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6298AFF6-3B25-1AB7-F068-52BB7CA734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27787" y="4977768"/>
                <a:ext cx="546754" cy="3693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061CD819-364E-9D7B-97F8-0E52D49D2EA5}"/>
                  </a:ext>
                </a:extLst>
              </p:cNvPr>
              <p:cNvSpPr txBox="1"/>
              <p:nvPr/>
            </p:nvSpPr>
            <p:spPr>
              <a:xfrm>
                <a:off x="6987834" y="4397193"/>
                <a:ext cx="1579612" cy="5668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sz="2000" b="0" i="1" dirty="0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𝐶</m:t>
                    </m:r>
                    <m:r>
                      <a:rPr lang="en-US" altLang="ko-KR" sz="2000" b="0" i="1" dirty="0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</m:t>
                    </m:r>
                    <m:f>
                      <m:fPr>
                        <m:ctrlPr>
                          <a:rPr lang="en-US" altLang="ko-KR" sz="2000" b="0" i="1" dirty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2000" b="0" i="1" dirty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  <m:r>
                          <a:rPr lang="en-US" altLang="ko-KR" sz="2000" b="0" i="1" dirty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𝜋𝜀</m:t>
                        </m:r>
                      </m:num>
                      <m:den>
                        <m:func>
                          <m:funcPr>
                            <m:ctrlPr>
                              <a:rPr lang="en-US" altLang="ko-KR" sz="2000" b="0" i="0" dirty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altLang="ko-KR" sz="2000" b="0" i="0" dirty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ln</m:t>
                            </m:r>
                          </m:fName>
                          <m:e>
                            <m:d>
                              <m:dPr>
                                <m:ctrlPr>
                                  <a:rPr lang="en-US" altLang="ko-KR" sz="2000" b="0" i="1" dirty="0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dPr>
                              <m:e>
                                <m:r>
                                  <a:rPr lang="en-US" altLang="ko-KR" sz="2000" b="0" i="1" dirty="0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𝑏</m:t>
                                </m:r>
                                <m:r>
                                  <m:rPr>
                                    <m:lit/>
                                  </m:rPr>
                                  <a:rPr lang="en-US" altLang="ko-KR" sz="2000" b="0" i="1" dirty="0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/</m:t>
                                </m:r>
                                <m:r>
                                  <a:rPr lang="en-US" altLang="ko-KR" sz="2000" b="0" i="1" dirty="0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𝑎</m:t>
                                </m:r>
                              </m:e>
                            </m:d>
                          </m:e>
                        </m:func>
                      </m:den>
                    </m:f>
                  </m:oMath>
                </a14:m>
                <a:r>
                  <a:rPr lang="ko-KR" altLang="en-US" dirty="0"/>
                  <a:t> </a:t>
                </a:r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061CD819-364E-9D7B-97F8-0E52D49D2E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87834" y="4397193"/>
                <a:ext cx="1579612" cy="566886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3940006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66EED9-289A-C75D-E259-CC19874058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E5C5F83-BEED-3220-1ABB-195354AAD4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Detailed Poisson Solution</a:t>
            </a:r>
            <a:endParaRPr lang="ko-KR" altLang="en-US" dirty="0"/>
          </a:p>
        </p:txBody>
      </p:sp>
      <p:pic>
        <p:nvPicPr>
          <p:cNvPr id="4" name="그림 3" descr="텍스트, 폰트, 친필, 화이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957F814-81C0-B11D-82BA-3C10AE605C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505" y="1362634"/>
            <a:ext cx="4309835" cy="165722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205B187-72BA-F9FE-A791-B18A4C829D83}"/>
              </a:ext>
            </a:extLst>
          </p:cNvPr>
          <p:cNvSpPr txBox="1"/>
          <p:nvPr/>
        </p:nvSpPr>
        <p:spPr>
          <a:xfrm>
            <a:off x="580103" y="963561"/>
            <a:ext cx="334226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N+2 layer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의 전위 분포 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2E6F4FE7-A57F-6A32-681A-2E4753E470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16016" y="3879798"/>
            <a:ext cx="1495634" cy="46679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D250DDF5-DA6E-192F-24F4-DF6B5E8F2B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4240" y="4621154"/>
            <a:ext cx="3755923" cy="380809"/>
          </a:xfrm>
          <a:prstGeom prst="rect">
            <a:avLst/>
          </a:prstGeom>
        </p:spPr>
      </p:pic>
      <p:pic>
        <p:nvPicPr>
          <p:cNvPr id="12" name="그림 11" descr="텍스트, 도표, 폰트, 친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BAEC66E-9B73-0F63-EB4A-185634E4260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34115" y="1570745"/>
            <a:ext cx="3755923" cy="3146489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A38A7378-CDF4-68F4-07FE-EFADAA096305}"/>
              </a:ext>
            </a:extLst>
          </p:cNvPr>
          <p:cNvSpPr txBox="1"/>
          <p:nvPr/>
        </p:nvSpPr>
        <p:spPr>
          <a:xfrm>
            <a:off x="5306231" y="963561"/>
            <a:ext cx="268420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경계조건 행렬식 정리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8F19C8A-DB6C-16EB-E305-67194412DE18}"/>
              </a:ext>
            </a:extLst>
          </p:cNvPr>
          <p:cNvSpPr txBox="1"/>
          <p:nvPr/>
        </p:nvSpPr>
        <p:spPr>
          <a:xfrm>
            <a:off x="1405304" y="3322920"/>
            <a:ext cx="251705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선형방정식</a:t>
            </a:r>
          </a:p>
        </p:txBody>
      </p:sp>
      <p:sp>
        <p:nvSpPr>
          <p:cNvPr id="15" name="왼쪽 중괄호 14">
            <a:extLst>
              <a:ext uri="{FF2B5EF4-FFF2-40B4-BE49-F238E27FC236}">
                <a16:creationId xmlns:a16="http://schemas.microsoft.com/office/drawing/2014/main" id="{40FB273B-07DE-550B-C6ED-5B1B98A01187}"/>
              </a:ext>
            </a:extLst>
          </p:cNvPr>
          <p:cNvSpPr/>
          <p:nvPr/>
        </p:nvSpPr>
        <p:spPr>
          <a:xfrm>
            <a:off x="4864932" y="1363671"/>
            <a:ext cx="356707" cy="3447888"/>
          </a:xfrm>
          <a:prstGeom prst="leftBrace">
            <a:avLst>
              <a:gd name="adj1" fmla="val 80279"/>
              <a:gd name="adj2" fmla="val 65858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618E10C-866D-D215-EA54-6985C98C0068}"/>
              </a:ext>
            </a:extLst>
          </p:cNvPr>
          <p:cNvSpPr txBox="1"/>
          <p:nvPr/>
        </p:nvSpPr>
        <p:spPr>
          <a:xfrm>
            <a:off x="7777640" y="6205303"/>
            <a:ext cx="13663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Jin, EDL 2026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D59550E-6915-D59A-CE8E-8A031A181A7D}"/>
              </a:ext>
            </a:extLst>
          </p:cNvPr>
          <p:cNvSpPr txBox="1"/>
          <p:nvPr/>
        </p:nvSpPr>
        <p:spPr>
          <a:xfrm>
            <a:off x="580104" y="5410986"/>
            <a:ext cx="271927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역행렬</a:t>
            </a:r>
            <a:r>
              <a:rPr lang="ko-KR" altLang="en-US" sz="2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계산</a:t>
            </a:r>
            <a:r>
              <a:rPr lang="en-US" altLang="ko-KR" sz="2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…?	x = A</a:t>
            </a:r>
            <a:r>
              <a:rPr lang="en-US" altLang="ko-KR" sz="2400" baseline="30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-1</a:t>
            </a:r>
            <a:r>
              <a:rPr lang="en-US" altLang="ko-KR" sz="2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b ..?</a:t>
            </a:r>
            <a:endParaRPr lang="ko-KR" altLang="en-US" sz="24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0459E2C-4E16-26A4-071A-63101296EA36}"/>
              </a:ext>
            </a:extLst>
          </p:cNvPr>
          <p:cNvSpPr txBox="1"/>
          <p:nvPr/>
        </p:nvSpPr>
        <p:spPr>
          <a:xfrm>
            <a:off x="4572000" y="5664511"/>
            <a:ext cx="376784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ΔV</a:t>
            </a:r>
            <a:r>
              <a:rPr lang="en-US" altLang="ko-KR" sz="2000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th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를 구하는데 있어 모든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coefficient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계산은 불필요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!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ADF34F1C-3C4D-D660-97C8-C53D17206B47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3099250" y="6018454"/>
            <a:ext cx="147275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137248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1FC4F5-1BC0-444C-80AE-9E166FBE0E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7E13666-3AEC-DBB1-B987-49885C8D72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Q-</a:t>
            </a:r>
            <a:r>
              <a:rPr lang="en-US" altLang="ko-KR" dirty="0" err="1"/>
              <a:t>ΔV</a:t>
            </a:r>
            <a:r>
              <a:rPr lang="en-US" altLang="ko-KR" baseline="-25000" dirty="0" err="1"/>
              <a:t>th</a:t>
            </a:r>
            <a:r>
              <a:rPr lang="en-US" altLang="ko-KR" dirty="0"/>
              <a:t> Optimized Calculation</a:t>
            </a:r>
            <a:endParaRPr lang="ko-KR" altLang="en-US" dirty="0"/>
          </a:p>
        </p:txBody>
      </p:sp>
      <p:pic>
        <p:nvPicPr>
          <p:cNvPr id="5" name="그림 4" descr="폰트, 텍스트, 화이트, 라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A08BDE1-8A43-FEC0-E8C1-EE714D441E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977" y="1770233"/>
            <a:ext cx="2410161" cy="733527"/>
          </a:xfrm>
          <a:prstGeom prst="rect">
            <a:avLst/>
          </a:prstGeom>
        </p:spPr>
      </p:pic>
      <p:pic>
        <p:nvPicPr>
          <p:cNvPr id="6" name="그림 5" descr="폰트, 텍스트, 라인, 화이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5F27606-0963-B914-E944-35FAE9B57F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1550" y="2638123"/>
            <a:ext cx="2160900" cy="534982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50CEA32D-CC1D-4CEB-E725-A5295A65ED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29753" y="2805917"/>
            <a:ext cx="2624851" cy="29841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9B0153A1-F69A-C98F-D4B9-96EA751DAB8F}"/>
              </a:ext>
            </a:extLst>
          </p:cNvPr>
          <p:cNvSpPr txBox="1"/>
          <p:nvPr/>
        </p:nvSpPr>
        <p:spPr>
          <a:xfrm>
            <a:off x="530941" y="1196664"/>
            <a:ext cx="502031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ΔV</a:t>
            </a:r>
            <a:r>
              <a:rPr lang="en-US" altLang="ko-KR" sz="2000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th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: channel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에서의 전기장의 세기가 중요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3B7EB8B-F728-D4C4-2DBF-EC64979A3A84}"/>
              </a:ext>
            </a:extLst>
          </p:cNvPr>
          <p:cNvSpPr txBox="1"/>
          <p:nvPr/>
        </p:nvSpPr>
        <p:spPr>
          <a:xfrm>
            <a:off x="530941" y="2744853"/>
            <a:ext cx="350028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Cramer’s rule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에 따르면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, 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EDD3E0A-E53D-607A-4FF3-2A882D3950FC}"/>
              </a:ext>
            </a:extLst>
          </p:cNvPr>
          <p:cNvSpPr txBox="1"/>
          <p:nvPr/>
        </p:nvSpPr>
        <p:spPr>
          <a:xfrm>
            <a:off x="7777640" y="6205303"/>
            <a:ext cx="13663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Jin, EDL 2026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  <p:pic>
        <p:nvPicPr>
          <p:cNvPr id="7" name="그림 6" descr="텍스트, 도표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0FCC1F5-C0A9-FA93-07A8-C0C1C143A7B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1977" y="3571780"/>
            <a:ext cx="3629756" cy="157164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3148E05-C795-3D57-D309-5023DCBB2510}"/>
              </a:ext>
            </a:extLst>
          </p:cNvPr>
          <p:cNvSpPr txBox="1"/>
          <p:nvPr/>
        </p:nvSpPr>
        <p:spPr>
          <a:xfrm>
            <a:off x="4175806" y="1783053"/>
            <a:ext cx="456704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K</a:t>
            </a:r>
            <a:r>
              <a:rPr lang="en-US" altLang="ko-KR" sz="2000" baseline="-25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TOX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값을 </a:t>
            </a:r>
            <a:r>
              <a:rPr lang="ko-KR" altLang="en-US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일치시키는게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ΔV</a:t>
            </a:r>
            <a:r>
              <a:rPr lang="en-US" altLang="ko-KR" sz="2000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th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값 구하는 핵심 과정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!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9" name="화살표: 오른쪽 8">
            <a:extLst>
              <a:ext uri="{FF2B5EF4-FFF2-40B4-BE49-F238E27FC236}">
                <a16:creationId xmlns:a16="http://schemas.microsoft.com/office/drawing/2014/main" id="{2146A9C4-EFCA-2894-B40D-A521D8730E6F}"/>
              </a:ext>
            </a:extLst>
          </p:cNvPr>
          <p:cNvSpPr/>
          <p:nvPr/>
        </p:nvSpPr>
        <p:spPr>
          <a:xfrm>
            <a:off x="3212538" y="2014917"/>
            <a:ext cx="890124" cy="303119"/>
          </a:xfrm>
          <a:prstGeom prst="rightArrow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799B68F-56A8-91FE-A3C1-038EDFCDB3D6}"/>
                  </a:ext>
                </a:extLst>
              </p:cNvPr>
              <p:cNvSpPr txBox="1"/>
              <p:nvPr/>
            </p:nvSpPr>
            <p:spPr>
              <a:xfrm>
                <a:off x="-774727" y="5545921"/>
                <a:ext cx="7816906" cy="45204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ko-KR" sz="2000" b="0" i="1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/>
                        </a:rPr>
                        <m:t>∴</m:t>
                      </m:r>
                      <m:r>
                        <a:rPr lang="en-US" altLang="ko-KR" sz="2000" b="0" i="0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  </m:t>
                      </m:r>
                      <m:r>
                        <m:rPr>
                          <m:sty m:val="p"/>
                        </m:rPr>
                        <a:rPr lang="en-US" altLang="ko-KR" sz="2000" b="0" i="0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Δ</m:t>
                      </m:r>
                      <m:sSub>
                        <m:sSubPr>
                          <m:ctrlPr>
                            <a:rPr lang="en-US" altLang="ko-KR" sz="20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</m:ctrlPr>
                        </m:sSubPr>
                        <m:e>
                          <m:r>
                            <a:rPr lang="en-US" altLang="ko-KR" sz="20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𝑉</m:t>
                          </m:r>
                        </m:e>
                        <m:sub>
                          <m:r>
                            <a:rPr lang="en-US" altLang="ko-KR" sz="20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𝑡ℎ</m:t>
                          </m:r>
                        </m:sub>
                      </m:sSub>
                      <m:r>
                        <a:rPr lang="en-US" altLang="ko-KR" sz="2000" b="0" i="1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=−</m:t>
                      </m:r>
                      <m:func>
                        <m:funcPr>
                          <m:ctrlPr>
                            <a:rPr lang="en-US" altLang="ko-KR" sz="2000" b="0" i="0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ko-KR" sz="2000" b="0" i="0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det</m:t>
                          </m:r>
                        </m:fName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altLang="ko-KR" sz="2000" b="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ko-KR" sz="2000" b="0" i="1" smtClean="0">
                                      <a:ln w="9525">
                                        <a:solidFill>
                                          <a:schemeClr val="tx1">
                                            <a:alpha val="29000"/>
                                          </a:schemeClr>
                                        </a:solidFill>
                                      </a:ln>
                                      <a:latin typeface="Cambria Math" panose="02040503050406030204" pitchFamily="18" charset="0"/>
                                      <a:ea typeface="맑은 고딕"/>
                                      <a:cs typeface="Times New Roman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2000" b="0" i="1" smtClean="0">
                                      <a:ln w="9525">
                                        <a:solidFill>
                                          <a:schemeClr val="tx1">
                                            <a:alpha val="29000"/>
                                          </a:schemeClr>
                                        </a:solidFill>
                                      </a:ln>
                                      <a:latin typeface="Cambria Math" panose="02040503050406030204" pitchFamily="18" charset="0"/>
                                      <a:ea typeface="맑은 고딕"/>
                                      <a:cs typeface="Times New Roman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altLang="ko-KR" sz="2000" b="0" i="1" smtClean="0">
                                      <a:ln w="9525">
                                        <a:solidFill>
                                          <a:schemeClr val="tx1">
                                            <a:alpha val="29000"/>
                                          </a:schemeClr>
                                        </a:solidFill>
                                      </a:ln>
                                      <a:latin typeface="Cambria Math" panose="02040503050406030204" pitchFamily="18" charset="0"/>
                                      <a:ea typeface="맑은 고딕"/>
                                      <a:cs typeface="Times New Roman"/>
                                    </a:rPr>
                                    <m:t>𝑏</m:t>
                                  </m:r>
                                  <m:d>
                                    <m:dPr>
                                      <m:ctrlPr>
                                        <a:rPr lang="en-US" altLang="ko-KR" sz="2000" b="0" i="0" smtClean="0">
                                          <a:ln w="9525">
                                            <a:solidFill>
                                              <a:schemeClr val="tx1">
                                                <a:alpha val="29000"/>
                                              </a:schemeClr>
                                            </a:solidFill>
                                          </a:ln>
                                          <a:latin typeface="Cambria Math" panose="02040503050406030204" pitchFamily="18" charset="0"/>
                                          <a:ea typeface="맑은 고딕"/>
                                          <a:cs typeface="Times New Roman"/>
                                        </a:rPr>
                                      </m:ctrlPr>
                                    </m:d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altLang="ko-KR" sz="2000" b="0" i="0" smtClean="0">
                                          <a:ln w="9525">
                                            <a:solidFill>
                                              <a:schemeClr val="tx1">
                                                <a:alpha val="29000"/>
                                              </a:schemeClr>
                                            </a:solidFill>
                                          </a:ln>
                                          <a:latin typeface="Cambria Math" panose="02040503050406030204" pitchFamily="18" charset="0"/>
                                          <a:ea typeface="맑은 고딕"/>
                                          <a:cs typeface="Times New Roman"/>
                                        </a:rPr>
                                        <m:t>Δ</m:t>
                                      </m:r>
                                      <m:sSub>
                                        <m:sSubPr>
                                          <m:ctrlPr>
                                            <a:rPr lang="en-US" altLang="ko-KR" sz="2000" b="0" i="1" smtClean="0">
                                              <a:ln w="9525">
                                                <a:solidFill>
                                                  <a:schemeClr val="tx1">
                                                    <a:alpha val="29000"/>
                                                  </a:schemeClr>
                                                </a:solidFill>
                                              </a:ln>
                                              <a:latin typeface="Cambria Math" panose="02040503050406030204" pitchFamily="18" charset="0"/>
                                              <a:ea typeface="맑은 고딕"/>
                                              <a:cs typeface="Times New Roman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ko-KR" sz="2000" b="0" i="1" smtClean="0">
                                              <a:ln w="9525">
                                                <a:solidFill>
                                                  <a:schemeClr val="tx1">
                                                    <a:alpha val="29000"/>
                                                  </a:schemeClr>
                                                </a:solidFill>
                                              </a:ln>
                                              <a:latin typeface="Cambria Math" panose="02040503050406030204" pitchFamily="18" charset="0"/>
                                              <a:ea typeface="맑은 고딕"/>
                                              <a:cs typeface="Times New Roman"/>
                                            </a:rPr>
                                            <m:t>𝑄</m:t>
                                          </m:r>
                                        </m:e>
                                        <m:sub>
                                          <m:r>
                                            <a:rPr lang="en-US" altLang="ko-KR" sz="2000" b="0" i="1" smtClean="0">
                                              <a:ln w="9525">
                                                <a:solidFill>
                                                  <a:schemeClr val="tx1">
                                                    <a:alpha val="29000"/>
                                                  </a:schemeClr>
                                                </a:solidFill>
                                              </a:ln>
                                              <a:latin typeface="Cambria Math" panose="02040503050406030204" pitchFamily="18" charset="0"/>
                                              <a:ea typeface="맑은 고딕"/>
                                              <a:cs typeface="Times New Roman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US" altLang="ko-KR" sz="2000" b="0" i="1" smtClean="0">
                                          <a:ln w="9525">
                                            <a:solidFill>
                                              <a:schemeClr val="tx1">
                                                <a:alpha val="29000"/>
                                              </a:schemeClr>
                                            </a:solidFill>
                                          </a:ln>
                                          <a:latin typeface="Cambria Math" panose="02040503050406030204" pitchFamily="18" charset="0"/>
                                          <a:ea typeface="맑은 고딕"/>
                                          <a:cs typeface="Times New Roman"/>
                                        </a:rPr>
                                        <m:t>,0</m:t>
                                      </m:r>
                                    </m:e>
                                  </m:d>
                                </m:sub>
                              </m:sSub>
                            </m:e>
                          </m:d>
                        </m:e>
                      </m:func>
                      <m:r>
                        <a:rPr lang="en-US" altLang="ko-KR" sz="2000" b="0" i="1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= −</m:t>
                      </m:r>
                      <m:r>
                        <m:rPr>
                          <m:sty m:val="p"/>
                        </m:rPr>
                        <a:rPr lang="en-US" altLang="ko-KR" sz="2000" b="0" i="0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det</m:t>
                      </m:r>
                    </m:oMath>
                  </m:oMathPara>
                </a14:m>
                <a:endParaRPr lang="ko-KR" altLang="en-US" sz="20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799B68F-56A8-91FE-A3C1-038EDFCDB3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774727" y="5545921"/>
                <a:ext cx="7816906" cy="45204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D873099C-7DE6-B5BF-E46D-61FA2C280CB3}"/>
                  </a:ext>
                </a:extLst>
              </p:cNvPr>
              <p:cNvSpPr txBox="1"/>
              <p:nvPr/>
            </p:nvSpPr>
            <p:spPr>
              <a:xfrm>
                <a:off x="5041340" y="3419306"/>
                <a:ext cx="3686924" cy="267752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ko-KR" altLang="en-US" sz="200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ko-KR" altLang="en-US" sz="200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mPr>
                          <m:m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ko-KR" altLang="en-US" sz="2000" i="1" smtClean="0">
                                      <a:ln w="9525">
                                        <a:solidFill>
                                          <a:schemeClr val="tx1">
                                            <a:alpha val="29000"/>
                                          </a:schemeClr>
                                        </a:solidFill>
                                      </a:ln>
                                      <a:latin typeface="Cambria Math" panose="02040503050406030204" pitchFamily="18" charset="0"/>
                                      <a:ea typeface="맑은 고딕"/>
                                      <a:cs typeface="Times New Roman"/>
                                    </a:rPr>
                                  </m:ctrlPr>
                                </m:mPr>
                                <m:mr>
                                  <m:e>
                                    <m:f>
                                      <m:fPr>
                                        <m:ctrlPr>
                                          <a:rPr lang="en-US" altLang="ko-KR" sz="200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ko-KR" sz="200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Δ</m:t>
                                        </m:r>
                                        <m:sSub>
                                          <m:sSubPr>
                                            <m:ctrlPr>
                                              <a:rPr lang="en-US" altLang="ko-KR" sz="2000" i="1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ko-KR" sz="2000" i="1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  <m:t>𝑄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ko-KR" sz="2000" i="1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  <m:t>0</m:t>
                                            </m:r>
                                          </m:sub>
                                        </m:sSub>
                                      </m:num>
                                      <m:den>
                                        <m:r>
                                          <a:rPr lang="en-US" altLang="ko-KR" sz="2000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2</m:t>
                                        </m:r>
                                        <m:r>
                                          <a:rPr lang="en-US" altLang="ko-KR" sz="2000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𝜋</m:t>
                                        </m:r>
                                      </m:den>
                                    </m:f>
                                  </m:e>
                                  <m:e>
                                    <m:r>
                                      <a:rPr lang="en-US" altLang="ko-KR" sz="200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−1</m:t>
                                    </m:r>
                                  </m:e>
                                  <m:e>
                                    <m:r>
                                      <a:rPr lang="en-US" altLang="ko-KR" sz="200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f>
                                      <m:fPr>
                                        <m:ctrlPr>
                                          <a:rPr lang="en-US" altLang="ko-KR" sz="200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ko-KR" sz="200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Δ</m:t>
                                        </m:r>
                                        <m:sSub>
                                          <m:sSubPr>
                                            <m:ctrlPr>
                                              <a:rPr lang="en-US" altLang="ko-KR" sz="2000" i="1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ko-KR" sz="2000" i="1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  <m:t>𝑄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ko-KR" sz="2000" b="0" i="1" smtClean="0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</m:num>
                                      <m:den>
                                        <m:r>
                                          <a:rPr lang="en-US" altLang="ko-KR" sz="2000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2</m:t>
                                        </m:r>
                                        <m:r>
                                          <a:rPr lang="en-US" altLang="ko-KR" sz="2000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𝜋</m:t>
                                        </m:r>
                                      </m:den>
                                    </m:f>
                                  </m:e>
                                  <m:e>
                                    <m:r>
                                      <a:rPr lang="en-US" altLang="ko-KR" sz="200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1</m:t>
                                    </m:r>
                                  </m:e>
                                  <m:e>
                                    <m:r>
                                      <a:rPr lang="en-US" altLang="ko-KR" sz="200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−1</m:t>
                                    </m:r>
                                  </m:e>
                                </m:mr>
                              </m:m>
                            </m:e>
                            <m:e>
                              <m:r>
                                <a:rPr lang="ko-KR" altLang="en-US" sz="200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  <m:t>⋯</m:t>
                              </m:r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ko-KR" altLang="en-US" sz="2000" i="1" smtClean="0">
                                      <a:ln w="9525">
                                        <a:solidFill>
                                          <a:schemeClr val="tx1">
                                            <a:alpha val="29000"/>
                                          </a:schemeClr>
                                        </a:solidFill>
                                      </a:ln>
                                      <a:latin typeface="Cambria Math" panose="02040503050406030204" pitchFamily="18" charset="0"/>
                                      <a:ea typeface="맑은 고딕"/>
                                      <a:cs typeface="Times New Roman"/>
                                    </a:rPr>
                                  </m:ctrlPr>
                                </m:mPr>
                                <m:mr>
                                  <m:e>
                                    <m:eqArr>
                                      <m:eqArrPr>
                                        <m:ctrlPr>
                                          <a:rPr lang="en-US" altLang="ko-KR" sz="2000" b="0" i="1" smtClean="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</m:ctrlPr>
                                      </m:eqArrP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en-US" altLang="ko-KR" sz="2000" b="0" i="1" smtClean="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0</m:t>
                                        </m:r>
                                      </m:e>
                                      <m:e/>
                                    </m:eqArr>
                                  </m:e>
                                  <m:e>
                                    <m:eqArr>
                                      <m:eqArrPr>
                                        <m:ctrlPr>
                                          <a:rPr lang="en-US" altLang="ko-KR" sz="2000" b="0" i="1" smtClean="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</m:ctrlPr>
                                      </m:eqArrPr>
                                      <m:e>
                                        <m:r>
                                          <a:rPr lang="en-US" altLang="ko-KR" sz="2000" b="0" i="1" smtClean="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0</m:t>
                                        </m:r>
                                      </m:e>
                                      <m:e/>
                                    </m:eqArr>
                                  </m:e>
                                </m:mr>
                                <m:mr>
                                  <m:e>
                                    <m:r>
                                      <a:rPr lang="en-US" altLang="ko-KR" sz="200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n-US" altLang="ko-KR" sz="200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0</m:t>
                                    </m:r>
                                  </m:e>
                                </m:mr>
                              </m:m>
                            </m:e>
                          </m:mr>
                          <m:mr>
                            <m:e>
                              <m:r>
                                <a:rPr lang="ko-KR" altLang="en-US" sz="200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  <m:t>⋮</m:t>
                              </m:r>
                            </m:e>
                            <m:e>
                              <m:r>
                                <a:rPr lang="ko-KR" altLang="en-US" sz="200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  <m:t>⋱</m:t>
                              </m:r>
                            </m:e>
                            <m:e>
                              <m:r>
                                <a:rPr lang="ko-KR" altLang="en-US" sz="200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  <m:t>⋮</m:t>
                              </m:r>
                            </m:e>
                          </m:mr>
                          <m:m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ko-KR" altLang="en-US" sz="2000" i="1" smtClean="0">
                                      <a:ln w="9525">
                                        <a:solidFill>
                                          <a:schemeClr val="tx1">
                                            <a:alpha val="29000"/>
                                          </a:schemeClr>
                                        </a:solidFill>
                                      </a:ln>
                                      <a:latin typeface="Cambria Math" panose="02040503050406030204" pitchFamily="18" charset="0"/>
                                      <a:ea typeface="맑은 고딕"/>
                                      <a:cs typeface="Times New Roman"/>
                                    </a:rPr>
                                  </m:ctrlPr>
                                </m:mPr>
                                <m:mr>
                                  <m:e>
                                    <m:f>
                                      <m:fPr>
                                        <m:ctrlPr>
                                          <a:rPr lang="en-US" altLang="ko-KR" sz="200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ko-KR" sz="200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Δ</m:t>
                                        </m:r>
                                        <m:sSub>
                                          <m:sSubPr>
                                            <m:ctrlPr>
                                              <a:rPr lang="en-US" altLang="ko-KR" sz="2000" i="1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ko-KR" sz="2000" i="1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  <m:t>𝑄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ko-KR" sz="2000" b="0" i="1" smtClean="0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  <m:t>𝑁</m:t>
                                            </m:r>
                                          </m:sub>
                                        </m:sSub>
                                      </m:num>
                                      <m:den>
                                        <m:r>
                                          <a:rPr lang="en-US" altLang="ko-KR" sz="2000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2</m:t>
                                        </m:r>
                                        <m:r>
                                          <a:rPr lang="en-US" altLang="ko-KR" sz="2000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𝜋</m:t>
                                        </m:r>
                                      </m:den>
                                    </m:f>
                                  </m:e>
                                  <m:e>
                                    <m:r>
                                      <a:rPr lang="en-US" altLang="ko-KR" sz="200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n-US" altLang="ko-KR" sz="200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US" altLang="ko-KR" sz="200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0</m:t>
                                    </m:r>
                                  </m:e>
                                  <m:e>
                                    <m:f>
                                      <m:fPr>
                                        <m:ctrlPr>
                                          <a:rPr lang="en-US" altLang="ko-KR" sz="2000" b="0" i="1" smtClean="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n-US" altLang="ko-KR" sz="2000" b="0" i="1" smtClean="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2</m:t>
                                        </m:r>
                                        <m:r>
                                          <a:rPr lang="en-US" altLang="ko-KR" sz="2000" b="0" i="1" smtClean="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𝜋</m:t>
                                        </m:r>
                                      </m:num>
                                      <m:den>
                                        <m:sSub>
                                          <m:sSubPr>
                                            <m:ctrlPr>
                                              <a:rPr lang="en-US" altLang="ko-KR" sz="2000" b="0" i="1" smtClean="0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ko-KR" sz="2000" b="0" i="1" smtClean="0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  <m:t>𝐶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ko-KR" sz="2000" b="0" i="1" smtClean="0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</m:den>
                                    </m:f>
                                  </m:e>
                                  <m:e>
                                    <m:f>
                                      <m:fPr>
                                        <m:ctrlPr>
                                          <a:rPr lang="en-US" altLang="ko-KR" sz="2000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n-US" altLang="ko-KR" sz="2000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2</m:t>
                                        </m:r>
                                        <m:r>
                                          <a:rPr lang="en-US" altLang="ko-KR" sz="2000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𝜋</m:t>
                                        </m:r>
                                      </m:num>
                                      <m:den>
                                        <m:sSub>
                                          <m:sSubPr>
                                            <m:ctrlPr>
                                              <a:rPr lang="en-US" altLang="ko-KR" sz="2000" i="1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ko-KR" sz="2000" i="1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  <m:t>𝐶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ko-KR" sz="2000" b="0" i="1" smtClean="0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</m:den>
                                    </m:f>
                                  </m:e>
                                </m:mr>
                              </m:m>
                            </m:e>
                            <m:e>
                              <m:r>
                                <a:rPr lang="ko-KR" altLang="en-US" sz="200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  <m:t>⋯</m:t>
                              </m:r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ko-KR" altLang="en-US" sz="2000" i="1" smtClean="0">
                                      <a:ln w="9525">
                                        <a:solidFill>
                                          <a:schemeClr val="tx1">
                                            <a:alpha val="29000"/>
                                          </a:schemeClr>
                                        </a:solidFill>
                                      </a:ln>
                                      <a:latin typeface="Cambria Math" panose="02040503050406030204" pitchFamily="18" charset="0"/>
                                      <a:ea typeface="맑은 고딕"/>
                                      <a:cs typeface="Times New Roman"/>
                                    </a:rPr>
                                  </m:ctrlPr>
                                </m:mPr>
                                <m:mr>
                                  <m:e>
                                    <m:eqArr>
                                      <m:eqArrPr>
                                        <m:ctrlPr>
                                          <a:rPr lang="en-US" altLang="ko-KR" sz="2000" b="0" i="1" smtClean="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</m:ctrlPr>
                                      </m:eqArrPr>
                                      <m:e/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en-US" altLang="ko-KR" sz="2000" b="0" i="1" smtClean="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1</m:t>
                                        </m:r>
                                      </m:e>
                                      <m:e/>
                                    </m:eqArr>
                                  </m:e>
                                  <m:e>
                                    <m:eqArr>
                                      <m:eqArrPr>
                                        <m:ctrlPr>
                                          <a:rPr lang="en-US" altLang="ko-KR" sz="2000" b="0" i="1" smtClean="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</m:ctrlPr>
                                      </m:eqArrPr>
                                      <m:e/>
                                      <m:e>
                                        <m:r>
                                          <a:rPr lang="en-US" altLang="ko-KR" sz="2000" b="0" i="1" smtClean="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−1</m:t>
                                        </m:r>
                                      </m:e>
                                      <m:e/>
                                    </m:eqArr>
                                  </m:e>
                                </m:mr>
                                <m:mr>
                                  <m:e>
                                    <m:f>
                                      <m:fPr>
                                        <m:ctrlPr>
                                          <a:rPr lang="en-US" altLang="ko-KR" sz="2000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n-US" altLang="ko-KR" sz="2000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2</m:t>
                                        </m:r>
                                        <m:r>
                                          <a:rPr lang="en-US" altLang="ko-KR" sz="2000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𝜋</m:t>
                                        </m:r>
                                      </m:num>
                                      <m:den>
                                        <m:sSub>
                                          <m:sSubPr>
                                            <m:ctrlPr>
                                              <a:rPr lang="en-US" altLang="ko-KR" sz="2000" i="1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ko-KR" sz="2000" i="1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  <m:t>𝐶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ko-KR" sz="2000" b="0" i="1" smtClean="0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  <m:t>𝑁</m:t>
                                            </m:r>
                                          </m:sub>
                                        </m:sSub>
                                      </m:den>
                                    </m:f>
                                  </m:e>
                                  <m:e>
                                    <m:f>
                                      <m:fPr>
                                        <m:ctrlPr>
                                          <a:rPr lang="en-US" altLang="ko-KR" sz="2000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n-US" altLang="ko-KR" sz="2000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2</m:t>
                                        </m:r>
                                        <m:r>
                                          <a:rPr lang="en-US" altLang="ko-KR" sz="2000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𝜋</m:t>
                                        </m:r>
                                      </m:num>
                                      <m:den>
                                        <m:sSub>
                                          <m:sSubPr>
                                            <m:ctrlPr>
                                              <a:rPr lang="en-US" altLang="ko-KR" sz="2000" i="1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ko-KR" sz="2000" i="1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  <m:t>𝐶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ko-KR" sz="2000" b="0" i="1" smtClean="0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  <m:t>𝐵𝑂𝑋</m:t>
                                            </m:r>
                                          </m:sub>
                                        </m:sSub>
                                      </m:den>
                                    </m:f>
                                  </m:e>
                                </m:mr>
                              </m:m>
                            </m:e>
                          </m:mr>
                        </m:m>
                      </m:e>
                    </m:d>
                  </m:oMath>
                </a14:m>
                <a:r>
                  <a:rPr lang="ko-KR" altLang="en-US" dirty="0"/>
                  <a:t> </a:t>
                </a: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D873099C-7DE6-B5BF-E46D-61FA2C280C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41340" y="3419306"/>
                <a:ext cx="3686924" cy="2677528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072418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33ADB9-34DA-B950-A802-3A43A8BED5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제목 1">
            <a:extLst>
              <a:ext uri="{FF2B5EF4-FFF2-40B4-BE49-F238E27FC236}">
                <a16:creationId xmlns:a16="http://schemas.microsoft.com/office/drawing/2014/main" id="{7F58E887-E832-99FA-0F24-A9AFF8C1C0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63" y="165100"/>
            <a:ext cx="8956675" cy="592138"/>
          </a:xfrm>
        </p:spPr>
        <p:txBody>
          <a:bodyPr/>
          <a:lstStyle/>
          <a:p>
            <a:r>
              <a:rPr lang="en-US" altLang="ko-KR" dirty="0"/>
              <a:t>Time-step-free Physics-based Modeling</a:t>
            </a:r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D75A4D3-247C-22B1-F1AE-B86974CCBE78}"/>
              </a:ext>
            </a:extLst>
          </p:cNvPr>
          <p:cNvSpPr txBox="1"/>
          <p:nvPr/>
        </p:nvSpPr>
        <p:spPr>
          <a:xfrm>
            <a:off x="671847" y="1120462"/>
            <a:ext cx="750919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핵심 원리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: initial trapped charge distribution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으로 부터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target retention time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의 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ΔV</a:t>
            </a:r>
            <a:r>
              <a:rPr lang="en-US" altLang="ko-KR" sz="2000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th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를 직접 계산</a:t>
            </a:r>
          </a:p>
        </p:txBody>
      </p:sp>
      <p:sp>
        <p:nvSpPr>
          <p:cNvPr id="3" name="Shape 4">
            <a:extLst>
              <a:ext uri="{FF2B5EF4-FFF2-40B4-BE49-F238E27FC236}">
                <a16:creationId xmlns:a16="http://schemas.microsoft.com/office/drawing/2014/main" id="{0B019CFC-82C9-105D-FCDD-B75465C27C5D}"/>
              </a:ext>
            </a:extLst>
          </p:cNvPr>
          <p:cNvSpPr/>
          <p:nvPr/>
        </p:nvSpPr>
        <p:spPr>
          <a:xfrm>
            <a:off x="7632700" y="2541855"/>
            <a:ext cx="0" cy="704088"/>
          </a:xfrm>
          <a:prstGeom prst="line">
            <a:avLst/>
          </a:prstGeom>
          <a:noFill/>
          <a:ln w="25400">
            <a:solidFill>
              <a:srgbClr val="00A6B2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5">
            <a:extLst>
              <a:ext uri="{FF2B5EF4-FFF2-40B4-BE49-F238E27FC236}">
                <a16:creationId xmlns:a16="http://schemas.microsoft.com/office/drawing/2014/main" id="{15A7DFE3-C15B-860D-119E-F34640D54D2A}"/>
              </a:ext>
            </a:extLst>
          </p:cNvPr>
          <p:cNvSpPr/>
          <p:nvPr/>
        </p:nvSpPr>
        <p:spPr>
          <a:xfrm>
            <a:off x="7632700" y="4004895"/>
            <a:ext cx="0" cy="704088"/>
          </a:xfrm>
          <a:prstGeom prst="line">
            <a:avLst/>
          </a:prstGeom>
          <a:noFill/>
          <a:ln w="25400">
            <a:solidFill>
              <a:srgbClr val="00A6B2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6">
            <a:extLst>
              <a:ext uri="{FF2B5EF4-FFF2-40B4-BE49-F238E27FC236}">
                <a16:creationId xmlns:a16="http://schemas.microsoft.com/office/drawing/2014/main" id="{8311B41D-60B9-2619-8B99-9242345E3C1D}"/>
              </a:ext>
            </a:extLst>
          </p:cNvPr>
          <p:cNvSpPr/>
          <p:nvPr/>
        </p:nvSpPr>
        <p:spPr>
          <a:xfrm>
            <a:off x="6489700" y="1901775"/>
            <a:ext cx="2286000" cy="685800"/>
          </a:xfrm>
          <a:prstGeom prst="rect">
            <a:avLst/>
          </a:prstGeom>
          <a:solidFill>
            <a:srgbClr val="EAFBFC"/>
          </a:solidFill>
          <a:ln w="12700">
            <a:solidFill>
              <a:srgbClr val="7FD9DF"/>
            </a:solidFill>
          </a:ln>
        </p:spPr>
        <p:txBody>
          <a:bodyPr wrap="square" lIns="1016" tIns="1016" rIns="1016" bIns="1016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1. Initial state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n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t0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(r, 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)</a:t>
            </a:r>
            <a:endParaRPr lang="en-US" sz="1450" dirty="0"/>
          </a:p>
        </p:txBody>
      </p:sp>
      <p:sp>
        <p:nvSpPr>
          <p:cNvPr id="6" name="Text 7">
            <a:extLst>
              <a:ext uri="{FF2B5EF4-FFF2-40B4-BE49-F238E27FC236}">
                <a16:creationId xmlns:a16="http://schemas.microsoft.com/office/drawing/2014/main" id="{BADA6501-2D63-D31A-2E5E-0221B93D84B6}"/>
              </a:ext>
            </a:extLst>
          </p:cNvPr>
          <p:cNvSpPr/>
          <p:nvPr/>
        </p:nvSpPr>
        <p:spPr>
          <a:xfrm>
            <a:off x="6489700" y="3282519"/>
            <a:ext cx="2286000" cy="685800"/>
          </a:xfrm>
          <a:prstGeom prst="rect">
            <a:avLst/>
          </a:prstGeom>
          <a:solidFill>
            <a:srgbClr val="F0F7FF"/>
          </a:solidFill>
          <a:ln w="12700">
            <a:solidFill>
              <a:srgbClr val="A9CCE3"/>
            </a:solidFill>
          </a:ln>
        </p:spPr>
        <p:txBody>
          <a:bodyPr wrap="square" lIns="1016" tIns="1016" rIns="1016" bIns="1016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2. Emission rates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ch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, 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WL</a:t>
            </a:r>
            <a:endParaRPr lang="en-US" sz="1450" baseline="-25000" dirty="0"/>
          </a:p>
        </p:txBody>
      </p:sp>
      <p:sp>
        <p:nvSpPr>
          <p:cNvPr id="7" name="Text 8">
            <a:extLst>
              <a:ext uri="{FF2B5EF4-FFF2-40B4-BE49-F238E27FC236}">
                <a16:creationId xmlns:a16="http://schemas.microsoft.com/office/drawing/2014/main" id="{D5066E75-AF93-E9A3-9676-300154B024F9}"/>
              </a:ext>
            </a:extLst>
          </p:cNvPr>
          <p:cNvSpPr/>
          <p:nvPr/>
        </p:nvSpPr>
        <p:spPr>
          <a:xfrm>
            <a:off x="6489700" y="4754703"/>
            <a:ext cx="2286000" cy="685800"/>
          </a:xfrm>
          <a:prstGeom prst="rect">
            <a:avLst/>
          </a:prstGeom>
          <a:solidFill>
            <a:srgbClr val="F7F2E2"/>
          </a:solidFill>
          <a:ln w="12700">
            <a:solidFill>
              <a:srgbClr val="F2D38E"/>
            </a:solidFill>
          </a:ln>
        </p:spPr>
        <p:txBody>
          <a:bodyPr wrap="square" lIns="1016" tIns="1016" rIns="1016" bIns="1016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3. Direct evaluation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n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(r, 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, t)</a:t>
            </a:r>
            <a:endParaRPr lang="en-US" sz="1450" dirty="0"/>
          </a:p>
        </p:txBody>
      </p:sp>
      <p:pic>
        <p:nvPicPr>
          <p:cNvPr id="45" name="그림 44">
            <a:extLst>
              <a:ext uri="{FF2B5EF4-FFF2-40B4-BE49-F238E27FC236}">
                <a16:creationId xmlns:a16="http://schemas.microsoft.com/office/drawing/2014/main" id="{AEF8090E-1CBF-ECCD-AB9E-F978D889B8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595" y="1854072"/>
            <a:ext cx="5496708" cy="3860024"/>
          </a:xfrm>
          <a:prstGeom prst="rect">
            <a:avLst/>
          </a:prstGeom>
        </p:spPr>
      </p:pic>
      <p:cxnSp>
        <p:nvCxnSpPr>
          <p:cNvPr id="47" name="직선 연결선 46">
            <a:extLst>
              <a:ext uri="{FF2B5EF4-FFF2-40B4-BE49-F238E27FC236}">
                <a16:creationId xmlns:a16="http://schemas.microsoft.com/office/drawing/2014/main" id="{7EACCCCB-6BCA-1872-D756-495F8CC939D3}"/>
              </a:ext>
            </a:extLst>
          </p:cNvPr>
          <p:cNvCxnSpPr>
            <a:cxnSpLocks/>
          </p:cNvCxnSpPr>
          <p:nvPr/>
        </p:nvCxnSpPr>
        <p:spPr>
          <a:xfrm flipH="1">
            <a:off x="5588000" y="1901775"/>
            <a:ext cx="901700" cy="3394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11CCC6D7-D585-2B55-CEDB-2857EAD6F2D7}"/>
              </a:ext>
            </a:extLst>
          </p:cNvPr>
          <p:cNvSpPr txBox="1"/>
          <p:nvPr/>
        </p:nvSpPr>
        <p:spPr>
          <a:xfrm>
            <a:off x="7777640" y="6205303"/>
            <a:ext cx="13663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Jin, EDL 2026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ACF5BBB-2D30-00D7-79F5-405AED2EA63C}"/>
              </a:ext>
            </a:extLst>
          </p:cNvPr>
          <p:cNvSpPr txBox="1"/>
          <p:nvPr/>
        </p:nvSpPr>
        <p:spPr>
          <a:xfrm>
            <a:off x="1541143" y="5761990"/>
            <a:ext cx="750919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계산 비용은 </a:t>
            </a:r>
            <a:r>
              <a:rPr lang="en-US" altLang="ko-KR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final retention time </a:t>
            </a:r>
            <a:r>
              <a:rPr lang="ko-KR" altLang="en-US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자체가 아니라</a:t>
            </a:r>
          </a:p>
          <a:p>
            <a:pPr algn="r"/>
            <a:r>
              <a:rPr lang="en-US" altLang="ko-KR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trap bin </a:t>
            </a:r>
            <a:r>
              <a:rPr lang="ko-KR" altLang="en-US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수와 </a:t>
            </a:r>
            <a:r>
              <a:rPr lang="en-US" altLang="ko-KR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evaluated time point </a:t>
            </a:r>
            <a:r>
              <a:rPr lang="ko-KR" altLang="en-US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수에 의해 결정</a:t>
            </a: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1988DD71-58A4-C0F7-7D4B-BA19C07038AA}"/>
              </a:ext>
            </a:extLst>
          </p:cNvPr>
          <p:cNvCxnSpPr>
            <a:cxnSpLocks/>
          </p:cNvCxnSpPr>
          <p:nvPr/>
        </p:nvCxnSpPr>
        <p:spPr>
          <a:xfrm flipH="1">
            <a:off x="6046586" y="2576839"/>
            <a:ext cx="443114" cy="316069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128F921A-9011-3F85-500D-0EB173CEC725}"/>
              </a:ext>
            </a:extLst>
          </p:cNvPr>
          <p:cNvSpPr txBox="1"/>
          <p:nvPr/>
        </p:nvSpPr>
        <p:spPr>
          <a:xfrm>
            <a:off x="806823" y="3679576"/>
            <a:ext cx="79606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CTN</a:t>
            </a:r>
            <a:endParaRPr lang="ko-KR" altLang="en-US" sz="14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27BCF5-2405-5B72-05BF-C4316D65EF91}"/>
              </a:ext>
            </a:extLst>
          </p:cNvPr>
          <p:cNvSpPr txBox="1"/>
          <p:nvPr/>
        </p:nvSpPr>
        <p:spPr>
          <a:xfrm>
            <a:off x="344242" y="4157188"/>
            <a:ext cx="79606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TOX</a:t>
            </a:r>
            <a:endParaRPr lang="ko-KR" altLang="en-US" sz="14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9076E66-0C5F-6E31-9940-F4C00432FE22}"/>
              </a:ext>
            </a:extLst>
          </p:cNvPr>
          <p:cNvSpPr txBox="1"/>
          <p:nvPr/>
        </p:nvSpPr>
        <p:spPr>
          <a:xfrm>
            <a:off x="1367564" y="4157188"/>
            <a:ext cx="79606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BOX</a:t>
            </a:r>
            <a:endParaRPr lang="ko-KR" altLang="en-US" sz="14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33F96E6-0A68-3A23-64B1-5B337DD34AC3}"/>
              </a:ext>
            </a:extLst>
          </p:cNvPr>
          <p:cNvSpPr txBox="1"/>
          <p:nvPr/>
        </p:nvSpPr>
        <p:spPr>
          <a:xfrm>
            <a:off x="-97824" y="3510050"/>
            <a:ext cx="90139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Si-channel</a:t>
            </a:r>
            <a:endParaRPr lang="ko-KR" altLang="en-US" sz="14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C52228B-9112-3A34-8731-54BE8A79F6D3}"/>
              </a:ext>
            </a:extLst>
          </p:cNvPr>
          <p:cNvSpPr txBox="1"/>
          <p:nvPr/>
        </p:nvSpPr>
        <p:spPr>
          <a:xfrm>
            <a:off x="1840902" y="3404795"/>
            <a:ext cx="79606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WL</a:t>
            </a:r>
            <a:endParaRPr lang="ko-KR" altLang="en-US" sz="14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0111347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6D9860-FE47-EE4D-586C-5252C3DE46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00F9AB-425E-FA11-7964-DA92B4B82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Time-step-free Physics-based Modeling</a:t>
            </a:r>
            <a:endParaRPr lang="ko-KR" altLang="en-US" dirty="0"/>
          </a:p>
        </p:txBody>
      </p:sp>
      <p:graphicFrame>
        <p:nvGraphicFramePr>
          <p:cNvPr id="9" name="개체 8">
            <a:extLst>
              <a:ext uri="{FF2B5EF4-FFF2-40B4-BE49-F238E27FC236}">
                <a16:creationId xmlns:a16="http://schemas.microsoft.com/office/drawing/2014/main" id="{E214A776-0BA0-6D9B-EE09-CF6C8122E84B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89089150"/>
              </p:ext>
            </p:extLst>
          </p:nvPr>
        </p:nvGraphicFramePr>
        <p:xfrm>
          <a:off x="94129" y="2477565"/>
          <a:ext cx="3272867" cy="23132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2" imgW="4851068" imgH="3429000" progId="Origin50.Graph">
                  <p:embed/>
                </p:oleObj>
              </mc:Choice>
              <mc:Fallback>
                <p:oleObj name="Graph" r:id="rId2" imgW="4851068" imgH="3429000" progId="Origin50.Graph">
                  <p:embed/>
                  <p:pic>
                    <p:nvPicPr>
                      <p:cNvPr id="9" name="개체 8">
                        <a:extLst>
                          <a:ext uri="{FF2B5EF4-FFF2-40B4-BE49-F238E27FC236}">
                            <a16:creationId xmlns:a16="http://schemas.microsoft.com/office/drawing/2014/main" id="{E214A776-0BA0-6D9B-EE09-CF6C8122E84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94129" y="2477565"/>
                        <a:ext cx="3272867" cy="23132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" name="개체 10">
            <a:extLst>
              <a:ext uri="{FF2B5EF4-FFF2-40B4-BE49-F238E27FC236}">
                <a16:creationId xmlns:a16="http://schemas.microsoft.com/office/drawing/2014/main" id="{5D5268AF-0DA4-A78D-FBBD-A716375A918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141827693"/>
              </p:ext>
            </p:extLst>
          </p:nvPr>
        </p:nvGraphicFramePr>
        <p:xfrm>
          <a:off x="3079377" y="2477565"/>
          <a:ext cx="3272870" cy="231252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4" imgW="4852293" imgH="3429000" progId="Origin50.Graph">
                  <p:embed/>
                </p:oleObj>
              </mc:Choice>
              <mc:Fallback>
                <p:oleObj name="Graph" r:id="rId4" imgW="4852293" imgH="3429000" progId="Origin50.Graph">
                  <p:embed/>
                  <p:pic>
                    <p:nvPicPr>
                      <p:cNvPr id="11" name="개체 10">
                        <a:extLst>
                          <a:ext uri="{FF2B5EF4-FFF2-40B4-BE49-F238E27FC236}">
                            <a16:creationId xmlns:a16="http://schemas.microsoft.com/office/drawing/2014/main" id="{5D5268AF-0DA4-A78D-FBBD-A716375A918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3079377" y="2477565"/>
                        <a:ext cx="3272870" cy="231252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CBEA3E0D-66BC-97CB-2974-B02824AC9B4F}"/>
              </a:ext>
            </a:extLst>
          </p:cNvPr>
          <p:cNvSpPr txBox="1"/>
          <p:nvPr/>
        </p:nvSpPr>
        <p:spPr>
          <a:xfrm>
            <a:off x="290596" y="1937786"/>
            <a:ext cx="813249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Tx/>
              <a:buChar char="-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Numerical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상관관계 실험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EED5578-D548-FAD6-E0CD-87F45C626CD9}"/>
              </a:ext>
            </a:extLst>
          </p:cNvPr>
          <p:cNvSpPr txBox="1"/>
          <p:nvPr/>
        </p:nvSpPr>
        <p:spPr>
          <a:xfrm>
            <a:off x="170117" y="4977911"/>
            <a:ext cx="323296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Tx/>
              <a:buChar char="-"/>
            </a:pPr>
            <a:r>
              <a:rPr lang="en-US" altLang="ko-KR" sz="18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trap bin</a:t>
            </a:r>
            <a:r>
              <a:rPr lang="ko-KR" altLang="en-US" sz="18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을 </a:t>
            </a:r>
            <a:r>
              <a:rPr lang="en-US" altLang="ko-KR" sz="18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10-140 </a:t>
            </a:r>
            <a:r>
              <a:rPr lang="ko-KR" altLang="en-US" sz="18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등분하여 비교 테스트</a:t>
            </a:r>
            <a:endParaRPr lang="en-US" altLang="ko-KR" sz="18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endParaRPr lang="en-US" altLang="ko-KR" sz="18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r>
              <a:rPr lang="en-US" altLang="ko-KR" sz="18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100</a:t>
            </a:r>
            <a:r>
              <a:rPr lang="ko-KR" altLang="en-US" sz="18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등분 이상부터 수렴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BDD621D-D424-F110-3C45-0440816845D3}"/>
              </a:ext>
            </a:extLst>
          </p:cNvPr>
          <p:cNvSpPr txBox="1"/>
          <p:nvPr/>
        </p:nvSpPr>
        <p:spPr>
          <a:xfrm>
            <a:off x="3403079" y="4978666"/>
            <a:ext cx="280918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Tx/>
              <a:buChar char="-"/>
            </a:pPr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CTN slice</a:t>
            </a:r>
            <a:r>
              <a:rPr lang="ko-KR" altLang="en-US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를 </a:t>
            </a:r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5-50 </a:t>
            </a:r>
            <a:r>
              <a:rPr lang="ko-KR" altLang="en-US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등분하여 비교 테스트</a:t>
            </a:r>
            <a:endParaRPr lang="en-US" altLang="ko-KR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endParaRPr lang="en-US" altLang="ko-KR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30</a:t>
            </a:r>
            <a:r>
              <a:rPr lang="ko-KR" altLang="en-US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등분 이상부터 수렴</a:t>
            </a:r>
            <a:endParaRPr lang="en-US" altLang="ko-KR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3" name="Shape 4">
            <a:extLst>
              <a:ext uri="{FF2B5EF4-FFF2-40B4-BE49-F238E27FC236}">
                <a16:creationId xmlns:a16="http://schemas.microsoft.com/office/drawing/2014/main" id="{C108074A-5398-A5EE-1C42-93ABBC6AA34F}"/>
              </a:ext>
            </a:extLst>
          </p:cNvPr>
          <p:cNvSpPr/>
          <p:nvPr/>
        </p:nvSpPr>
        <p:spPr>
          <a:xfrm>
            <a:off x="7632700" y="2541855"/>
            <a:ext cx="0" cy="704088"/>
          </a:xfrm>
          <a:prstGeom prst="line">
            <a:avLst/>
          </a:prstGeom>
          <a:noFill/>
          <a:ln w="25400">
            <a:solidFill>
              <a:srgbClr val="00A6B2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5">
            <a:extLst>
              <a:ext uri="{FF2B5EF4-FFF2-40B4-BE49-F238E27FC236}">
                <a16:creationId xmlns:a16="http://schemas.microsoft.com/office/drawing/2014/main" id="{26928542-BF00-FA00-B0C1-85E590104E3A}"/>
              </a:ext>
            </a:extLst>
          </p:cNvPr>
          <p:cNvSpPr/>
          <p:nvPr/>
        </p:nvSpPr>
        <p:spPr>
          <a:xfrm>
            <a:off x="7632700" y="4004895"/>
            <a:ext cx="0" cy="704088"/>
          </a:xfrm>
          <a:prstGeom prst="line">
            <a:avLst/>
          </a:prstGeom>
          <a:noFill/>
          <a:ln w="25400">
            <a:solidFill>
              <a:srgbClr val="00A6B2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6">
            <a:extLst>
              <a:ext uri="{FF2B5EF4-FFF2-40B4-BE49-F238E27FC236}">
                <a16:creationId xmlns:a16="http://schemas.microsoft.com/office/drawing/2014/main" id="{616A4D45-15EB-9A15-5890-816F64A32EA5}"/>
              </a:ext>
            </a:extLst>
          </p:cNvPr>
          <p:cNvSpPr/>
          <p:nvPr/>
        </p:nvSpPr>
        <p:spPr>
          <a:xfrm>
            <a:off x="6489700" y="1901775"/>
            <a:ext cx="2286000" cy="685800"/>
          </a:xfrm>
          <a:prstGeom prst="rect">
            <a:avLst/>
          </a:prstGeom>
          <a:solidFill>
            <a:srgbClr val="EAFBFC"/>
          </a:solidFill>
          <a:ln w="12700">
            <a:solidFill>
              <a:srgbClr val="7FD9DF"/>
            </a:solidFill>
          </a:ln>
        </p:spPr>
        <p:txBody>
          <a:bodyPr wrap="square" lIns="1016" tIns="1016" rIns="1016" bIns="1016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1. Initial state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n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t0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(r, 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)</a:t>
            </a:r>
            <a:endParaRPr lang="en-US" sz="1450" dirty="0"/>
          </a:p>
        </p:txBody>
      </p:sp>
      <p:sp>
        <p:nvSpPr>
          <p:cNvPr id="6" name="Text 7">
            <a:extLst>
              <a:ext uri="{FF2B5EF4-FFF2-40B4-BE49-F238E27FC236}">
                <a16:creationId xmlns:a16="http://schemas.microsoft.com/office/drawing/2014/main" id="{0746F2A7-0A8B-91A9-BF93-19E3F7248752}"/>
              </a:ext>
            </a:extLst>
          </p:cNvPr>
          <p:cNvSpPr/>
          <p:nvPr/>
        </p:nvSpPr>
        <p:spPr>
          <a:xfrm>
            <a:off x="6489700" y="3282519"/>
            <a:ext cx="2286000" cy="685800"/>
          </a:xfrm>
          <a:prstGeom prst="rect">
            <a:avLst/>
          </a:prstGeom>
          <a:solidFill>
            <a:srgbClr val="F0F7FF"/>
          </a:solidFill>
          <a:ln w="12700">
            <a:solidFill>
              <a:srgbClr val="A9CCE3"/>
            </a:solidFill>
          </a:ln>
        </p:spPr>
        <p:txBody>
          <a:bodyPr wrap="square" lIns="1016" tIns="1016" rIns="1016" bIns="1016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2. Emission rates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ch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, 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WL</a:t>
            </a:r>
            <a:endParaRPr lang="en-US" sz="1450" baseline="-25000" dirty="0"/>
          </a:p>
        </p:txBody>
      </p:sp>
      <p:sp>
        <p:nvSpPr>
          <p:cNvPr id="7" name="Text 8">
            <a:extLst>
              <a:ext uri="{FF2B5EF4-FFF2-40B4-BE49-F238E27FC236}">
                <a16:creationId xmlns:a16="http://schemas.microsoft.com/office/drawing/2014/main" id="{91C3DD21-A8F3-AE5E-2E0D-B2186A0D3AC4}"/>
              </a:ext>
            </a:extLst>
          </p:cNvPr>
          <p:cNvSpPr/>
          <p:nvPr/>
        </p:nvSpPr>
        <p:spPr>
          <a:xfrm>
            <a:off x="6489700" y="4754703"/>
            <a:ext cx="2286000" cy="685800"/>
          </a:xfrm>
          <a:prstGeom prst="rect">
            <a:avLst/>
          </a:prstGeom>
          <a:solidFill>
            <a:srgbClr val="F7F2E2"/>
          </a:solidFill>
          <a:ln w="12700">
            <a:solidFill>
              <a:srgbClr val="F2D38E"/>
            </a:solidFill>
          </a:ln>
        </p:spPr>
        <p:txBody>
          <a:bodyPr wrap="square" lIns="1016" tIns="1016" rIns="1016" bIns="1016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3. Direct evaluation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n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(r, 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, t)</a:t>
            </a:r>
            <a:endParaRPr lang="en-US" sz="1450" dirty="0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81F6EF07-2A81-EEC2-8EFF-F92E71A4F92D}"/>
              </a:ext>
            </a:extLst>
          </p:cNvPr>
          <p:cNvCxnSpPr>
            <a:cxnSpLocks/>
          </p:cNvCxnSpPr>
          <p:nvPr/>
        </p:nvCxnSpPr>
        <p:spPr>
          <a:xfrm flipH="1">
            <a:off x="5588000" y="1901775"/>
            <a:ext cx="901700" cy="3394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B03260FF-CD2F-D451-3738-A9A7E20B535D}"/>
              </a:ext>
            </a:extLst>
          </p:cNvPr>
          <p:cNvCxnSpPr>
            <a:cxnSpLocks/>
          </p:cNvCxnSpPr>
          <p:nvPr/>
        </p:nvCxnSpPr>
        <p:spPr>
          <a:xfrm flipH="1">
            <a:off x="6046586" y="2576839"/>
            <a:ext cx="443114" cy="316069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1C7B55EE-D75B-E80E-A93D-48427165EAEE}"/>
              </a:ext>
            </a:extLst>
          </p:cNvPr>
          <p:cNvSpPr txBox="1"/>
          <p:nvPr/>
        </p:nvSpPr>
        <p:spPr>
          <a:xfrm>
            <a:off x="7777640" y="6205303"/>
            <a:ext cx="13663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Jin, EDL 2026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1E2A6B0-2BB0-DDE9-59BA-F5EF06917DC1}"/>
              </a:ext>
            </a:extLst>
          </p:cNvPr>
          <p:cNvSpPr txBox="1"/>
          <p:nvPr/>
        </p:nvSpPr>
        <p:spPr>
          <a:xfrm>
            <a:off x="671847" y="1120462"/>
            <a:ext cx="750919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핵심 원리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: initial trapped charge distribution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으로 부터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target retention time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의 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ΔV</a:t>
            </a:r>
            <a:r>
              <a:rPr lang="en-US" altLang="ko-KR" sz="2000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th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를 직접 계산</a:t>
            </a:r>
          </a:p>
        </p:txBody>
      </p:sp>
    </p:spTree>
    <p:extLst>
      <p:ext uri="{BB962C8B-B14F-4D97-AF65-F5344CB8AC3E}">
        <p14:creationId xmlns:p14="http://schemas.microsoft.com/office/powerpoint/2010/main" val="391265680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제목 1">
            <a:extLst>
              <a:ext uri="{FF2B5EF4-FFF2-40B4-BE49-F238E27FC236}">
                <a16:creationId xmlns:a16="http://schemas.microsoft.com/office/drawing/2014/main" id="{69A62632-E77A-3927-5FF5-36F3D48481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63" y="165100"/>
            <a:ext cx="8956675" cy="592138"/>
          </a:xfrm>
        </p:spPr>
        <p:txBody>
          <a:bodyPr/>
          <a:lstStyle/>
          <a:p>
            <a:r>
              <a:rPr lang="en-US" altLang="ko-KR" dirty="0"/>
              <a:t>Time-step-free Physics-based Modeling</a:t>
            </a:r>
            <a:endParaRPr lang="ko-KR" altLang="en-US" dirty="0"/>
          </a:p>
        </p:txBody>
      </p:sp>
      <p:sp>
        <p:nvSpPr>
          <p:cNvPr id="19" name="Shape 4">
            <a:extLst>
              <a:ext uri="{FF2B5EF4-FFF2-40B4-BE49-F238E27FC236}">
                <a16:creationId xmlns:a16="http://schemas.microsoft.com/office/drawing/2014/main" id="{4B12687F-16DE-0115-C6A4-52E374D80ADA}"/>
              </a:ext>
            </a:extLst>
          </p:cNvPr>
          <p:cNvSpPr/>
          <p:nvPr/>
        </p:nvSpPr>
        <p:spPr>
          <a:xfrm>
            <a:off x="7632700" y="2541855"/>
            <a:ext cx="0" cy="704088"/>
          </a:xfrm>
          <a:prstGeom prst="line">
            <a:avLst/>
          </a:prstGeom>
          <a:noFill/>
          <a:ln w="25400">
            <a:solidFill>
              <a:srgbClr val="00A6B2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5">
            <a:extLst>
              <a:ext uri="{FF2B5EF4-FFF2-40B4-BE49-F238E27FC236}">
                <a16:creationId xmlns:a16="http://schemas.microsoft.com/office/drawing/2014/main" id="{1ACA70EC-8205-C076-89B9-19A20CDEC131}"/>
              </a:ext>
            </a:extLst>
          </p:cNvPr>
          <p:cNvSpPr/>
          <p:nvPr/>
        </p:nvSpPr>
        <p:spPr>
          <a:xfrm>
            <a:off x="7632700" y="4004895"/>
            <a:ext cx="0" cy="704088"/>
          </a:xfrm>
          <a:prstGeom prst="line">
            <a:avLst/>
          </a:prstGeom>
          <a:noFill/>
          <a:ln w="25400">
            <a:solidFill>
              <a:srgbClr val="00A6B2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6">
            <a:extLst>
              <a:ext uri="{FF2B5EF4-FFF2-40B4-BE49-F238E27FC236}">
                <a16:creationId xmlns:a16="http://schemas.microsoft.com/office/drawing/2014/main" id="{D85A6764-C53E-AE99-4112-60BB60EFD33A}"/>
              </a:ext>
            </a:extLst>
          </p:cNvPr>
          <p:cNvSpPr/>
          <p:nvPr/>
        </p:nvSpPr>
        <p:spPr>
          <a:xfrm>
            <a:off x="6489700" y="1901775"/>
            <a:ext cx="2286000" cy="685800"/>
          </a:xfrm>
          <a:prstGeom prst="rect">
            <a:avLst/>
          </a:prstGeom>
          <a:solidFill>
            <a:srgbClr val="EAFBFC"/>
          </a:solidFill>
          <a:ln w="12700">
            <a:solidFill>
              <a:srgbClr val="7FD9DF"/>
            </a:solidFill>
          </a:ln>
        </p:spPr>
        <p:txBody>
          <a:bodyPr wrap="square" lIns="1016" tIns="1016" rIns="1016" bIns="1016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1. Initial state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n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t0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(r, 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)</a:t>
            </a:r>
            <a:endParaRPr lang="en-US" sz="1450" dirty="0"/>
          </a:p>
        </p:txBody>
      </p:sp>
      <p:sp>
        <p:nvSpPr>
          <p:cNvPr id="22" name="Text 7">
            <a:extLst>
              <a:ext uri="{FF2B5EF4-FFF2-40B4-BE49-F238E27FC236}">
                <a16:creationId xmlns:a16="http://schemas.microsoft.com/office/drawing/2014/main" id="{CD9D4F22-0BD8-C767-6471-0D1BF4AE26E7}"/>
              </a:ext>
            </a:extLst>
          </p:cNvPr>
          <p:cNvSpPr/>
          <p:nvPr/>
        </p:nvSpPr>
        <p:spPr>
          <a:xfrm>
            <a:off x="6489700" y="3282519"/>
            <a:ext cx="2286000" cy="685800"/>
          </a:xfrm>
          <a:prstGeom prst="rect">
            <a:avLst/>
          </a:prstGeom>
          <a:solidFill>
            <a:srgbClr val="F0F7FF"/>
          </a:solidFill>
          <a:ln w="12700">
            <a:solidFill>
              <a:srgbClr val="A9CCE3"/>
            </a:solidFill>
          </a:ln>
        </p:spPr>
        <p:txBody>
          <a:bodyPr wrap="square" lIns="1016" tIns="1016" rIns="1016" bIns="1016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2. Emission rates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ch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, 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WL</a:t>
            </a:r>
            <a:endParaRPr lang="en-US" sz="1450" baseline="-25000" dirty="0"/>
          </a:p>
        </p:txBody>
      </p:sp>
      <p:sp>
        <p:nvSpPr>
          <p:cNvPr id="23" name="Text 8">
            <a:extLst>
              <a:ext uri="{FF2B5EF4-FFF2-40B4-BE49-F238E27FC236}">
                <a16:creationId xmlns:a16="http://schemas.microsoft.com/office/drawing/2014/main" id="{2602DC4E-8168-9EC4-84C7-2DA8A78AE552}"/>
              </a:ext>
            </a:extLst>
          </p:cNvPr>
          <p:cNvSpPr/>
          <p:nvPr/>
        </p:nvSpPr>
        <p:spPr>
          <a:xfrm>
            <a:off x="6489700" y="4754703"/>
            <a:ext cx="2286000" cy="685800"/>
          </a:xfrm>
          <a:prstGeom prst="rect">
            <a:avLst/>
          </a:prstGeom>
          <a:solidFill>
            <a:srgbClr val="F7F2E2"/>
          </a:solidFill>
          <a:ln w="12700">
            <a:solidFill>
              <a:srgbClr val="F2D38E"/>
            </a:solidFill>
          </a:ln>
        </p:spPr>
        <p:txBody>
          <a:bodyPr wrap="square" lIns="1016" tIns="1016" rIns="1016" bIns="1016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3. Direct evaluation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n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(r, 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, t)</a:t>
            </a:r>
            <a:endParaRPr lang="en-US" sz="1450" dirty="0"/>
          </a:p>
        </p:txBody>
      </p:sp>
      <p:pic>
        <p:nvPicPr>
          <p:cNvPr id="24" name="Image 0">
            <a:extLst>
              <a:ext uri="{FF2B5EF4-FFF2-40B4-BE49-F238E27FC236}">
                <a16:creationId xmlns:a16="http://schemas.microsoft.com/office/drawing/2014/main" id="{F767B7CD-BAE3-34B5-A4FA-06E18284752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2594" t="61128" r="14538"/>
          <a:stretch>
            <a:fillRect/>
          </a:stretch>
        </p:blipFill>
        <p:spPr>
          <a:xfrm>
            <a:off x="1652622" y="4350119"/>
            <a:ext cx="3605719" cy="1413205"/>
          </a:xfrm>
          <a:prstGeom prst="rect">
            <a:avLst/>
          </a:prstGeom>
        </p:spPr>
      </p:pic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109F6592-A71C-39DA-CBD2-234513F82200}"/>
              </a:ext>
            </a:extLst>
          </p:cNvPr>
          <p:cNvCxnSpPr>
            <a:cxnSpLocks/>
          </p:cNvCxnSpPr>
          <p:nvPr/>
        </p:nvCxnSpPr>
        <p:spPr>
          <a:xfrm flipH="1" flipV="1">
            <a:off x="5453517" y="2324100"/>
            <a:ext cx="1036183" cy="95841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94D90DDE-2D84-9963-E550-2C0D76C46C27}"/>
              </a:ext>
            </a:extLst>
          </p:cNvPr>
          <p:cNvCxnSpPr>
            <a:cxnSpLocks/>
          </p:cNvCxnSpPr>
          <p:nvPr/>
        </p:nvCxnSpPr>
        <p:spPr>
          <a:xfrm flipH="1">
            <a:off x="5453517" y="3968319"/>
            <a:ext cx="1036183" cy="205148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37FB1475-1299-9D16-CE2C-045210718D6B}"/>
              </a:ext>
            </a:extLst>
          </p:cNvPr>
          <p:cNvSpPr txBox="1"/>
          <p:nvPr/>
        </p:nvSpPr>
        <p:spPr>
          <a:xfrm>
            <a:off x="7777640" y="6205303"/>
            <a:ext cx="13663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Jin, EDL 2026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B765071B-98C4-1AFE-696F-48E64ECF1D5B}"/>
              </a:ext>
            </a:extLst>
          </p:cNvPr>
          <p:cNvGrpSpPr/>
          <p:nvPr/>
        </p:nvGrpSpPr>
        <p:grpSpPr>
          <a:xfrm>
            <a:off x="962958" y="1828348"/>
            <a:ext cx="4351370" cy="1689118"/>
            <a:chOff x="1008979" y="2324100"/>
            <a:chExt cx="4351370" cy="1689118"/>
          </a:xfrm>
        </p:grpSpPr>
        <mc:AlternateContent xmlns:mc="http://schemas.openxmlformats.org/markup-compatibility/2006" xmlns:a14="http://schemas.microsoft.com/office/drawing/2010/main">
          <mc:Choice Requires="a14">
            <p:graphicFrame>
              <p:nvGraphicFramePr>
                <p:cNvPr id="2" name="개체 1">
                  <a:extLst>
                    <a:ext uri="{FF2B5EF4-FFF2-40B4-BE49-F238E27FC236}">
                      <a16:creationId xmlns:a16="http://schemas.microsoft.com/office/drawing/2014/main" id="{5A8CC464-9F64-C3DA-DC18-C10744D49F08}"/>
                    </a:ext>
                  </a:extLst>
                </p:cNvPr>
                <p:cNvGraphicFramePr>
                  <a:graphicFrameLocks noChangeAspect="1"/>
                </p:cNvGraphicFramePr>
                <p:nvPr>
                  <p:extLst>
                    <p:ext uri="{D42A27DB-BD31-4B8C-83A1-F6EECF244321}">
                      <p14:modId xmlns:p14="http://schemas.microsoft.com/office/powerpoint/2010/main" val="2069609160"/>
                    </p:ext>
                  </p:extLst>
                </p:nvPr>
              </p:nvGraphicFramePr>
              <p:xfrm>
                <a:off x="1008979" y="2324100"/>
                <a:ext cx="4351370" cy="1689118"/>
              </p:xfrm>
              <a:graphic>
                <a:graphicData uri="http://schemas.openxmlformats.org/presentationml/2006/ole">
                  <mc:AlternateContent>
                    <mc:Choice xmlns:v="urn:schemas-microsoft-com:vml" Requires="v">
                      <p:oleObj name="Graph" r:id="rId3" imgW="6012550" imgH="2335684" progId="Origin50.Graph">
                        <p:embed/>
                      </p:oleObj>
                    </mc:Choice>
                    <mc:Fallback>
                      <p:oleObj name="Graph" r:id="rId3" imgW="6012550" imgH="2335684" progId="Origin50.Graph">
                        <p:embed/>
                        <p:pic>
                          <p:nvPicPr>
                            <p:cNvPr id="2" name="개체 1">
                              <a:extLst>
                                <a:ext uri="{FF2B5EF4-FFF2-40B4-BE49-F238E27FC236}">
                                  <a16:creationId xmlns:a16="http://schemas.microsoft.com/office/drawing/2014/main" id="{5A8CC464-9F64-C3DA-DC18-C10744D49F08}"/>
                                </a:ext>
                              </a:extLst>
                            </p:cNvPr>
                            <p:cNvPicPr/>
                            <p:nvPr/>
                          </p:nvPicPr>
                          <p:blipFill>
                            <a:blip r:embed="rId4"/>
                            <a:stretch>
                              <a:fillRect/>
                            </a:stretch>
                          </p:blipFill>
                          <p:spPr>
                            <a:xfrm>
                              <a:off x="1008979" y="2324100"/>
                              <a:ext cx="4351370" cy="1689118"/>
                            </a:xfrm>
                            <a:prstGeom prst="rect">
                              <a:avLst/>
                            </a:prstGeom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</mc:Choice>
          <mc:Fallback xmlns="">
            <p:graphicFrame>
              <p:nvGraphicFramePr>
                <p:cNvPr id="2" name="개체 1">
                  <a:extLst>
                    <a:ext uri="{FF2B5EF4-FFF2-40B4-BE49-F238E27FC236}">
                      <a16:creationId xmlns:a16="http://schemas.microsoft.com/office/drawing/2014/main" id="{5A8CC464-9F64-C3DA-DC18-C10744D49F08}"/>
                    </a:ext>
                  </a:extLst>
                </p:cNvPr>
                <p:cNvGraphicFramePr>
                  <a:graphicFrameLocks noChangeAspect="1"/>
                </p:cNvGraphicFramePr>
                <p:nvPr>
                  <p:extLst>
                    <p:ext uri="{D42A27DB-BD31-4B8C-83A1-F6EECF244321}">
                      <p14:modId xmlns:p14="http://schemas.microsoft.com/office/powerpoint/2010/main" val="2069609160"/>
                    </p:ext>
                  </p:extLst>
                </p:nvPr>
              </p:nvGraphicFramePr>
              <p:xfrm>
                <a:off x="1008979" y="2324100"/>
                <a:ext cx="4351370" cy="1689118"/>
              </p:xfrm>
              <a:graphic>
                <a:graphicData uri="http://schemas.openxmlformats.org/presentationml/2006/ole">
                  <mc:AlternateContent>
                    <mc:Choice xmlns:v="urn:schemas-microsoft-com:vml" Requires="v">
                      <p:oleObj name="Graph" r:id="rId5" imgW="6012550" imgH="2335684" progId="Origin50.Graph">
                        <p:embed/>
                      </p:oleObj>
                    </mc:Choice>
                    <mc:Fallback>
                      <p:oleObj name="Graph" r:id="rId5" imgW="6012550" imgH="2335684" progId="Origin50.Graph">
                        <p:embed/>
                        <p:pic>
                          <p:nvPicPr>
                            <p:cNvPr id="66" name="개체 65">
                              <a:extLst>
                                <a:ext uri="{FF2B5EF4-FFF2-40B4-BE49-F238E27FC236}">
                                  <a16:creationId xmlns:a16="http://schemas.microsoft.com/office/drawing/2014/main" id="{53425263-3E34-2652-799F-E0AC3F4F1EC8}"/>
                                </a:ext>
                              </a:extLst>
                            </p:cNvPr>
                            <p:cNvPicPr/>
                            <p:nvPr/>
                          </p:nvPicPr>
                          <p:blipFill>
                            <a:blip r:embed="rId6"/>
                            <a:stretch>
                              <a:fillRect/>
                            </a:stretch>
                          </p:blipFill>
                          <p:spPr>
                            <a:xfrm>
                              <a:off x="1008979" y="2324100"/>
                              <a:ext cx="4351370" cy="1689118"/>
                            </a:xfrm>
                            <a:prstGeom prst="rect">
                              <a:avLst/>
                            </a:prstGeom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8F019DA1-A28F-0AAB-A173-B21E7AC7EC08}"/>
                    </a:ext>
                  </a:extLst>
                </p:cNvPr>
                <p:cNvSpPr txBox="1"/>
                <p:nvPr/>
              </p:nvSpPr>
              <p:spPr>
                <a:xfrm>
                  <a:off x="1798187" y="3028603"/>
                  <a:ext cx="1691465" cy="25391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ko-KR" sz="105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</m:ctrlPr>
                        </m:sSubPr>
                        <m:e>
                          <m:r>
                            <a:rPr lang="en-US" altLang="ko-KR" sz="105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𝑒</m:t>
                          </m:r>
                        </m:e>
                        <m:sub>
                          <m:r>
                            <a:rPr lang="en-US" altLang="ko-KR" sz="105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𝑐ℎ</m:t>
                          </m:r>
                        </m:sub>
                      </m:sSub>
                      <m:r>
                        <a:rPr lang="en-US" altLang="ko-KR" sz="1050" b="0" i="1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=</m:t>
                      </m:r>
                      <m:sSub>
                        <m:sSubPr>
                          <m:ctrlPr>
                            <a:rPr lang="en-US" altLang="ko-KR" sz="105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</m:ctrlPr>
                        </m:sSubPr>
                        <m:e>
                          <m:r>
                            <a:rPr lang="en-US" altLang="ko-KR" sz="105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𝜈</m:t>
                          </m:r>
                        </m:e>
                        <m:sub>
                          <m:r>
                            <a:rPr lang="en-US" altLang="ko-KR" sz="105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𝑐ℎ</m:t>
                          </m:r>
                        </m:sub>
                      </m:sSub>
                      <m:r>
                        <a:rPr lang="en-US" altLang="ko-KR" sz="1050" b="0" i="1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×</m:t>
                      </m:r>
                      <m:sSub>
                        <m:sSubPr>
                          <m:ctrlPr>
                            <a:rPr lang="en-US" altLang="ko-KR" sz="105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</m:ctrlPr>
                        </m:sSub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ko-KR" sz="1050" b="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</m:ctrlPr>
                            </m:dPr>
                            <m:e>
                              <m:r>
                                <a:rPr lang="en-US" altLang="ko-KR" sz="1050" b="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  <m:t>𝑇𝐶</m:t>
                              </m:r>
                            </m:e>
                          </m:d>
                        </m:e>
                        <m:sub>
                          <m:r>
                            <a:rPr lang="en-US" altLang="ko-KR" sz="105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𝑐ℎ</m:t>
                          </m:r>
                        </m:sub>
                      </m:sSub>
                    </m:oMath>
                  </a14:m>
                  <a:r>
                    <a:rPr lang="ko-KR" altLang="en-US" sz="1050" dirty="0">
                      <a:ln w="9525">
                        <a:solidFill>
                          <a:schemeClr val="tx1">
                            <a:alpha val="29000"/>
                          </a:schemeClr>
                        </a:solidFill>
                      </a:ln>
                      <a:latin typeface="Times New Roman" panose="02020603050405020304" pitchFamily="18" charset="0"/>
                      <a:ea typeface="맑은 고딕"/>
                      <a:cs typeface="Times New Roman" panose="02020603050405020304" pitchFamily="18" charset="0"/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8F019DA1-A28F-0AAB-A173-B21E7AC7EC0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98187" y="3028603"/>
                  <a:ext cx="1691465" cy="253916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" name="곱하기 기호 5">
              <a:extLst>
                <a:ext uri="{FF2B5EF4-FFF2-40B4-BE49-F238E27FC236}">
                  <a16:creationId xmlns:a16="http://schemas.microsoft.com/office/drawing/2014/main" id="{8951DCAA-6CC8-B760-13EE-B7B98F210ED1}"/>
                </a:ext>
              </a:extLst>
            </p:cNvPr>
            <p:cNvSpPr/>
            <p:nvPr/>
          </p:nvSpPr>
          <p:spPr>
            <a:xfrm>
              <a:off x="2902427" y="2960108"/>
              <a:ext cx="172873" cy="172873"/>
            </a:xfrm>
            <a:prstGeom prst="mathMultiply">
              <a:avLst>
                <a:gd name="adj1" fmla="val 6378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/>
            </a:p>
          </p:txBody>
        </p:sp>
        <p:cxnSp>
          <p:nvCxnSpPr>
            <p:cNvPr id="7" name="직선 화살표 연결선 6">
              <a:extLst>
                <a:ext uri="{FF2B5EF4-FFF2-40B4-BE49-F238E27FC236}">
                  <a16:creationId xmlns:a16="http://schemas.microsoft.com/office/drawing/2014/main" id="{60DE76E4-7E92-40FA-EF2D-5EE68EED110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638911" y="3046547"/>
              <a:ext cx="1239181" cy="0"/>
            </a:xfrm>
            <a:prstGeom prst="straightConnector1">
              <a:avLst/>
            </a:prstGeom>
            <a:ln w="9525">
              <a:solidFill>
                <a:schemeClr val="tx1"/>
              </a:solidFill>
              <a:prstDash val="sysDash"/>
              <a:headEnd w="sm" len="med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직선 화살표 연결선 8">
              <a:extLst>
                <a:ext uri="{FF2B5EF4-FFF2-40B4-BE49-F238E27FC236}">
                  <a16:creationId xmlns:a16="http://schemas.microsoft.com/office/drawing/2014/main" id="{A99085FB-222D-229D-CFA6-F8B4B521CB06}"/>
                </a:ext>
              </a:extLst>
            </p:cNvPr>
            <p:cNvCxnSpPr>
              <a:cxnSpLocks/>
            </p:cNvCxnSpPr>
            <p:nvPr/>
          </p:nvCxnSpPr>
          <p:spPr>
            <a:xfrm>
              <a:off x="1666852" y="2727327"/>
              <a:ext cx="2" cy="608136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triangle"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직선 화살표 연결선 9">
              <a:extLst>
                <a:ext uri="{FF2B5EF4-FFF2-40B4-BE49-F238E27FC236}">
                  <a16:creationId xmlns:a16="http://schemas.microsoft.com/office/drawing/2014/main" id="{73D1D068-1E5E-B21E-C045-8A94A0F862BA}"/>
                </a:ext>
              </a:extLst>
            </p:cNvPr>
            <p:cNvCxnSpPr>
              <a:cxnSpLocks/>
            </p:cNvCxnSpPr>
            <p:nvPr/>
          </p:nvCxnSpPr>
          <p:spPr>
            <a:xfrm>
              <a:off x="4827719" y="2778466"/>
              <a:ext cx="2" cy="690607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triangle"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직선 화살표 연결선 10">
              <a:extLst>
                <a:ext uri="{FF2B5EF4-FFF2-40B4-BE49-F238E27FC236}">
                  <a16:creationId xmlns:a16="http://schemas.microsoft.com/office/drawing/2014/main" id="{2932EEE7-DCD2-79E4-9F6E-E282117B0691}"/>
                </a:ext>
              </a:extLst>
            </p:cNvPr>
            <p:cNvCxnSpPr>
              <a:cxnSpLocks/>
            </p:cNvCxnSpPr>
            <p:nvPr/>
          </p:nvCxnSpPr>
          <p:spPr>
            <a:xfrm>
              <a:off x="2304263" y="2632072"/>
              <a:ext cx="2" cy="236565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triangle"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C491CDF9-D48C-E570-D828-2DC4B923877A}"/>
                </a:ext>
              </a:extLst>
            </p:cNvPr>
            <p:cNvSpPr txBox="1"/>
            <p:nvPr/>
          </p:nvSpPr>
          <p:spPr>
            <a:xfrm rot="16200000">
              <a:off x="1162896" y="2898661"/>
              <a:ext cx="79906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 dirty="0"/>
                <a:t>3.1 eV</a:t>
              </a:r>
              <a:endParaRPr lang="ko-KR" altLang="en-US" sz="1100" baseline="-25000" dirty="0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ECA5A6E-F2FA-E672-0003-E7B2BF846745}"/>
                </a:ext>
              </a:extLst>
            </p:cNvPr>
            <p:cNvSpPr txBox="1"/>
            <p:nvPr/>
          </p:nvSpPr>
          <p:spPr>
            <a:xfrm>
              <a:off x="2252634" y="2585061"/>
              <a:ext cx="799069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 dirty="0"/>
                <a:t>1.0 eV</a:t>
              </a:r>
              <a:endParaRPr lang="ko-KR" altLang="en-US" sz="1100" baseline="-25000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5D8C12D0-1117-7717-FDA0-64AAE0373F3D}"/>
                </a:ext>
              </a:extLst>
            </p:cNvPr>
            <p:cNvSpPr txBox="1"/>
            <p:nvPr/>
          </p:nvSpPr>
          <p:spPr>
            <a:xfrm rot="16200000">
              <a:off x="4530912" y="3024883"/>
              <a:ext cx="90673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 dirty="0"/>
                <a:t>3.65 eV</a:t>
              </a:r>
              <a:endParaRPr lang="ko-KR" altLang="en-US" sz="1100" baseline="-25000" dirty="0"/>
            </a:p>
          </p:txBody>
        </p: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F1152F07-F07F-DF93-F69C-C157A2EFB5B0}"/>
              </a:ext>
            </a:extLst>
          </p:cNvPr>
          <p:cNvSpPr txBox="1"/>
          <p:nvPr/>
        </p:nvSpPr>
        <p:spPr>
          <a:xfrm>
            <a:off x="671847" y="1120462"/>
            <a:ext cx="750919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핵심 원리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: initial trapped charge distribution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으로 부터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target retention time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의 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ΔV</a:t>
            </a:r>
            <a:r>
              <a:rPr lang="en-US" altLang="ko-KR" sz="2000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th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를 직접 계산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83F40A5-6E59-AA1E-DD39-08BF4CD733B9}"/>
              </a:ext>
            </a:extLst>
          </p:cNvPr>
          <p:cNvSpPr txBox="1"/>
          <p:nvPr/>
        </p:nvSpPr>
        <p:spPr>
          <a:xfrm>
            <a:off x="623295" y="3584538"/>
            <a:ext cx="523533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주어진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initial band diagram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을 기준으로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channel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방향과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word line (WL)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방향으로의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emission rate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을 계산</a:t>
            </a:r>
          </a:p>
        </p:txBody>
      </p:sp>
    </p:spTree>
    <p:extLst>
      <p:ext uri="{BB962C8B-B14F-4D97-AF65-F5344CB8AC3E}">
        <p14:creationId xmlns:p14="http://schemas.microsoft.com/office/powerpoint/2010/main" val="17276067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0">
            <a:extLst>
              <a:ext uri="{FF2B5EF4-FFF2-40B4-BE49-F238E27FC236}">
                <a16:creationId xmlns:a16="http://schemas.microsoft.com/office/drawing/2014/main" id="{9D86E16C-2668-BDFB-67AF-17D3DF21BE6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8793" b="54372"/>
          <a:stretch>
            <a:fillRect/>
          </a:stretch>
        </p:blipFill>
        <p:spPr>
          <a:xfrm>
            <a:off x="119260" y="4521925"/>
            <a:ext cx="5743704" cy="71038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794963FC-EDAD-6A5C-ADF7-04DF9FB332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Time-step-free Physics-based Modeling</a:t>
            </a:r>
            <a:endParaRPr lang="ko-KR" altLang="en-US" dirty="0"/>
          </a:p>
        </p:txBody>
      </p:sp>
      <p:pic>
        <p:nvPicPr>
          <p:cNvPr id="9" name="Image 0">
            <a:extLst>
              <a:ext uri="{FF2B5EF4-FFF2-40B4-BE49-F238E27FC236}">
                <a16:creationId xmlns:a16="http://schemas.microsoft.com/office/drawing/2014/main" id="{8494EF6E-67AB-B509-21AC-D97822104F1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83833"/>
          <a:stretch>
            <a:fillRect/>
          </a:stretch>
        </p:blipFill>
        <p:spPr>
          <a:xfrm>
            <a:off x="94129" y="3308745"/>
            <a:ext cx="5743704" cy="682208"/>
          </a:xfrm>
          <a:prstGeom prst="rect">
            <a:avLst/>
          </a:prstGeom>
        </p:spPr>
      </p:pic>
      <p:sp>
        <p:nvSpPr>
          <p:cNvPr id="12" name="직사각형 11">
            <a:extLst>
              <a:ext uri="{FF2B5EF4-FFF2-40B4-BE49-F238E27FC236}">
                <a16:creationId xmlns:a16="http://schemas.microsoft.com/office/drawing/2014/main" id="{B20EAB49-46F6-5CD2-4064-B6DF13C5494E}"/>
              </a:ext>
            </a:extLst>
          </p:cNvPr>
          <p:cNvSpPr/>
          <p:nvPr/>
        </p:nvSpPr>
        <p:spPr>
          <a:xfrm>
            <a:off x="94129" y="4523817"/>
            <a:ext cx="5743705" cy="71038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Shape 4">
            <a:extLst>
              <a:ext uri="{FF2B5EF4-FFF2-40B4-BE49-F238E27FC236}">
                <a16:creationId xmlns:a16="http://schemas.microsoft.com/office/drawing/2014/main" id="{30A67EAC-3D18-A813-1B7F-EF00AB74EE0B}"/>
              </a:ext>
            </a:extLst>
          </p:cNvPr>
          <p:cNvSpPr/>
          <p:nvPr/>
        </p:nvSpPr>
        <p:spPr>
          <a:xfrm>
            <a:off x="7632700" y="2541855"/>
            <a:ext cx="0" cy="704088"/>
          </a:xfrm>
          <a:prstGeom prst="line">
            <a:avLst/>
          </a:prstGeom>
          <a:noFill/>
          <a:ln w="25400">
            <a:solidFill>
              <a:srgbClr val="00A6B2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5">
            <a:extLst>
              <a:ext uri="{FF2B5EF4-FFF2-40B4-BE49-F238E27FC236}">
                <a16:creationId xmlns:a16="http://schemas.microsoft.com/office/drawing/2014/main" id="{EA3316C8-B3F0-0741-486E-9F598E19EAC9}"/>
              </a:ext>
            </a:extLst>
          </p:cNvPr>
          <p:cNvSpPr/>
          <p:nvPr/>
        </p:nvSpPr>
        <p:spPr>
          <a:xfrm>
            <a:off x="7632700" y="4004895"/>
            <a:ext cx="0" cy="704088"/>
          </a:xfrm>
          <a:prstGeom prst="line">
            <a:avLst/>
          </a:prstGeom>
          <a:noFill/>
          <a:ln w="25400">
            <a:solidFill>
              <a:srgbClr val="00A6B2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6">
            <a:extLst>
              <a:ext uri="{FF2B5EF4-FFF2-40B4-BE49-F238E27FC236}">
                <a16:creationId xmlns:a16="http://schemas.microsoft.com/office/drawing/2014/main" id="{A06F1B6E-FF40-0D85-3AFB-60732B005EBD}"/>
              </a:ext>
            </a:extLst>
          </p:cNvPr>
          <p:cNvSpPr/>
          <p:nvPr/>
        </p:nvSpPr>
        <p:spPr>
          <a:xfrm>
            <a:off x="6489700" y="1901775"/>
            <a:ext cx="2286000" cy="685800"/>
          </a:xfrm>
          <a:prstGeom prst="rect">
            <a:avLst/>
          </a:prstGeom>
          <a:solidFill>
            <a:srgbClr val="EAFBFC"/>
          </a:solidFill>
          <a:ln w="12700">
            <a:solidFill>
              <a:srgbClr val="7FD9DF"/>
            </a:solidFill>
          </a:ln>
        </p:spPr>
        <p:txBody>
          <a:bodyPr wrap="square" lIns="1016" tIns="1016" rIns="1016" bIns="1016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1. Initial state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n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t0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(r, 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)</a:t>
            </a:r>
            <a:endParaRPr lang="en-US" sz="1450" dirty="0"/>
          </a:p>
        </p:txBody>
      </p:sp>
      <p:sp>
        <p:nvSpPr>
          <p:cNvPr id="25" name="Text 7">
            <a:extLst>
              <a:ext uri="{FF2B5EF4-FFF2-40B4-BE49-F238E27FC236}">
                <a16:creationId xmlns:a16="http://schemas.microsoft.com/office/drawing/2014/main" id="{06C744D8-385E-9175-FCCD-311D63DFD297}"/>
              </a:ext>
            </a:extLst>
          </p:cNvPr>
          <p:cNvSpPr/>
          <p:nvPr/>
        </p:nvSpPr>
        <p:spPr>
          <a:xfrm>
            <a:off x="6489700" y="3282519"/>
            <a:ext cx="2286000" cy="685800"/>
          </a:xfrm>
          <a:prstGeom prst="rect">
            <a:avLst/>
          </a:prstGeom>
          <a:solidFill>
            <a:srgbClr val="F0F7FF"/>
          </a:solidFill>
          <a:ln w="12700">
            <a:solidFill>
              <a:srgbClr val="A9CCE3"/>
            </a:solidFill>
          </a:ln>
        </p:spPr>
        <p:txBody>
          <a:bodyPr wrap="square" lIns="1016" tIns="1016" rIns="1016" bIns="1016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2. Emission rates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ch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, 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WL</a:t>
            </a:r>
            <a:endParaRPr lang="en-US" sz="1450" baseline="-25000" dirty="0"/>
          </a:p>
        </p:txBody>
      </p:sp>
      <p:sp>
        <p:nvSpPr>
          <p:cNvPr id="26" name="Text 8">
            <a:extLst>
              <a:ext uri="{FF2B5EF4-FFF2-40B4-BE49-F238E27FC236}">
                <a16:creationId xmlns:a16="http://schemas.microsoft.com/office/drawing/2014/main" id="{50879281-E7E4-1239-2EB3-9AA6BBAFC2F7}"/>
              </a:ext>
            </a:extLst>
          </p:cNvPr>
          <p:cNvSpPr/>
          <p:nvPr/>
        </p:nvSpPr>
        <p:spPr>
          <a:xfrm>
            <a:off x="6489700" y="4754703"/>
            <a:ext cx="2286000" cy="685800"/>
          </a:xfrm>
          <a:prstGeom prst="rect">
            <a:avLst/>
          </a:prstGeom>
          <a:solidFill>
            <a:srgbClr val="F7F2E2"/>
          </a:solidFill>
          <a:ln w="12700">
            <a:solidFill>
              <a:srgbClr val="F2D38E"/>
            </a:solidFill>
          </a:ln>
        </p:spPr>
        <p:txBody>
          <a:bodyPr wrap="square" lIns="1016" tIns="1016" rIns="1016" bIns="1016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3. Direct evaluation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n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(r, 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, t)</a:t>
            </a:r>
            <a:endParaRPr lang="en-US" sz="145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7C19316-AA1E-A65B-62A1-C5778A2FF30D}"/>
              </a:ext>
            </a:extLst>
          </p:cNvPr>
          <p:cNvSpPr txBox="1"/>
          <p:nvPr/>
        </p:nvSpPr>
        <p:spPr>
          <a:xfrm>
            <a:off x="685804" y="5763278"/>
            <a:ext cx="204469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초기 전하 분포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591B02D-6FA9-5624-5571-5AEAC82166C6}"/>
              </a:ext>
            </a:extLst>
          </p:cNvPr>
          <p:cNvSpPr txBox="1"/>
          <p:nvPr/>
        </p:nvSpPr>
        <p:spPr>
          <a:xfrm>
            <a:off x="2940369" y="5763278"/>
            <a:ext cx="305582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u="sng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closed-form evaluation 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71C1046-9366-24B4-9B84-F63C4F802D07}"/>
              </a:ext>
            </a:extLst>
          </p:cNvPr>
          <p:cNvSpPr txBox="1"/>
          <p:nvPr/>
        </p:nvSpPr>
        <p:spPr>
          <a:xfrm>
            <a:off x="1279396" y="2992018"/>
            <a:ext cx="352537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Detrapping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Autonomous ODE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pic>
        <p:nvPicPr>
          <p:cNvPr id="31" name="그림 30">
            <a:extLst>
              <a:ext uri="{FF2B5EF4-FFF2-40B4-BE49-F238E27FC236}">
                <a16:creationId xmlns:a16="http://schemas.microsoft.com/office/drawing/2014/main" id="{FDAB256E-2B4D-60A8-D584-17DBDA9A9E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2722" y="2096806"/>
            <a:ext cx="1473454" cy="583242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30FF1D13-8AA4-D278-4E0A-EF5F9B16F212}"/>
              </a:ext>
            </a:extLst>
          </p:cNvPr>
          <p:cNvSpPr txBox="1"/>
          <p:nvPr/>
        </p:nvSpPr>
        <p:spPr>
          <a:xfrm>
            <a:off x="2416176" y="2202088"/>
            <a:ext cx="29635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: Autonomous ODE</a:t>
            </a:r>
          </a:p>
        </p:txBody>
      </p:sp>
      <p:cxnSp>
        <p:nvCxnSpPr>
          <p:cNvPr id="34" name="직선 연결선 33">
            <a:extLst>
              <a:ext uri="{FF2B5EF4-FFF2-40B4-BE49-F238E27FC236}">
                <a16:creationId xmlns:a16="http://schemas.microsoft.com/office/drawing/2014/main" id="{2FE68F3D-0A0E-724C-ADBE-10863EC0246F}"/>
              </a:ext>
            </a:extLst>
          </p:cNvPr>
          <p:cNvCxnSpPr>
            <a:cxnSpLocks/>
          </p:cNvCxnSpPr>
          <p:nvPr/>
        </p:nvCxnSpPr>
        <p:spPr>
          <a:xfrm flipH="1" flipV="1">
            <a:off x="5453517" y="2324100"/>
            <a:ext cx="1036183" cy="243060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직선 연결선 34">
            <a:extLst>
              <a:ext uri="{FF2B5EF4-FFF2-40B4-BE49-F238E27FC236}">
                <a16:creationId xmlns:a16="http://schemas.microsoft.com/office/drawing/2014/main" id="{9C13342E-CC28-5518-920B-68D264394054}"/>
              </a:ext>
            </a:extLst>
          </p:cNvPr>
          <p:cNvCxnSpPr>
            <a:cxnSpLocks/>
          </p:cNvCxnSpPr>
          <p:nvPr/>
        </p:nvCxnSpPr>
        <p:spPr>
          <a:xfrm flipH="1">
            <a:off x="5664200" y="5440503"/>
            <a:ext cx="825500" cy="36463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화살표 연결선 42">
            <a:extLst>
              <a:ext uri="{FF2B5EF4-FFF2-40B4-BE49-F238E27FC236}">
                <a16:creationId xmlns:a16="http://schemas.microsoft.com/office/drawing/2014/main" id="{A4F5560A-5E4C-FDE4-2499-CACE4E1756D6}"/>
              </a:ext>
            </a:extLst>
          </p:cNvPr>
          <p:cNvCxnSpPr>
            <a:cxnSpLocks/>
          </p:cNvCxnSpPr>
          <p:nvPr/>
        </p:nvCxnSpPr>
        <p:spPr>
          <a:xfrm flipH="1">
            <a:off x="2208891" y="4965700"/>
            <a:ext cx="521609" cy="6778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6510CED3-0489-0CBC-0FC6-B84C13B7EA5E}"/>
              </a:ext>
            </a:extLst>
          </p:cNvPr>
          <p:cNvCxnSpPr>
            <a:cxnSpLocks/>
          </p:cNvCxnSpPr>
          <p:nvPr/>
        </p:nvCxnSpPr>
        <p:spPr>
          <a:xfrm>
            <a:off x="4023362" y="5082210"/>
            <a:ext cx="0" cy="56130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B463AD96-4B77-F53B-65CE-579DC5A3457A}"/>
              </a:ext>
            </a:extLst>
          </p:cNvPr>
          <p:cNvSpPr txBox="1"/>
          <p:nvPr/>
        </p:nvSpPr>
        <p:spPr>
          <a:xfrm>
            <a:off x="7777640" y="6205303"/>
            <a:ext cx="13663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Jin, EDL 2026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447A803-82ED-C960-87D1-686C061EC82E}"/>
              </a:ext>
            </a:extLst>
          </p:cNvPr>
          <p:cNvSpPr txBox="1"/>
          <p:nvPr/>
        </p:nvSpPr>
        <p:spPr>
          <a:xfrm>
            <a:off x="671847" y="1120462"/>
            <a:ext cx="750919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핵심 원리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: initial trapped charge distribution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으로 부터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target retention time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의 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ΔV</a:t>
            </a:r>
            <a:r>
              <a:rPr lang="en-US" altLang="ko-KR" sz="2000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th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를 직접 계산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884A7D5-AE2B-59F2-51AD-65A4E5885624}"/>
              </a:ext>
            </a:extLst>
          </p:cNvPr>
          <p:cNvSpPr txBox="1"/>
          <p:nvPr/>
        </p:nvSpPr>
        <p:spPr>
          <a:xfrm>
            <a:off x="221198" y="3976663"/>
            <a:ext cx="564176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위 식을 풀면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,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시간에 따른 일반해를 구할 수 있음</a:t>
            </a:r>
          </a:p>
        </p:txBody>
      </p:sp>
    </p:spTree>
    <p:extLst>
      <p:ext uri="{BB962C8B-B14F-4D97-AF65-F5344CB8AC3E}">
        <p14:creationId xmlns:p14="http://schemas.microsoft.com/office/powerpoint/2010/main" val="7921571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B51B074-14AA-D1D3-2BED-7349DDDADC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dirty="0" err="1"/>
              <a:t>Validation</a:t>
            </a:r>
            <a:r>
              <a:rPr lang="ko-KR" altLang="ko-KR" dirty="0"/>
              <a:t> of Time-</a:t>
            </a:r>
            <a:r>
              <a:rPr lang="ko-KR" altLang="ko-KR" dirty="0" err="1"/>
              <a:t>Step</a:t>
            </a:r>
            <a:r>
              <a:rPr lang="ko-KR" altLang="ko-KR" dirty="0"/>
              <a:t>-</a:t>
            </a:r>
            <a:r>
              <a:rPr lang="ko-KR" altLang="ko-KR" dirty="0" err="1"/>
              <a:t>Free</a:t>
            </a:r>
            <a:r>
              <a:rPr lang="ko-KR" altLang="ko-KR" dirty="0"/>
              <a:t> </a:t>
            </a:r>
            <a:r>
              <a:rPr lang="ko-KR" altLang="ko-KR" dirty="0" err="1"/>
              <a:t>Evaluation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04B8559-A6CB-4679-56E2-9555CFA35DDF}"/>
              </a:ext>
            </a:extLst>
          </p:cNvPr>
          <p:cNvSpPr txBox="1"/>
          <p:nvPr/>
        </p:nvSpPr>
        <p:spPr>
          <a:xfrm>
            <a:off x="7777640" y="6205303"/>
            <a:ext cx="13663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Jin, EDL 2026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A3A06D7-A104-27CE-74BB-AF9BE9261D4A}"/>
              </a:ext>
            </a:extLst>
          </p:cNvPr>
          <p:cNvSpPr txBox="1"/>
          <p:nvPr/>
        </p:nvSpPr>
        <p:spPr>
          <a:xfrm>
            <a:off x="609600" y="876586"/>
            <a:ext cx="844027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Time-step-free evaluation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의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validity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를 확인하기 위해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iteration test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를 수행함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1678DCF-0AC9-42F4-FCC8-A364F96D6EA1}"/>
              </a:ext>
            </a:extLst>
          </p:cNvPr>
          <p:cNvSpPr txBox="1"/>
          <p:nvPr/>
        </p:nvSpPr>
        <p:spPr>
          <a:xfrm>
            <a:off x="188258" y="4475657"/>
            <a:ext cx="8955742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시간이 지남에 따라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τ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값 증가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: negative feedback &gt;&gt; </a:t>
            </a:r>
            <a:r>
              <a:rPr lang="ko-KR" altLang="en-US" sz="2000" b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전자가 빠진 이후에 </a:t>
            </a:r>
            <a:r>
              <a:rPr lang="en-US" altLang="ko-KR" sz="2000" b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τ </a:t>
            </a:r>
            <a:r>
              <a:rPr lang="ko-KR" altLang="en-US" sz="2000" b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영향</a:t>
            </a:r>
            <a:endParaRPr lang="en-US" altLang="ko-KR" sz="2000" b="1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Iterative test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를 진행한 결과와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iteration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이 없는 단일계산으로 진행한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time-step-free evaluation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의 차이가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10</a:t>
            </a:r>
            <a:r>
              <a:rPr lang="en-US" altLang="ko-KR" sz="2000" baseline="30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9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[s]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이상의 시간이 지나야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3%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가량 차이 발생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두 결과의 차이가 작아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time-step-free approximation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이 유효함을 확인함</a:t>
            </a:r>
          </a:p>
        </p:txBody>
      </p:sp>
      <p:pic>
        <p:nvPicPr>
          <p:cNvPr id="10" name="그래픽 9">
            <a:extLst>
              <a:ext uri="{FF2B5EF4-FFF2-40B4-BE49-F238E27FC236}">
                <a16:creationId xmlns:a16="http://schemas.microsoft.com/office/drawing/2014/main" id="{3D0C25ED-410E-A464-2C83-F475159E438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38879"/>
          <a:stretch>
            <a:fillRect/>
          </a:stretch>
        </p:blipFill>
        <p:spPr>
          <a:xfrm>
            <a:off x="4968633" y="1104799"/>
            <a:ext cx="3421610" cy="2222893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39B448BA-4260-CB84-89A7-9396E12A135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455"/>
          <a:stretch>
            <a:fillRect/>
          </a:stretch>
        </p:blipFill>
        <p:spPr>
          <a:xfrm>
            <a:off x="421797" y="1298127"/>
            <a:ext cx="4474053" cy="2204491"/>
          </a:xfrm>
          <a:prstGeom prst="rect">
            <a:avLst/>
          </a:prstGeom>
        </p:spPr>
      </p:pic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12FCA1AF-DDCF-5D45-8778-ED60C1D56F79}"/>
              </a:ext>
            </a:extLst>
          </p:cNvPr>
          <p:cNvCxnSpPr>
            <a:cxnSpLocks/>
          </p:cNvCxnSpPr>
          <p:nvPr/>
        </p:nvCxnSpPr>
        <p:spPr>
          <a:xfrm>
            <a:off x="1231900" y="1871780"/>
            <a:ext cx="0" cy="1098879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연결선 19">
            <a:extLst>
              <a:ext uri="{FF2B5EF4-FFF2-40B4-BE49-F238E27FC236}">
                <a16:creationId xmlns:a16="http://schemas.microsoft.com/office/drawing/2014/main" id="{38313DEC-8AB0-8EE3-CB67-7AFF82A06E2B}"/>
              </a:ext>
            </a:extLst>
          </p:cNvPr>
          <p:cNvCxnSpPr>
            <a:cxnSpLocks/>
          </p:cNvCxnSpPr>
          <p:nvPr/>
        </p:nvCxnSpPr>
        <p:spPr>
          <a:xfrm>
            <a:off x="2730500" y="1795580"/>
            <a:ext cx="0" cy="1175079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547A6DFD-47B3-1AA1-819D-2DDB0BF5E2FE}"/>
              </a:ext>
            </a:extLst>
          </p:cNvPr>
          <p:cNvCxnSpPr>
            <a:cxnSpLocks/>
          </p:cNvCxnSpPr>
          <p:nvPr/>
        </p:nvCxnSpPr>
        <p:spPr>
          <a:xfrm>
            <a:off x="1981198" y="1830505"/>
            <a:ext cx="0" cy="1140154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D4ED836D-6124-94A0-8986-DDC24CC0BCFB}"/>
              </a:ext>
            </a:extLst>
          </p:cNvPr>
          <p:cNvCxnSpPr>
            <a:cxnSpLocks/>
          </p:cNvCxnSpPr>
          <p:nvPr/>
        </p:nvCxnSpPr>
        <p:spPr>
          <a:xfrm>
            <a:off x="1731432" y="1764715"/>
            <a:ext cx="0" cy="1205944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연결선 30">
            <a:extLst>
              <a:ext uri="{FF2B5EF4-FFF2-40B4-BE49-F238E27FC236}">
                <a16:creationId xmlns:a16="http://schemas.microsoft.com/office/drawing/2014/main" id="{F9BC1CD3-CC55-B584-6AD0-4272D011ACFF}"/>
              </a:ext>
            </a:extLst>
          </p:cNvPr>
          <p:cNvCxnSpPr>
            <a:cxnSpLocks/>
          </p:cNvCxnSpPr>
          <p:nvPr/>
        </p:nvCxnSpPr>
        <p:spPr>
          <a:xfrm>
            <a:off x="1481666" y="1764715"/>
            <a:ext cx="0" cy="1205944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직선 연결선 31">
            <a:extLst>
              <a:ext uri="{FF2B5EF4-FFF2-40B4-BE49-F238E27FC236}">
                <a16:creationId xmlns:a16="http://schemas.microsoft.com/office/drawing/2014/main" id="{4E6B8D4C-E895-7BA5-5E0A-B6E13CA85572}"/>
              </a:ext>
            </a:extLst>
          </p:cNvPr>
          <p:cNvCxnSpPr>
            <a:cxnSpLocks/>
          </p:cNvCxnSpPr>
          <p:nvPr/>
        </p:nvCxnSpPr>
        <p:spPr>
          <a:xfrm>
            <a:off x="2480730" y="1823361"/>
            <a:ext cx="0" cy="1147298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직선 연결선 34">
            <a:extLst>
              <a:ext uri="{FF2B5EF4-FFF2-40B4-BE49-F238E27FC236}">
                <a16:creationId xmlns:a16="http://schemas.microsoft.com/office/drawing/2014/main" id="{2183EDA8-85BC-E66C-5288-E97EB33E423B}"/>
              </a:ext>
            </a:extLst>
          </p:cNvPr>
          <p:cNvCxnSpPr>
            <a:cxnSpLocks/>
          </p:cNvCxnSpPr>
          <p:nvPr/>
        </p:nvCxnSpPr>
        <p:spPr>
          <a:xfrm>
            <a:off x="2230964" y="1835268"/>
            <a:ext cx="0" cy="1135391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연결선 67">
            <a:extLst>
              <a:ext uri="{FF2B5EF4-FFF2-40B4-BE49-F238E27FC236}">
                <a16:creationId xmlns:a16="http://schemas.microsoft.com/office/drawing/2014/main" id="{C241539E-779E-1500-4EA7-04C8797CB6DD}"/>
              </a:ext>
            </a:extLst>
          </p:cNvPr>
          <p:cNvCxnSpPr>
            <a:cxnSpLocks/>
          </p:cNvCxnSpPr>
          <p:nvPr/>
        </p:nvCxnSpPr>
        <p:spPr>
          <a:xfrm>
            <a:off x="234950" y="2575518"/>
            <a:ext cx="2495550" cy="0"/>
          </a:xfrm>
          <a:prstGeom prst="line">
            <a:avLst/>
          </a:prstGeom>
          <a:ln w="28575">
            <a:solidFill>
              <a:schemeClr val="tx1"/>
            </a:solidFill>
            <a:prstDash val="sysDot"/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TextBox 72">
            <a:extLst>
              <a:ext uri="{FF2B5EF4-FFF2-40B4-BE49-F238E27FC236}">
                <a16:creationId xmlns:a16="http://schemas.microsoft.com/office/drawing/2014/main" id="{C919C873-9995-60C8-5A95-9BB4E69E8CEA}"/>
              </a:ext>
            </a:extLst>
          </p:cNvPr>
          <p:cNvSpPr txBox="1"/>
          <p:nvPr/>
        </p:nvSpPr>
        <p:spPr>
          <a:xfrm>
            <a:off x="-64" y="3468187"/>
            <a:ext cx="1067985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초기 </a:t>
            </a:r>
            <a:r>
              <a:rPr lang="en-US" altLang="ko-KR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τ [s]</a:t>
            </a:r>
          </a:p>
          <a:p>
            <a:pPr algn="r"/>
            <a:r>
              <a:rPr lang="en-US" altLang="ko-KR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|TC| </a:t>
            </a:r>
            <a:r>
              <a:rPr lang="ko-KR" altLang="en-US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감소량</a:t>
            </a:r>
            <a:endParaRPr lang="en-US" altLang="ko-KR" sz="14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algn="r"/>
            <a:r>
              <a:rPr lang="ko-KR" altLang="en-US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최종 </a:t>
            </a:r>
            <a:r>
              <a:rPr lang="en-US" altLang="ko-KR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τ [s]</a:t>
            </a:r>
            <a:endParaRPr lang="ko-KR" altLang="en-US" sz="14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AF003D96-646F-7F7C-F198-20607C76B9E6}"/>
              </a:ext>
            </a:extLst>
          </p:cNvPr>
          <p:cNvSpPr txBox="1"/>
          <p:nvPr/>
        </p:nvSpPr>
        <p:spPr>
          <a:xfrm>
            <a:off x="1682416" y="1211138"/>
            <a:ext cx="54854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6 nm</a:t>
            </a:r>
            <a:endParaRPr lang="ko-KR" altLang="en-US" sz="14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4781A5BB-6477-A86C-A00E-2828511AC637}"/>
              </a:ext>
            </a:extLst>
          </p:cNvPr>
          <p:cNvSpPr txBox="1"/>
          <p:nvPr/>
        </p:nvSpPr>
        <p:spPr>
          <a:xfrm>
            <a:off x="1370353" y="1526843"/>
            <a:ext cx="47000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1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1 nm</a:t>
            </a:r>
            <a:endParaRPr lang="ko-KR" altLang="en-US" sz="11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cxnSp>
        <p:nvCxnSpPr>
          <p:cNvPr id="78" name="직선 연결선 77">
            <a:extLst>
              <a:ext uri="{FF2B5EF4-FFF2-40B4-BE49-F238E27FC236}">
                <a16:creationId xmlns:a16="http://schemas.microsoft.com/office/drawing/2014/main" id="{84693F00-E54C-B225-5802-7C19805BF376}"/>
              </a:ext>
            </a:extLst>
          </p:cNvPr>
          <p:cNvCxnSpPr>
            <a:cxnSpLocks/>
          </p:cNvCxnSpPr>
          <p:nvPr/>
        </p:nvCxnSpPr>
        <p:spPr>
          <a:xfrm>
            <a:off x="1231900" y="2970659"/>
            <a:ext cx="79304" cy="509440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직선 연결선 79">
            <a:extLst>
              <a:ext uri="{FF2B5EF4-FFF2-40B4-BE49-F238E27FC236}">
                <a16:creationId xmlns:a16="http://schemas.microsoft.com/office/drawing/2014/main" id="{C39A550C-6808-30C9-4F4A-1671579D2A12}"/>
              </a:ext>
            </a:extLst>
          </p:cNvPr>
          <p:cNvCxnSpPr>
            <a:cxnSpLocks/>
          </p:cNvCxnSpPr>
          <p:nvPr/>
        </p:nvCxnSpPr>
        <p:spPr>
          <a:xfrm>
            <a:off x="1481380" y="2970659"/>
            <a:ext cx="300956" cy="497453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직선 연결선 80">
            <a:extLst>
              <a:ext uri="{FF2B5EF4-FFF2-40B4-BE49-F238E27FC236}">
                <a16:creationId xmlns:a16="http://schemas.microsoft.com/office/drawing/2014/main" id="{D60F916B-48B7-1C01-3483-1E359FDE7C42}"/>
              </a:ext>
            </a:extLst>
          </p:cNvPr>
          <p:cNvCxnSpPr>
            <a:cxnSpLocks/>
          </p:cNvCxnSpPr>
          <p:nvPr/>
        </p:nvCxnSpPr>
        <p:spPr>
          <a:xfrm>
            <a:off x="1730860" y="2970659"/>
            <a:ext cx="624271" cy="504880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연결선 81">
            <a:extLst>
              <a:ext uri="{FF2B5EF4-FFF2-40B4-BE49-F238E27FC236}">
                <a16:creationId xmlns:a16="http://schemas.microsoft.com/office/drawing/2014/main" id="{909A899E-2CDA-163D-AF26-0E0637B71CE7}"/>
              </a:ext>
            </a:extLst>
          </p:cNvPr>
          <p:cNvCxnSpPr>
            <a:cxnSpLocks/>
          </p:cNvCxnSpPr>
          <p:nvPr/>
        </p:nvCxnSpPr>
        <p:spPr>
          <a:xfrm>
            <a:off x="1980340" y="2970659"/>
            <a:ext cx="1040719" cy="547163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직선 연결선 82">
            <a:extLst>
              <a:ext uri="{FF2B5EF4-FFF2-40B4-BE49-F238E27FC236}">
                <a16:creationId xmlns:a16="http://schemas.microsoft.com/office/drawing/2014/main" id="{7193EE15-A210-24BC-9672-998EE7F4767B}"/>
              </a:ext>
            </a:extLst>
          </p:cNvPr>
          <p:cNvCxnSpPr>
            <a:cxnSpLocks/>
          </p:cNvCxnSpPr>
          <p:nvPr/>
        </p:nvCxnSpPr>
        <p:spPr>
          <a:xfrm>
            <a:off x="2229820" y="2970659"/>
            <a:ext cx="1560550" cy="547163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직선 연결선 83">
            <a:extLst>
              <a:ext uri="{FF2B5EF4-FFF2-40B4-BE49-F238E27FC236}">
                <a16:creationId xmlns:a16="http://schemas.microsoft.com/office/drawing/2014/main" id="{A46C35A7-75FB-32E3-1050-8F709739C8B9}"/>
              </a:ext>
            </a:extLst>
          </p:cNvPr>
          <p:cNvCxnSpPr>
            <a:cxnSpLocks/>
          </p:cNvCxnSpPr>
          <p:nvPr/>
        </p:nvCxnSpPr>
        <p:spPr>
          <a:xfrm>
            <a:off x="2479300" y="2970659"/>
            <a:ext cx="2037131" cy="547163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직선 연결선 84">
            <a:extLst>
              <a:ext uri="{FF2B5EF4-FFF2-40B4-BE49-F238E27FC236}">
                <a16:creationId xmlns:a16="http://schemas.microsoft.com/office/drawing/2014/main" id="{70E74C36-6BC2-69B9-4347-6AD4420C0A55}"/>
              </a:ext>
            </a:extLst>
          </p:cNvPr>
          <p:cNvCxnSpPr>
            <a:cxnSpLocks/>
          </p:cNvCxnSpPr>
          <p:nvPr/>
        </p:nvCxnSpPr>
        <p:spPr>
          <a:xfrm>
            <a:off x="2728779" y="2970659"/>
            <a:ext cx="2457629" cy="547163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A7F309C6-857D-3225-E6D2-DDFA73B8553E}"/>
              </a:ext>
            </a:extLst>
          </p:cNvPr>
          <p:cNvSpPr txBox="1"/>
          <p:nvPr/>
        </p:nvSpPr>
        <p:spPr>
          <a:xfrm>
            <a:off x="1049669" y="3468112"/>
            <a:ext cx="48780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6.23       1.33e4    6.92e7    4.02e11   2.65e15   1.7e19    9.97e23</a:t>
            </a:r>
            <a:endParaRPr lang="ko-KR" altLang="en-US" sz="14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9210EF10-99CD-B10E-56EA-59C1D9E635EA}"/>
              </a:ext>
            </a:extLst>
          </p:cNvPr>
          <p:cNvSpPr txBox="1"/>
          <p:nvPr/>
        </p:nvSpPr>
        <p:spPr>
          <a:xfrm>
            <a:off x="1049669" y="3692995"/>
            <a:ext cx="482696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-21.7%  -24.6%   -25.1%    -22.2%    -17.5%    -8.6%    +456.9%</a:t>
            </a:r>
            <a:endParaRPr lang="ko-KR" altLang="en-US" sz="14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23C20BB6-6C2B-E0F1-8AFE-D165036BFEC6}"/>
              </a:ext>
            </a:extLst>
          </p:cNvPr>
          <p:cNvSpPr txBox="1"/>
          <p:nvPr/>
        </p:nvSpPr>
        <p:spPr>
          <a:xfrm>
            <a:off x="1049669" y="3933480"/>
            <a:ext cx="48780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8.44       1.88e4    9.87e7    5.46e11    3.39e15  1.96e19   1.8e23</a:t>
            </a:r>
            <a:endParaRPr lang="ko-KR" altLang="en-US" sz="14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pic>
        <p:nvPicPr>
          <p:cNvPr id="99" name="그래픽 98">
            <a:extLst>
              <a:ext uri="{FF2B5EF4-FFF2-40B4-BE49-F238E27FC236}">
                <a16:creationId xmlns:a16="http://schemas.microsoft.com/office/drawing/2014/main" id="{4FCA50A6-A29D-2E3B-4D72-2AA6E3D3B4B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73166" r="1" b="23139"/>
          <a:stretch>
            <a:fillRect/>
          </a:stretch>
        </p:blipFill>
        <p:spPr>
          <a:xfrm>
            <a:off x="7633519" y="2929089"/>
            <a:ext cx="1291860" cy="1469315"/>
          </a:xfrm>
          <a:prstGeom prst="rect">
            <a:avLst/>
          </a:prstGeom>
        </p:spPr>
      </p:pic>
      <p:sp>
        <p:nvSpPr>
          <p:cNvPr id="100" name="화살표: 왼쪽으로 구부러짐 99">
            <a:extLst>
              <a:ext uri="{FF2B5EF4-FFF2-40B4-BE49-F238E27FC236}">
                <a16:creationId xmlns:a16="http://schemas.microsoft.com/office/drawing/2014/main" id="{19E23A85-2DDD-355D-5A27-B618CC4B6532}"/>
              </a:ext>
            </a:extLst>
          </p:cNvPr>
          <p:cNvSpPr/>
          <p:nvPr/>
        </p:nvSpPr>
        <p:spPr>
          <a:xfrm>
            <a:off x="5762544" y="3555938"/>
            <a:ext cx="361950" cy="584851"/>
          </a:xfrm>
          <a:prstGeom prst="curvedLeftArrow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0C31D0B5-D217-2D41-6EF5-DCA120D98CB2}"/>
              </a:ext>
            </a:extLst>
          </p:cNvPr>
          <p:cNvSpPr txBox="1"/>
          <p:nvPr/>
        </p:nvSpPr>
        <p:spPr>
          <a:xfrm>
            <a:off x="6112388" y="3517822"/>
            <a:ext cx="1285374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전체적으로 시간이 지남에 따라 </a:t>
            </a:r>
            <a:r>
              <a:rPr lang="en-US" altLang="ko-KR" sz="11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τ </a:t>
            </a:r>
            <a:r>
              <a:rPr lang="ko-KR" altLang="en-US" sz="11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증가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03B13753-68DA-2540-5CBC-1D7DB31F50F0}"/>
              </a:ext>
            </a:extLst>
          </p:cNvPr>
          <p:cNvCxnSpPr/>
          <p:nvPr/>
        </p:nvCxnSpPr>
        <p:spPr>
          <a:xfrm>
            <a:off x="1231900" y="1518915"/>
            <a:ext cx="149687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19D964FC-1694-0501-A93B-6989DF2D4B3B}"/>
              </a:ext>
            </a:extLst>
          </p:cNvPr>
          <p:cNvCxnSpPr>
            <a:cxnSpLocks/>
          </p:cNvCxnSpPr>
          <p:nvPr/>
        </p:nvCxnSpPr>
        <p:spPr>
          <a:xfrm>
            <a:off x="1481380" y="1765980"/>
            <a:ext cx="249480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8673F32B-8553-EEB2-189C-2991041202DF}"/>
              </a:ext>
            </a:extLst>
          </p:cNvPr>
          <p:cNvSpPr txBox="1"/>
          <p:nvPr/>
        </p:nvSpPr>
        <p:spPr>
          <a:xfrm>
            <a:off x="565151" y="1693758"/>
            <a:ext cx="55008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TOX</a:t>
            </a:r>
            <a:endParaRPr lang="ko-KR" altLang="en-US" sz="14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D25CD7D-0C75-CC2C-EB14-A7381F112DCF}"/>
              </a:ext>
            </a:extLst>
          </p:cNvPr>
          <p:cNvSpPr txBox="1"/>
          <p:nvPr/>
        </p:nvSpPr>
        <p:spPr>
          <a:xfrm>
            <a:off x="3454524" y="1861512"/>
            <a:ext cx="56457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BOX</a:t>
            </a:r>
            <a:endParaRPr lang="ko-KR" altLang="en-US" sz="14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A662C76-8F70-6CEB-3662-DE2EA5FD5A14}"/>
              </a:ext>
            </a:extLst>
          </p:cNvPr>
          <p:cNvSpPr txBox="1"/>
          <p:nvPr/>
        </p:nvSpPr>
        <p:spPr>
          <a:xfrm>
            <a:off x="1832118" y="1510559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CTN</a:t>
            </a:r>
            <a:endParaRPr lang="ko-KR" altLang="en-US" sz="14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6843356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9778E4-D4DA-FF84-213C-4BA55B8D48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678384-2A41-9399-D026-DC24419FF4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Cryogenic-like</a:t>
            </a:r>
            <a:r>
              <a:rPr lang="ko-KR" altLang="en-US" dirty="0"/>
              <a:t> </a:t>
            </a:r>
            <a:r>
              <a:rPr lang="en-US" altLang="ko-KR" dirty="0"/>
              <a:t>Emulation</a:t>
            </a:r>
            <a:endParaRPr lang="ko-KR" altLang="en-US" dirty="0"/>
          </a:p>
        </p:txBody>
      </p:sp>
      <p:graphicFrame>
        <p:nvGraphicFramePr>
          <p:cNvPr id="34" name="개체 33">
            <a:extLst>
              <a:ext uri="{FF2B5EF4-FFF2-40B4-BE49-F238E27FC236}">
                <a16:creationId xmlns:a16="http://schemas.microsoft.com/office/drawing/2014/main" id="{58BB9F18-96F1-98CA-A9A2-43AF25E724E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15332862"/>
              </p:ext>
            </p:extLst>
          </p:nvPr>
        </p:nvGraphicFramePr>
        <p:xfrm>
          <a:off x="4246004" y="2803203"/>
          <a:ext cx="4510590" cy="318566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2" imgW="6842908" imgH="4833106" progId="Origin50.Graph">
                  <p:embed/>
                </p:oleObj>
              </mc:Choice>
              <mc:Fallback>
                <p:oleObj name="Graph" r:id="rId2" imgW="6842908" imgH="4833106" progId="Origin50.Graph">
                  <p:embed/>
                  <p:pic>
                    <p:nvPicPr>
                      <p:cNvPr id="34" name="개체 33">
                        <a:extLst>
                          <a:ext uri="{FF2B5EF4-FFF2-40B4-BE49-F238E27FC236}">
                            <a16:creationId xmlns:a16="http://schemas.microsoft.com/office/drawing/2014/main" id="{58BB9F18-96F1-98CA-A9A2-43AF25E724E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4246004" y="2803203"/>
                        <a:ext cx="4510590" cy="3185669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5" name="개체 34">
            <a:extLst>
              <a:ext uri="{FF2B5EF4-FFF2-40B4-BE49-F238E27FC236}">
                <a16:creationId xmlns:a16="http://schemas.microsoft.com/office/drawing/2014/main" id="{891322FF-2DED-B48F-6ACB-94E2A4CB174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214751349"/>
              </p:ext>
            </p:extLst>
          </p:nvPr>
        </p:nvGraphicFramePr>
        <p:xfrm>
          <a:off x="329810" y="2803203"/>
          <a:ext cx="4510590" cy="318566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4" imgW="6842908" imgH="4833106" progId="Origin50.Graph">
                  <p:embed/>
                </p:oleObj>
              </mc:Choice>
              <mc:Fallback>
                <p:oleObj name="Graph" r:id="rId4" imgW="6842908" imgH="4833106" progId="Origin50.Graph">
                  <p:embed/>
                  <p:pic>
                    <p:nvPicPr>
                      <p:cNvPr id="35" name="개체 34">
                        <a:extLst>
                          <a:ext uri="{FF2B5EF4-FFF2-40B4-BE49-F238E27FC236}">
                            <a16:creationId xmlns:a16="http://schemas.microsoft.com/office/drawing/2014/main" id="{891322FF-2DED-B48F-6ACB-94E2A4CB174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329810" y="2803203"/>
                        <a:ext cx="4510590" cy="3185669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8" name="화살표: 오른쪽 37">
            <a:extLst>
              <a:ext uri="{FF2B5EF4-FFF2-40B4-BE49-F238E27FC236}">
                <a16:creationId xmlns:a16="http://schemas.microsoft.com/office/drawing/2014/main" id="{6E4C4EB1-1AB2-EF73-61FE-BF2FED9CA5D4}"/>
              </a:ext>
            </a:extLst>
          </p:cNvPr>
          <p:cNvSpPr/>
          <p:nvPr/>
        </p:nvSpPr>
        <p:spPr>
          <a:xfrm rot="19517270">
            <a:off x="6601209" y="3545907"/>
            <a:ext cx="2063126" cy="288363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96E982E-8192-2839-C046-42F0792C60F9}"/>
              </a:ext>
            </a:extLst>
          </p:cNvPr>
          <p:cNvSpPr txBox="1"/>
          <p:nvPr/>
        </p:nvSpPr>
        <p:spPr>
          <a:xfrm>
            <a:off x="5766892" y="4315364"/>
            <a:ext cx="268409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 err="1">
                <a:latin typeface="Arial" panose="020B0604020202020204" pitchFamily="34" charset="0"/>
                <a:cs typeface="Arial" panose="020B0604020202020204" pitchFamily="34" charset="0"/>
              </a:rPr>
              <a:t>t</a:t>
            </a:r>
            <a:r>
              <a:rPr lang="en-US" altLang="ko-KR" sz="1400" baseline="-25000" dirty="0" err="1">
                <a:latin typeface="Arial" panose="020B0604020202020204" pitchFamily="34" charset="0"/>
                <a:cs typeface="Arial" panose="020B0604020202020204" pitchFamily="34" charset="0"/>
              </a:rPr>
              <a:t>TOX</a:t>
            </a:r>
            <a:r>
              <a:rPr lang="ko-KR" alt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endParaRPr lang="en-US" altLang="ko-KR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ko-KR" sz="1400" dirty="0">
                <a:latin typeface="Arial" panose="020B0604020202020204" pitchFamily="34" charset="0"/>
                <a:cs typeface="Arial" panose="020B0604020202020204" pitchFamily="34" charset="0"/>
              </a:rPr>
              <a:t>= 3, 3.5, 4, 4.5, 5 [nm]</a:t>
            </a:r>
            <a:endParaRPr lang="ko-KR" alt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BEAFB2D-3964-F8C5-3A78-F54BCCB0BDC3}"/>
              </a:ext>
            </a:extLst>
          </p:cNvPr>
          <p:cNvSpPr txBox="1"/>
          <p:nvPr/>
        </p:nvSpPr>
        <p:spPr>
          <a:xfrm>
            <a:off x="457874" y="869128"/>
            <a:ext cx="40022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측정치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– TCAD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56E689E-70A9-729F-9318-9FC0E2EB24FF}"/>
              </a:ext>
            </a:extLst>
          </p:cNvPr>
          <p:cNvSpPr txBox="1"/>
          <p:nvPr/>
        </p:nvSpPr>
        <p:spPr>
          <a:xfrm>
            <a:off x="838200" y="5988872"/>
            <a:ext cx="40022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Tx/>
              <a:buChar char="-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O/N/O = </a:t>
            </a:r>
            <a:r>
              <a:rPr lang="en-US" altLang="ko-KR" sz="2000" b="1" u="sng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3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/6/8 [nm]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48B69CA-0EFC-F706-FD4E-7D72C00A5731}"/>
              </a:ext>
            </a:extLst>
          </p:cNvPr>
          <p:cNvSpPr txBox="1"/>
          <p:nvPr/>
        </p:nvSpPr>
        <p:spPr>
          <a:xfrm>
            <a:off x="5236915" y="869128"/>
            <a:ext cx="32490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모델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– TCAD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0C85960-DCE8-5A8A-C306-712154208786}"/>
              </a:ext>
            </a:extLst>
          </p:cNvPr>
          <p:cNvSpPr txBox="1"/>
          <p:nvPr/>
        </p:nvSpPr>
        <p:spPr>
          <a:xfrm>
            <a:off x="5347463" y="1269238"/>
            <a:ext cx="3702408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Tx/>
              <a:buChar char="-"/>
            </a:pP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</a:t>
            </a:r>
            <a:r>
              <a:rPr lang="en-US" altLang="ko-KR" sz="2000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TOX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= 3 ~ 5 [nm]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변화에 따른 변동 검증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Iterative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calculation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이 없는 환경에서 높은 정확성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22C7020-E6E8-261A-1309-E318F0030DCE}"/>
              </a:ext>
            </a:extLst>
          </p:cNvPr>
          <p:cNvSpPr txBox="1"/>
          <p:nvPr/>
        </p:nvSpPr>
        <p:spPr>
          <a:xfrm>
            <a:off x="7777640" y="6205303"/>
            <a:ext cx="13663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Jin, EDL 2026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ED307E3-3C5B-A30F-F588-D2C7BD43FE83}"/>
              </a:ext>
            </a:extLst>
          </p:cNvPr>
          <p:cNvSpPr txBox="1"/>
          <p:nvPr/>
        </p:nvSpPr>
        <p:spPr>
          <a:xfrm>
            <a:off x="532065" y="1269238"/>
            <a:ext cx="4308335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Tx/>
              <a:buChar char="-"/>
            </a:pPr>
            <a:r>
              <a:rPr lang="ko-KR" altLang="en-US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극저온 환경과 </a:t>
            </a:r>
            <a:r>
              <a:rPr lang="en-US" altLang="ko-KR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σ</a:t>
            </a:r>
            <a:r>
              <a:rPr lang="en-US" altLang="ko-KR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n</a:t>
            </a:r>
            <a:r>
              <a:rPr lang="ko-KR" altLang="en-US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→</a:t>
            </a:r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0</a:t>
            </a:r>
            <a:r>
              <a:rPr lang="ko-KR" altLang="en-US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간의 수렴 상관 관계를 활용하여 </a:t>
            </a:r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Cryogenic-like emulation </a:t>
            </a:r>
            <a:r>
              <a:rPr lang="ko-KR" altLang="en-US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환경 구현 및 </a:t>
            </a:r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calibration</a:t>
            </a:r>
            <a:endParaRPr lang="ko-KR" altLang="en-US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endParaRPr lang="en-US" altLang="ko-KR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r>
              <a:rPr lang="en-US" altLang="ko-KR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ΔV</a:t>
            </a:r>
            <a:r>
              <a:rPr lang="en-US" altLang="ko-KR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th</a:t>
            </a:r>
            <a:r>
              <a:rPr lang="ko-KR" altLang="en-US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는 </a:t>
            </a:r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A.U. </a:t>
            </a:r>
            <a:r>
              <a:rPr lang="ko-KR" altLang="en-US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값이지만</a:t>
            </a:r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, </a:t>
            </a:r>
            <a:r>
              <a:rPr lang="en-US" altLang="ko-KR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</a:t>
            </a:r>
            <a:r>
              <a:rPr lang="en-US" altLang="ko-KR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TOX</a:t>
            </a:r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ko-KR" altLang="en-US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값 조절을 하며 </a:t>
            </a:r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time scale</a:t>
            </a:r>
            <a:r>
              <a:rPr lang="ko-KR" altLang="en-US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을 기준으로 </a:t>
            </a:r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calibration</a:t>
            </a:r>
            <a:endParaRPr lang="en-US" altLang="ko-KR" sz="18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05050634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42AAEF8-94FC-13F9-82B0-53BB118638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CTN </a:t>
            </a:r>
            <a:r>
              <a:rPr lang="en-US" altLang="ko-KR" dirty="0" err="1"/>
              <a:t>Detrapping</a:t>
            </a:r>
            <a:r>
              <a:rPr lang="en-US" altLang="ko-KR" dirty="0"/>
              <a:t> in Various Temperature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49289A3-88DF-63E7-DCE7-32BC11608891}"/>
              </a:ext>
            </a:extLst>
          </p:cNvPr>
          <p:cNvSpPr txBox="1"/>
          <p:nvPr/>
        </p:nvSpPr>
        <p:spPr>
          <a:xfrm>
            <a:off x="358260" y="1041547"/>
            <a:ext cx="59394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Thermal activation: nonradiative 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multiphonon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transition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grpSp>
        <p:nvGrpSpPr>
          <p:cNvPr id="92" name="그룹 91">
            <a:extLst>
              <a:ext uri="{FF2B5EF4-FFF2-40B4-BE49-F238E27FC236}">
                <a16:creationId xmlns:a16="http://schemas.microsoft.com/office/drawing/2014/main" id="{5F3808BE-207D-9162-52C8-A8DA4A324439}"/>
              </a:ext>
            </a:extLst>
          </p:cNvPr>
          <p:cNvGrpSpPr/>
          <p:nvPr/>
        </p:nvGrpSpPr>
        <p:grpSpPr>
          <a:xfrm>
            <a:off x="457455" y="4124338"/>
            <a:ext cx="8424314" cy="2106865"/>
            <a:chOff x="457455" y="4244849"/>
            <a:chExt cx="8424314" cy="2106865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AF014EF9-CB79-F697-F8B9-645724252522}"/>
                </a:ext>
              </a:extLst>
            </p:cNvPr>
            <p:cNvSpPr txBox="1"/>
            <p:nvPr/>
          </p:nvSpPr>
          <p:spPr>
            <a:xfrm>
              <a:off x="4086081" y="6097798"/>
              <a:ext cx="2250170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050" b="1" i="1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solidFill>
                    <a:schemeClr val="bg1">
                      <a:lumMod val="65000"/>
                    </a:schemeClr>
                  </a:solidFill>
                  <a:latin typeface="Times New Roman"/>
                  <a:ea typeface="맑은 고딕"/>
                  <a:cs typeface="Times New Roman"/>
                </a:rPr>
                <a:t>Palma, </a:t>
              </a:r>
              <a:r>
                <a:rPr lang="en-US" altLang="ko-KR" sz="1050" b="1" i="1" dirty="0" err="1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solidFill>
                    <a:schemeClr val="bg1">
                      <a:lumMod val="65000"/>
                    </a:schemeClr>
                  </a:solidFill>
                  <a:latin typeface="Times New Roman"/>
                  <a:ea typeface="맑은 고딕"/>
                  <a:cs typeface="Times New Roman"/>
                </a:rPr>
                <a:t>Physcis</a:t>
              </a:r>
              <a:r>
                <a:rPr lang="en-US" altLang="ko-KR" sz="1050" b="1" i="1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solidFill>
                    <a:schemeClr val="bg1">
                      <a:lumMod val="65000"/>
                    </a:schemeClr>
                  </a:solidFill>
                  <a:latin typeface="Times New Roman"/>
                  <a:ea typeface="맑은 고딕"/>
                  <a:cs typeface="Times New Roman"/>
                </a:rPr>
                <a:t> Review B 1997</a:t>
              </a:r>
              <a:endParaRPr lang="ko-KR" altLang="en-US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7240504A-7F25-B1E8-0C8C-C030DA5C5C37}"/>
                </a:ext>
              </a:extLst>
            </p:cNvPr>
            <p:cNvSpPr txBox="1"/>
            <p:nvPr/>
          </p:nvSpPr>
          <p:spPr>
            <a:xfrm>
              <a:off x="6856856" y="4298090"/>
              <a:ext cx="202491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20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rPr>
                <a:t>physical </a:t>
              </a:r>
              <a:r>
                <a:rPr lang="en-US" altLang="ko-KR" sz="2000" dirty="0" err="1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rPr>
                <a:t>prefactor</a:t>
              </a:r>
              <a:endPara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36806E6-C79C-3C71-B3B9-AF9B8B466B6B}"/>
                </a:ext>
              </a:extLst>
            </p:cNvPr>
            <p:cNvSpPr txBox="1"/>
            <p:nvPr/>
          </p:nvSpPr>
          <p:spPr>
            <a:xfrm>
              <a:off x="6856856" y="5573809"/>
              <a:ext cx="197381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20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rPr>
                <a:t>Statistics + WKB</a:t>
              </a:r>
              <a:endPara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93D526B8-6E6E-FA01-62A5-D0F6A0B3BCBF}"/>
                    </a:ext>
                  </a:extLst>
                </p:cNvPr>
                <p:cNvSpPr txBox="1"/>
                <p:nvPr/>
              </p:nvSpPr>
              <p:spPr>
                <a:xfrm>
                  <a:off x="457455" y="4244849"/>
                  <a:ext cx="6399401" cy="193674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ko-KR" sz="20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</m:ctrlPr>
                        </m:sSubPr>
                        <m:e>
                          <m:r>
                            <a:rPr lang="en-US" altLang="ko-KR" sz="20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𝑒</m:t>
                          </m:r>
                        </m:e>
                        <m:sub>
                          <m:r>
                            <a:rPr lang="en-US" altLang="ko-KR" sz="20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𝑝ℎ𝑜𝑛𝑜𝑛</m:t>
                          </m:r>
                        </m:sub>
                      </m:sSub>
                      <m:r>
                        <a:rPr lang="en-US" altLang="ko-KR" sz="2000" b="0" i="1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=</m:t>
                      </m:r>
                      <m:r>
                        <a:rPr lang="en-US" altLang="ko-KR" sz="2000" i="1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2</m:t>
                      </m:r>
                      <m:sSup>
                        <m:sSupPr>
                          <m:ctrlPr>
                            <a:rPr lang="en-US" altLang="ko-KR" sz="20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ko-KR" sz="2000" b="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altLang="ko-KR" sz="2000" b="0" i="1" smtClean="0">
                                      <a:ln w="9525">
                                        <a:solidFill>
                                          <a:schemeClr val="tx1">
                                            <a:alpha val="29000"/>
                                          </a:schemeClr>
                                        </a:solidFill>
                                      </a:ln>
                                      <a:latin typeface="Cambria Math" panose="02040503050406030204" pitchFamily="18" charset="0"/>
                                      <a:ea typeface="맑은 고딕"/>
                                      <a:cs typeface="Times New Roman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altLang="ko-KR" sz="2000" b="0" i="1" smtClean="0">
                                          <a:ln w="9525">
                                            <a:solidFill>
                                              <a:schemeClr val="tx1">
                                                <a:alpha val="29000"/>
                                              </a:schemeClr>
                                            </a:solidFill>
                                          </a:ln>
                                          <a:latin typeface="Cambria Math" panose="02040503050406030204" pitchFamily="18" charset="0"/>
                                          <a:ea typeface="맑은 고딕"/>
                                          <a:cs typeface="Times New Roman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ko-KR" sz="2000" b="0" i="1" smtClean="0">
                                          <a:ln w="9525">
                                            <a:solidFill>
                                              <a:schemeClr val="tx1">
                                                <a:alpha val="29000"/>
                                              </a:schemeClr>
                                            </a:solidFill>
                                          </a:ln>
                                          <a:latin typeface="Cambria Math" panose="02040503050406030204" pitchFamily="18" charset="0"/>
                                          <a:ea typeface="맑은 고딕"/>
                                          <a:cs typeface="Times New Roman"/>
                                        </a:rPr>
                                        <m:t>𝑚</m:t>
                                      </m:r>
                                    </m:e>
                                    <m:sub>
                                      <m:r>
                                        <a:rPr lang="en-US" altLang="ko-KR" sz="2000" b="0" i="1" smtClean="0">
                                          <a:ln w="9525">
                                            <a:solidFill>
                                              <a:schemeClr val="tx1">
                                                <a:alpha val="29000"/>
                                              </a:schemeClr>
                                            </a:solidFill>
                                          </a:ln>
                                          <a:latin typeface="Cambria Math" panose="02040503050406030204" pitchFamily="18" charset="0"/>
                                          <a:ea typeface="맑은 고딕"/>
                                          <a:cs typeface="Times New Roman"/>
                                        </a:rPr>
                                        <m:t>𝑒</m:t>
                                      </m:r>
                                    </m:sub>
                                  </m:sSub>
                                  <m:r>
                                    <a:rPr lang="en-US" altLang="ko-KR" sz="2000" b="0" i="1" smtClean="0">
                                      <a:ln w="9525">
                                        <a:solidFill>
                                          <a:schemeClr val="tx1">
                                            <a:alpha val="29000"/>
                                          </a:schemeClr>
                                        </a:solidFill>
                                      </a:ln>
                                      <a:latin typeface="Cambria Math" panose="02040503050406030204" pitchFamily="18" charset="0"/>
                                      <a:ea typeface="맑은 고딕"/>
                                      <a:cs typeface="Times New Roman"/>
                                    </a:rPr>
                                    <m:t>𝑘𝑇</m:t>
                                  </m:r>
                                </m:num>
                                <m:den>
                                  <m:sSup>
                                    <m:sSupPr>
                                      <m:ctrlPr>
                                        <a:rPr lang="en-US" altLang="ko-KR" sz="2000" b="0" i="1" smtClean="0">
                                          <a:ln w="9525">
                                            <a:solidFill>
                                              <a:schemeClr val="tx1">
                                                <a:alpha val="29000"/>
                                              </a:schemeClr>
                                            </a:solidFill>
                                          </a:ln>
                                          <a:latin typeface="Cambria Math" panose="02040503050406030204" pitchFamily="18" charset="0"/>
                                          <a:ea typeface="맑은 고딕"/>
                                          <a:cs typeface="Times New Roman"/>
                                        </a:rPr>
                                      </m:ctrlPr>
                                    </m:sSup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altLang="ko-KR" sz="2000" b="0" i="1" smtClean="0">
                                          <a:ln w="9525">
                                            <a:solidFill>
                                              <a:schemeClr val="tx1">
                                                <a:alpha val="29000"/>
                                              </a:schemeClr>
                                            </a:solidFill>
                                          </a:ln>
                                          <a:latin typeface="Cambria Math" panose="02040503050406030204" pitchFamily="18" charset="0"/>
                                          <a:ea typeface="맑은 고딕"/>
                                          <a:cs typeface="Times New Roman"/>
                                        </a:rPr>
                                        <m:t>ℏ</m:t>
                                      </m:r>
                                    </m:e>
                                    <m:sup>
                                      <m:r>
                                        <a:rPr lang="en-US" altLang="ko-KR" sz="2000" b="0" i="1" smtClean="0">
                                          <a:ln w="9525">
                                            <a:solidFill>
                                              <a:schemeClr val="tx1">
                                                <a:alpha val="29000"/>
                                              </a:schemeClr>
                                            </a:solidFill>
                                          </a:ln>
                                          <a:latin typeface="Cambria Math" panose="02040503050406030204" pitchFamily="18" charset="0"/>
                                          <a:ea typeface="맑은 고딕"/>
                                          <a:cs typeface="Times New Roman"/>
                                        </a:rPr>
                                        <m:t>2</m:t>
                                      </m:r>
                                    </m:sup>
                                  </m:sSup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en-US" altLang="ko-KR" sz="20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1.5</m:t>
                          </m:r>
                        </m:sup>
                      </m:sSup>
                      <m:sSub>
                        <m:sSubPr>
                          <m:ctrlPr>
                            <a:rPr lang="en-US" altLang="ko-KR" sz="20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</m:ctrlPr>
                        </m:sSubPr>
                        <m:e>
                          <m:r>
                            <a:rPr lang="en-US" altLang="ko-KR" sz="20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𝑔</m:t>
                          </m:r>
                        </m:e>
                        <m:sub>
                          <m:r>
                            <a:rPr lang="en-US" altLang="ko-KR" sz="20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𝑐</m:t>
                          </m:r>
                        </m:sub>
                      </m:sSub>
                      <m:r>
                        <a:rPr lang="en-US" altLang="ko-KR" sz="2000" b="0" i="1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 ⋅</m:t>
                      </m:r>
                      <m:f>
                        <m:fPr>
                          <m:ctrlPr>
                            <a:rPr lang="en-US" altLang="ko-KR" sz="20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</m:ctrlPr>
                        </m:fPr>
                        <m:num>
                          <m:r>
                            <a:rPr lang="en-US" altLang="ko-KR" sz="20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2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altLang="ko-KR" sz="2000" b="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altLang="ko-KR" sz="2000" b="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  <m:t>𝜋</m:t>
                              </m:r>
                            </m:e>
                          </m:rad>
                        </m:den>
                      </m:f>
                      <m:r>
                        <a:rPr lang="en-US" altLang="ko-KR" sz="2000" b="0" i="1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 </m:t>
                      </m:r>
                      <m:d>
                        <m:dPr>
                          <m:ctrlPr>
                            <a:rPr lang="en-US" altLang="ko-KR" sz="20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</m:ctrlPr>
                        </m:dPr>
                        <m:e>
                          <m:r>
                            <a:rPr lang="en-US" altLang="ko-KR" sz="20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1 − </m:t>
                          </m:r>
                          <m:sSub>
                            <m:sSubPr>
                              <m:ctrlPr>
                                <a:rPr lang="en-US" altLang="ko-KR" sz="2000" b="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</m:ctrlPr>
                            </m:sSubPr>
                            <m:e>
                              <m:r>
                                <a:rPr lang="en-US" altLang="ko-KR" sz="2000" b="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altLang="ko-KR" sz="2000" b="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  <m:t>1</m:t>
                              </m:r>
                              <m:r>
                                <m:rPr>
                                  <m:lit/>
                                </m:rPr>
                                <a:rPr lang="en-US" altLang="ko-KR" sz="2000" b="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  <m:t>/</m:t>
                              </m:r>
                              <m:r>
                                <a:rPr lang="en-US" altLang="ko-KR" sz="2000" b="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  <m:t>2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ko-KR" sz="2000" b="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altLang="ko-KR" sz="2000" b="0" i="1" smtClean="0">
                                      <a:ln w="9525">
                                        <a:solidFill>
                                          <a:schemeClr val="tx1">
                                            <a:alpha val="29000"/>
                                          </a:schemeClr>
                                        </a:solidFill>
                                      </a:ln>
                                      <a:latin typeface="Cambria Math" panose="02040503050406030204" pitchFamily="18" charset="0"/>
                                      <a:ea typeface="맑은 고딕"/>
                                      <a:cs typeface="Times New Roman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altLang="ko-KR" sz="2000" b="0" i="1" smtClean="0">
                                          <a:ln w="9525">
                                            <a:solidFill>
                                              <a:schemeClr val="tx1">
                                                <a:alpha val="29000"/>
                                              </a:schemeClr>
                                            </a:solidFill>
                                          </a:ln>
                                          <a:latin typeface="Cambria Math" panose="02040503050406030204" pitchFamily="18" charset="0"/>
                                          <a:ea typeface="맑은 고딕"/>
                                          <a:cs typeface="Times New Roman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ko-KR" sz="2000" b="0" i="1" smtClean="0">
                                          <a:ln w="9525">
                                            <a:solidFill>
                                              <a:schemeClr val="tx1">
                                                <a:alpha val="29000"/>
                                              </a:schemeClr>
                                            </a:solidFill>
                                          </a:ln>
                                          <a:latin typeface="Cambria Math" panose="02040503050406030204" pitchFamily="18" charset="0"/>
                                          <a:ea typeface="맑은 고딕"/>
                                          <a:cs typeface="Times New Roman"/>
                                        </a:rPr>
                                        <m:t>𝐸</m:t>
                                      </m:r>
                                    </m:e>
                                    <m:sub>
                                      <m:r>
                                        <a:rPr lang="en-US" altLang="ko-KR" sz="2000" b="0" i="1" smtClean="0">
                                          <a:ln w="9525">
                                            <a:solidFill>
                                              <a:schemeClr val="tx1">
                                                <a:alpha val="29000"/>
                                              </a:schemeClr>
                                            </a:solidFill>
                                          </a:ln>
                                          <a:latin typeface="Cambria Math" panose="02040503050406030204" pitchFamily="18" charset="0"/>
                                          <a:ea typeface="맑은 고딕"/>
                                          <a:cs typeface="Times New Roman"/>
                                        </a:rPr>
                                        <m:t>𝐹</m:t>
                                      </m:r>
                                    </m:sub>
                                  </m:sSub>
                                  <m:r>
                                    <a:rPr lang="en-US" altLang="ko-KR" sz="2000" b="0" i="1" smtClean="0">
                                      <a:ln w="9525">
                                        <a:solidFill>
                                          <a:schemeClr val="tx1">
                                            <a:alpha val="29000"/>
                                          </a:schemeClr>
                                        </a:solidFill>
                                      </a:ln>
                                      <a:latin typeface="Cambria Math" panose="02040503050406030204" pitchFamily="18" charset="0"/>
                                      <a:ea typeface="맑은 고딕"/>
                                      <a:cs typeface="Times New Roman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altLang="ko-KR" sz="2000" b="0" i="1" smtClean="0">
                                          <a:ln w="9525">
                                            <a:solidFill>
                                              <a:schemeClr val="tx1">
                                                <a:alpha val="29000"/>
                                              </a:schemeClr>
                                            </a:solidFill>
                                          </a:ln>
                                          <a:latin typeface="Cambria Math" panose="02040503050406030204" pitchFamily="18" charset="0"/>
                                          <a:ea typeface="맑은 고딕"/>
                                          <a:cs typeface="Times New Roman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ko-KR" sz="2000" b="0" i="1" smtClean="0">
                                          <a:ln w="9525">
                                            <a:solidFill>
                                              <a:schemeClr val="tx1">
                                                <a:alpha val="29000"/>
                                              </a:schemeClr>
                                            </a:solidFill>
                                          </a:ln>
                                          <a:latin typeface="Cambria Math" panose="02040503050406030204" pitchFamily="18" charset="0"/>
                                          <a:ea typeface="맑은 고딕"/>
                                          <a:cs typeface="Times New Roman"/>
                                        </a:rPr>
                                        <m:t>𝐸</m:t>
                                      </m:r>
                                    </m:e>
                                    <m:sub>
                                      <m:r>
                                        <a:rPr lang="en-US" altLang="ko-KR" sz="2000" b="0" i="1" smtClean="0">
                                          <a:ln w="9525">
                                            <a:solidFill>
                                              <a:schemeClr val="tx1">
                                                <a:alpha val="29000"/>
                                              </a:schemeClr>
                                            </a:solidFill>
                                          </a:ln>
                                          <a:latin typeface="Cambria Math" panose="02040503050406030204" pitchFamily="18" charset="0"/>
                                          <a:ea typeface="맑은 고딕"/>
                                          <a:cs typeface="Times New Roman"/>
                                        </a:rPr>
                                        <m:t>𝐶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en-US" altLang="ko-KR" sz="2000" b="0" i="1" smtClean="0">
                                      <a:ln w="9525">
                                        <a:solidFill>
                                          <a:schemeClr val="tx1">
                                            <a:alpha val="29000"/>
                                          </a:schemeClr>
                                        </a:solidFill>
                                      </a:ln>
                                      <a:latin typeface="Cambria Math" panose="02040503050406030204" pitchFamily="18" charset="0"/>
                                      <a:ea typeface="맑은 고딕"/>
                                      <a:cs typeface="Times New Roman"/>
                                    </a:rPr>
                                    <m:t>𝑘𝑇</m:t>
                                  </m:r>
                                </m:den>
                              </m:f>
                            </m:e>
                          </m:d>
                        </m:e>
                      </m:d>
                    </m:oMath>
                  </a14:m>
                  <a:r>
                    <a:rPr lang="en-US" altLang="ko-KR" sz="2000" b="0" dirty="0">
                      <a:ln w="9525">
                        <a:solidFill>
                          <a:schemeClr val="tx1">
                            <a:alpha val="29000"/>
                          </a:schemeClr>
                        </a:solidFill>
                      </a:ln>
                      <a:latin typeface="Times New Roman"/>
                      <a:ea typeface="맑은 고딕"/>
                      <a:cs typeface="Times New Roman"/>
                    </a:rPr>
                    <a:t> </a:t>
                  </a:r>
                  <a:br>
                    <a:rPr lang="en-US" altLang="ko-KR" sz="2000" b="0" dirty="0">
                      <a:ln w="9525">
                        <a:solidFill>
                          <a:schemeClr val="tx1">
                            <a:alpha val="29000"/>
                          </a:schemeClr>
                        </a:solidFill>
                      </a:ln>
                      <a:latin typeface="Times New Roman"/>
                      <a:ea typeface="맑은 고딕"/>
                      <a:cs typeface="Times New Roman"/>
                    </a:rPr>
                  </a:br>
                  <a:r>
                    <a:rPr lang="en-US" altLang="ko-KR" sz="2000" b="0" dirty="0">
                      <a:ln w="9525">
                        <a:solidFill>
                          <a:schemeClr val="tx1">
                            <a:alpha val="29000"/>
                          </a:schemeClr>
                        </a:solidFill>
                      </a:ln>
                      <a:latin typeface="Times New Roman"/>
                      <a:ea typeface="맑은 고딕"/>
                      <a:cs typeface="Times New Roman"/>
                    </a:rPr>
                    <a:t>	    </a:t>
                  </a:r>
                  <a14:m>
                    <m:oMath xmlns:m="http://schemas.openxmlformats.org/officeDocument/2006/math">
                      <m:r>
                        <a:rPr lang="en-US" altLang="ko-KR" sz="2000" b="0" i="1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×</m:t>
                      </m:r>
                      <m:f>
                        <m:fPr>
                          <m:ctrlPr>
                            <a:rPr lang="en-US" altLang="ko-KR" sz="20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</m:ctrlPr>
                        </m:fPr>
                        <m:num>
                          <m:r>
                            <a:rPr lang="en-US" altLang="ko-KR" sz="20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𝜋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altLang="ko-KR" sz="20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ℏ</m:t>
                          </m:r>
                        </m:den>
                      </m:f>
                      <m:r>
                        <a:rPr lang="en-US" altLang="ko-KR" sz="2000" b="0" i="1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 </m:t>
                      </m:r>
                      <m:r>
                        <a:rPr lang="en-US" altLang="ko-KR" sz="2000" b="0" i="1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𝑆</m:t>
                      </m:r>
                      <m:sSup>
                        <m:sSupPr>
                          <m:ctrlPr>
                            <a:rPr lang="en-US" altLang="ko-KR" sz="20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ko-KR" sz="2000" b="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</m:ctrlPr>
                            </m:dPr>
                            <m:e>
                              <m:r>
                                <a:rPr lang="en-US" altLang="ko-KR" sz="2000" b="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  <m:t>1−</m:t>
                              </m:r>
                              <m:f>
                                <m:fPr>
                                  <m:ctrlPr>
                                    <a:rPr lang="en-US" altLang="ko-KR" sz="2000" b="0" i="1" smtClean="0">
                                      <a:ln w="9525">
                                        <a:solidFill>
                                          <a:schemeClr val="tx1">
                                            <a:alpha val="29000"/>
                                          </a:schemeClr>
                                        </a:solidFill>
                                      </a:ln>
                                      <a:latin typeface="Cambria Math" panose="02040503050406030204" pitchFamily="18" charset="0"/>
                                      <a:ea typeface="맑은 고딕"/>
                                      <a:cs typeface="Times New Roman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ko-KR" sz="2000" b="0" i="1" smtClean="0">
                                      <a:ln w="9525">
                                        <a:solidFill>
                                          <a:schemeClr val="tx1">
                                            <a:alpha val="29000"/>
                                          </a:schemeClr>
                                        </a:solidFill>
                                      </a:ln>
                                      <a:latin typeface="Cambria Math" panose="02040503050406030204" pitchFamily="18" charset="0"/>
                                      <a:ea typeface="맑은 고딕"/>
                                      <a:cs typeface="Times New Roman"/>
                                    </a:rPr>
                                    <m:t>𝑝</m:t>
                                  </m:r>
                                </m:num>
                                <m:den>
                                  <m:r>
                                    <a:rPr lang="en-US" altLang="ko-KR" sz="2000" b="0" i="1" smtClean="0">
                                      <a:ln w="9525">
                                        <a:solidFill>
                                          <a:schemeClr val="tx1">
                                            <a:alpha val="29000"/>
                                          </a:schemeClr>
                                        </a:solidFill>
                                      </a:ln>
                                      <a:latin typeface="Cambria Math" panose="02040503050406030204" pitchFamily="18" charset="0"/>
                                      <a:ea typeface="맑은 고딕"/>
                                      <a:cs typeface="Times New Roman"/>
                                    </a:rPr>
                                    <m:t>𝑆</m:t>
                                  </m:r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en-US" altLang="ko-KR" sz="20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2</m:t>
                          </m:r>
                        </m:sup>
                      </m:sSup>
                      <m:r>
                        <a:rPr lang="en-US" altLang="ko-KR" sz="2000" b="0" i="1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 2</m:t>
                      </m:r>
                      <m:r>
                        <a:rPr lang="en-US" altLang="ko-KR" sz="2000" b="0" i="1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𝜋</m:t>
                      </m:r>
                      <m:r>
                        <a:rPr lang="en-US" altLang="ko-KR" sz="2000" b="0" i="1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𝑆</m:t>
                      </m:r>
                      <m:sSup>
                        <m:sSupPr>
                          <m:ctrlPr>
                            <a:rPr lang="en-US" altLang="ko-KR" sz="20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ko-KR" sz="2000" b="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altLang="ko-KR" sz="2000" b="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  <m:t>ℏ</m:t>
                              </m:r>
                              <m:r>
                                <a:rPr lang="en-US" altLang="ko-KR" sz="2000" b="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  <m:t>𝜔</m:t>
                              </m:r>
                            </m:e>
                          </m:d>
                        </m:e>
                        <m:sup>
                          <m:r>
                            <a:rPr lang="en-US" altLang="ko-KR" sz="20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2</m:t>
                          </m:r>
                        </m:sup>
                      </m:sSup>
                      <m:sSub>
                        <m:sSubPr>
                          <m:ctrlPr>
                            <a:rPr lang="en-US" altLang="ko-KR" sz="20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</m:ctrlPr>
                        </m:sSubPr>
                        <m:e>
                          <m:r>
                            <a:rPr lang="en-US" altLang="ko-KR" sz="20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𝑉</m:t>
                          </m:r>
                        </m:e>
                        <m:sub>
                          <m:r>
                            <a:rPr lang="en-US" altLang="ko-KR" sz="20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𝑇</m:t>
                          </m:r>
                        </m:sub>
                      </m:sSub>
                    </m:oMath>
                  </a14:m>
                  <a:r>
                    <a:rPr lang="en-US" altLang="ko-KR" sz="2000" b="0" dirty="0">
                      <a:ln w="9525">
                        <a:solidFill>
                          <a:schemeClr val="tx1">
                            <a:alpha val="29000"/>
                          </a:schemeClr>
                        </a:solidFill>
                      </a:ln>
                      <a:latin typeface="Times New Roman"/>
                      <a:ea typeface="맑은 고딕"/>
                      <a:cs typeface="Times New Roman"/>
                    </a:rPr>
                    <a:t> </a:t>
                  </a:r>
                </a:p>
                <a:p>
                  <a:r>
                    <a:rPr lang="en-US" altLang="ko-KR" sz="2000" b="0" dirty="0">
                      <a:ln w="9525">
                        <a:solidFill>
                          <a:schemeClr val="tx1">
                            <a:alpha val="29000"/>
                          </a:schemeClr>
                        </a:solidFill>
                      </a:ln>
                      <a:ea typeface="맑은 고딕"/>
                      <a:cs typeface="Times New Roman"/>
                    </a:rPr>
                    <a:t>	    </a:t>
                  </a:r>
                  <a14:m>
                    <m:oMath xmlns:m="http://schemas.openxmlformats.org/officeDocument/2006/math">
                      <m:r>
                        <a:rPr lang="en-US" altLang="ko-KR" sz="2000" b="0" i="1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×</m:t>
                      </m:r>
                      <m:f>
                        <m:fPr>
                          <m:ctrlPr>
                            <a:rPr lang="en-US" altLang="ko-KR" sz="20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</m:ctrlPr>
                        </m:fPr>
                        <m:num>
                          <m:r>
                            <a:rPr lang="en-US" altLang="ko-KR" sz="20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altLang="ko-KR" sz="2000" b="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altLang="ko-KR" sz="2000" b="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  <m:t>2</m:t>
                              </m:r>
                              <m:r>
                                <a:rPr lang="en-US" altLang="ko-KR" sz="2000" b="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  <m:t>𝜋</m:t>
                              </m:r>
                            </m:e>
                          </m:rad>
                          <m:r>
                            <m:rPr>
                              <m:sty m:val="p"/>
                            </m:rPr>
                            <a:rPr lang="en-US" altLang="ko-KR" sz="20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ℏ</m:t>
                          </m:r>
                          <m:r>
                            <a:rPr lang="en-US" altLang="ko-KR" sz="20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𝜔</m:t>
                          </m:r>
                        </m:den>
                      </m:f>
                      <m:f>
                        <m:fPr>
                          <m:ctrlPr>
                            <a:rPr lang="en-US" altLang="ko-KR" sz="20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</m:ctrlPr>
                        </m:fPr>
                        <m:num>
                          <m:r>
                            <a:rPr lang="en-US" altLang="ko-KR" sz="20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altLang="ko-KR" sz="2000" b="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altLang="ko-KR" sz="2000" b="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  <m:t>𝜒</m:t>
                              </m:r>
                            </m:e>
                          </m:rad>
                        </m:den>
                      </m:f>
                      <m:r>
                        <a:rPr lang="en-US" altLang="ko-KR" sz="2000" b="0" i="1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 </m:t>
                      </m:r>
                      <m:sSup>
                        <m:sSupPr>
                          <m:ctrlPr>
                            <a:rPr lang="en-US" altLang="ko-KR" sz="20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ko-KR" sz="2000" b="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altLang="ko-KR" sz="2000" b="0" i="1" smtClean="0">
                                      <a:ln w="9525">
                                        <a:solidFill>
                                          <a:schemeClr val="tx1">
                                            <a:alpha val="29000"/>
                                          </a:schemeClr>
                                        </a:solidFill>
                                      </a:ln>
                                      <a:latin typeface="Cambria Math" panose="02040503050406030204" pitchFamily="18" charset="0"/>
                                      <a:ea typeface="맑은 고딕"/>
                                      <a:cs typeface="Times New Roman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ko-KR" sz="2000" b="0" i="1" smtClean="0">
                                      <a:ln w="9525">
                                        <a:solidFill>
                                          <a:schemeClr val="tx1">
                                            <a:alpha val="29000"/>
                                          </a:schemeClr>
                                        </a:solidFill>
                                      </a:ln>
                                      <a:latin typeface="Cambria Math" panose="02040503050406030204" pitchFamily="18" charset="0"/>
                                      <a:ea typeface="맑은 고딕"/>
                                      <a:cs typeface="Times New Roman"/>
                                    </a:rPr>
                                    <m:t>𝜉</m:t>
                                  </m:r>
                                </m:num>
                                <m:den>
                                  <m:r>
                                    <a:rPr lang="en-US" altLang="ko-KR" sz="2000" b="0" i="1" smtClean="0">
                                      <a:ln w="9525">
                                        <a:solidFill>
                                          <a:schemeClr val="tx1">
                                            <a:alpha val="29000"/>
                                          </a:schemeClr>
                                        </a:solidFill>
                                      </a:ln>
                                      <a:latin typeface="Cambria Math" panose="02040503050406030204" pitchFamily="18" charset="0"/>
                                      <a:ea typeface="맑은 고딕"/>
                                      <a:cs typeface="Times New Roman"/>
                                    </a:rPr>
                                    <m:t>𝑝</m:t>
                                  </m:r>
                                  <m:r>
                                    <a:rPr lang="en-US" altLang="ko-KR" sz="2000" b="0" i="1" smtClean="0">
                                      <a:ln w="9525">
                                        <a:solidFill>
                                          <a:schemeClr val="tx1">
                                            <a:alpha val="29000"/>
                                          </a:schemeClr>
                                        </a:solidFill>
                                      </a:ln>
                                      <a:latin typeface="Cambria Math" panose="02040503050406030204" pitchFamily="18" charset="0"/>
                                      <a:ea typeface="맑은 고딕"/>
                                      <a:cs typeface="Times New Roman"/>
                                    </a:rPr>
                                    <m:t>+</m:t>
                                  </m:r>
                                  <m:r>
                                    <a:rPr lang="en-US" altLang="ko-KR" sz="2000" b="0" i="1" smtClean="0">
                                      <a:ln w="9525">
                                        <a:solidFill>
                                          <a:schemeClr val="tx1">
                                            <a:alpha val="29000"/>
                                          </a:schemeClr>
                                        </a:solidFill>
                                      </a:ln>
                                      <a:latin typeface="Cambria Math" panose="02040503050406030204" pitchFamily="18" charset="0"/>
                                      <a:ea typeface="맑은 고딕"/>
                                      <a:cs typeface="Times New Roman"/>
                                    </a:rPr>
                                    <m:t>𝜒</m:t>
                                  </m:r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en-US" altLang="ko-KR" sz="20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𝑝</m:t>
                          </m:r>
                        </m:sup>
                      </m:sSup>
                      <m:func>
                        <m:funcPr>
                          <m:ctrlPr>
                            <a:rPr lang="en-US" altLang="ko-KR" sz="2000" b="0" i="0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ko-KR" sz="2000" b="0" i="0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altLang="ko-KR" sz="2000" b="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</m:ctrlPr>
                            </m:dPr>
                            <m:e>
                              <m:r>
                                <a:rPr lang="en-US" altLang="ko-KR" sz="2000" b="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  <m:t>𝜒</m:t>
                              </m:r>
                              <m:r>
                                <a:rPr lang="en-US" altLang="ko-KR" sz="2000" b="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  <m:t>−</m:t>
                              </m:r>
                              <m:d>
                                <m:dPr>
                                  <m:ctrlPr>
                                    <a:rPr lang="en-US" altLang="ko-KR" sz="2000" b="0" i="1" smtClean="0">
                                      <a:ln w="9525">
                                        <a:solidFill>
                                          <a:schemeClr val="tx1">
                                            <a:alpha val="29000"/>
                                          </a:schemeClr>
                                        </a:solidFill>
                                      </a:ln>
                                      <a:latin typeface="Cambria Math" panose="02040503050406030204" pitchFamily="18" charset="0"/>
                                      <a:ea typeface="맑은 고딕"/>
                                      <a:cs typeface="Times New Roman"/>
                                    </a:rPr>
                                  </m:ctrlPr>
                                </m:dPr>
                                <m:e>
                                  <m:r>
                                    <a:rPr lang="en-US" altLang="ko-KR" sz="2000" b="0" i="1" smtClean="0">
                                      <a:ln w="9525">
                                        <a:solidFill>
                                          <a:schemeClr val="tx1">
                                            <a:alpha val="29000"/>
                                          </a:schemeClr>
                                        </a:solidFill>
                                      </a:ln>
                                      <a:latin typeface="Cambria Math" panose="02040503050406030204" pitchFamily="18" charset="0"/>
                                      <a:ea typeface="맑은 고딕"/>
                                      <a:cs typeface="Times New Roman"/>
                                    </a:rPr>
                                    <m:t>2</m:t>
                                  </m:r>
                                  <m:sSub>
                                    <m:sSubPr>
                                      <m:ctrlPr>
                                        <a:rPr lang="en-US" altLang="ko-KR" sz="2000" b="0" i="1" smtClean="0">
                                          <a:ln w="9525">
                                            <a:solidFill>
                                              <a:schemeClr val="tx1">
                                                <a:alpha val="29000"/>
                                              </a:schemeClr>
                                            </a:solidFill>
                                          </a:ln>
                                          <a:latin typeface="Cambria Math" panose="02040503050406030204" pitchFamily="18" charset="0"/>
                                          <a:ea typeface="맑은 고딕"/>
                                          <a:cs typeface="Times New Roman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ko-KR" sz="2000" b="0" i="1" smtClean="0">
                                          <a:ln w="9525">
                                            <a:solidFill>
                                              <a:schemeClr val="tx1">
                                                <a:alpha val="29000"/>
                                              </a:schemeClr>
                                            </a:solidFill>
                                          </a:ln>
                                          <a:latin typeface="Cambria Math" panose="02040503050406030204" pitchFamily="18" charset="0"/>
                                          <a:ea typeface="맑은 고딕"/>
                                          <a:cs typeface="Times New Roman"/>
                                        </a:rPr>
                                        <m:t>𝑓</m:t>
                                      </m:r>
                                    </m:e>
                                    <m:sub>
                                      <m:r>
                                        <a:rPr lang="en-US" altLang="ko-KR" sz="2000" b="0" i="1" smtClean="0">
                                          <a:ln w="9525">
                                            <a:solidFill>
                                              <a:schemeClr val="tx1">
                                                <a:alpha val="29000"/>
                                              </a:schemeClr>
                                            </a:solidFill>
                                          </a:ln>
                                          <a:latin typeface="Cambria Math" panose="02040503050406030204" pitchFamily="18" charset="0"/>
                                          <a:ea typeface="맑은 고딕"/>
                                          <a:cs typeface="Times New Roman"/>
                                        </a:rPr>
                                        <m:t>𝐵</m:t>
                                      </m:r>
                                    </m:sub>
                                  </m:sSub>
                                  <m:r>
                                    <a:rPr lang="en-US" altLang="ko-KR" sz="2000" b="0" i="1" smtClean="0">
                                      <a:ln w="9525">
                                        <a:solidFill>
                                          <a:schemeClr val="tx1">
                                            <a:alpha val="29000"/>
                                          </a:schemeClr>
                                        </a:solidFill>
                                      </a:ln>
                                      <a:latin typeface="Cambria Math" panose="02040503050406030204" pitchFamily="18" charset="0"/>
                                      <a:ea typeface="맑은 고딕"/>
                                      <a:cs typeface="Times New Roman"/>
                                    </a:rPr>
                                    <m:t>+1</m:t>
                                  </m:r>
                                </m:e>
                              </m:d>
                              <m:r>
                                <a:rPr lang="en-US" altLang="ko-KR" sz="2000" b="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  <m:t>𝑆</m:t>
                              </m:r>
                              <m:r>
                                <a:rPr lang="en-US" altLang="ko-KR" sz="2000" b="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en-US" altLang="ko-KR" sz="2000" b="0" i="1" smtClean="0">
                                      <a:ln w="9525">
                                        <a:solidFill>
                                          <a:schemeClr val="tx1">
                                            <a:alpha val="29000"/>
                                          </a:schemeClr>
                                        </a:solidFill>
                                      </a:ln>
                                      <a:latin typeface="Cambria Math" panose="02040503050406030204" pitchFamily="18" charset="0"/>
                                      <a:ea typeface="맑은 고딕"/>
                                      <a:cs typeface="Times New Roman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ko-KR" sz="2000" b="0" i="1" smtClean="0">
                                      <a:ln w="9525">
                                        <a:solidFill>
                                          <a:schemeClr val="tx1">
                                            <a:alpha val="29000"/>
                                          </a:schemeClr>
                                        </a:solidFill>
                                      </a:ln>
                                      <a:latin typeface="Cambria Math" panose="02040503050406030204" pitchFamily="18" charset="0"/>
                                      <a:ea typeface="맑은 고딕"/>
                                      <a:cs typeface="Times New Roman"/>
                                    </a:rPr>
                                    <m:t>𝑝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altLang="ko-KR" sz="2000" b="0" i="1" smtClean="0">
                                      <a:ln w="9525">
                                        <a:solidFill>
                                          <a:schemeClr val="tx1">
                                            <a:alpha val="29000"/>
                                          </a:schemeClr>
                                        </a:solidFill>
                                      </a:ln>
                                      <a:latin typeface="Cambria Math" panose="02040503050406030204" pitchFamily="18" charset="0"/>
                                      <a:ea typeface="맑은 고딕"/>
                                      <a:cs typeface="Times New Roman"/>
                                    </a:rPr>
                                    <m:t>ℏ</m:t>
                                  </m:r>
                                  <m:r>
                                    <a:rPr lang="en-US" altLang="ko-KR" sz="2000" b="0" i="1" smtClean="0">
                                      <a:ln w="9525">
                                        <a:solidFill>
                                          <a:schemeClr val="tx1">
                                            <a:alpha val="29000"/>
                                          </a:schemeClr>
                                        </a:solidFill>
                                      </a:ln>
                                      <a:latin typeface="Cambria Math" panose="02040503050406030204" pitchFamily="18" charset="0"/>
                                      <a:ea typeface="맑은 고딕"/>
                                      <a:cs typeface="Times New Roman"/>
                                    </a:rPr>
                                    <m:t>𝜔</m:t>
                                  </m:r>
                                </m:num>
                                <m:den>
                                  <m:r>
                                    <a:rPr lang="en-US" altLang="ko-KR" sz="2000" b="0" i="1" smtClean="0">
                                      <a:ln w="9525">
                                        <a:solidFill>
                                          <a:schemeClr val="tx1">
                                            <a:alpha val="29000"/>
                                          </a:schemeClr>
                                        </a:solidFill>
                                      </a:ln>
                                      <a:latin typeface="Cambria Math" panose="02040503050406030204" pitchFamily="18" charset="0"/>
                                      <a:ea typeface="맑은 고딕"/>
                                      <a:cs typeface="Times New Roman"/>
                                    </a:rPr>
                                    <m:t>2</m:t>
                                  </m:r>
                                  <m:r>
                                    <a:rPr lang="en-US" altLang="ko-KR" sz="2000" b="0" i="1" smtClean="0">
                                      <a:ln w="9525">
                                        <a:solidFill>
                                          <a:schemeClr val="tx1">
                                            <a:alpha val="29000"/>
                                          </a:schemeClr>
                                        </a:solidFill>
                                      </a:ln>
                                      <a:latin typeface="Cambria Math" panose="02040503050406030204" pitchFamily="18" charset="0"/>
                                      <a:ea typeface="맑은 고딕"/>
                                      <a:cs typeface="Times New Roman"/>
                                    </a:rPr>
                                    <m:t>𝑘𝑇</m:t>
                                  </m:r>
                                </m:den>
                              </m:f>
                            </m:e>
                          </m:d>
                        </m:e>
                      </m:func>
                      <m:r>
                        <a:rPr lang="en-US" altLang="ko-KR" sz="2000" b="0" i="1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 </m:t>
                      </m:r>
                    </m:oMath>
                  </a14:m>
                  <a:r>
                    <a:rPr lang="en-US" altLang="ko-KR" sz="2000" b="0" dirty="0">
                      <a:ln w="9525">
                        <a:solidFill>
                          <a:schemeClr val="tx1">
                            <a:alpha val="29000"/>
                          </a:schemeClr>
                        </a:solidFill>
                      </a:ln>
                      <a:latin typeface="Times New Roman"/>
                      <a:ea typeface="맑은 고딕"/>
                      <a:cs typeface="Times New Roman"/>
                    </a:rPr>
                    <a:t> </a:t>
                  </a:r>
                </a:p>
                <a:p>
                  <a:r>
                    <a:rPr lang="en-US" altLang="ko-KR" sz="2000" dirty="0">
                      <a:ln w="9525">
                        <a:solidFill>
                          <a:schemeClr val="tx1">
                            <a:alpha val="29000"/>
                          </a:schemeClr>
                        </a:solidFill>
                      </a:ln>
                      <a:latin typeface="Times New Roman"/>
                      <a:ea typeface="맑은 고딕"/>
                      <a:cs typeface="Times New Roman"/>
                    </a:rPr>
                    <a:t>	   </a:t>
                  </a:r>
                  <a14:m>
                    <m:oMath xmlns:m="http://schemas.openxmlformats.org/officeDocument/2006/math">
                      <m:r>
                        <a:rPr lang="en-US" altLang="ko-KR" sz="2000" b="0" i="1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×</m:t>
                      </m:r>
                      <m:d>
                        <m:dPr>
                          <m:begChr m:val="|"/>
                          <m:endChr m:val="|"/>
                          <m:ctrlPr>
                            <a:rPr lang="en-US" altLang="ko-KR" sz="20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</m:ctrlPr>
                        </m:dPr>
                        <m:e>
                          <m:r>
                            <a:rPr lang="en-US" altLang="ko-KR" sz="20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𝑇𝐶</m:t>
                          </m:r>
                        </m:e>
                      </m:d>
                    </m:oMath>
                  </a14:m>
                  <a:endParaRPr lang="ko-KR" altLang="en-US" sz="20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endParaRPr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93D526B8-6E6E-FA01-62A5-D0F6A0B3BC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7455" y="4244849"/>
                  <a:ext cx="6399401" cy="1936749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41D042F6-DFD5-A9E2-E066-60CEAFE9A2A1}"/>
                </a:ext>
              </a:extLst>
            </p:cNvPr>
            <p:cNvSpPr txBox="1"/>
            <p:nvPr/>
          </p:nvSpPr>
          <p:spPr>
            <a:xfrm>
              <a:off x="5462435" y="4905879"/>
              <a:ext cx="336823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20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rPr>
                <a:t>nonradiative </a:t>
              </a:r>
              <a:r>
                <a:rPr lang="en-US" altLang="ko-KR" sz="2000" dirty="0" err="1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rPr>
                <a:t>multiphonon</a:t>
              </a:r>
              <a:r>
                <a:rPr lang="en-US" altLang="ko-KR" sz="20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rPr>
                <a:t> term</a:t>
              </a:r>
              <a:endPara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endParaRPr>
            </a:p>
          </p:txBody>
        </p:sp>
      </p:grpSp>
      <p:sp>
        <p:nvSpPr>
          <p:cNvPr id="91" name="TextBox 90">
            <a:extLst>
              <a:ext uri="{FF2B5EF4-FFF2-40B4-BE49-F238E27FC236}">
                <a16:creationId xmlns:a16="http://schemas.microsoft.com/office/drawing/2014/main" id="{ACDE97B5-0570-3FD3-EE80-C845C427F3A7}"/>
              </a:ext>
            </a:extLst>
          </p:cNvPr>
          <p:cNvSpPr txBox="1"/>
          <p:nvPr/>
        </p:nvSpPr>
        <p:spPr>
          <a:xfrm>
            <a:off x="5382529" y="1909762"/>
            <a:ext cx="3283076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Tx/>
              <a:buChar char="-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Phonon-assisted emission model</a:t>
            </a:r>
          </a:p>
          <a:p>
            <a:pPr marL="342900" indent="-342900">
              <a:buFontTx/>
              <a:buChar char="-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Transmission coefficient transition level adaptable 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grpSp>
        <p:nvGrpSpPr>
          <p:cNvPr id="90" name="그룹 89">
            <a:extLst>
              <a:ext uri="{FF2B5EF4-FFF2-40B4-BE49-F238E27FC236}">
                <a16:creationId xmlns:a16="http://schemas.microsoft.com/office/drawing/2014/main" id="{6B20529E-86B1-8F89-C9FD-7E143B69AD1F}"/>
              </a:ext>
            </a:extLst>
          </p:cNvPr>
          <p:cNvGrpSpPr/>
          <p:nvPr/>
        </p:nvGrpSpPr>
        <p:grpSpPr>
          <a:xfrm>
            <a:off x="755508" y="1649304"/>
            <a:ext cx="4455658" cy="2168715"/>
            <a:chOff x="1444707" y="1680162"/>
            <a:chExt cx="4455658" cy="2168715"/>
          </a:xfrm>
        </p:grpSpPr>
        <p:sp>
          <p:nvSpPr>
            <p:cNvPr id="10" name="자유형: 도형 9">
              <a:extLst>
                <a:ext uri="{FF2B5EF4-FFF2-40B4-BE49-F238E27FC236}">
                  <a16:creationId xmlns:a16="http://schemas.microsoft.com/office/drawing/2014/main" id="{E90ABCB6-AC77-8948-5E0E-FA696EEA42E5}"/>
                </a:ext>
              </a:extLst>
            </p:cNvPr>
            <p:cNvSpPr/>
            <p:nvPr/>
          </p:nvSpPr>
          <p:spPr>
            <a:xfrm>
              <a:off x="1444707" y="1680162"/>
              <a:ext cx="2339069" cy="1943099"/>
            </a:xfrm>
            <a:custGeom>
              <a:avLst/>
              <a:gdLst>
                <a:gd name="csX0" fmla="*/ 0 w 1378477"/>
                <a:gd name="csY0" fmla="*/ 1145121 h 1145121"/>
                <a:gd name="csX1" fmla="*/ 379771 w 1378477"/>
                <a:gd name="csY1" fmla="*/ 1141379 h 1145121"/>
                <a:gd name="csX2" fmla="*/ 379771 w 1378477"/>
                <a:gd name="csY2" fmla="*/ 311285 h 1145121"/>
                <a:gd name="csX3" fmla="*/ 1378477 w 1378477"/>
                <a:gd name="csY3" fmla="*/ 0 h 11451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378477" h="1145121">
                  <a:moveTo>
                    <a:pt x="0" y="1145121"/>
                  </a:moveTo>
                  <a:lnTo>
                    <a:pt x="379771" y="1141379"/>
                  </a:lnTo>
                  <a:lnTo>
                    <a:pt x="379771" y="311285"/>
                  </a:lnTo>
                  <a:lnTo>
                    <a:pt x="1378477" y="0"/>
                  </a:lnTo>
                </a:path>
              </a:pathLst>
            </a:custGeom>
            <a:noFill/>
            <a:ln w="28575"/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21" name="그림 20">
              <a:extLst>
                <a:ext uri="{FF2B5EF4-FFF2-40B4-BE49-F238E27FC236}">
                  <a16:creationId xmlns:a16="http://schemas.microsoft.com/office/drawing/2014/main" id="{CA7A4F6C-036B-86EC-25AA-28DE3D4F084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909180" y="2734896"/>
              <a:ext cx="199966" cy="199966"/>
            </a:xfrm>
            <a:prstGeom prst="rect">
              <a:avLst/>
            </a:prstGeom>
          </p:spPr>
        </p:pic>
        <p:cxnSp>
          <p:nvCxnSpPr>
            <p:cNvPr id="23" name="직선 연결선 22">
              <a:extLst>
                <a:ext uri="{FF2B5EF4-FFF2-40B4-BE49-F238E27FC236}">
                  <a16:creationId xmlns:a16="http://schemas.microsoft.com/office/drawing/2014/main" id="{AF76D312-57A0-AC02-B35F-B989A1B1844B}"/>
                </a:ext>
              </a:extLst>
            </p:cNvPr>
            <p:cNvCxnSpPr>
              <a:cxnSpLocks/>
            </p:cNvCxnSpPr>
            <p:nvPr/>
          </p:nvCxnSpPr>
          <p:spPr>
            <a:xfrm>
              <a:off x="3016732" y="1797827"/>
              <a:ext cx="0" cy="2051050"/>
            </a:xfrm>
            <a:prstGeom prst="line">
              <a:avLst/>
            </a:prstGeom>
            <a:ln w="19050"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자유형: 도형 33">
              <a:extLst>
                <a:ext uri="{FF2B5EF4-FFF2-40B4-BE49-F238E27FC236}">
                  <a16:creationId xmlns:a16="http://schemas.microsoft.com/office/drawing/2014/main" id="{0AB65C56-9860-6407-8BB1-594B3BA5608E}"/>
                </a:ext>
              </a:extLst>
            </p:cNvPr>
            <p:cNvSpPr/>
            <p:nvPr/>
          </p:nvSpPr>
          <p:spPr>
            <a:xfrm rot="2277750">
              <a:off x="3064350" y="3081032"/>
              <a:ext cx="689771" cy="152427"/>
            </a:xfrm>
            <a:custGeom>
              <a:avLst/>
              <a:gdLst>
                <a:gd name="csX0" fmla="*/ 0 w 4330700"/>
                <a:gd name="csY0" fmla="*/ 76210 h 152427"/>
                <a:gd name="csX1" fmla="*/ 736600 w 4330700"/>
                <a:gd name="csY1" fmla="*/ 82560 h 152427"/>
                <a:gd name="csX2" fmla="*/ 1092200 w 4330700"/>
                <a:gd name="csY2" fmla="*/ 10 h 152427"/>
                <a:gd name="csX3" fmla="*/ 1454150 w 4330700"/>
                <a:gd name="csY3" fmla="*/ 76210 h 152427"/>
                <a:gd name="csX4" fmla="*/ 1809750 w 4330700"/>
                <a:gd name="csY4" fmla="*/ 146060 h 152427"/>
                <a:gd name="csX5" fmla="*/ 2171700 w 4330700"/>
                <a:gd name="csY5" fmla="*/ 82560 h 152427"/>
                <a:gd name="csX6" fmla="*/ 2533650 w 4330700"/>
                <a:gd name="csY6" fmla="*/ 6360 h 152427"/>
                <a:gd name="csX7" fmla="*/ 2889250 w 4330700"/>
                <a:gd name="csY7" fmla="*/ 76210 h 152427"/>
                <a:gd name="csX8" fmla="*/ 3251200 w 4330700"/>
                <a:gd name="csY8" fmla="*/ 152410 h 152427"/>
                <a:gd name="csX9" fmla="*/ 3613150 w 4330700"/>
                <a:gd name="csY9" fmla="*/ 82560 h 152427"/>
                <a:gd name="csX10" fmla="*/ 3968750 w 4330700"/>
                <a:gd name="csY10" fmla="*/ 6360 h 152427"/>
                <a:gd name="csX11" fmla="*/ 4330700 w 4330700"/>
                <a:gd name="csY11" fmla="*/ 82560 h 1524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4330700" h="152427">
                  <a:moveTo>
                    <a:pt x="0" y="76210"/>
                  </a:moveTo>
                  <a:cubicBezTo>
                    <a:pt x="277283" y="85735"/>
                    <a:pt x="554567" y="95260"/>
                    <a:pt x="736600" y="82560"/>
                  </a:cubicBezTo>
                  <a:cubicBezTo>
                    <a:pt x="918633" y="69860"/>
                    <a:pt x="972608" y="1068"/>
                    <a:pt x="1092200" y="10"/>
                  </a:cubicBezTo>
                  <a:cubicBezTo>
                    <a:pt x="1211792" y="-1048"/>
                    <a:pt x="1454150" y="76210"/>
                    <a:pt x="1454150" y="76210"/>
                  </a:cubicBezTo>
                  <a:cubicBezTo>
                    <a:pt x="1573742" y="100552"/>
                    <a:pt x="1690158" y="145002"/>
                    <a:pt x="1809750" y="146060"/>
                  </a:cubicBezTo>
                  <a:cubicBezTo>
                    <a:pt x="1929342" y="147118"/>
                    <a:pt x="2051050" y="105843"/>
                    <a:pt x="2171700" y="82560"/>
                  </a:cubicBezTo>
                  <a:cubicBezTo>
                    <a:pt x="2292350" y="59277"/>
                    <a:pt x="2414058" y="7418"/>
                    <a:pt x="2533650" y="6360"/>
                  </a:cubicBezTo>
                  <a:cubicBezTo>
                    <a:pt x="2653242" y="5302"/>
                    <a:pt x="2889250" y="76210"/>
                    <a:pt x="2889250" y="76210"/>
                  </a:cubicBezTo>
                  <a:cubicBezTo>
                    <a:pt x="3008842" y="100552"/>
                    <a:pt x="3130550" y="151352"/>
                    <a:pt x="3251200" y="152410"/>
                  </a:cubicBezTo>
                  <a:cubicBezTo>
                    <a:pt x="3371850" y="153468"/>
                    <a:pt x="3493558" y="106902"/>
                    <a:pt x="3613150" y="82560"/>
                  </a:cubicBezTo>
                  <a:cubicBezTo>
                    <a:pt x="3732742" y="58218"/>
                    <a:pt x="3849158" y="6360"/>
                    <a:pt x="3968750" y="6360"/>
                  </a:cubicBezTo>
                  <a:cubicBezTo>
                    <a:pt x="4088342" y="6360"/>
                    <a:pt x="4209521" y="44460"/>
                    <a:pt x="4330700" y="82560"/>
                  </a:cubicBezTo>
                </a:path>
              </a:pathLst>
            </a:custGeom>
            <a:noFill/>
            <a:ln>
              <a:headEnd type="triangle" w="med" len="med"/>
              <a:tailEnd type="none" w="med" len="med"/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6" name="자유형: 도형 35">
              <a:extLst>
                <a:ext uri="{FF2B5EF4-FFF2-40B4-BE49-F238E27FC236}">
                  <a16:creationId xmlns:a16="http://schemas.microsoft.com/office/drawing/2014/main" id="{F2A09C9F-648B-9CFC-3331-8D6BFE46B785}"/>
                </a:ext>
              </a:extLst>
            </p:cNvPr>
            <p:cNvSpPr/>
            <p:nvPr/>
          </p:nvSpPr>
          <p:spPr>
            <a:xfrm rot="8849146">
              <a:off x="2302695" y="3100378"/>
              <a:ext cx="689771" cy="152427"/>
            </a:xfrm>
            <a:custGeom>
              <a:avLst/>
              <a:gdLst>
                <a:gd name="csX0" fmla="*/ 0 w 4330700"/>
                <a:gd name="csY0" fmla="*/ 76210 h 152427"/>
                <a:gd name="csX1" fmla="*/ 736600 w 4330700"/>
                <a:gd name="csY1" fmla="*/ 82560 h 152427"/>
                <a:gd name="csX2" fmla="*/ 1092200 w 4330700"/>
                <a:gd name="csY2" fmla="*/ 10 h 152427"/>
                <a:gd name="csX3" fmla="*/ 1454150 w 4330700"/>
                <a:gd name="csY3" fmla="*/ 76210 h 152427"/>
                <a:gd name="csX4" fmla="*/ 1809750 w 4330700"/>
                <a:gd name="csY4" fmla="*/ 146060 h 152427"/>
                <a:gd name="csX5" fmla="*/ 2171700 w 4330700"/>
                <a:gd name="csY5" fmla="*/ 82560 h 152427"/>
                <a:gd name="csX6" fmla="*/ 2533650 w 4330700"/>
                <a:gd name="csY6" fmla="*/ 6360 h 152427"/>
                <a:gd name="csX7" fmla="*/ 2889250 w 4330700"/>
                <a:gd name="csY7" fmla="*/ 76210 h 152427"/>
                <a:gd name="csX8" fmla="*/ 3251200 w 4330700"/>
                <a:gd name="csY8" fmla="*/ 152410 h 152427"/>
                <a:gd name="csX9" fmla="*/ 3613150 w 4330700"/>
                <a:gd name="csY9" fmla="*/ 82560 h 152427"/>
                <a:gd name="csX10" fmla="*/ 3968750 w 4330700"/>
                <a:gd name="csY10" fmla="*/ 6360 h 152427"/>
                <a:gd name="csX11" fmla="*/ 4330700 w 4330700"/>
                <a:gd name="csY11" fmla="*/ 82560 h 1524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4330700" h="152427">
                  <a:moveTo>
                    <a:pt x="0" y="76210"/>
                  </a:moveTo>
                  <a:cubicBezTo>
                    <a:pt x="277283" y="85735"/>
                    <a:pt x="554567" y="95260"/>
                    <a:pt x="736600" y="82560"/>
                  </a:cubicBezTo>
                  <a:cubicBezTo>
                    <a:pt x="918633" y="69860"/>
                    <a:pt x="972608" y="1068"/>
                    <a:pt x="1092200" y="10"/>
                  </a:cubicBezTo>
                  <a:cubicBezTo>
                    <a:pt x="1211792" y="-1048"/>
                    <a:pt x="1454150" y="76210"/>
                    <a:pt x="1454150" y="76210"/>
                  </a:cubicBezTo>
                  <a:cubicBezTo>
                    <a:pt x="1573742" y="100552"/>
                    <a:pt x="1690158" y="145002"/>
                    <a:pt x="1809750" y="146060"/>
                  </a:cubicBezTo>
                  <a:cubicBezTo>
                    <a:pt x="1929342" y="147118"/>
                    <a:pt x="2051050" y="105843"/>
                    <a:pt x="2171700" y="82560"/>
                  </a:cubicBezTo>
                  <a:cubicBezTo>
                    <a:pt x="2292350" y="59277"/>
                    <a:pt x="2414058" y="7418"/>
                    <a:pt x="2533650" y="6360"/>
                  </a:cubicBezTo>
                  <a:cubicBezTo>
                    <a:pt x="2653242" y="5302"/>
                    <a:pt x="2889250" y="76210"/>
                    <a:pt x="2889250" y="76210"/>
                  </a:cubicBezTo>
                  <a:cubicBezTo>
                    <a:pt x="3008842" y="100552"/>
                    <a:pt x="3130550" y="151352"/>
                    <a:pt x="3251200" y="152410"/>
                  </a:cubicBezTo>
                  <a:cubicBezTo>
                    <a:pt x="3371850" y="153468"/>
                    <a:pt x="3493558" y="106902"/>
                    <a:pt x="3613150" y="82560"/>
                  </a:cubicBezTo>
                  <a:cubicBezTo>
                    <a:pt x="3732742" y="58218"/>
                    <a:pt x="3849158" y="6360"/>
                    <a:pt x="3968750" y="6360"/>
                  </a:cubicBezTo>
                  <a:cubicBezTo>
                    <a:pt x="4088342" y="6360"/>
                    <a:pt x="4209521" y="44460"/>
                    <a:pt x="4330700" y="82560"/>
                  </a:cubicBezTo>
                </a:path>
              </a:pathLst>
            </a:custGeom>
            <a:noFill/>
            <a:ln>
              <a:headEnd type="triangle" w="med" len="med"/>
              <a:tailEnd type="none" w="med" len="med"/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8" name="화살표: 굽음 37">
              <a:extLst>
                <a:ext uri="{FF2B5EF4-FFF2-40B4-BE49-F238E27FC236}">
                  <a16:creationId xmlns:a16="http://schemas.microsoft.com/office/drawing/2014/main" id="{8EC8FE2D-E4B1-4594-4E27-E2E5153BBE17}"/>
                </a:ext>
              </a:extLst>
            </p:cNvPr>
            <p:cNvSpPr/>
            <p:nvPr/>
          </p:nvSpPr>
          <p:spPr>
            <a:xfrm flipH="1">
              <a:off x="1968579" y="2495788"/>
              <a:ext cx="1073137" cy="239108"/>
            </a:xfrm>
            <a:prstGeom prst="bentArrow">
              <a:avLst>
                <a:gd name="adj1" fmla="val 12319"/>
                <a:gd name="adj2" fmla="val 14048"/>
                <a:gd name="adj3" fmla="val 27305"/>
                <a:gd name="adj4" fmla="val 43750"/>
              </a:avLst>
            </a:prstGeom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B57F5769-42C2-7487-0294-E49E9375D03C}"/>
                </a:ext>
              </a:extLst>
            </p:cNvPr>
            <p:cNvSpPr txBox="1"/>
            <p:nvPr/>
          </p:nvSpPr>
          <p:spPr>
            <a:xfrm>
              <a:off x="3252865" y="3306013"/>
              <a:ext cx="134684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2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rPr>
                <a:t>phonon interaction</a:t>
              </a:r>
              <a:endParaRPr lang="ko-KR" altLang="en-US" sz="12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endParaRP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86715BFF-FB43-F85A-4290-6051D53CD4E8}"/>
                </a:ext>
              </a:extLst>
            </p:cNvPr>
            <p:cNvSpPr txBox="1"/>
            <p:nvPr/>
          </p:nvSpPr>
          <p:spPr>
            <a:xfrm>
              <a:off x="3945984" y="2965780"/>
              <a:ext cx="195438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rPr>
                <a:t>: lattice phonon property</a:t>
              </a:r>
              <a:endParaRPr lang="ko-KR" altLang="en-US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TextBox 43">
                  <a:extLst>
                    <a:ext uri="{FF2B5EF4-FFF2-40B4-BE49-F238E27FC236}">
                      <a16:creationId xmlns:a16="http://schemas.microsoft.com/office/drawing/2014/main" id="{B6A1603A-3288-03BF-46A2-A8682C5D3A33}"/>
                    </a:ext>
                  </a:extLst>
                </p:cNvPr>
                <p:cNvSpPr txBox="1"/>
                <p:nvPr/>
              </p:nvSpPr>
              <p:spPr>
                <a:xfrm>
                  <a:off x="2302728" y="2165595"/>
                  <a:ext cx="46355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d>
                          <m:dPr>
                            <m:begChr m:val="|"/>
                            <m:endChr m:val="|"/>
                            <m:ctrlPr>
                              <a:rPr lang="en-US" altLang="ko-KR" sz="14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dPr>
                          <m:e>
                            <m:r>
                              <a:rPr lang="en-US" altLang="ko-KR" sz="14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𝑇𝐶</m:t>
                            </m:r>
                          </m:e>
                        </m:d>
                      </m:oMath>
                    </m:oMathPara>
                  </a14:m>
                  <a:endParaRPr lang="ko-KR" altLang="en-US" sz="1200" dirty="0"/>
                </a:p>
              </p:txBody>
            </p:sp>
          </mc:Choice>
          <mc:Fallback xmlns="">
            <p:sp>
              <p:nvSpPr>
                <p:cNvPr id="44" name="TextBox 43">
                  <a:extLst>
                    <a:ext uri="{FF2B5EF4-FFF2-40B4-BE49-F238E27FC236}">
                      <a16:creationId xmlns:a16="http://schemas.microsoft.com/office/drawing/2014/main" id="{B6A1603A-3288-03BF-46A2-A8682C5D3A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02728" y="2165595"/>
                  <a:ext cx="463550" cy="307777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6" name="직선 연결선 45">
              <a:extLst>
                <a:ext uri="{FF2B5EF4-FFF2-40B4-BE49-F238E27FC236}">
                  <a16:creationId xmlns:a16="http://schemas.microsoft.com/office/drawing/2014/main" id="{0F44357A-8C7A-8278-3231-426ED9311E48}"/>
                </a:ext>
              </a:extLst>
            </p:cNvPr>
            <p:cNvCxnSpPr>
              <a:cxnSpLocks/>
            </p:cNvCxnSpPr>
            <p:nvPr/>
          </p:nvCxnSpPr>
          <p:spPr>
            <a:xfrm>
              <a:off x="2766278" y="2834879"/>
              <a:ext cx="726299" cy="0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직선 연결선 48">
              <a:extLst>
                <a:ext uri="{FF2B5EF4-FFF2-40B4-BE49-F238E27FC236}">
                  <a16:creationId xmlns:a16="http://schemas.microsoft.com/office/drawing/2014/main" id="{CC9021B7-7EAA-EC19-D782-C72830243DE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01927" y="2143179"/>
              <a:ext cx="235378" cy="24519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직선 연결선 49">
              <a:extLst>
                <a:ext uri="{FF2B5EF4-FFF2-40B4-BE49-F238E27FC236}">
                  <a16:creationId xmlns:a16="http://schemas.microsoft.com/office/drawing/2014/main" id="{DAEF7956-B3F6-F7E7-8870-D20C9EA0798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00447" y="2111275"/>
              <a:ext cx="345053" cy="35944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직선 연결선 51">
              <a:extLst>
                <a:ext uri="{FF2B5EF4-FFF2-40B4-BE49-F238E27FC236}">
                  <a16:creationId xmlns:a16="http://schemas.microsoft.com/office/drawing/2014/main" id="{DE77B706-31CE-1F48-B2BA-E349BA28401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02823" y="2041343"/>
              <a:ext cx="164942" cy="171823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직선 연결선 52">
              <a:extLst>
                <a:ext uri="{FF2B5EF4-FFF2-40B4-BE49-F238E27FC236}">
                  <a16:creationId xmlns:a16="http://schemas.microsoft.com/office/drawing/2014/main" id="{F291DA89-5FDB-CDE7-CF1A-4CDE6D43B32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80390" y="1999925"/>
              <a:ext cx="204701" cy="21324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직선 연결선 53">
              <a:extLst>
                <a:ext uri="{FF2B5EF4-FFF2-40B4-BE49-F238E27FC236}">
                  <a16:creationId xmlns:a16="http://schemas.microsoft.com/office/drawing/2014/main" id="{FD0F03F2-4FE7-A807-04C9-6CAD9C8E07B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67608" y="1958507"/>
              <a:ext cx="234809" cy="244605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직선 연결선 54">
              <a:extLst>
                <a:ext uri="{FF2B5EF4-FFF2-40B4-BE49-F238E27FC236}">
                  <a16:creationId xmlns:a16="http://schemas.microsoft.com/office/drawing/2014/main" id="{D5166EEC-3FE6-E82B-1601-699D055A143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759924" y="1917089"/>
              <a:ext cx="259817" cy="270656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직선 연결선 55">
              <a:extLst>
                <a:ext uri="{FF2B5EF4-FFF2-40B4-BE49-F238E27FC236}">
                  <a16:creationId xmlns:a16="http://schemas.microsoft.com/office/drawing/2014/main" id="{46C85FAF-24E5-FC9B-E1B2-3DDFCBACDDC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50703" y="2065612"/>
              <a:ext cx="422608" cy="44023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직선 연결선 56">
              <a:extLst>
                <a:ext uri="{FF2B5EF4-FFF2-40B4-BE49-F238E27FC236}">
                  <a16:creationId xmlns:a16="http://schemas.microsoft.com/office/drawing/2014/main" id="{BC3F05E7-D992-99CA-5A88-C8BE80D5A49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84151" y="2404479"/>
              <a:ext cx="97312" cy="101372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직선 연결선 57">
              <a:extLst>
                <a:ext uri="{FF2B5EF4-FFF2-40B4-BE49-F238E27FC236}">
                  <a16:creationId xmlns:a16="http://schemas.microsoft.com/office/drawing/2014/main" id="{D188B6CE-314F-7F47-1142-7F1E140FFDE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17599" y="2414651"/>
              <a:ext cx="87548" cy="912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직선 연결선 58">
              <a:extLst>
                <a:ext uri="{FF2B5EF4-FFF2-40B4-BE49-F238E27FC236}">
                  <a16:creationId xmlns:a16="http://schemas.microsoft.com/office/drawing/2014/main" id="{23899F8C-9477-399B-EF30-BE6E0787809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51047" y="2407392"/>
              <a:ext cx="94516" cy="9845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직선 연결선 59">
              <a:extLst>
                <a:ext uri="{FF2B5EF4-FFF2-40B4-BE49-F238E27FC236}">
                  <a16:creationId xmlns:a16="http://schemas.microsoft.com/office/drawing/2014/main" id="{3DE139ED-F7F9-259A-3BB9-15A7CF2E000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84495" y="2176962"/>
              <a:ext cx="315718" cy="32888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직선 연결선 60">
              <a:extLst>
                <a:ext uri="{FF2B5EF4-FFF2-40B4-BE49-F238E27FC236}">
                  <a16:creationId xmlns:a16="http://schemas.microsoft.com/office/drawing/2014/main" id="{47A3A07B-326D-ED8C-E76D-57C5BD1EEC1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17942" y="2322937"/>
              <a:ext cx="175589" cy="18291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직선 연결선 75">
              <a:extLst>
                <a:ext uri="{FF2B5EF4-FFF2-40B4-BE49-F238E27FC236}">
                  <a16:creationId xmlns:a16="http://schemas.microsoft.com/office/drawing/2014/main" id="{66456F8B-BF51-B312-D115-780E518B7A9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752887" y="2041271"/>
              <a:ext cx="259817" cy="270656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직선 화살표 연결선 77">
              <a:extLst>
                <a:ext uri="{FF2B5EF4-FFF2-40B4-BE49-F238E27FC236}">
                  <a16:creationId xmlns:a16="http://schemas.microsoft.com/office/drawing/2014/main" id="{33C661DD-A4F6-0418-727B-141EDB97B08A}"/>
                </a:ext>
              </a:extLst>
            </p:cNvPr>
            <p:cNvCxnSpPr>
              <a:cxnSpLocks/>
              <a:endCxn id="21" idx="3"/>
            </p:cNvCxnSpPr>
            <p:nvPr/>
          </p:nvCxnSpPr>
          <p:spPr>
            <a:xfrm>
              <a:off x="3105020" y="1907248"/>
              <a:ext cx="4126" cy="927631"/>
            </a:xfrm>
            <a:prstGeom prst="straightConnector1">
              <a:avLst/>
            </a:prstGeom>
            <a:ln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D07933EA-89CC-DCD7-61A7-BD5F8F103A61}"/>
                </a:ext>
              </a:extLst>
            </p:cNvPr>
            <p:cNvSpPr txBox="1"/>
            <p:nvPr/>
          </p:nvSpPr>
          <p:spPr>
            <a:xfrm>
              <a:off x="3048409" y="1931195"/>
              <a:ext cx="34176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2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rPr>
                <a:t>E</a:t>
              </a:r>
              <a:r>
                <a:rPr lang="en-US" altLang="ko-KR" sz="1200" baseline="-250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rPr>
                <a:t>T</a:t>
              </a:r>
              <a:endParaRPr lang="ko-KR" altLang="en-US" sz="1200" baseline="-25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endParaRPr>
            </a:p>
          </p:txBody>
        </p:sp>
        <p:cxnSp>
          <p:nvCxnSpPr>
            <p:cNvPr id="81" name="직선 연결선 80">
              <a:extLst>
                <a:ext uri="{FF2B5EF4-FFF2-40B4-BE49-F238E27FC236}">
                  <a16:creationId xmlns:a16="http://schemas.microsoft.com/office/drawing/2014/main" id="{0242CEEA-01AE-3DE0-7B21-7662FA8EE00D}"/>
                </a:ext>
              </a:extLst>
            </p:cNvPr>
            <p:cNvCxnSpPr>
              <a:cxnSpLocks/>
            </p:cNvCxnSpPr>
            <p:nvPr/>
          </p:nvCxnSpPr>
          <p:spPr>
            <a:xfrm>
              <a:off x="2830770" y="2514203"/>
              <a:ext cx="661807" cy="0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4" name="TextBox 83">
                  <a:extLst>
                    <a:ext uri="{FF2B5EF4-FFF2-40B4-BE49-F238E27FC236}">
                      <a16:creationId xmlns:a16="http://schemas.microsoft.com/office/drawing/2014/main" id="{E102553B-6401-2989-08F8-C2D8D1E28EB0}"/>
                    </a:ext>
                  </a:extLst>
                </p:cNvPr>
                <p:cNvSpPr txBox="1"/>
                <p:nvPr/>
              </p:nvSpPr>
              <p:spPr>
                <a:xfrm>
                  <a:off x="3303365" y="2526263"/>
                  <a:ext cx="517770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𝑝</m:t>
                        </m:r>
                        <m:r>
                          <m:rPr>
                            <m:sty m:val="p"/>
                          </m:rPr>
                          <a:rPr lang="en-US" altLang="ko-KR" sz="120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ℏ</m:t>
                        </m:r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𝑤</m:t>
                        </m:r>
                      </m:oMath>
                    </m:oMathPara>
                  </a14:m>
                  <a:endParaRPr lang="ko-KR" altLang="en-US" sz="12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endParaRPr>
                </a:p>
              </p:txBody>
            </p:sp>
          </mc:Choice>
          <mc:Fallback xmlns="">
            <p:sp>
              <p:nvSpPr>
                <p:cNvPr id="84" name="TextBox 83">
                  <a:extLst>
                    <a:ext uri="{FF2B5EF4-FFF2-40B4-BE49-F238E27FC236}">
                      <a16:creationId xmlns:a16="http://schemas.microsoft.com/office/drawing/2014/main" id="{E102553B-6401-2989-08F8-C2D8D1E28EB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03365" y="2526263"/>
                  <a:ext cx="517770" cy="276999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5" name="직선 화살표 연결선 84">
              <a:extLst>
                <a:ext uri="{FF2B5EF4-FFF2-40B4-BE49-F238E27FC236}">
                  <a16:creationId xmlns:a16="http://schemas.microsoft.com/office/drawing/2014/main" id="{FF712E98-13E6-5AB0-9E01-2D3F39B69A76}"/>
                </a:ext>
              </a:extLst>
            </p:cNvPr>
            <p:cNvCxnSpPr>
              <a:cxnSpLocks/>
            </p:cNvCxnSpPr>
            <p:nvPr/>
          </p:nvCxnSpPr>
          <p:spPr>
            <a:xfrm>
              <a:off x="3327606" y="2505851"/>
              <a:ext cx="0" cy="329028"/>
            </a:xfrm>
            <a:prstGeom prst="straightConnector1">
              <a:avLst/>
            </a:prstGeom>
            <a:ln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7" name="TextBox 86">
                  <a:extLst>
                    <a:ext uri="{FF2B5EF4-FFF2-40B4-BE49-F238E27FC236}">
                      <a16:creationId xmlns:a16="http://schemas.microsoft.com/office/drawing/2014/main" id="{B0977DA1-26B6-24FA-7929-6100F6492F35}"/>
                    </a:ext>
                  </a:extLst>
                </p:cNvPr>
                <p:cNvSpPr txBox="1"/>
                <p:nvPr/>
              </p:nvSpPr>
              <p:spPr>
                <a:xfrm>
                  <a:off x="3527534" y="2982008"/>
                  <a:ext cx="568232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altLang="ko-KR" sz="14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𝑆</m:t>
                        </m:r>
                        <m:r>
                          <m:rPr>
                            <m:sty m:val="p"/>
                          </m:rPr>
                          <a:rPr lang="en-US" altLang="ko-KR" sz="140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ℏ</m:t>
                        </m:r>
                        <m:r>
                          <a:rPr lang="en-US" altLang="ko-KR" sz="14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𝑤</m:t>
                        </m:r>
                      </m:oMath>
                    </m:oMathPara>
                  </a14:m>
                  <a:endParaRPr lang="ko-KR" altLang="en-US" sz="14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endParaRPr>
                </a:p>
              </p:txBody>
            </p:sp>
          </mc:Choice>
          <mc:Fallback xmlns="">
            <p:sp>
              <p:nvSpPr>
                <p:cNvPr id="87" name="TextBox 86">
                  <a:extLst>
                    <a:ext uri="{FF2B5EF4-FFF2-40B4-BE49-F238E27FC236}">
                      <a16:creationId xmlns:a16="http://schemas.microsoft.com/office/drawing/2014/main" id="{B0977DA1-26B6-24FA-7929-6100F6492F3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27534" y="2982008"/>
                  <a:ext cx="568232" cy="307777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F3C3417D-C00C-4D42-8166-9DC2D4F507FC}"/>
                </a:ext>
              </a:extLst>
            </p:cNvPr>
            <p:cNvSpPr txBox="1"/>
            <p:nvPr/>
          </p:nvSpPr>
          <p:spPr>
            <a:xfrm>
              <a:off x="3657156" y="2495485"/>
              <a:ext cx="214186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rPr>
                <a:t>: electron energy activation</a:t>
              </a:r>
              <a:endParaRPr lang="ko-KR" altLang="en-US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endParaRPr>
            </a:p>
          </p:txBody>
        </p: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F2E24EC5-2505-8E09-1BDF-0B4EDB58DBA1}"/>
                </a:ext>
              </a:extLst>
            </p:cNvPr>
            <p:cNvSpPr txBox="1"/>
            <p:nvPr/>
          </p:nvSpPr>
          <p:spPr>
            <a:xfrm>
              <a:off x="3124369" y="2147388"/>
              <a:ext cx="155202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285750" indent="-285750">
                <a:buFont typeface="Symbol" panose="05050102010706020507" pitchFamily="18" charset="2"/>
                <a:buChar char="Þ"/>
              </a:pPr>
              <a:r>
                <a:rPr lang="en-US" altLang="ko-KR" sz="14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rPr>
                <a:t>adaptable |TC|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8224135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9FD99B-0E21-6080-CAD2-79C54CE70B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0DA5CD1-EE8C-5D8E-AA98-0EC71C6127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CTN </a:t>
            </a:r>
            <a:r>
              <a:rPr lang="en-US" altLang="ko-KR" dirty="0" err="1"/>
              <a:t>Detrapping</a:t>
            </a:r>
            <a:r>
              <a:rPr lang="en-US" altLang="ko-KR" dirty="0"/>
              <a:t> in Various Temperature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14AF138-89B4-27FF-1BDA-D43CB7EC019F}"/>
              </a:ext>
            </a:extLst>
          </p:cNvPr>
          <p:cNvSpPr txBox="1"/>
          <p:nvPr/>
        </p:nvSpPr>
        <p:spPr>
          <a:xfrm>
            <a:off x="228600" y="1840647"/>
            <a:ext cx="5226215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Tx/>
              <a:buChar char="-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Phonon assisted 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detrapping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emission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의 경우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,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기여도가 매우 작음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Elastic 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detrapping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emission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에서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temperature variation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은 </a:t>
            </a:r>
            <a:r>
              <a:rPr lang="ko-KR" altLang="en-US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있긴하나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매우 작음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graphicFrame>
        <p:nvGraphicFramePr>
          <p:cNvPr id="9" name="개체 8">
            <a:extLst>
              <a:ext uri="{FF2B5EF4-FFF2-40B4-BE49-F238E27FC236}">
                <a16:creationId xmlns:a16="http://schemas.microsoft.com/office/drawing/2014/main" id="{24F0979E-E2C8-96CA-C087-37BF312ED25A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73821564"/>
              </p:ext>
            </p:extLst>
          </p:nvPr>
        </p:nvGraphicFramePr>
        <p:xfrm>
          <a:off x="279471" y="4076566"/>
          <a:ext cx="3054113" cy="2146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2" imgW="4721592" imgH="3317966" progId="Origin50.Graph">
                  <p:embed/>
                </p:oleObj>
              </mc:Choice>
              <mc:Fallback>
                <p:oleObj name="Graph" r:id="rId2" imgW="4721592" imgH="3317966" progId="Origin50.Grap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279471" y="4076566"/>
                        <a:ext cx="3054113" cy="2146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" name="개체 10">
            <a:extLst>
              <a:ext uri="{FF2B5EF4-FFF2-40B4-BE49-F238E27FC236}">
                <a16:creationId xmlns:a16="http://schemas.microsoft.com/office/drawing/2014/main" id="{17AF2B09-60C4-CE3B-BB1F-0027B80CC2C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92734723"/>
              </p:ext>
            </p:extLst>
          </p:nvPr>
        </p:nvGraphicFramePr>
        <p:xfrm>
          <a:off x="3044430" y="4076566"/>
          <a:ext cx="3055140" cy="2146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4" imgW="4722409" imgH="3317966" progId="Origin50.Graph">
                  <p:embed/>
                </p:oleObj>
              </mc:Choice>
              <mc:Fallback>
                <p:oleObj name="Graph" r:id="rId4" imgW="4722409" imgH="3317966" progId="Origin50.Grap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3044430" y="4076566"/>
                        <a:ext cx="3055140" cy="2146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" name="개체 11">
            <a:extLst>
              <a:ext uri="{FF2B5EF4-FFF2-40B4-BE49-F238E27FC236}">
                <a16:creationId xmlns:a16="http://schemas.microsoft.com/office/drawing/2014/main" id="{D782B4F9-87F2-3740-BB2B-7CFD380630E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149188004"/>
              </p:ext>
            </p:extLst>
          </p:nvPr>
        </p:nvGraphicFramePr>
        <p:xfrm>
          <a:off x="5946144" y="4076567"/>
          <a:ext cx="3055140" cy="2146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6" imgW="4722409" imgH="3317966" progId="Origin50.Graph">
                  <p:embed/>
                </p:oleObj>
              </mc:Choice>
              <mc:Fallback>
                <p:oleObj name="Graph" r:id="rId6" imgW="4722409" imgH="3317966" progId="Origin50.Grap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5946144" y="4076567"/>
                        <a:ext cx="3055140" cy="2146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" name="개체 12">
            <a:extLst>
              <a:ext uri="{FF2B5EF4-FFF2-40B4-BE49-F238E27FC236}">
                <a16:creationId xmlns:a16="http://schemas.microsoft.com/office/drawing/2014/main" id="{FA0509ED-F779-D4B9-FD85-B8BFEF30E34B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369677"/>
              </p:ext>
            </p:extLst>
          </p:nvPr>
        </p:nvGraphicFramePr>
        <p:xfrm>
          <a:off x="5602323" y="1196057"/>
          <a:ext cx="3742782" cy="262938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8" imgW="4722409" imgH="3317966" progId="Origin50.Graph">
                  <p:embed/>
                </p:oleObj>
              </mc:Choice>
              <mc:Fallback>
                <p:oleObj name="Graph" r:id="rId8" imgW="4722409" imgH="3317966" progId="Origin50.Grap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5602323" y="1196057"/>
                        <a:ext cx="3742782" cy="262938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3A9B88DD-642B-9CF3-9001-AD1225153880}"/>
              </a:ext>
            </a:extLst>
          </p:cNvPr>
          <p:cNvSpPr txBox="1"/>
          <p:nvPr/>
        </p:nvSpPr>
        <p:spPr>
          <a:xfrm>
            <a:off x="228600" y="1098512"/>
            <a:ext cx="474283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BETOX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detrapping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in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temperature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Variation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66092693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19E756A-E44F-E0AA-9320-D7B3AF308A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Computational Impact</a:t>
            </a:r>
            <a:endParaRPr lang="ko-KR" altLang="en-US" dirty="0"/>
          </a:p>
        </p:txBody>
      </p:sp>
      <p:sp>
        <p:nvSpPr>
          <p:cNvPr id="5" name="Text 4">
            <a:extLst>
              <a:ext uri="{FF2B5EF4-FFF2-40B4-BE49-F238E27FC236}">
                <a16:creationId xmlns:a16="http://schemas.microsoft.com/office/drawing/2014/main" id="{4CD5D8C2-B9F6-A0F7-6221-3EEF51EFE7A4}"/>
              </a:ext>
            </a:extLst>
          </p:cNvPr>
          <p:cNvSpPr/>
          <p:nvPr/>
        </p:nvSpPr>
        <p:spPr>
          <a:xfrm>
            <a:off x="1678940" y="987552"/>
            <a:ext cx="1325880" cy="411480"/>
          </a:xfrm>
          <a:prstGeom prst="rect">
            <a:avLst/>
          </a:prstGeom>
          <a:solidFill>
            <a:srgbClr val="0D2B45"/>
          </a:solidFill>
          <a:ln w="9525">
            <a:solidFill>
              <a:srgbClr val="D7DEE8"/>
            </a:solidFill>
          </a:ln>
        </p:spPr>
        <p:txBody>
          <a:bodyPr wrap="square" lIns="635" tIns="635" rIns="635" bIns="635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Property</a:t>
            </a:r>
            <a:endParaRPr lang="en-US" dirty="0"/>
          </a:p>
        </p:txBody>
      </p:sp>
      <p:sp>
        <p:nvSpPr>
          <p:cNvPr id="6" name="Text 5">
            <a:extLst>
              <a:ext uri="{FF2B5EF4-FFF2-40B4-BE49-F238E27FC236}">
                <a16:creationId xmlns:a16="http://schemas.microsoft.com/office/drawing/2014/main" id="{CC292B0B-D34E-907E-C605-4BFBBE5B65D8}"/>
              </a:ext>
            </a:extLst>
          </p:cNvPr>
          <p:cNvSpPr/>
          <p:nvPr/>
        </p:nvSpPr>
        <p:spPr>
          <a:xfrm>
            <a:off x="3004820" y="987552"/>
            <a:ext cx="1965960" cy="411480"/>
          </a:xfrm>
          <a:prstGeom prst="rect">
            <a:avLst/>
          </a:prstGeom>
          <a:solidFill>
            <a:srgbClr val="0D2B45"/>
          </a:solidFill>
          <a:ln w="9525">
            <a:solidFill>
              <a:srgbClr val="D7DEE8"/>
            </a:solidFill>
          </a:ln>
        </p:spPr>
        <p:txBody>
          <a:bodyPr wrap="square" lIns="635" tIns="635" rIns="635" bIns="635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Transient TCAD</a:t>
            </a:r>
            <a:endParaRPr lang="en-US" dirty="0"/>
          </a:p>
        </p:txBody>
      </p:sp>
      <p:sp>
        <p:nvSpPr>
          <p:cNvPr id="7" name="Text 6">
            <a:extLst>
              <a:ext uri="{FF2B5EF4-FFF2-40B4-BE49-F238E27FC236}">
                <a16:creationId xmlns:a16="http://schemas.microsoft.com/office/drawing/2014/main" id="{0CAC4BE1-4759-0E57-69C3-F84F2E395A97}"/>
              </a:ext>
            </a:extLst>
          </p:cNvPr>
          <p:cNvSpPr/>
          <p:nvPr/>
        </p:nvSpPr>
        <p:spPr>
          <a:xfrm>
            <a:off x="4970780" y="987552"/>
            <a:ext cx="2468880" cy="411480"/>
          </a:xfrm>
          <a:prstGeom prst="rect">
            <a:avLst/>
          </a:prstGeom>
          <a:solidFill>
            <a:srgbClr val="0D2B45"/>
          </a:solidFill>
          <a:ln w="9525">
            <a:solidFill>
              <a:srgbClr val="D7DEE8"/>
            </a:solidFill>
          </a:ln>
        </p:spPr>
        <p:txBody>
          <a:bodyPr wrap="square" lIns="635" tIns="635" rIns="635" bIns="635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Time-step-free model</a:t>
            </a:r>
            <a:endParaRPr lang="en-US" dirty="0"/>
          </a:p>
        </p:txBody>
      </p:sp>
      <p:sp>
        <p:nvSpPr>
          <p:cNvPr id="8" name="Text 7">
            <a:extLst>
              <a:ext uri="{FF2B5EF4-FFF2-40B4-BE49-F238E27FC236}">
                <a16:creationId xmlns:a16="http://schemas.microsoft.com/office/drawing/2014/main" id="{74A61EC9-7FFD-4533-05C7-E035E49B4AA9}"/>
              </a:ext>
            </a:extLst>
          </p:cNvPr>
          <p:cNvSpPr/>
          <p:nvPr/>
        </p:nvSpPr>
        <p:spPr>
          <a:xfrm>
            <a:off x="1678940" y="1399032"/>
            <a:ext cx="1325880" cy="658368"/>
          </a:xfrm>
          <a:prstGeom prst="rect">
            <a:avLst/>
          </a:prstGeom>
          <a:solidFill>
            <a:srgbClr val="F6F8FB"/>
          </a:solidFill>
          <a:ln w="9525">
            <a:solidFill>
              <a:srgbClr val="D7DEE8"/>
            </a:solidFill>
          </a:ln>
        </p:spPr>
        <p:txBody>
          <a:bodyPr wrap="square" lIns="635" tIns="635" rIns="635" bIns="635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b="1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Temporal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treatment</a:t>
            </a:r>
            <a:endParaRPr lang="en-US" sz="1400" dirty="0"/>
          </a:p>
        </p:txBody>
      </p:sp>
      <p:sp>
        <p:nvSpPr>
          <p:cNvPr id="9" name="Text 8">
            <a:extLst>
              <a:ext uri="{FF2B5EF4-FFF2-40B4-BE49-F238E27FC236}">
                <a16:creationId xmlns:a16="http://schemas.microsoft.com/office/drawing/2014/main" id="{E9DE8736-7A8A-C50A-3017-6C1F863E93F0}"/>
              </a:ext>
            </a:extLst>
          </p:cNvPr>
          <p:cNvSpPr/>
          <p:nvPr/>
        </p:nvSpPr>
        <p:spPr>
          <a:xfrm>
            <a:off x="3004820" y="1399032"/>
            <a:ext cx="19659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7DEE8"/>
            </a:solidFill>
          </a:ln>
        </p:spPr>
        <p:txBody>
          <a:bodyPr wrap="square" lIns="635" tIns="635" rIns="635" bIns="635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Sequential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time stepping</a:t>
            </a:r>
            <a:endParaRPr lang="en-US" sz="1600" dirty="0"/>
          </a:p>
        </p:txBody>
      </p:sp>
      <p:sp>
        <p:nvSpPr>
          <p:cNvPr id="11" name="Text 10">
            <a:extLst>
              <a:ext uri="{FF2B5EF4-FFF2-40B4-BE49-F238E27FC236}">
                <a16:creationId xmlns:a16="http://schemas.microsoft.com/office/drawing/2014/main" id="{68E33C37-1795-66F9-5660-BBB19ED8B691}"/>
              </a:ext>
            </a:extLst>
          </p:cNvPr>
          <p:cNvSpPr/>
          <p:nvPr/>
        </p:nvSpPr>
        <p:spPr>
          <a:xfrm>
            <a:off x="1678940" y="2057400"/>
            <a:ext cx="1325880" cy="768096"/>
          </a:xfrm>
          <a:prstGeom prst="rect">
            <a:avLst/>
          </a:prstGeom>
          <a:solidFill>
            <a:srgbClr val="F6F8FB"/>
          </a:solidFill>
          <a:ln w="9525">
            <a:solidFill>
              <a:srgbClr val="D7DEE8"/>
            </a:solidFill>
          </a:ln>
        </p:spPr>
        <p:txBody>
          <a:bodyPr wrap="square" lIns="635" tIns="635" rIns="635" bIns="635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b="1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Final-time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dependence</a:t>
            </a:r>
            <a:endParaRPr lang="en-US" sz="1400" dirty="0"/>
          </a:p>
        </p:txBody>
      </p:sp>
      <p:sp>
        <p:nvSpPr>
          <p:cNvPr id="12" name="Text 11">
            <a:extLst>
              <a:ext uri="{FF2B5EF4-FFF2-40B4-BE49-F238E27FC236}">
                <a16:creationId xmlns:a16="http://schemas.microsoft.com/office/drawing/2014/main" id="{F7DC4FCC-0D75-763F-35C3-C1C4EE2BAA4F}"/>
              </a:ext>
            </a:extLst>
          </p:cNvPr>
          <p:cNvSpPr/>
          <p:nvPr/>
        </p:nvSpPr>
        <p:spPr>
          <a:xfrm>
            <a:off x="3004820" y="2057400"/>
            <a:ext cx="1965960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D7DEE8"/>
            </a:solidFill>
          </a:ln>
        </p:spPr>
        <p:txBody>
          <a:bodyPr wrap="square" lIns="635" tIns="635" rIns="635" bIns="635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00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Runtime grows as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simulated retention time increases</a:t>
            </a:r>
            <a:endParaRPr lang="en-US" sz="1200" dirty="0"/>
          </a:p>
        </p:txBody>
      </p:sp>
      <p:sp>
        <p:nvSpPr>
          <p:cNvPr id="13" name="Text 12">
            <a:extLst>
              <a:ext uri="{FF2B5EF4-FFF2-40B4-BE49-F238E27FC236}">
                <a16:creationId xmlns:a16="http://schemas.microsoft.com/office/drawing/2014/main" id="{2FE02911-90C1-620B-37B5-516FFEA285B3}"/>
              </a:ext>
            </a:extLst>
          </p:cNvPr>
          <p:cNvSpPr/>
          <p:nvPr/>
        </p:nvSpPr>
        <p:spPr>
          <a:xfrm>
            <a:off x="4970780" y="2057400"/>
            <a:ext cx="2468880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D7DEE8"/>
            </a:solidFill>
          </a:ln>
        </p:spPr>
        <p:txBody>
          <a:bodyPr wrap="square" lIns="635" tIns="635" rIns="635" bIns="635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b="1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Independent of final</a:t>
            </a:r>
            <a:endParaRPr lang="en-US" sz="1400" b="1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physical time for fixed queries</a:t>
            </a:r>
            <a:endParaRPr lang="en-US" sz="1400" b="1" dirty="0"/>
          </a:p>
        </p:txBody>
      </p:sp>
      <p:sp>
        <p:nvSpPr>
          <p:cNvPr id="14" name="Text 13">
            <a:extLst>
              <a:ext uri="{FF2B5EF4-FFF2-40B4-BE49-F238E27FC236}">
                <a16:creationId xmlns:a16="http://schemas.microsoft.com/office/drawing/2014/main" id="{49D174F1-A2EB-7C3A-60B1-3C29EC4E261C}"/>
              </a:ext>
            </a:extLst>
          </p:cNvPr>
          <p:cNvSpPr/>
          <p:nvPr/>
        </p:nvSpPr>
        <p:spPr>
          <a:xfrm>
            <a:off x="1678940" y="2825496"/>
            <a:ext cx="1325880" cy="603504"/>
          </a:xfrm>
          <a:prstGeom prst="rect">
            <a:avLst/>
          </a:prstGeom>
          <a:solidFill>
            <a:srgbClr val="F6F8FB"/>
          </a:solidFill>
          <a:ln w="9525">
            <a:solidFill>
              <a:srgbClr val="D7DEE8"/>
            </a:solidFill>
          </a:ln>
        </p:spPr>
        <p:txBody>
          <a:bodyPr wrap="square" lIns="635" tIns="635" rIns="635" bIns="635" rtlCol="0" anchor="ctr">
            <a:no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b="1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Average</a:t>
            </a:r>
          </a:p>
          <a:p>
            <a:pPr marL="0" indent="0" algn="ctr">
              <a:buNone/>
            </a:pPr>
            <a:r>
              <a:rPr lang="en-US" sz="1400" b="1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runtime</a:t>
            </a:r>
            <a:endParaRPr lang="en-US" sz="1400" dirty="0"/>
          </a:p>
        </p:txBody>
      </p:sp>
      <p:sp>
        <p:nvSpPr>
          <p:cNvPr id="15" name="Text 14">
            <a:extLst>
              <a:ext uri="{FF2B5EF4-FFF2-40B4-BE49-F238E27FC236}">
                <a16:creationId xmlns:a16="http://schemas.microsoft.com/office/drawing/2014/main" id="{C5677FC9-B3AA-9449-57E9-50B3E482C8F1}"/>
              </a:ext>
            </a:extLst>
          </p:cNvPr>
          <p:cNvSpPr/>
          <p:nvPr/>
        </p:nvSpPr>
        <p:spPr>
          <a:xfrm>
            <a:off x="3004820" y="2825496"/>
            <a:ext cx="196596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D7DEE8"/>
            </a:solidFill>
          </a:ln>
        </p:spPr>
        <p:txBody>
          <a:bodyPr wrap="square" lIns="635" tIns="635" rIns="635" bIns="635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b="1" dirty="0">
                <a:solidFill>
                  <a:srgbClr val="5C667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27483 s</a:t>
            </a:r>
            <a:endParaRPr lang="en-US" sz="2400" dirty="0"/>
          </a:p>
        </p:txBody>
      </p:sp>
      <p:sp>
        <p:nvSpPr>
          <p:cNvPr id="16" name="Text 15">
            <a:extLst>
              <a:ext uri="{FF2B5EF4-FFF2-40B4-BE49-F238E27FC236}">
                <a16:creationId xmlns:a16="http://schemas.microsoft.com/office/drawing/2014/main" id="{6EB728DA-214C-44E4-E603-837D7618C767}"/>
              </a:ext>
            </a:extLst>
          </p:cNvPr>
          <p:cNvSpPr/>
          <p:nvPr/>
        </p:nvSpPr>
        <p:spPr>
          <a:xfrm>
            <a:off x="4970780" y="2825496"/>
            <a:ext cx="246888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D7DEE8"/>
            </a:solidFill>
          </a:ln>
        </p:spPr>
        <p:txBody>
          <a:bodyPr wrap="square" lIns="635" tIns="635" rIns="635" bIns="635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3.926 s</a:t>
            </a:r>
            <a:endParaRPr lang="en-US" sz="2400" dirty="0"/>
          </a:p>
        </p:txBody>
      </p:sp>
      <p:sp>
        <p:nvSpPr>
          <p:cNvPr id="10" name="Text 9">
            <a:extLst>
              <a:ext uri="{FF2B5EF4-FFF2-40B4-BE49-F238E27FC236}">
                <a16:creationId xmlns:a16="http://schemas.microsoft.com/office/drawing/2014/main" id="{B04CC522-EDC8-597E-28D2-84CE8A293807}"/>
              </a:ext>
            </a:extLst>
          </p:cNvPr>
          <p:cNvSpPr/>
          <p:nvPr/>
        </p:nvSpPr>
        <p:spPr>
          <a:xfrm>
            <a:off x="4806315" y="1355175"/>
            <a:ext cx="2797810" cy="746082"/>
          </a:xfrm>
          <a:prstGeom prst="rect">
            <a:avLst/>
          </a:prstGeom>
          <a:solidFill>
            <a:srgbClr val="FFFFFF"/>
          </a:solidFill>
          <a:ln w="9525">
            <a:solidFill>
              <a:srgbClr val="D7DEE8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635" tIns="635" rIns="635" bIns="635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Closed-form evaluation</a:t>
            </a:r>
            <a:endParaRPr lang="en-US" sz="1600" dirty="0"/>
          </a:p>
        </p:txBody>
      </p:sp>
      <p:sp>
        <p:nvSpPr>
          <p:cNvPr id="17" name="자유형: 도형 16">
            <a:extLst>
              <a:ext uri="{FF2B5EF4-FFF2-40B4-BE49-F238E27FC236}">
                <a16:creationId xmlns:a16="http://schemas.microsoft.com/office/drawing/2014/main" id="{7859EE1C-ABE7-24EC-F8B1-5EEDAA8EDA66}"/>
              </a:ext>
            </a:extLst>
          </p:cNvPr>
          <p:cNvSpPr/>
          <p:nvPr/>
        </p:nvSpPr>
        <p:spPr>
          <a:xfrm>
            <a:off x="4254500" y="3306735"/>
            <a:ext cx="1460500" cy="286857"/>
          </a:xfrm>
          <a:custGeom>
            <a:avLst/>
            <a:gdLst>
              <a:gd name="csX0" fmla="*/ 0 w 1460500"/>
              <a:gd name="csY0" fmla="*/ 0 h 457598"/>
              <a:gd name="csX1" fmla="*/ 787400 w 1460500"/>
              <a:gd name="csY1" fmla="*/ 457200 h 457598"/>
              <a:gd name="csX2" fmla="*/ 1460500 w 1460500"/>
              <a:gd name="csY2" fmla="*/ 63500 h 45759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460500" h="457598">
                <a:moveTo>
                  <a:pt x="0" y="0"/>
                </a:moveTo>
                <a:cubicBezTo>
                  <a:pt x="271991" y="223308"/>
                  <a:pt x="543983" y="446617"/>
                  <a:pt x="787400" y="457200"/>
                </a:cubicBezTo>
                <a:cubicBezTo>
                  <a:pt x="1030817" y="467783"/>
                  <a:pt x="1245658" y="265641"/>
                  <a:pt x="1460500" y="63500"/>
                </a:cubicBezTo>
              </a:path>
            </a:pathLst>
          </a:custGeom>
          <a:noFill/>
          <a:ln>
            <a:headEnd type="none" w="med" len="med"/>
            <a:tailEnd type="arrow" w="med" len="med"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35527E49-DD95-E8F9-13BD-E2F50DA954EA}"/>
              </a:ext>
            </a:extLst>
          </p:cNvPr>
          <p:cNvSpPr/>
          <p:nvPr/>
        </p:nvSpPr>
        <p:spPr>
          <a:xfrm>
            <a:off x="4060190" y="3593592"/>
            <a:ext cx="1849120" cy="419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b="1" dirty="0">
                <a:solidFill>
                  <a:srgbClr val="00A6B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≈ 7000×</a:t>
            </a:r>
            <a:endParaRPr lang="en-US" dirty="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33320400-7B65-329F-145D-D149F9AC68A8}"/>
              </a:ext>
            </a:extLst>
          </p:cNvPr>
          <p:cNvSpPr/>
          <p:nvPr/>
        </p:nvSpPr>
        <p:spPr>
          <a:xfrm>
            <a:off x="4060190" y="3913803"/>
            <a:ext cx="1849120" cy="2868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0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runtime reduction</a:t>
            </a:r>
            <a:endParaRPr lang="en-US" sz="1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C18F11F-06B6-3B51-BBFF-6FB4C620D1E5}"/>
              </a:ext>
            </a:extLst>
          </p:cNvPr>
          <p:cNvSpPr txBox="1"/>
          <p:nvPr/>
        </p:nvSpPr>
        <p:spPr>
          <a:xfrm>
            <a:off x="838200" y="4326304"/>
            <a:ext cx="758190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Tx/>
              <a:buChar char="-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TCAD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는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final physical time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까지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time step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별 순차적으로 계산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Time-step-free model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은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closed-form evaluation</a:t>
            </a:r>
          </a:p>
          <a:p>
            <a:pPr marL="342900" indent="-342900">
              <a:buFontTx/>
              <a:buChar char="-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Computational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resource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는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final retention time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자체가 아니라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trap bin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수와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evaluated time point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수에 의해 결정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14331CB-D5AF-B0B9-DC72-6B9FA595B49E}"/>
              </a:ext>
            </a:extLst>
          </p:cNvPr>
          <p:cNvSpPr txBox="1"/>
          <p:nvPr/>
        </p:nvSpPr>
        <p:spPr>
          <a:xfrm>
            <a:off x="7777640" y="6205303"/>
            <a:ext cx="13663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Jin, EDL 2026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32138305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EA5D5B-DFAF-EC00-BB27-B7038E75ED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Summary and Future Works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F87DAE-5004-3A5D-5530-833BD49E1D52}"/>
              </a:ext>
            </a:extLst>
          </p:cNvPr>
          <p:cNvSpPr txBox="1"/>
          <p:nvPr/>
        </p:nvSpPr>
        <p:spPr>
          <a:xfrm>
            <a:off x="679450" y="1074509"/>
            <a:ext cx="7957842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Summary</a:t>
            </a:r>
          </a:p>
          <a:p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TAT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성분이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retention loss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에 기여하는 바는 매우 제한적임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BETOX trap-to-band tunneling emission rate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모델링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Detrapping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model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을 기반으로 측정치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alignment</a:t>
            </a:r>
          </a:p>
          <a:p>
            <a:pPr marL="342900" indent="-342900">
              <a:buFontTx/>
              <a:buChar char="-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CTN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전자 임의 분포에 대한 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ΔV</a:t>
            </a:r>
            <a:r>
              <a:rPr lang="en-US" altLang="ko-KR" sz="2000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th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계산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framework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구축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Closed-form autonomous ODE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기반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time-step-free retention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모델 제안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현재 모델 기반으로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room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temperature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detrapping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Cryogenic-like TCAD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검증 및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~7000x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시뮬레이션 시간 단축 확인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1466849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/>
      <a:lstStyle/>
      <a:style>
        <a:lnRef idx="2">
          <a:schemeClr val="accent1">
            <a:shade val="2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>
          <a:defRPr sz="2000" dirty="0" smtClean="0">
            <a:ln w="9525">
              <a:solidFill>
                <a:schemeClr val="tx1">
                  <a:alpha val="29000"/>
                </a:schemeClr>
              </a:solidFill>
            </a:ln>
            <a:latin typeface="Times New Roman"/>
            <a:ea typeface="맑은 고딕"/>
            <a:cs typeface="Times New Roman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7692</TotalTime>
  <Words>1474</Words>
  <Application>Microsoft Office PowerPoint</Application>
  <PresentationFormat>화면 슬라이드 쇼(4:3)</PresentationFormat>
  <Paragraphs>327</Paragraphs>
  <Slides>20</Slides>
  <Notes>0</Notes>
  <HiddenSlides>0</HiddenSlides>
  <MMClips>0</MMClips>
  <ScaleCrop>false</ScaleCrop>
  <HeadingPairs>
    <vt:vector size="8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포함된 OLE 서버</vt:lpstr>
      </vt:variant>
      <vt:variant>
        <vt:i4>1</vt:i4>
      </vt:variant>
      <vt:variant>
        <vt:lpstr>슬라이드 제목</vt:lpstr>
      </vt:variant>
      <vt:variant>
        <vt:i4>20</vt:i4>
      </vt:variant>
    </vt:vector>
  </HeadingPairs>
  <TitlesOfParts>
    <vt:vector size="29" baseType="lpstr">
      <vt:lpstr>Noto Sans CJK KR</vt:lpstr>
      <vt:lpstr>맑은 고딕</vt:lpstr>
      <vt:lpstr>Arial</vt:lpstr>
      <vt:lpstr>Calibri</vt:lpstr>
      <vt:lpstr>Cambria Math</vt:lpstr>
      <vt:lpstr>Symbol</vt:lpstr>
      <vt:lpstr>Times New Roman</vt:lpstr>
      <vt:lpstr>Office 테마</vt:lpstr>
      <vt:lpstr>Graph</vt:lpstr>
      <vt:lpstr>Physics-based Modeling and Efficient Computational Frameworks of Detrapping in 3-D NAND Flash </vt:lpstr>
      <vt:lpstr>Content</vt:lpstr>
      <vt:lpstr>Introduction</vt:lpstr>
      <vt:lpstr>Limited Contribution of TAT</vt:lpstr>
      <vt:lpstr>Limited Contribution of TAT</vt:lpstr>
      <vt:lpstr>BETOX Trapped Electron Detrapping Modeling</vt:lpstr>
      <vt:lpstr>Alignment with Previous Studies</vt:lpstr>
      <vt:lpstr>Visualization of Charge Node Analysis</vt:lpstr>
      <vt:lpstr>Detailed Poisson Solution</vt:lpstr>
      <vt:lpstr>Q-ΔVth Optimized Calculation</vt:lpstr>
      <vt:lpstr>Time-step-free Physics-based Modeling</vt:lpstr>
      <vt:lpstr>Time-step-free Physics-based Modeling</vt:lpstr>
      <vt:lpstr>Time-step-free Physics-based Modeling</vt:lpstr>
      <vt:lpstr>Time-step-free Physics-based Modeling</vt:lpstr>
      <vt:lpstr>Validation of Time-Step-Free Evaluation</vt:lpstr>
      <vt:lpstr>Cryogenic-like Emulation</vt:lpstr>
      <vt:lpstr>CTN Detrapping in Various Temperature</vt:lpstr>
      <vt:lpstr>CTN Detrapping in Various Temperature</vt:lpstr>
      <vt:lpstr>Computational Impact</vt:lpstr>
      <vt:lpstr>Summary and Future Works</vt:lpstr>
    </vt:vector>
  </TitlesOfParts>
  <Manager/>
  <Company>Microsoft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</dc:creator>
  <cp:lastModifiedBy>Myung/Josh Jin</cp:lastModifiedBy>
  <cp:revision>1003</cp:revision>
  <dcterms:created xsi:type="dcterms:W3CDTF">2016-06-02T05:19:04Z</dcterms:created>
  <dcterms:modified xsi:type="dcterms:W3CDTF">2026-08-30T18:18:32Z</dcterms:modified>
  <cp:version/>
</cp:coreProperties>
</file>