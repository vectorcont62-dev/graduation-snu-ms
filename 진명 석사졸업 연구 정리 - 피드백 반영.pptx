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2"/>
  </p:notesMasterIdLst>
  <p:sldIdLst>
    <p:sldId id="341" r:id="rId2"/>
    <p:sldId id="334" r:id="rId3"/>
    <p:sldId id="329" r:id="rId4"/>
    <p:sldId id="342" r:id="rId5"/>
    <p:sldId id="343" r:id="rId6"/>
    <p:sldId id="331" r:id="rId7"/>
    <p:sldId id="344" r:id="rId8"/>
    <p:sldId id="322" r:id="rId9"/>
    <p:sldId id="333" r:id="rId10"/>
    <p:sldId id="320" r:id="rId11"/>
    <p:sldId id="324" r:id="rId12"/>
    <p:sldId id="339" r:id="rId13"/>
    <p:sldId id="323" r:id="rId14"/>
    <p:sldId id="321" r:id="rId15"/>
    <p:sldId id="328" r:id="rId16"/>
    <p:sldId id="326" r:id="rId17"/>
    <p:sldId id="327" r:id="rId18"/>
    <p:sldId id="345" r:id="rId19"/>
    <p:sldId id="346" r:id="rId20"/>
    <p:sldId id="338" r:id="rId2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  <a:srgbClr val="BF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97300" autoAdjust="0"/>
  </p:normalViewPr>
  <p:slideViewPr>
    <p:cSldViewPr snapToGrid="0">
      <p:cViewPr varScale="1">
        <p:scale>
          <a:sx n="98" d="100"/>
          <a:sy n="98" d="100"/>
        </p:scale>
        <p:origin x="102" y="1260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2CD00562-DF9D-CABC-715B-747888280836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3.emf"/><Relationship Id="rId7" Type="http://schemas.openxmlformats.org/officeDocument/2006/relationships/oleObject" Target="../embeddings/oleObject2.bin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6.emf"/><Relationship Id="rId4" Type="http://schemas.openxmlformats.org/officeDocument/2006/relationships/image" Target="../media/image48.png"/><Relationship Id="rId9" Type="http://schemas.openxmlformats.org/officeDocument/2006/relationships/oleObject" Target="../embeddings/oleObject3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10" Type="http://schemas.openxmlformats.org/officeDocument/2006/relationships/image" Target="../media/image11.png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emf"/><Relationship Id="rId4" Type="http://schemas.openxmlformats.org/officeDocument/2006/relationships/oleObject" Target="../embeddings/oleObject6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7" Type="http://schemas.openxmlformats.org/officeDocument/2006/relationships/image" Target="../media/image3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3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emf"/><Relationship Id="rId4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emf"/><Relationship Id="rId4" Type="http://schemas.openxmlformats.org/officeDocument/2006/relationships/oleObject" Target="../embeddings/oleObject11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450" y="739963"/>
            <a:ext cx="9232900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Physics-based Modeling and Efficient 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Computational Frameworks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of </a:t>
            </a:r>
            <a:r>
              <a:rPr kumimoji="0" lang="en-US" altLang="ko-KR" sz="4000" dirty="0" err="1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Detrapping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in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2026. 08. 19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493614" y="1726575"/>
            <a:ext cx="777644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제외한 이유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discretization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Q-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계산 효율 분석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E7987C-E18E-E3BC-9DFA-C2C591888545}"/>
              </a:ext>
            </a:extLst>
          </p:cNvPr>
          <p:cNvSpPr/>
          <p:nvPr/>
        </p:nvSpPr>
        <p:spPr>
          <a:xfrm>
            <a:off x="274151" y="1414385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D9194162-33F7-E614-537E-318E5112B445}"/>
              </a:ext>
            </a:extLst>
          </p:cNvPr>
          <p:cNvSpPr/>
          <p:nvPr/>
        </p:nvSpPr>
        <p:spPr>
          <a:xfrm>
            <a:off x="834293" y="1976659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E6DF536-C418-C7D4-8F6D-D558C19740BE}"/>
              </a:ext>
            </a:extLst>
          </p:cNvPr>
          <p:cNvSpPr/>
          <p:nvPr/>
        </p:nvSpPr>
        <p:spPr>
          <a:xfrm>
            <a:off x="1051545" y="2193911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2EE4E6-A909-FC01-699D-34B210C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</p:spPr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788DA6-1DDD-4AFE-56F7-6FE64FA08E3A}"/>
              </a:ext>
            </a:extLst>
          </p:cNvPr>
          <p:cNvSpPr txBox="1"/>
          <p:nvPr/>
        </p:nvSpPr>
        <p:spPr>
          <a:xfrm>
            <a:off x="252015" y="935741"/>
            <a:ext cx="83203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개념 활용하여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제외 이유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562B87A-D685-7207-1F0D-0701614FE223}"/>
              </a:ext>
            </a:extLst>
          </p:cNvPr>
          <p:cNvSpPr/>
          <p:nvPr/>
        </p:nvSpPr>
        <p:spPr>
          <a:xfrm>
            <a:off x="1194217" y="2336583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84FF6E5-CF94-2690-53A6-FE6B72D1BD78}"/>
              </a:ext>
            </a:extLst>
          </p:cNvPr>
          <p:cNvSpPr/>
          <p:nvPr/>
        </p:nvSpPr>
        <p:spPr>
          <a:xfrm>
            <a:off x="1505502" y="2647868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242787-161C-BF0A-F994-B7B75BE605C9}"/>
              </a:ext>
            </a:extLst>
          </p:cNvPr>
          <p:cNvSpPr txBox="1"/>
          <p:nvPr/>
        </p:nvSpPr>
        <p:spPr>
          <a:xfrm>
            <a:off x="1917306" y="382353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3E09B6-7E4D-133B-A36E-71BCC5DA8E4B}"/>
              </a:ext>
            </a:extLst>
          </p:cNvPr>
          <p:cNvSpPr txBox="1"/>
          <p:nvPr/>
        </p:nvSpPr>
        <p:spPr>
          <a:xfrm>
            <a:off x="1751936" y="4100531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80C462-F110-4EFA-B18E-4ECCD87CE08F}"/>
              </a:ext>
            </a:extLst>
          </p:cNvPr>
          <p:cNvSpPr txBox="1"/>
          <p:nvPr/>
        </p:nvSpPr>
        <p:spPr>
          <a:xfrm>
            <a:off x="691621" y="452902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5D85EE-D54E-62E7-0203-66C89417E43E}"/>
              </a:ext>
            </a:extLst>
          </p:cNvPr>
          <p:cNvSpPr txBox="1"/>
          <p:nvPr/>
        </p:nvSpPr>
        <p:spPr>
          <a:xfrm>
            <a:off x="834293" y="477591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D20C5906-F467-CC3A-F9E3-1BA75607E79C}"/>
              </a:ext>
            </a:extLst>
          </p:cNvPr>
          <p:cNvCxnSpPr/>
          <p:nvPr/>
        </p:nvCxnSpPr>
        <p:spPr>
          <a:xfrm flipH="1">
            <a:off x="1148821" y="441181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0B8FBA15-6BFF-A56D-2A52-2930D5FEB9D0}"/>
              </a:ext>
            </a:extLst>
          </p:cNvPr>
          <p:cNvCxnSpPr>
            <a:cxnSpLocks/>
          </p:cNvCxnSpPr>
          <p:nvPr/>
        </p:nvCxnSpPr>
        <p:spPr>
          <a:xfrm flipH="1">
            <a:off x="1019119" y="441181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2EED7AB-02E6-DD08-0CD8-4B68EF73B60C}"/>
              </a:ext>
            </a:extLst>
          </p:cNvPr>
          <p:cNvCxnSpPr/>
          <p:nvPr/>
        </p:nvCxnSpPr>
        <p:spPr>
          <a:xfrm flipH="1">
            <a:off x="1367693" y="4629068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A13D0EE-771C-5785-0DE0-686FE8476DEF}"/>
              </a:ext>
            </a:extLst>
          </p:cNvPr>
          <p:cNvCxnSpPr>
            <a:cxnSpLocks/>
          </p:cNvCxnSpPr>
          <p:nvPr/>
        </p:nvCxnSpPr>
        <p:spPr>
          <a:xfrm flipH="1">
            <a:off x="1237991" y="4629068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95A2FEC-D802-5315-E715-9440BD4F8037}"/>
              </a:ext>
            </a:extLst>
          </p:cNvPr>
          <p:cNvCxnSpPr>
            <a:cxnSpLocks/>
          </p:cNvCxnSpPr>
          <p:nvPr/>
        </p:nvCxnSpPr>
        <p:spPr>
          <a:xfrm flipH="1">
            <a:off x="3113808" y="3380686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43E964E-314F-30F2-C5CB-BBAE1C3CE130}"/>
              </a:ext>
            </a:extLst>
          </p:cNvPr>
          <p:cNvCxnSpPr>
            <a:cxnSpLocks/>
          </p:cNvCxnSpPr>
          <p:nvPr/>
        </p:nvCxnSpPr>
        <p:spPr>
          <a:xfrm flipH="1" flipV="1">
            <a:off x="3010047" y="3880039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53C84424-EEC5-BFF6-452C-54AE0297CA58}"/>
              </a:ext>
            </a:extLst>
          </p:cNvPr>
          <p:cNvCxnSpPr>
            <a:cxnSpLocks/>
          </p:cNvCxnSpPr>
          <p:nvPr/>
        </p:nvCxnSpPr>
        <p:spPr>
          <a:xfrm>
            <a:off x="970480" y="3380686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BC2E793-E2E1-E603-695C-E074E942FF26}"/>
              </a:ext>
            </a:extLst>
          </p:cNvPr>
          <p:cNvCxnSpPr>
            <a:cxnSpLocks/>
          </p:cNvCxnSpPr>
          <p:nvPr/>
        </p:nvCxnSpPr>
        <p:spPr>
          <a:xfrm>
            <a:off x="2251289" y="2090150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C5B3934-1CE8-ECB0-F0B6-FD7C7328B637}"/>
              </a:ext>
            </a:extLst>
          </p:cNvPr>
          <p:cNvCxnSpPr>
            <a:cxnSpLocks/>
          </p:cNvCxnSpPr>
          <p:nvPr/>
        </p:nvCxnSpPr>
        <p:spPr>
          <a:xfrm flipV="1">
            <a:off x="2251289" y="4314541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D0F2261-716B-45B3-32E4-F3DA08644233}"/>
              </a:ext>
            </a:extLst>
          </p:cNvPr>
          <p:cNvCxnSpPr>
            <a:cxnSpLocks/>
          </p:cNvCxnSpPr>
          <p:nvPr/>
        </p:nvCxnSpPr>
        <p:spPr>
          <a:xfrm flipH="1" flipV="1">
            <a:off x="2737672" y="4147955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B6A83C2-C031-D2E1-BC17-92D690DF0626}"/>
              </a:ext>
            </a:extLst>
          </p:cNvPr>
          <p:cNvCxnSpPr>
            <a:cxnSpLocks/>
          </p:cNvCxnSpPr>
          <p:nvPr/>
        </p:nvCxnSpPr>
        <p:spPr>
          <a:xfrm flipV="1">
            <a:off x="1634395" y="4204293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8293DBF-BF2A-17A5-3730-64D5ED265080}"/>
              </a:ext>
            </a:extLst>
          </p:cNvPr>
          <p:cNvCxnSpPr>
            <a:cxnSpLocks/>
          </p:cNvCxnSpPr>
          <p:nvPr/>
        </p:nvCxnSpPr>
        <p:spPr>
          <a:xfrm flipV="1">
            <a:off x="1175571" y="3857002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7332147-8690-5D02-4611-18572FA7AAA6}"/>
              </a:ext>
            </a:extLst>
          </p:cNvPr>
          <p:cNvCxnSpPr>
            <a:cxnSpLocks/>
          </p:cNvCxnSpPr>
          <p:nvPr/>
        </p:nvCxnSpPr>
        <p:spPr>
          <a:xfrm>
            <a:off x="1098358" y="2758554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8475678-6B11-CBFF-03E9-62F15D944696}"/>
              </a:ext>
            </a:extLst>
          </p:cNvPr>
          <p:cNvCxnSpPr>
            <a:cxnSpLocks/>
          </p:cNvCxnSpPr>
          <p:nvPr/>
        </p:nvCxnSpPr>
        <p:spPr>
          <a:xfrm>
            <a:off x="1505502" y="2343946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E8030BE-DEAE-C558-1944-832F3CD5255F}"/>
              </a:ext>
            </a:extLst>
          </p:cNvPr>
          <p:cNvCxnSpPr>
            <a:cxnSpLocks/>
          </p:cNvCxnSpPr>
          <p:nvPr/>
        </p:nvCxnSpPr>
        <p:spPr>
          <a:xfrm flipH="1">
            <a:off x="2699470" y="2326856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EBF30A3-9F6D-FA23-4B53-E67F1C8FE0E2}"/>
              </a:ext>
            </a:extLst>
          </p:cNvPr>
          <p:cNvCxnSpPr>
            <a:cxnSpLocks/>
          </p:cNvCxnSpPr>
          <p:nvPr/>
        </p:nvCxnSpPr>
        <p:spPr>
          <a:xfrm flipH="1">
            <a:off x="2982029" y="2758554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730E3302-1349-0570-552B-503D4AA87974}"/>
              </a:ext>
            </a:extLst>
          </p:cNvPr>
          <p:cNvSpPr/>
          <p:nvPr/>
        </p:nvSpPr>
        <p:spPr>
          <a:xfrm>
            <a:off x="5460089" y="1981505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52A6ED0-2622-EBBE-A88F-CDED6D54E93C}"/>
              </a:ext>
            </a:extLst>
          </p:cNvPr>
          <p:cNvSpPr/>
          <p:nvPr/>
        </p:nvSpPr>
        <p:spPr>
          <a:xfrm>
            <a:off x="5677341" y="2198757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0C7F59C-F9A2-829F-8D2A-898DFABEC75F}"/>
              </a:ext>
            </a:extLst>
          </p:cNvPr>
          <p:cNvSpPr/>
          <p:nvPr/>
        </p:nvSpPr>
        <p:spPr>
          <a:xfrm>
            <a:off x="5820013" y="2341429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3020422-C4BE-E02A-9F07-57ADBA7AFB4A}"/>
              </a:ext>
            </a:extLst>
          </p:cNvPr>
          <p:cNvSpPr/>
          <p:nvPr/>
        </p:nvSpPr>
        <p:spPr>
          <a:xfrm>
            <a:off x="6131298" y="2652714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B7434C-4557-CEBB-5CA1-C649A44A91CB}"/>
              </a:ext>
            </a:extLst>
          </p:cNvPr>
          <p:cNvSpPr txBox="1"/>
          <p:nvPr/>
        </p:nvSpPr>
        <p:spPr>
          <a:xfrm>
            <a:off x="6543102" y="382837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7D963E-811C-FBBC-8E10-15FB711D3081}"/>
              </a:ext>
            </a:extLst>
          </p:cNvPr>
          <p:cNvSpPr txBox="1"/>
          <p:nvPr/>
        </p:nvSpPr>
        <p:spPr>
          <a:xfrm>
            <a:off x="6377732" y="4105377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BF22E1-0BB8-2C25-A2A5-E1428E69F98A}"/>
              </a:ext>
            </a:extLst>
          </p:cNvPr>
          <p:cNvSpPr txBox="1"/>
          <p:nvPr/>
        </p:nvSpPr>
        <p:spPr>
          <a:xfrm>
            <a:off x="5317417" y="4533875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376F7D-E571-C2B3-3E63-7AB977024A1C}"/>
              </a:ext>
            </a:extLst>
          </p:cNvPr>
          <p:cNvSpPr txBox="1"/>
          <p:nvPr/>
        </p:nvSpPr>
        <p:spPr>
          <a:xfrm>
            <a:off x="5460089" y="478075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58919A1B-A451-0A6B-8F81-62646D1AD3C7}"/>
              </a:ext>
            </a:extLst>
          </p:cNvPr>
          <p:cNvCxnSpPr/>
          <p:nvPr/>
        </p:nvCxnSpPr>
        <p:spPr>
          <a:xfrm flipH="1">
            <a:off x="5774617" y="4416663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FB51CC5-4F8D-7FD9-7E96-8EBA5CDA6943}"/>
              </a:ext>
            </a:extLst>
          </p:cNvPr>
          <p:cNvCxnSpPr>
            <a:cxnSpLocks/>
          </p:cNvCxnSpPr>
          <p:nvPr/>
        </p:nvCxnSpPr>
        <p:spPr>
          <a:xfrm flipH="1">
            <a:off x="5644915" y="4416663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6A4505B-A343-48C0-9091-434EAF95BE86}"/>
              </a:ext>
            </a:extLst>
          </p:cNvPr>
          <p:cNvCxnSpPr/>
          <p:nvPr/>
        </p:nvCxnSpPr>
        <p:spPr>
          <a:xfrm flipH="1">
            <a:off x="5993489" y="4633914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4DB9F78D-75E8-F1AC-023A-96F9B635DD82}"/>
              </a:ext>
            </a:extLst>
          </p:cNvPr>
          <p:cNvCxnSpPr>
            <a:cxnSpLocks/>
          </p:cNvCxnSpPr>
          <p:nvPr/>
        </p:nvCxnSpPr>
        <p:spPr>
          <a:xfrm flipH="1">
            <a:off x="5863787" y="4633914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A9D4CAF2-3F39-51C3-6CC8-4D2F6F406B81}"/>
              </a:ext>
            </a:extLst>
          </p:cNvPr>
          <p:cNvCxnSpPr>
            <a:cxnSpLocks/>
          </p:cNvCxnSpPr>
          <p:nvPr/>
        </p:nvCxnSpPr>
        <p:spPr>
          <a:xfrm flipH="1">
            <a:off x="7739604" y="3385532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F02C59D3-EC19-908D-10E6-841B31976D2F}"/>
              </a:ext>
            </a:extLst>
          </p:cNvPr>
          <p:cNvCxnSpPr>
            <a:cxnSpLocks/>
          </p:cNvCxnSpPr>
          <p:nvPr/>
        </p:nvCxnSpPr>
        <p:spPr>
          <a:xfrm flipH="1" flipV="1">
            <a:off x="7635843" y="3884885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529D91-112B-FAC6-E5E9-C8F0B84D6276}"/>
              </a:ext>
            </a:extLst>
          </p:cNvPr>
          <p:cNvCxnSpPr>
            <a:cxnSpLocks/>
          </p:cNvCxnSpPr>
          <p:nvPr/>
        </p:nvCxnSpPr>
        <p:spPr>
          <a:xfrm>
            <a:off x="5596276" y="3385532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E615961A-0D73-9781-D77C-EAF687D40830}"/>
              </a:ext>
            </a:extLst>
          </p:cNvPr>
          <p:cNvCxnSpPr>
            <a:cxnSpLocks/>
          </p:cNvCxnSpPr>
          <p:nvPr/>
        </p:nvCxnSpPr>
        <p:spPr>
          <a:xfrm>
            <a:off x="6877085" y="2094996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73A3675-4852-E433-0FBD-4E6AE0929C07}"/>
              </a:ext>
            </a:extLst>
          </p:cNvPr>
          <p:cNvCxnSpPr>
            <a:cxnSpLocks/>
          </p:cNvCxnSpPr>
          <p:nvPr/>
        </p:nvCxnSpPr>
        <p:spPr>
          <a:xfrm flipV="1">
            <a:off x="6877085" y="4319387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E9B9CBDA-0713-04BD-0223-2880D4AF907E}"/>
              </a:ext>
            </a:extLst>
          </p:cNvPr>
          <p:cNvCxnSpPr>
            <a:cxnSpLocks/>
          </p:cNvCxnSpPr>
          <p:nvPr/>
        </p:nvCxnSpPr>
        <p:spPr>
          <a:xfrm flipH="1" flipV="1">
            <a:off x="7363468" y="4152801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0C449AE-76B4-CA8F-1A2A-EF1DFC19DEE8}"/>
              </a:ext>
            </a:extLst>
          </p:cNvPr>
          <p:cNvCxnSpPr>
            <a:cxnSpLocks/>
          </p:cNvCxnSpPr>
          <p:nvPr/>
        </p:nvCxnSpPr>
        <p:spPr>
          <a:xfrm flipV="1">
            <a:off x="6260191" y="4209139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8FCC4C5E-FAB0-49C1-43FA-52E62D048C40}"/>
              </a:ext>
            </a:extLst>
          </p:cNvPr>
          <p:cNvCxnSpPr>
            <a:cxnSpLocks/>
          </p:cNvCxnSpPr>
          <p:nvPr/>
        </p:nvCxnSpPr>
        <p:spPr>
          <a:xfrm flipV="1">
            <a:off x="5801367" y="3861848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581EA01-1EC1-76A8-F5F3-A3C335A7394D}"/>
              </a:ext>
            </a:extLst>
          </p:cNvPr>
          <p:cNvCxnSpPr>
            <a:cxnSpLocks/>
          </p:cNvCxnSpPr>
          <p:nvPr/>
        </p:nvCxnSpPr>
        <p:spPr>
          <a:xfrm>
            <a:off x="5724154" y="2763400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EB0807F-4A8C-4381-E16A-2CED8451EFD6}"/>
              </a:ext>
            </a:extLst>
          </p:cNvPr>
          <p:cNvCxnSpPr>
            <a:cxnSpLocks/>
          </p:cNvCxnSpPr>
          <p:nvPr/>
        </p:nvCxnSpPr>
        <p:spPr>
          <a:xfrm>
            <a:off x="6131298" y="2348792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6BC769C-073E-C8D8-2052-CA2C3390F291}"/>
              </a:ext>
            </a:extLst>
          </p:cNvPr>
          <p:cNvCxnSpPr>
            <a:cxnSpLocks/>
          </p:cNvCxnSpPr>
          <p:nvPr/>
        </p:nvCxnSpPr>
        <p:spPr>
          <a:xfrm flipH="1">
            <a:off x="7325266" y="2331702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52CF4F18-6166-CAE0-88F2-76D642DD042A}"/>
              </a:ext>
            </a:extLst>
          </p:cNvPr>
          <p:cNvCxnSpPr>
            <a:cxnSpLocks/>
          </p:cNvCxnSpPr>
          <p:nvPr/>
        </p:nvCxnSpPr>
        <p:spPr>
          <a:xfrm flipH="1">
            <a:off x="7607825" y="2763400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84EDC39A-7FC1-DF21-ED8A-370629537870}"/>
              </a:ext>
            </a:extLst>
          </p:cNvPr>
          <p:cNvSpPr/>
          <p:nvPr/>
        </p:nvSpPr>
        <p:spPr>
          <a:xfrm>
            <a:off x="6807725" y="2213348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1251A386-23FF-0F26-ADA1-77C5ED8704C5}"/>
              </a:ext>
            </a:extLst>
          </p:cNvPr>
          <p:cNvSpPr/>
          <p:nvPr/>
        </p:nvSpPr>
        <p:spPr>
          <a:xfrm>
            <a:off x="5861356" y="3916499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685EDA62-B28A-5F33-8CC9-F43F5B8441DB}"/>
              </a:ext>
            </a:extLst>
          </p:cNvPr>
          <p:cNvSpPr/>
          <p:nvPr/>
        </p:nvSpPr>
        <p:spPr>
          <a:xfrm>
            <a:off x="7722353" y="3922984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E72083E2-6C41-1F13-B14D-ACE0409DCC37}"/>
              </a:ext>
            </a:extLst>
          </p:cNvPr>
          <p:cNvSpPr/>
          <p:nvPr/>
        </p:nvSpPr>
        <p:spPr>
          <a:xfrm>
            <a:off x="282760" y="1378428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Si-channel (</a:t>
            </a:r>
            <a:r>
              <a:rPr kumimoji="0" lang="en-US" altLang="ko-KR" sz="2000" b="1" i="0" u="none" strike="noStrike" kern="1200" cap="none" spc="0" normalizeH="0" baseline="0" noProof="0" dirty="0" err="1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Detrap</a:t>
            </a: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D08574B-1A1D-A853-8FA9-17D4B6549A54}"/>
              </a:ext>
            </a:extLst>
          </p:cNvPr>
          <p:cNvSpPr/>
          <p:nvPr/>
        </p:nvSpPr>
        <p:spPr>
          <a:xfrm>
            <a:off x="4932363" y="1419231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E3B50051-8540-D79B-3E90-9E116354E493}"/>
              </a:ext>
            </a:extLst>
          </p:cNvPr>
          <p:cNvSpPr/>
          <p:nvPr/>
        </p:nvSpPr>
        <p:spPr>
          <a:xfrm>
            <a:off x="4940972" y="1383274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TOX &gt; Si-channel (TAT)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A25D5D62-9594-E7C5-5617-0493E0617D49}"/>
              </a:ext>
            </a:extLst>
          </p:cNvPr>
          <p:cNvSpPr/>
          <p:nvPr/>
        </p:nvSpPr>
        <p:spPr>
          <a:xfrm>
            <a:off x="272377" y="5148061"/>
            <a:ext cx="3938616" cy="6601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CDEF98-10FA-88DC-13E9-8FC4C25F61F8}"/>
              </a:ext>
            </a:extLst>
          </p:cNvPr>
          <p:cNvSpPr txBox="1"/>
          <p:nvPr/>
        </p:nvSpPr>
        <p:spPr>
          <a:xfrm>
            <a:off x="291388" y="5141138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90AA24F-F8F8-F2A9-2708-CC4A5072F235}"/>
              </a:ext>
            </a:extLst>
          </p:cNvPr>
          <p:cNvSpPr txBox="1"/>
          <p:nvPr/>
        </p:nvSpPr>
        <p:spPr>
          <a:xfrm>
            <a:off x="2251288" y="5122088"/>
            <a:ext cx="19787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2π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centroid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2000" baseline="-25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DCF7E265-FAB5-B7E1-C46C-35592126EA0A}"/>
              </a:ext>
            </a:extLst>
          </p:cNvPr>
          <p:cNvSpPr/>
          <p:nvPr/>
        </p:nvSpPr>
        <p:spPr>
          <a:xfrm>
            <a:off x="4928976" y="5126034"/>
            <a:ext cx="3938616" cy="65670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7CBF51-393A-246B-2A87-A0933CC705F5}"/>
              </a:ext>
            </a:extLst>
          </p:cNvPr>
          <p:cNvSpPr txBox="1"/>
          <p:nvPr/>
        </p:nvSpPr>
        <p:spPr>
          <a:xfrm>
            <a:off x="4973902" y="5100061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4" name="화살표: 오른쪽 103">
            <a:extLst>
              <a:ext uri="{FF2B5EF4-FFF2-40B4-BE49-F238E27FC236}">
                <a16:creationId xmlns:a16="http://schemas.microsoft.com/office/drawing/2014/main" id="{68A3BB24-AA1F-8247-BC37-E37E021E2BD3}"/>
              </a:ext>
            </a:extLst>
          </p:cNvPr>
          <p:cNvSpPr/>
          <p:nvPr/>
        </p:nvSpPr>
        <p:spPr>
          <a:xfrm>
            <a:off x="1917306" y="5328179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FEA4A27-C3C1-4957-2238-B8BB65015ED6}"/>
              </a:ext>
            </a:extLst>
          </p:cNvPr>
          <p:cNvSpPr/>
          <p:nvPr/>
        </p:nvSpPr>
        <p:spPr>
          <a:xfrm>
            <a:off x="6629026" y="5287102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411E0B-9F33-0CE5-5C38-78CADEFFBD7E}"/>
              </a:ext>
            </a:extLst>
          </p:cNvPr>
          <p:cNvSpPr txBox="1"/>
          <p:nvPr/>
        </p:nvSpPr>
        <p:spPr>
          <a:xfrm>
            <a:off x="6914239" y="5087361"/>
            <a:ext cx="19533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#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endParaRPr lang="ko-KR" altLang="en-US" sz="20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CE356-7A41-1D2A-0735-B373B1C21538}"/>
              </a:ext>
            </a:extLst>
          </p:cNvPr>
          <p:cNvSpPr txBox="1"/>
          <p:nvPr/>
        </p:nvSpPr>
        <p:spPr>
          <a:xfrm>
            <a:off x="1900890" y="5997924"/>
            <a:ext cx="5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 대폭 감소로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인한 가능 경로 수 감소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27FCD-FB08-E80E-071C-6F2AB66BC54B}"/>
              </a:ext>
            </a:extLst>
          </p:cNvPr>
          <p:cNvSpPr txBox="1"/>
          <p:nvPr/>
        </p:nvSpPr>
        <p:spPr>
          <a:xfrm>
            <a:off x="6998275" y="5811598"/>
            <a:ext cx="19106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cf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 </a:t>
            </a:r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</a:t>
            </a:r>
            <a:r>
              <a:rPr lang="en-US" altLang="ko-KR" sz="11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~ 1.7Å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85029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1AF4F-8D7B-49A4-C797-A66808DF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90E8FCD-9BB8-1DD9-84A7-26901D81198E}"/>
              </a:ext>
            </a:extLst>
          </p:cNvPr>
          <p:cNvSpPr/>
          <p:nvPr/>
        </p:nvSpPr>
        <p:spPr>
          <a:xfrm>
            <a:off x="2696051" y="964162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CTN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F561000-F2AA-726D-D4C5-71C8716A9117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3072187" y="1352966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2CAC175-721B-19E7-C12F-4CB760B55988}"/>
              </a:ext>
            </a:extLst>
          </p:cNvPr>
          <p:cNvSpPr/>
          <p:nvPr/>
        </p:nvSpPr>
        <p:spPr>
          <a:xfrm>
            <a:off x="2696051" y="1718767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TOX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0ACA8A-7259-8446-3F84-76D5BFEE4998}"/>
              </a:ext>
            </a:extLst>
          </p:cNvPr>
          <p:cNvSpPr/>
          <p:nvPr/>
        </p:nvSpPr>
        <p:spPr>
          <a:xfrm>
            <a:off x="2465829" y="2473372"/>
            <a:ext cx="1212715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Si-channel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BE1A83E-4B34-61CD-49C2-9335559280D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3072187" y="2107571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개체 53">
            <a:extLst>
              <a:ext uri="{FF2B5EF4-FFF2-40B4-BE49-F238E27FC236}">
                <a16:creationId xmlns:a16="http://schemas.microsoft.com/office/drawing/2014/main" id="{D8B77745-725F-1DAC-28E4-EAC0AA3694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3841126"/>
              </p:ext>
            </p:extLst>
          </p:nvPr>
        </p:nvGraphicFramePr>
        <p:xfrm>
          <a:off x="6009012" y="868942"/>
          <a:ext cx="2862614" cy="17788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014254" progId="Origin50.Graph">
                  <p:embed/>
                </p:oleObj>
              </mc:Choice>
              <mc:Fallback>
                <p:oleObj name="Graph" r:id="rId2" imgW="4851068" imgH="3014254" progId="Origin50.Graph">
                  <p:embed/>
                  <p:pic>
                    <p:nvPicPr>
                      <p:cNvPr id="18" name="개체 17">
                        <a:extLst>
                          <a:ext uri="{FF2B5EF4-FFF2-40B4-BE49-F238E27FC236}">
                            <a16:creationId xmlns:a16="http://schemas.microsoft.com/office/drawing/2014/main" id="{D90E9187-7683-BCA0-7070-1E70E8FE2E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009012" y="868942"/>
                        <a:ext cx="2862614" cy="17788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223DB183-F6A9-0CFB-EDB7-A638740BFB56}"/>
              </a:ext>
            </a:extLst>
          </p:cNvPr>
          <p:cNvSpPr txBox="1"/>
          <p:nvPr/>
        </p:nvSpPr>
        <p:spPr>
          <a:xfrm>
            <a:off x="4881126" y="2740055"/>
            <a:ext cx="247472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total trap density (measurement)</a:t>
            </a:r>
          </a:p>
          <a:p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1k:  4.49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16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10k: 1.16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50k: 1.89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ko-KR" altLang="en-US" sz="16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AECD9-7DAB-E514-FC0E-C1848AE0F326}"/>
              </a:ext>
            </a:extLst>
          </p:cNvPr>
          <p:cNvSpPr txBox="1"/>
          <p:nvPr/>
        </p:nvSpPr>
        <p:spPr>
          <a:xfrm>
            <a:off x="6975890" y="2740055"/>
            <a:ext cx="180481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[#]</a:t>
            </a:r>
          </a:p>
          <a:p>
            <a:pPr algn="ctr"/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0.55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1.42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2.03</a:t>
            </a:r>
            <a:endParaRPr lang="ko-KR" altLang="en-US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F38AB21-674C-12B6-64B4-AD8BBC19F8B5}"/>
              </a:ext>
            </a:extLst>
          </p:cNvPr>
          <p:cNvSpPr/>
          <p:nvPr/>
        </p:nvSpPr>
        <p:spPr>
          <a:xfrm>
            <a:off x="7647648" y="3533898"/>
            <a:ext cx="461301" cy="79675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E8792-8818-8AD6-39E7-006817AA2B2C}"/>
              </a:ext>
            </a:extLst>
          </p:cNvPr>
          <p:cNvSpPr txBox="1"/>
          <p:nvPr/>
        </p:nvSpPr>
        <p:spPr>
          <a:xfrm>
            <a:off x="4881126" y="2253169"/>
            <a:ext cx="108534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EDL</a:t>
            </a:r>
            <a:r>
              <a: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(2026)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/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</m:den>
                    </m:f>
                    <m:sSup>
                      <m:sSup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6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𝑡𝑟𝑎𝑝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6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blipFill>
                <a:blip r:embed="rId4"/>
                <a:stretch>
                  <a:fillRect l="-220" b="-1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5AECF43-0623-FB62-51C5-B7A591C6EBA8}"/>
              </a:ext>
            </a:extLst>
          </p:cNvPr>
          <p:cNvSpPr txBox="1"/>
          <p:nvPr/>
        </p:nvSpPr>
        <p:spPr>
          <a:xfrm>
            <a:off x="3132138" y="2103845"/>
            <a:ext cx="190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591CE-B245-9C3D-21FA-0D37300DA87C}"/>
              </a:ext>
            </a:extLst>
          </p:cNvPr>
          <p:cNvSpPr txBox="1"/>
          <p:nvPr/>
        </p:nvSpPr>
        <p:spPr>
          <a:xfrm>
            <a:off x="4844500" y="2074045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2" name="그림 91">
            <a:extLst>
              <a:ext uri="{FF2B5EF4-FFF2-40B4-BE49-F238E27FC236}">
                <a16:creationId xmlns:a16="http://schemas.microsoft.com/office/drawing/2014/main" id="{80F751E1-96A0-6BE0-7E30-71FE8F3F27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20" y="1021221"/>
            <a:ext cx="1866670" cy="1951695"/>
          </a:xfrm>
          <a:prstGeom prst="rect">
            <a:avLst/>
          </a:prstGeom>
        </p:spPr>
      </p:pic>
      <p:sp>
        <p:nvSpPr>
          <p:cNvPr id="93" name="타원 92">
            <a:extLst>
              <a:ext uri="{FF2B5EF4-FFF2-40B4-BE49-F238E27FC236}">
                <a16:creationId xmlns:a16="http://schemas.microsoft.com/office/drawing/2014/main" id="{EC52590A-2639-1E6B-BB29-75327B5D0E6D}"/>
              </a:ext>
            </a:extLst>
          </p:cNvPr>
          <p:cNvSpPr/>
          <p:nvPr/>
        </p:nvSpPr>
        <p:spPr>
          <a:xfrm>
            <a:off x="5514442" y="1288391"/>
            <a:ext cx="330741" cy="38880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6D1EFF-5F59-9CE3-6B40-ABA45D5AB00B}"/>
              </a:ext>
            </a:extLst>
          </p:cNvPr>
          <p:cNvCxnSpPr>
            <a:stCxn id="93" idx="6"/>
          </p:cNvCxnSpPr>
          <p:nvPr/>
        </p:nvCxnSpPr>
        <p:spPr>
          <a:xfrm>
            <a:off x="5845183" y="1482793"/>
            <a:ext cx="4324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C658CF7D-1D51-ECFD-DF4A-6F763AE2C34E}"/>
              </a:ext>
            </a:extLst>
          </p:cNvPr>
          <p:cNvSpPr txBox="1"/>
          <p:nvPr/>
        </p:nvSpPr>
        <p:spPr>
          <a:xfrm>
            <a:off x="174265" y="3074291"/>
            <a:ext cx="4429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Effective route count modeling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/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𝜈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#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</m:s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  <m:sup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𝑇𝑂𝑋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𝑐𝑒𝑛𝑡𝑟𝑜𝑖𝑑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𝑊𝐿</m:t>
                            </m:r>
                          </m:sub>
                        </m:sSub>
                      </m:den>
                    </m:f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타원 97">
            <a:extLst>
              <a:ext uri="{FF2B5EF4-FFF2-40B4-BE49-F238E27FC236}">
                <a16:creationId xmlns:a16="http://schemas.microsoft.com/office/drawing/2014/main" id="{29C515B5-D419-F6D7-5D24-E8562D44E92B}"/>
              </a:ext>
            </a:extLst>
          </p:cNvPr>
          <p:cNvSpPr/>
          <p:nvPr/>
        </p:nvSpPr>
        <p:spPr>
          <a:xfrm>
            <a:off x="2701221" y="3496659"/>
            <a:ext cx="2038703" cy="761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D663782-9B71-5BFC-71DA-D0C56E4FC8B6}"/>
              </a:ext>
            </a:extLst>
          </p:cNvPr>
          <p:cNvSpPr txBox="1"/>
          <p:nvPr/>
        </p:nvSpPr>
        <p:spPr>
          <a:xfrm>
            <a:off x="142672" y="4550539"/>
            <a:ext cx="23231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⸫ Simulation Result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100" name="개체 99">
            <a:extLst>
              <a:ext uri="{FF2B5EF4-FFF2-40B4-BE49-F238E27FC236}">
                <a16:creationId xmlns:a16="http://schemas.microsoft.com/office/drawing/2014/main" id="{7D4F3D6F-7643-059D-D934-D5461E7583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8849468"/>
              </p:ext>
            </p:extLst>
          </p:nvPr>
        </p:nvGraphicFramePr>
        <p:xfrm>
          <a:off x="3137752" y="4270818"/>
          <a:ext cx="3189920" cy="22539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4852293" imgH="3429000" progId="Origin50.Graph">
                  <p:embed/>
                </p:oleObj>
              </mc:Choice>
              <mc:Fallback>
                <p:oleObj name="Graph" r:id="rId7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137752" y="4270818"/>
                        <a:ext cx="3189920" cy="22539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" name="개체 100">
            <a:extLst>
              <a:ext uri="{FF2B5EF4-FFF2-40B4-BE49-F238E27FC236}">
                <a16:creationId xmlns:a16="http://schemas.microsoft.com/office/drawing/2014/main" id="{D4AA7C8C-AF68-D8F1-F1FB-461C7DF712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49081645"/>
              </p:ext>
            </p:extLst>
          </p:nvPr>
        </p:nvGraphicFramePr>
        <p:xfrm>
          <a:off x="6277583" y="4330649"/>
          <a:ext cx="2524564" cy="1783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9" imgW="4852293" imgH="3429000" progId="Origin50.Graph">
                  <p:embed/>
                </p:oleObj>
              </mc:Choice>
              <mc:Fallback>
                <p:oleObj name="Graph" r:id="rId9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277583" y="4330649"/>
                        <a:ext cx="2524564" cy="1783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C42C7C6B-4E72-C090-7A5D-52D3EEA5A6B4}"/>
              </a:ext>
            </a:extLst>
          </p:cNvPr>
          <p:cNvSpPr/>
          <p:nvPr/>
        </p:nvSpPr>
        <p:spPr>
          <a:xfrm>
            <a:off x="4481913" y="4684532"/>
            <a:ext cx="1463514" cy="128588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913BD9F1-0712-9711-9A22-70C13C398312}"/>
              </a:ext>
            </a:extLst>
          </p:cNvPr>
          <p:cNvCxnSpPr>
            <a:cxnSpLocks/>
          </p:cNvCxnSpPr>
          <p:nvPr/>
        </p:nvCxnSpPr>
        <p:spPr>
          <a:xfrm flipV="1">
            <a:off x="5945427" y="4543244"/>
            <a:ext cx="664951" cy="128588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949B533A-FA31-507A-F9E0-A9FD5BA60E6A}"/>
              </a:ext>
            </a:extLst>
          </p:cNvPr>
          <p:cNvCxnSpPr>
            <a:cxnSpLocks/>
          </p:cNvCxnSpPr>
          <p:nvPr/>
        </p:nvCxnSpPr>
        <p:spPr>
          <a:xfrm>
            <a:off x="5945427" y="4815876"/>
            <a:ext cx="527090" cy="1032474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DE3545D-40CC-5BD7-6526-AC8E559CCCFD}"/>
              </a:ext>
            </a:extLst>
          </p:cNvPr>
          <p:cNvSpPr txBox="1"/>
          <p:nvPr/>
        </p:nvSpPr>
        <p:spPr>
          <a:xfrm>
            <a:off x="583112" y="5147018"/>
            <a:ext cx="24890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endurance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별로 차이는 있으나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CTN </a:t>
            </a:r>
            <a:r>
              <a:rPr lang="en-US" altLang="ko-KR" sz="16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넓은 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route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극복할 순 없다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44924B4-70DE-D7A6-B98C-0C9CF67A3F0A}"/>
              </a:ext>
            </a:extLst>
          </p:cNvPr>
          <p:cNvSpPr txBox="1"/>
          <p:nvPr/>
        </p:nvSpPr>
        <p:spPr>
          <a:xfrm>
            <a:off x="7912462" y="2272639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0190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1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6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06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306926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그림 95">
            <a:extLst>
              <a:ext uri="{FF2B5EF4-FFF2-40B4-BE49-F238E27FC236}">
                <a16:creationId xmlns:a16="http://schemas.microsoft.com/office/drawing/2014/main" id="{834A3055-3E03-AD39-93F2-DA88F6032F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8797" y="3465186"/>
            <a:ext cx="1873747" cy="188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F01C8-6523-AED5-8002-4F5DF85A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0609AFF-CF88-69DC-BADA-D810DCF68E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8232635"/>
              </p:ext>
            </p:extLst>
          </p:nvPr>
        </p:nvGraphicFramePr>
        <p:xfrm>
          <a:off x="245965" y="1478566"/>
          <a:ext cx="5523239" cy="39008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1724" imgH="4833106" progId="Origin50.Graph">
                  <p:embed/>
                </p:oleObj>
              </mc:Choice>
              <mc:Fallback>
                <p:oleObj name="Graph" r:id="rId2" imgW="6841724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5965" y="1478566"/>
                        <a:ext cx="5523239" cy="39008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1C73F9-C15A-3F01-9FA1-C53DF0B5CA9B}"/>
              </a:ext>
            </a:extLst>
          </p:cNvPr>
          <p:cNvSpPr txBox="1"/>
          <p:nvPr/>
        </p:nvSpPr>
        <p:spPr>
          <a:xfrm>
            <a:off x="782425" y="1078456"/>
            <a:ext cx="59860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region D (Jo, TED 2023)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945B94-1091-57B0-9F8D-87162319591D}"/>
              </a:ext>
            </a:extLst>
          </p:cNvPr>
          <p:cNvSpPr txBox="1"/>
          <p:nvPr/>
        </p:nvSpPr>
        <p:spPr>
          <a:xfrm>
            <a:off x="5957180" y="2091350"/>
            <a:ext cx="20971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0V ~ -5V 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 voltage sweep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 2ms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A64173-AAA5-CEEF-56CA-C643DDA3300B}"/>
              </a:ext>
            </a:extLst>
          </p:cNvPr>
          <p:cNvSpPr txBox="1"/>
          <p:nvPr/>
        </p:nvSpPr>
        <p:spPr>
          <a:xfrm>
            <a:off x="5534852" y="4087933"/>
            <a:ext cx="29418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졸업논문 내용 중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period 20ms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484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896745" y="5001403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738026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39719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4EB86A7-0275-51D1-B097-7F004E84F20C}"/>
              </a:ext>
            </a:extLst>
          </p:cNvPr>
          <p:cNvGrpSpPr/>
          <p:nvPr/>
        </p:nvGrpSpPr>
        <p:grpSpPr>
          <a:xfrm>
            <a:off x="7320881" y="5068122"/>
            <a:ext cx="947738" cy="886470"/>
            <a:chOff x="6105526" y="1766242"/>
            <a:chExt cx="947738" cy="88647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375D809-35E2-12E3-B627-6B0E9D992FDC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581E6AD-496E-5D32-54E3-4238C219E1E8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D71CB48E-5CA4-01D2-6BDB-9545F5075268}"/>
                </a:ext>
              </a:extLst>
            </p:cNvPr>
            <p:cNvCxnSpPr>
              <a:endCxn id="20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2F084445-8377-4A54-9298-249E151DAD11}"/>
                </a:ext>
              </a:extLst>
            </p:cNvPr>
            <p:cNvCxnSpPr>
              <a:cxnSpLocks/>
              <a:endCxn id="19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2A3BDB0-7A89-CE83-2BA8-66BAEF52CB65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BA61BF6-D801-DE29-141E-C8A3B15478EF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619C340-66EA-9C8F-A919-4416D50F6105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26D3A822-8FDD-62BC-C451-D2287DA0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179A447-FF43-A2B1-1EC8-C8000FA928F8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C74366-3F40-4483-E634-DB4EF6861ADD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/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/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550" y="2638123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753" y="2805917"/>
            <a:ext cx="2624851" cy="29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77" y="3571780"/>
            <a:ext cx="3629756" cy="15716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/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𝑡ℎ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,0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 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/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350119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584538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3" name="개체 2">
            <a:extLst>
              <a:ext uri="{FF2B5EF4-FFF2-40B4-BE49-F238E27FC236}">
                <a16:creationId xmlns:a16="http://schemas.microsoft.com/office/drawing/2014/main" id="{CC4BF23F-9A1E-A8CF-CD5D-C773068B0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2244881"/>
              </p:ext>
            </p:extLst>
          </p:nvPr>
        </p:nvGraphicFramePr>
        <p:xfrm>
          <a:off x="317608" y="1589149"/>
          <a:ext cx="5939817" cy="31285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3" name="개체 2">
                        <a:extLst>
                          <a:ext uri="{FF2B5EF4-FFF2-40B4-BE49-F238E27FC236}">
                            <a16:creationId xmlns:a16="http://schemas.microsoft.com/office/drawing/2014/main" id="{CC4BF23F-9A1E-A8CF-CD5D-C773068B05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17608" y="1589149"/>
                        <a:ext cx="5939817" cy="31285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E695E53B-06B8-4866-D8B4-056CE931048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8569977"/>
              </p:ext>
            </p:extLst>
          </p:nvPr>
        </p:nvGraphicFramePr>
        <p:xfrm>
          <a:off x="5942910" y="1405156"/>
          <a:ext cx="2720590" cy="2719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5" name="개체 4">
                        <a:extLst>
                          <a:ext uri="{FF2B5EF4-FFF2-40B4-BE49-F238E27FC236}">
                            <a16:creationId xmlns:a16="http://schemas.microsoft.com/office/drawing/2014/main" id="{E695E53B-06B8-4866-D8B4-056CE93104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942910" y="1405156"/>
                        <a:ext cx="2720590" cy="27193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DBA3946F-0D9D-D20E-343F-DB58E7B84E28}"/>
              </a:ext>
            </a:extLst>
          </p:cNvPr>
          <p:cNvSpPr/>
          <p:nvPr/>
        </p:nvSpPr>
        <p:spPr>
          <a:xfrm>
            <a:off x="4632968" y="3237176"/>
            <a:ext cx="776459" cy="78815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5C47E32-DCF9-3066-374E-B3B5B91FE7BD}"/>
              </a:ext>
            </a:extLst>
          </p:cNvPr>
          <p:cNvCxnSpPr>
            <a:cxnSpLocks/>
          </p:cNvCxnSpPr>
          <p:nvPr/>
        </p:nvCxnSpPr>
        <p:spPr>
          <a:xfrm flipV="1">
            <a:off x="5412783" y="1990641"/>
            <a:ext cx="982837" cy="12384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A9B2448-13F2-3A59-4CF3-7B7568869EA4}"/>
              </a:ext>
            </a:extLst>
          </p:cNvPr>
          <p:cNvCxnSpPr>
            <a:cxnSpLocks/>
          </p:cNvCxnSpPr>
          <p:nvPr/>
        </p:nvCxnSpPr>
        <p:spPr>
          <a:xfrm flipV="1">
            <a:off x="5412783" y="3907197"/>
            <a:ext cx="976156" cy="12633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99870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404602" y="4856657"/>
            <a:ext cx="864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912FC59-0819-61D0-A5AD-8B40C19393F8}"/>
              </a:ext>
            </a:extLst>
          </p:cNvPr>
          <p:cNvSpPr/>
          <p:nvPr/>
        </p:nvSpPr>
        <p:spPr>
          <a:xfrm>
            <a:off x="7444673" y="2764821"/>
            <a:ext cx="906308" cy="114237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910136-1934-488E-0CB2-D79D42046EA9}"/>
              </a:ext>
            </a:extLst>
          </p:cNvPr>
          <p:cNvSpPr txBox="1"/>
          <p:nvPr/>
        </p:nvSpPr>
        <p:spPr>
          <a:xfrm>
            <a:off x="6168259" y="2010077"/>
            <a:ext cx="20428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&lt; 3% difference</a:t>
            </a:r>
          </a:p>
          <a:p>
            <a:pPr algn="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after 10</a:t>
            </a:r>
            <a:r>
              <a:rPr lang="en-US" altLang="ko-KR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s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5332862"/>
              </p:ext>
            </p:extLst>
          </p:nvPr>
        </p:nvGraphicFramePr>
        <p:xfrm>
          <a:off x="4246004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4751349"/>
              </p:ext>
            </p:extLst>
          </p:nvPr>
        </p:nvGraphicFramePr>
        <p:xfrm>
          <a:off x="329810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54590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431536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988872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269238"/>
            <a:ext cx="370240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calculation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환경에서 높은 정확성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간의 수렴 상관 관계를 활용하여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emulation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환경 구현 및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evaluation of Eq. (13)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AAEF8-94FC-13F9-82B0-53BB1186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with Thermal Activation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9289A3-88DF-63E7-DCE7-32BC11608891}"/>
              </a:ext>
            </a:extLst>
          </p:cNvPr>
          <p:cNvSpPr txBox="1"/>
          <p:nvPr/>
        </p:nvSpPr>
        <p:spPr>
          <a:xfrm>
            <a:off x="431123" y="1077548"/>
            <a:ext cx="41408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Thermal activation: inelastic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tunneling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B67633C-0E38-4D25-B488-350864BF00C4}"/>
                  </a:ext>
                </a:extLst>
              </p:cNvPr>
              <p:cNvSpPr txBox="1"/>
              <p:nvPr/>
            </p:nvSpPr>
            <p:spPr>
              <a:xfrm>
                <a:off x="448871" y="1798719"/>
                <a:ext cx="6399401" cy="172611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𝑝ℎ𝑜𝑛𝑜𝑛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3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𝑘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3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p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𝑇</m:t>
                                </m:r>
                              </m:e>
                              <m:sup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3</m:t>
                                </m:r>
                              </m:sup>
                            </m:sSup>
                          </m:e>
                        </m:rad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ℏ</m:t>
                            </m:r>
                          </m:e>
                          <m:sup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p>
                        </m:sSup>
                      </m:den>
                    </m:f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𝑆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𝜔</m:t>
                    </m:r>
                  </m:oMath>
                </a14:m>
                <a:r>
                  <a:rPr lang="en-US" altLang="ko-KR" sz="2000" b="0" i="1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Cambria Math" panose="02040503050406030204" pitchFamily="18" charset="0"/>
                    <a:ea typeface="맑은 고딕"/>
                    <a:cs typeface="Times New Roman"/>
                  </a:rPr>
                  <a:t> </a:t>
                </a:r>
              </a:p>
              <a:p>
                <a:r>
                  <a:rPr lang="en-US" altLang="ko-KR" sz="20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	     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𝜒</m:t>
                            </m:r>
                          </m:e>
                        </m:rad>
                      </m:den>
                    </m:f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𝑆</m:t>
                                </m:r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−</m:t>
                                </m:r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𝑙</m:t>
                                </m:r>
                              </m:e>
                            </m:d>
                          </m:e>
                          <m:sup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𝑆</m:t>
                        </m:r>
                      </m:den>
                    </m:f>
                    <m:func>
                      <m:func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𝑆</m:t>
                            </m:r>
                            <m:d>
                              <m:d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𝐵</m:t>
                                    </m:r>
                                  </m:sub>
                                </m:sSub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+1</m:t>
                                </m:r>
                              </m:e>
                            </m:d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altLang="ko-KR" sz="2000" b="0" i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US" altLang="ko-KR" sz="2000" b="0" i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Δ</m:t>
                                </m:r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𝐸</m:t>
                                </m:r>
                              </m:num>
                              <m:den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𝑘𝑇</m:t>
                                </m:r>
                              </m:den>
                            </m:f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+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𝜒</m:t>
                            </m:r>
                          </m:e>
                        </m:d>
                        <m:sSup>
                          <m:sSupPr>
                            <m:ctrlPr>
                              <a:rPr lang="en-US" altLang="ko-KR" sz="20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ko-KR" sz="20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𝑙</m:t>
                                    </m:r>
                                    <m: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+</m:t>
                                    </m:r>
                                    <m: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𝜒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altLang="ko-KR" sz="20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𝑙</m:t>
                            </m:r>
                          </m:sup>
                        </m:sSup>
                      </m:e>
                    </m:func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</m:t>
                    </m:r>
                  </m:oMath>
                </a14:m>
                <a:r>
                  <a:rPr lang="en-US" altLang="ko-KR" sz="2000" b="0" i="1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Cambria Math" panose="02040503050406030204" pitchFamily="18" charset="0"/>
                    <a:ea typeface="맑은 고딕"/>
                    <a:cs typeface="Times New Roman"/>
                  </a:rPr>
                  <a:t> </a:t>
                </a:r>
                <a:br>
                  <a:rPr lang="en-US" altLang="ko-KR" sz="2000" b="0" i="1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Cambria Math" panose="02040503050406030204" pitchFamily="18" charset="0"/>
                    <a:ea typeface="맑은 고딕"/>
                    <a:cs typeface="Times New Roman"/>
                  </a:rPr>
                </a:br>
                <a:r>
                  <a:rPr lang="en-US" altLang="ko-KR" sz="2000" b="0" i="1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Cambria Math" panose="02040503050406030204" pitchFamily="18" charset="0"/>
                    <a:ea typeface="맑은 고딕"/>
                    <a:cs typeface="Times New Roman"/>
                  </a:rPr>
                  <a:t>	     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 </m:t>
                    </m:r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  <m:r>
                          <m:rPr>
                            <m:lit/>
                          </m:r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/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𝐹</m:t>
                                </m:r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,</m:t>
                                </m:r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</m:t>
                                </m:r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𝑘𝑇</m:t>
                            </m:r>
                          </m:den>
                        </m:f>
                      </m:e>
                    </m:d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</m:oMath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B67633C-0E38-4D25-B488-350864BF0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871" y="1798719"/>
                <a:ext cx="6399401" cy="1726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F014EF9-CB79-F697-F8B9-645724252522}"/>
              </a:ext>
            </a:extLst>
          </p:cNvPr>
          <p:cNvSpPr txBox="1"/>
          <p:nvPr/>
        </p:nvSpPr>
        <p:spPr>
          <a:xfrm>
            <a:off x="4098540" y="3302042"/>
            <a:ext cx="225017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Palma, </a:t>
            </a:r>
            <a:r>
              <a:rPr lang="en-US" altLang="ko-KR" sz="1050" b="1" i="1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Physcis</a:t>
            </a: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 Review B 1997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40504A-7F25-B1E8-0C8C-C030DA5C5C37}"/>
              </a:ext>
            </a:extLst>
          </p:cNvPr>
          <p:cNvSpPr txBox="1"/>
          <p:nvPr/>
        </p:nvSpPr>
        <p:spPr>
          <a:xfrm>
            <a:off x="7024958" y="1945533"/>
            <a:ext cx="20249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physical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prefactor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8F2637-3CD5-7FD8-FD95-FBC9BA8429CE}"/>
              </a:ext>
            </a:extLst>
          </p:cNvPr>
          <p:cNvSpPr txBox="1"/>
          <p:nvPr/>
        </p:nvSpPr>
        <p:spPr>
          <a:xfrm>
            <a:off x="6884791" y="2569380"/>
            <a:ext cx="22541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multiphonon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weight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6806E6-C79C-3C71-B3B9-AF9B8B466B6B}"/>
              </a:ext>
            </a:extLst>
          </p:cNvPr>
          <p:cNvSpPr txBox="1"/>
          <p:nvPr/>
        </p:nvSpPr>
        <p:spPr>
          <a:xfrm>
            <a:off x="7024958" y="3028890"/>
            <a:ext cx="19738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Statistics + WKB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82241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99B-0E21-6080-CAD2-79C54CE7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A5CD1-EE8C-5D8E-AA98-0EC71C612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with Thermal Activation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363B4F-AAC1-66C6-A74E-067FC01E5DAE}"/>
              </a:ext>
            </a:extLst>
          </p:cNvPr>
          <p:cNvSpPr txBox="1"/>
          <p:nvPr/>
        </p:nvSpPr>
        <p:spPr>
          <a:xfrm>
            <a:off x="1721796" y="5061677"/>
            <a:ext cx="60228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 assisted emission &lt;&lt; elastic tunneling emission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 assisted 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 dependent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확인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6ADB559-84A8-2FA1-2812-A31E2522469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3857"/>
            <a:ext cx="9144000" cy="28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926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562CA-1197-3480-6AE5-83E0224C1610}"/>
              </a:ext>
            </a:extLst>
          </p:cNvPr>
          <p:cNvSpPr txBox="1"/>
          <p:nvPr/>
        </p:nvSpPr>
        <p:spPr>
          <a:xfrm>
            <a:off x="838200" y="4724307"/>
            <a:ext cx="75819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Future Works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cell-to-cell variation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산포 적용 가능한 모델링 셋업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SPICE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단위의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reliability simulation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과의 연계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838200" y="920360"/>
            <a:ext cx="795784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현 모델 기반으로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 비교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7163</TotalTime>
  <Words>1363</Words>
  <Application>Microsoft Office PowerPoint</Application>
  <PresentationFormat>화면 슬라이드 쇼(4:3)</PresentationFormat>
  <Paragraphs>302</Paragraphs>
  <Slides>20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Noto Sans CJK KR</vt:lpstr>
      <vt:lpstr>맑은 고딕</vt:lpstr>
      <vt:lpstr>Arial</vt:lpstr>
      <vt:lpstr>Calibri</vt:lpstr>
      <vt:lpstr>Cambria Math</vt:lpstr>
      <vt:lpstr>Times New Roman</vt:lpstr>
      <vt:lpstr>Office 테마</vt:lpstr>
      <vt:lpstr>Graph</vt:lpstr>
      <vt:lpstr>Physics-based Modeling and Efficient Computational Frameworks of Detrapping in 3-D NAND Flash </vt:lpstr>
      <vt:lpstr>Content</vt:lpstr>
      <vt:lpstr>Introduction</vt:lpstr>
      <vt:lpstr>Limited Contribution of TAT</vt:lpstr>
      <vt:lpstr>Limited Contribution of TAT</vt:lpstr>
      <vt:lpstr>BETOX Trapped Electron Detrapping Modeling</vt:lpstr>
      <vt:lpstr>Alignment with Previous Studies</vt:lpstr>
      <vt:lpstr>Visualization of Charge Node Analysis</vt:lpstr>
      <vt:lpstr>Detailed Poisson Solution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Cryogenic-like Emulation</vt:lpstr>
      <vt:lpstr>Computational Impact</vt:lpstr>
      <vt:lpstr>CTN Detrapping with Thermal Activation</vt:lpstr>
      <vt:lpstr>CTN Detrapping with Thermal Activation</vt:lpstr>
      <vt:lpstr>Summary and Future Works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Myung/Josh Jin</cp:lastModifiedBy>
  <cp:revision>995</cp:revision>
  <dcterms:created xsi:type="dcterms:W3CDTF">2016-06-02T05:19:04Z</dcterms:created>
  <dcterms:modified xsi:type="dcterms:W3CDTF">2026-08-29T17:10:32Z</dcterms:modified>
  <cp:version/>
</cp:coreProperties>
</file>