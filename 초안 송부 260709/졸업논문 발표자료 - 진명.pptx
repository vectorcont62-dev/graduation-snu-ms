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22"/>
  </p:notesMasterIdLst>
  <p:sldIdLst>
    <p:sldId id="341" r:id="rId2"/>
    <p:sldId id="334" r:id="rId3"/>
    <p:sldId id="329" r:id="rId4"/>
    <p:sldId id="330" r:id="rId5"/>
    <p:sldId id="331" r:id="rId6"/>
    <p:sldId id="315" r:id="rId7"/>
    <p:sldId id="322" r:id="rId8"/>
    <p:sldId id="333" r:id="rId9"/>
    <p:sldId id="320" r:id="rId10"/>
    <p:sldId id="336" r:id="rId11"/>
    <p:sldId id="324" r:id="rId12"/>
    <p:sldId id="339" r:id="rId13"/>
    <p:sldId id="323" r:id="rId14"/>
    <p:sldId id="321" r:id="rId15"/>
    <p:sldId id="328" r:id="rId16"/>
    <p:sldId id="325" r:id="rId17"/>
    <p:sldId id="337" r:id="rId18"/>
    <p:sldId id="326" r:id="rId19"/>
    <p:sldId id="327" r:id="rId20"/>
    <p:sldId id="338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19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7687"/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7300" autoAdjust="0"/>
  </p:normalViewPr>
  <p:slideViewPr>
    <p:cSldViewPr snapToGrid="0">
      <p:cViewPr varScale="1">
        <p:scale>
          <a:sx n="102" d="100"/>
          <a:sy n="102" d="100"/>
        </p:scale>
        <p:origin x="1632" y="102"/>
      </p:cViewPr>
      <p:guideLst>
        <p:guide orient="horz" pos="2183"/>
        <p:guide pos="197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17970253-2973-13E5-AF28-8424A98DC24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19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3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emf"/><Relationship Id="rId4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9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AD9BE-B151-7AAD-E452-D503C03C0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38" y="739963"/>
            <a:ext cx="8756724" cy="219968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ts val="0"/>
              </a:spcBef>
            </a:pP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Time-Step-Free Physics-based</a:t>
            </a:r>
            <a:b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Modeling of Retention Loss in</a:t>
            </a:r>
            <a:b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Cryogenic 3-D NAND Flash 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B1B79B-E8A0-4133-BFF3-3E14AF3D2439}"/>
              </a:ext>
            </a:extLst>
          </p:cNvPr>
          <p:cNvSpPr txBox="1">
            <a:spLocks/>
          </p:cNvSpPr>
          <p:nvPr/>
        </p:nvSpPr>
        <p:spPr>
          <a:xfrm>
            <a:off x="1151792" y="4683491"/>
            <a:ext cx="6858000" cy="1224940"/>
          </a:xfr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2026. 07. 09</a:t>
            </a:r>
          </a:p>
          <a:p>
            <a:pPr marL="0" indent="0" algn="ctr"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석사과정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진 명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B3F3CA-58AA-91BB-A047-308EF26AD10A}"/>
              </a:ext>
            </a:extLst>
          </p:cNvPr>
          <p:cNvSpPr/>
          <p:nvPr/>
        </p:nvSpPr>
        <p:spPr>
          <a:xfrm>
            <a:off x="615460" y="3144045"/>
            <a:ext cx="8159261" cy="1188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fontAlgn="base" latinLnBrk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defRPr/>
            </a:pPr>
            <a:endParaRPr kumimoji="1" lang="en-US" altLang="ko-KR" sz="25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25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and Computer Engineering</a:t>
            </a:r>
          </a:p>
          <a:p>
            <a:pPr algn="ctr"/>
            <a:r>
              <a:rPr lang="en-US" altLang="ko-KR" sz="25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Seoul National University</a:t>
            </a:r>
            <a:endParaRPr lang="ko-KR" altLang="en-US" sz="2500" b="1" kern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5157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130EB-119C-CF9B-60C4-3E5F31E0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534FF-2A4F-8DDE-7E26-13F638DD3D8E}"/>
              </a:ext>
            </a:extLst>
          </p:cNvPr>
          <p:cNvSpPr txBox="1"/>
          <p:nvPr/>
        </p:nvSpPr>
        <p:spPr>
          <a:xfrm>
            <a:off x="493614" y="1726575"/>
            <a:ext cx="777644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Introduction: 3-D NAND Flash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discretization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분석 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Q-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Physics-Based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Cryogenic-like 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검증 및 계산 효율 분석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Summary and Future Works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3074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B6771-B904-D06D-3F1E-BC95E197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ED6AAE71-58AD-D1BB-55DE-F3B54D84314F}"/>
              </a:ext>
            </a:extLst>
          </p:cNvPr>
          <p:cNvSpPr txBox="1"/>
          <p:nvPr/>
        </p:nvSpPr>
        <p:spPr>
          <a:xfrm>
            <a:off x="3127118" y="1690062"/>
            <a:ext cx="57622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3-D NAND Flash memory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charge-trap stack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내부에 저장된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통해 정보를 저장함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시간이 증가하면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인해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감소 발생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Cylindrical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구조와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arbitrary trapped electron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고려하기 위한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physics-based modeling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필요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2D96CCE7-A280-B373-6CB7-767DEE18E9E2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8A1AACC-D995-3921-A447-F6F0B5598086}"/>
              </a:ext>
            </a:extLst>
          </p:cNvPr>
          <p:cNvGrpSpPr/>
          <p:nvPr/>
        </p:nvGrpSpPr>
        <p:grpSpPr>
          <a:xfrm>
            <a:off x="625316" y="1566952"/>
            <a:ext cx="2302341" cy="3689196"/>
            <a:chOff x="625316" y="1412405"/>
            <a:chExt cx="2302341" cy="3689196"/>
          </a:xfrm>
        </p:grpSpPr>
        <p:pic>
          <p:nvPicPr>
            <p:cNvPr id="211" name="그림 210" descr="로고, 그래픽, 디자인이(가) 표시된 사진&#10;&#10;자동 생성된 설명">
              <a:extLst>
                <a:ext uri="{FF2B5EF4-FFF2-40B4-BE49-F238E27FC236}">
                  <a16:creationId xmlns:a16="http://schemas.microsoft.com/office/drawing/2014/main" id="{20E526E3-9043-CED4-08E9-9DE1295EC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303" t="12315" r="12187"/>
            <a:stretch/>
          </p:blipFill>
          <p:spPr>
            <a:xfrm>
              <a:off x="625316" y="2205492"/>
              <a:ext cx="2064544" cy="2577269"/>
            </a:xfrm>
            <a:prstGeom prst="rect">
              <a:avLst/>
            </a:prstGeom>
          </p:spPr>
        </p:pic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D6E6291A-5098-30EC-CE55-4904DD2AD286}"/>
                </a:ext>
              </a:extLst>
            </p:cNvPr>
            <p:cNvSpPr txBox="1"/>
            <p:nvPr/>
          </p:nvSpPr>
          <p:spPr>
            <a:xfrm>
              <a:off x="703153" y="4793824"/>
              <a:ext cx="1687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Trapped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Electrons</a:t>
              </a:r>
              <a:endParaRPr lang="ko-KR" altLang="en-US" sz="1400" dirty="0"/>
            </a:p>
          </p:txBody>
        </p: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384FD8E0-8B22-B661-A154-AEAD7A52D28C}"/>
                </a:ext>
              </a:extLst>
            </p:cNvPr>
            <p:cNvCxnSpPr>
              <a:cxnSpLocks/>
              <a:endCxn id="221" idx="0"/>
            </p:cNvCxnSpPr>
            <p:nvPr/>
          </p:nvCxnSpPr>
          <p:spPr>
            <a:xfrm>
              <a:off x="1439704" y="4127520"/>
              <a:ext cx="107156" cy="6663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D3D91B11-9F4C-7339-FB02-8BD8F41E62AF}"/>
                </a:ext>
              </a:extLst>
            </p:cNvPr>
            <p:cNvCxnSpPr>
              <a:cxnSpLocks/>
              <a:endCxn id="221" idx="0"/>
            </p:cNvCxnSpPr>
            <p:nvPr/>
          </p:nvCxnSpPr>
          <p:spPr>
            <a:xfrm flipH="1">
              <a:off x="1546860" y="4137587"/>
              <a:ext cx="39287" cy="6562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514A09F0-556C-F0DA-D395-2E3A51E11DC2}"/>
                </a:ext>
              </a:extLst>
            </p:cNvPr>
            <p:cNvCxnSpPr>
              <a:cxnSpLocks/>
            </p:cNvCxnSpPr>
            <p:nvPr/>
          </p:nvCxnSpPr>
          <p:spPr>
            <a:xfrm>
              <a:off x="750332" y="2127308"/>
              <a:ext cx="0" cy="23333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E971E9B3-EEB0-045E-77D1-9A95134D755F}"/>
                </a:ext>
              </a:extLst>
            </p:cNvPr>
            <p:cNvCxnSpPr>
              <a:cxnSpLocks/>
            </p:cNvCxnSpPr>
            <p:nvPr/>
          </p:nvCxnSpPr>
          <p:spPr>
            <a:xfrm>
              <a:off x="1361443" y="2172220"/>
              <a:ext cx="0" cy="43368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A9FDE615-9E6E-C667-8CEB-EE0C2EDC663E}"/>
                </a:ext>
              </a:extLst>
            </p:cNvPr>
            <p:cNvCxnSpPr>
              <a:cxnSpLocks/>
            </p:cNvCxnSpPr>
            <p:nvPr/>
          </p:nvCxnSpPr>
          <p:spPr>
            <a:xfrm>
              <a:off x="1601205" y="2172220"/>
              <a:ext cx="0" cy="46047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DA19623C-9C73-8BA2-4C99-310E32D02858}"/>
                </a:ext>
              </a:extLst>
            </p:cNvPr>
            <p:cNvCxnSpPr>
              <a:cxnSpLocks/>
            </p:cNvCxnSpPr>
            <p:nvPr/>
          </p:nvCxnSpPr>
          <p:spPr>
            <a:xfrm>
              <a:off x="2178636" y="2172220"/>
              <a:ext cx="0" cy="59039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A79E245E-07EE-543F-65EA-417903A97819}"/>
                </a:ext>
              </a:extLst>
            </p:cNvPr>
            <p:cNvCxnSpPr>
              <a:cxnSpLocks/>
            </p:cNvCxnSpPr>
            <p:nvPr/>
          </p:nvCxnSpPr>
          <p:spPr>
            <a:xfrm>
              <a:off x="1751224" y="2172220"/>
              <a:ext cx="0" cy="55311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EA6ED4FB-439C-BD3B-3B49-2107F5462E36}"/>
                </a:ext>
              </a:extLst>
            </p:cNvPr>
            <p:cNvCxnSpPr>
              <a:cxnSpLocks/>
            </p:cNvCxnSpPr>
            <p:nvPr/>
          </p:nvCxnSpPr>
          <p:spPr>
            <a:xfrm>
              <a:off x="1932199" y="2172220"/>
              <a:ext cx="0" cy="5721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F2597E20-58D8-FA05-FCB6-80DCF10EE5B5}"/>
                </a:ext>
              </a:extLst>
            </p:cNvPr>
            <p:cNvSpPr txBox="1"/>
            <p:nvPr/>
          </p:nvSpPr>
          <p:spPr>
            <a:xfrm>
              <a:off x="828785" y="2422178"/>
              <a:ext cx="4165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filler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BF043AFA-66B6-668E-E15F-51DCBE267CA7}"/>
                </a:ext>
              </a:extLst>
            </p:cNvPr>
            <p:cNvSpPr txBox="1"/>
            <p:nvPr/>
          </p:nvSpPr>
          <p:spPr>
            <a:xfrm>
              <a:off x="1243574" y="1412405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channel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5F3AAB7A-8D0D-43E6-9770-7BADED14D656}"/>
                </a:ext>
              </a:extLst>
            </p:cNvPr>
            <p:cNvSpPr txBox="1"/>
            <p:nvPr/>
          </p:nvSpPr>
          <p:spPr>
            <a:xfrm>
              <a:off x="1762029" y="1595720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BETOX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25F4E-C1FF-CCA5-9550-AFD410C81D93}"/>
                </a:ext>
              </a:extLst>
            </p:cNvPr>
            <p:cNvSpPr txBox="1"/>
            <p:nvPr/>
          </p:nvSpPr>
          <p:spPr>
            <a:xfrm>
              <a:off x="1955481" y="1770775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CTN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504F71FC-466C-DDEF-2C91-25CC717B1DCB}"/>
                </a:ext>
              </a:extLst>
            </p:cNvPr>
            <p:cNvSpPr txBox="1"/>
            <p:nvPr/>
          </p:nvSpPr>
          <p:spPr>
            <a:xfrm>
              <a:off x="2299119" y="1966432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BOX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cxnSp>
          <p:nvCxnSpPr>
            <p:cNvPr id="287" name="직선 화살표 연결선 286">
              <a:extLst>
                <a:ext uri="{FF2B5EF4-FFF2-40B4-BE49-F238E27FC236}">
                  <a16:creationId xmlns:a16="http://schemas.microsoft.com/office/drawing/2014/main" id="{15B0EF47-B033-D9C7-CCD8-5F91DF32369E}"/>
                </a:ext>
              </a:extLst>
            </p:cNvPr>
            <p:cNvCxnSpPr>
              <a:cxnSpLocks/>
            </p:cNvCxnSpPr>
            <p:nvPr/>
          </p:nvCxnSpPr>
          <p:spPr>
            <a:xfrm>
              <a:off x="1679115" y="1721113"/>
              <a:ext cx="158893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화살표 연결선 288">
              <a:extLst>
                <a:ext uri="{FF2B5EF4-FFF2-40B4-BE49-F238E27FC236}">
                  <a16:creationId xmlns:a16="http://schemas.microsoft.com/office/drawing/2014/main" id="{7D685740-6A5A-5851-E175-12DEDAFCB5D2}"/>
                </a:ext>
              </a:extLst>
            </p:cNvPr>
            <p:cNvCxnSpPr>
              <a:cxnSpLocks/>
            </p:cNvCxnSpPr>
            <p:nvPr/>
          </p:nvCxnSpPr>
          <p:spPr>
            <a:xfrm>
              <a:off x="1854991" y="1897326"/>
              <a:ext cx="17155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화살표 연결선 289">
              <a:extLst>
                <a:ext uri="{FF2B5EF4-FFF2-40B4-BE49-F238E27FC236}">
                  <a16:creationId xmlns:a16="http://schemas.microsoft.com/office/drawing/2014/main" id="{2AE7640F-F59B-4118-1378-2C2CAE547F4C}"/>
                </a:ext>
              </a:extLst>
            </p:cNvPr>
            <p:cNvCxnSpPr>
              <a:cxnSpLocks/>
            </p:cNvCxnSpPr>
            <p:nvPr/>
          </p:nvCxnSpPr>
          <p:spPr>
            <a:xfrm>
              <a:off x="2089785" y="2089543"/>
              <a:ext cx="28272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화살표 연결선 296">
              <a:extLst>
                <a:ext uri="{FF2B5EF4-FFF2-40B4-BE49-F238E27FC236}">
                  <a16:creationId xmlns:a16="http://schemas.microsoft.com/office/drawing/2014/main" id="{89538A71-88D9-E8B1-41CC-8D112A2B4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413" y="1658626"/>
              <a:ext cx="0" cy="51359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화살표 연결선 298">
              <a:extLst>
                <a:ext uri="{FF2B5EF4-FFF2-40B4-BE49-F238E27FC236}">
                  <a16:creationId xmlns:a16="http://schemas.microsoft.com/office/drawing/2014/main" id="{6597BB9F-2C9D-14B4-9A0D-D354B5857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9587" y="1720275"/>
              <a:ext cx="0" cy="492378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화살표 연결선 300">
              <a:extLst>
                <a:ext uri="{FF2B5EF4-FFF2-40B4-BE49-F238E27FC236}">
                  <a16:creationId xmlns:a16="http://schemas.microsoft.com/office/drawing/2014/main" id="{9E32A56A-F006-A54A-CBCA-D338A04B5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567" y="1893885"/>
              <a:ext cx="0" cy="37560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화살표 연결선 302">
              <a:extLst>
                <a:ext uri="{FF2B5EF4-FFF2-40B4-BE49-F238E27FC236}">
                  <a16:creationId xmlns:a16="http://schemas.microsoft.com/office/drawing/2014/main" id="{4A274FDA-4DA0-4DC6-5765-6922987E42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9785" y="2089542"/>
              <a:ext cx="0" cy="26972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8FD311D3-9D28-3880-7D83-BBA441596096}"/>
                </a:ext>
              </a:extLst>
            </p:cNvPr>
            <p:cNvSpPr txBox="1"/>
            <p:nvPr/>
          </p:nvSpPr>
          <p:spPr>
            <a:xfrm>
              <a:off x="2113200" y="3409811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WL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8557ABA5-7680-ABCC-E903-BC38D3F540E3}"/>
                </a:ext>
              </a:extLst>
            </p:cNvPr>
            <p:cNvCxnSpPr/>
            <p:nvPr/>
          </p:nvCxnSpPr>
          <p:spPr>
            <a:xfrm flipH="1" flipV="1">
              <a:off x="1302867" y="4021435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8E580F8D-3297-EE0F-130D-21EB1E98D1BC}"/>
                </a:ext>
              </a:extLst>
            </p:cNvPr>
            <p:cNvCxnSpPr/>
            <p:nvPr/>
          </p:nvCxnSpPr>
          <p:spPr>
            <a:xfrm flipH="1" flipV="1">
              <a:off x="1302867" y="3939282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C35DDF68-9830-E57A-5FAE-3B090ADF0091}"/>
                </a:ext>
              </a:extLst>
            </p:cNvPr>
            <p:cNvCxnSpPr/>
            <p:nvPr/>
          </p:nvCxnSpPr>
          <p:spPr>
            <a:xfrm flipH="1" flipV="1">
              <a:off x="1302867" y="3857129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33C3006B-DBF8-18B3-2F7B-646A490F90F5}"/>
                </a:ext>
              </a:extLst>
            </p:cNvPr>
            <p:cNvCxnSpPr/>
            <p:nvPr/>
          </p:nvCxnSpPr>
          <p:spPr>
            <a:xfrm flipH="1" flipV="1">
              <a:off x="1302867" y="3774976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2385ED26-D5F2-0715-25F7-DD515645B863}"/>
                </a:ext>
              </a:extLst>
            </p:cNvPr>
            <p:cNvCxnSpPr/>
            <p:nvPr/>
          </p:nvCxnSpPr>
          <p:spPr>
            <a:xfrm flipH="1" flipV="1">
              <a:off x="1302867" y="3692823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4DDD404D-6C69-7730-BF4B-998E0F350BB2}"/>
                </a:ext>
              </a:extLst>
            </p:cNvPr>
            <p:cNvCxnSpPr/>
            <p:nvPr/>
          </p:nvCxnSpPr>
          <p:spPr>
            <a:xfrm flipH="1" flipV="1">
              <a:off x="1302867" y="3604966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B6799101-8D2D-7390-4852-97F91DF4343D}"/>
                </a:ext>
              </a:extLst>
            </p:cNvPr>
            <p:cNvCxnSpPr/>
            <p:nvPr/>
          </p:nvCxnSpPr>
          <p:spPr>
            <a:xfrm flipH="1" flipV="1">
              <a:off x="1302867" y="3529584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D9423BDF-DB07-A356-8389-EEE89B97C777}"/>
                </a:ext>
              </a:extLst>
            </p:cNvPr>
            <p:cNvCxnSpPr/>
            <p:nvPr/>
          </p:nvCxnSpPr>
          <p:spPr>
            <a:xfrm flipH="1" flipV="1">
              <a:off x="1302867" y="3455855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37FADE82-12F8-9B83-DDE6-65BBBBA309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416353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7896BFB9-0B4A-C5E5-D6D0-2D8A22F01E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548152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42E369B9-A19F-6C09-CCAE-8C1043C0E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679951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65B411AF-FC04-512F-F9FA-A975E53E99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811750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7FDCE58-E30B-D0D6-8FAF-15EA4BEDDE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943549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3AD5945A-7541-1EC8-141A-9576B5E669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631113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3DE328A6-0FB7-67FD-08DF-1E218E5E92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790102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6861D00B-AC07-BD1C-3733-88252F79A8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949091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863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02CFA-4AE9-C87A-A0C4-389C69A4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06CA8A-3E00-E06C-5092-F220B5B4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BETOX Trapped Electron </a:t>
            </a:r>
            <a:r>
              <a:rPr lang="en-US" altLang="ko-KR" sz="3200" dirty="0" err="1"/>
              <a:t>Detrapping</a:t>
            </a:r>
            <a:r>
              <a:rPr lang="en-US" altLang="ko-KR" sz="3200" dirty="0"/>
              <a:t> Modeling</a:t>
            </a:r>
            <a:endParaRPr lang="ko-KR" altLang="en-US" sz="3200" dirty="0"/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8F022FD0-ACA4-98C9-1A38-7C6A3D14B528}"/>
              </a:ext>
            </a:extLst>
          </p:cNvPr>
          <p:cNvGrpSpPr/>
          <p:nvPr/>
        </p:nvGrpSpPr>
        <p:grpSpPr>
          <a:xfrm>
            <a:off x="6677510" y="3167467"/>
            <a:ext cx="2200260" cy="3288813"/>
            <a:chOff x="4155873" y="5829539"/>
            <a:chExt cx="2200260" cy="3288813"/>
          </a:xfrm>
        </p:grpSpPr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B0CC0EDB-2980-8DDE-4097-192140646C78}"/>
                </a:ext>
              </a:extLst>
            </p:cNvPr>
            <p:cNvGrpSpPr/>
            <p:nvPr/>
          </p:nvGrpSpPr>
          <p:grpSpPr>
            <a:xfrm>
              <a:off x="4155873" y="5829539"/>
              <a:ext cx="2200260" cy="3288813"/>
              <a:chOff x="4155873" y="5829539"/>
              <a:chExt cx="2200260" cy="3288813"/>
            </a:xfrm>
          </p:grpSpPr>
          <p:pic>
            <p:nvPicPr>
              <p:cNvPr id="182" name="그림 181" descr="스크린샷, 디자인, 예술이(가) 표시된 사진&#10;&#10;자동 생성된 설명">
                <a:extLst>
                  <a:ext uri="{FF2B5EF4-FFF2-40B4-BE49-F238E27FC236}">
                    <a16:creationId xmlns:a16="http://schemas.microsoft.com/office/drawing/2014/main" id="{1B150861-9878-20FE-6E22-72F9ADF824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856" t="4775" r="29017"/>
              <a:stretch/>
            </p:blipFill>
            <p:spPr>
              <a:xfrm>
                <a:off x="4155873" y="6233981"/>
                <a:ext cx="1987554" cy="2588633"/>
              </a:xfrm>
              <a:prstGeom prst="rect">
                <a:avLst/>
              </a:prstGeom>
            </p:spPr>
          </p:pic>
          <p:sp>
            <p:nvSpPr>
              <p:cNvPr id="183" name="화살표: 아래쪽 182">
                <a:extLst>
                  <a:ext uri="{FF2B5EF4-FFF2-40B4-BE49-F238E27FC236}">
                    <a16:creationId xmlns:a16="http://schemas.microsoft.com/office/drawing/2014/main" id="{1C64350A-9879-73C9-D1DE-E01148706FE9}"/>
                  </a:ext>
                </a:extLst>
              </p:cNvPr>
              <p:cNvSpPr/>
              <p:nvPr/>
            </p:nvSpPr>
            <p:spPr>
              <a:xfrm rot="5400000">
                <a:off x="4689525" y="8049405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84" name="화살표: 아래쪽 183">
                <a:extLst>
                  <a:ext uri="{FF2B5EF4-FFF2-40B4-BE49-F238E27FC236}">
                    <a16:creationId xmlns:a16="http://schemas.microsoft.com/office/drawing/2014/main" id="{95479DC5-511F-5FE9-835F-62BFF680BF45}"/>
                  </a:ext>
                </a:extLst>
              </p:cNvPr>
              <p:cNvSpPr/>
              <p:nvPr/>
            </p:nvSpPr>
            <p:spPr>
              <a:xfrm rot="5400000">
                <a:off x="4592224" y="7919520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85" name="화살표: 아래쪽 184">
                <a:extLst>
                  <a:ext uri="{FF2B5EF4-FFF2-40B4-BE49-F238E27FC236}">
                    <a16:creationId xmlns:a16="http://schemas.microsoft.com/office/drawing/2014/main" id="{791B09F6-6D15-6365-BCD3-051BED19B053}"/>
                  </a:ext>
                </a:extLst>
              </p:cNvPr>
              <p:cNvSpPr/>
              <p:nvPr/>
            </p:nvSpPr>
            <p:spPr>
              <a:xfrm rot="5400000">
                <a:off x="4490073" y="7798983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016D00E6-C014-12C5-9B34-7FCB132CCD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26725" y="5896691"/>
                <a:ext cx="0" cy="1535906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>
                <a:extLst>
                  <a:ext uri="{FF2B5EF4-FFF2-40B4-BE49-F238E27FC236}">
                    <a16:creationId xmlns:a16="http://schemas.microsoft.com/office/drawing/2014/main" id="{DCC3EFDD-CB48-0F57-28AB-86599E6DC5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5459" y="5896691"/>
                <a:ext cx="0" cy="361474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0AF5BF1A-3EB7-8CBC-2AE9-CD40DB4EBCC4}"/>
                  </a:ext>
                </a:extLst>
              </p:cNvPr>
              <p:cNvSpPr txBox="1"/>
              <p:nvPr/>
            </p:nvSpPr>
            <p:spPr>
              <a:xfrm>
                <a:off x="4566176" y="5829539"/>
                <a:ext cx="1043735" cy="40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13"/>
                  <a:t>BETOX Region</a:t>
                </a:r>
              </a:p>
              <a:p>
                <a:pPr algn="ctr"/>
                <a:r>
                  <a:rPr lang="en-US" altLang="ko-KR" sz="1013"/>
                  <a:t>(ONO)</a:t>
                </a:r>
              </a:p>
            </p:txBody>
          </p:sp>
          <p:grpSp>
            <p:nvGrpSpPr>
              <p:cNvPr id="189" name="그룹 188">
                <a:extLst>
                  <a:ext uri="{FF2B5EF4-FFF2-40B4-BE49-F238E27FC236}">
                    <a16:creationId xmlns:a16="http://schemas.microsoft.com/office/drawing/2014/main" id="{118F26CA-DA88-FE1C-1AC6-9A8103B90415}"/>
                  </a:ext>
                </a:extLst>
              </p:cNvPr>
              <p:cNvGrpSpPr/>
              <p:nvPr/>
            </p:nvGrpSpPr>
            <p:grpSpPr>
              <a:xfrm>
                <a:off x="4409675" y="6265426"/>
                <a:ext cx="1427217" cy="2124973"/>
                <a:chOff x="4409675" y="6458070"/>
                <a:chExt cx="1427217" cy="2124973"/>
              </a:xfrm>
            </p:grpSpPr>
            <p:cxnSp>
              <p:nvCxnSpPr>
                <p:cNvPr id="200" name="직선 연결선 199">
                  <a:extLst>
                    <a:ext uri="{FF2B5EF4-FFF2-40B4-BE49-F238E27FC236}">
                      <a16:creationId xmlns:a16="http://schemas.microsoft.com/office/drawing/2014/main" id="{6CA1E149-AE62-AEA9-4EDD-780E246109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09675" y="7575550"/>
                  <a:ext cx="59199" cy="1007493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CCE48783-E6F8-F856-1E5F-E3D4BC4C2F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18201" y="7009769"/>
                  <a:ext cx="401449" cy="565781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직선 연결선 201">
                  <a:extLst>
                    <a:ext uri="{FF2B5EF4-FFF2-40B4-BE49-F238E27FC236}">
                      <a16:creationId xmlns:a16="http://schemas.microsoft.com/office/drawing/2014/main" id="{385DC8FC-E4B8-F28F-58EF-8338CA7188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6700" y="7009769"/>
                  <a:ext cx="30143" cy="1009044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직선 연결선 202">
                  <a:extLst>
                    <a:ext uri="{FF2B5EF4-FFF2-40B4-BE49-F238E27FC236}">
                      <a16:creationId xmlns:a16="http://schemas.microsoft.com/office/drawing/2014/main" id="{75B69C6A-0495-04BC-9B14-50A3723823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83893" y="7924249"/>
                  <a:ext cx="157410" cy="94564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>
                  <a:extLst>
                    <a:ext uri="{FF2B5EF4-FFF2-40B4-BE49-F238E27FC236}">
                      <a16:creationId xmlns:a16="http://schemas.microsoft.com/office/drawing/2014/main" id="{BDEA1707-83EF-6FE2-B75D-2A1BA8354A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6775" y="6680200"/>
                  <a:ext cx="0" cy="1040384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직선 연결선 204">
                  <a:extLst>
                    <a:ext uri="{FF2B5EF4-FFF2-40B4-BE49-F238E27FC236}">
                      <a16:creationId xmlns:a16="http://schemas.microsoft.com/office/drawing/2014/main" id="{3196023A-72CE-2505-AA69-304117AC80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96775" y="6458070"/>
                  <a:ext cx="328684" cy="222130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E2C2599A-F5E0-5598-B565-837DF59006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09911" y="6482254"/>
                  <a:ext cx="115548" cy="1501065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A314CE9F-7296-2D91-7ABC-7F93C48CA7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26962" y="7909590"/>
                  <a:ext cx="209930" cy="73729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직선 연결선 207">
                  <a:extLst>
                    <a:ext uri="{FF2B5EF4-FFF2-40B4-BE49-F238E27FC236}">
                      <a16:creationId xmlns:a16="http://schemas.microsoft.com/office/drawing/2014/main" id="{1A430988-E3F7-73C3-C5B2-C66EE68EE4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49061" y="7718808"/>
                  <a:ext cx="341973" cy="205441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0" name="화살표: 아래쪽 189">
                <a:extLst>
                  <a:ext uri="{FF2B5EF4-FFF2-40B4-BE49-F238E27FC236}">
                    <a16:creationId xmlns:a16="http://schemas.microsoft.com/office/drawing/2014/main" id="{30F43438-227F-C99A-BE24-8BF92C956B59}"/>
                  </a:ext>
                </a:extLst>
              </p:cNvPr>
              <p:cNvSpPr/>
              <p:nvPr/>
            </p:nvSpPr>
            <p:spPr>
              <a:xfrm rot="19925906" flipH="1">
                <a:off x="5224310" y="7576453"/>
                <a:ext cx="188671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91" name="직선 연결선 190">
                <a:extLst>
                  <a:ext uri="{FF2B5EF4-FFF2-40B4-BE49-F238E27FC236}">
                    <a16:creationId xmlns:a16="http://schemas.microsoft.com/office/drawing/2014/main" id="{E8C01DC7-791B-4A74-43F2-CB9DDC35CB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5627" y="8304239"/>
                <a:ext cx="118266" cy="4648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2529AD0C-C28F-02DB-5D61-2264039B3938}"/>
                  </a:ext>
                </a:extLst>
              </p:cNvPr>
              <p:cNvSpPr txBox="1"/>
              <p:nvPr/>
            </p:nvSpPr>
            <p:spPr>
              <a:xfrm>
                <a:off x="4362450" y="8783517"/>
                <a:ext cx="1085850" cy="334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88"/>
                  <a:t>Trap-to-Band Tunneling Emission</a:t>
                </a:r>
                <a:endParaRPr lang="ko-KR" altLang="en-US" sz="788"/>
              </a:p>
            </p:txBody>
          </p:sp>
          <p:sp>
            <p:nvSpPr>
              <p:cNvPr id="194" name="화살표: 아래쪽 193">
                <a:extLst>
                  <a:ext uri="{FF2B5EF4-FFF2-40B4-BE49-F238E27FC236}">
                    <a16:creationId xmlns:a16="http://schemas.microsoft.com/office/drawing/2014/main" id="{283CB6CC-4823-540D-528E-2243C2EDA567}"/>
                  </a:ext>
                </a:extLst>
              </p:cNvPr>
              <p:cNvSpPr/>
              <p:nvPr/>
            </p:nvSpPr>
            <p:spPr>
              <a:xfrm rot="8800769" flipH="1">
                <a:off x="4945085" y="7362945"/>
                <a:ext cx="188671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902812" lon="2358286" rev="1722722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95" name="직선 연결선 194">
                <a:extLst>
                  <a:ext uri="{FF2B5EF4-FFF2-40B4-BE49-F238E27FC236}">
                    <a16:creationId xmlns:a16="http://schemas.microsoft.com/office/drawing/2014/main" id="{E1A415D3-4B26-4A0D-94BF-358842F564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5459" y="8217236"/>
                <a:ext cx="0" cy="361474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BD2A5A98-ABFD-BEE5-3591-F7D93E6F5542}"/>
                  </a:ext>
                </a:extLst>
              </p:cNvPr>
              <p:cNvSpPr txBox="1"/>
              <p:nvPr/>
            </p:nvSpPr>
            <p:spPr>
              <a:xfrm>
                <a:off x="5603199" y="8193932"/>
                <a:ext cx="752934" cy="40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13"/>
                  <a:t>CTN</a:t>
                </a:r>
              </a:p>
              <a:p>
                <a:pPr algn="ctr"/>
                <a:r>
                  <a:rPr lang="en-US" altLang="ko-KR" sz="1013"/>
                  <a:t>Region</a:t>
                </a:r>
              </a:p>
            </p:txBody>
          </p:sp>
          <p:sp>
            <p:nvSpPr>
              <p:cNvPr id="197" name="화살표: 아래쪽 196">
                <a:extLst>
                  <a:ext uri="{FF2B5EF4-FFF2-40B4-BE49-F238E27FC236}">
                    <a16:creationId xmlns:a16="http://schemas.microsoft.com/office/drawing/2014/main" id="{F57EA6A0-48DA-F547-4FB5-7CD1D313A355}"/>
                  </a:ext>
                </a:extLst>
              </p:cNvPr>
              <p:cNvSpPr/>
              <p:nvPr/>
            </p:nvSpPr>
            <p:spPr>
              <a:xfrm rot="1499914" flipH="1">
                <a:off x="4910895" y="7515700"/>
                <a:ext cx="128448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98" name="화살표: 아래쪽 197">
                <a:extLst>
                  <a:ext uri="{FF2B5EF4-FFF2-40B4-BE49-F238E27FC236}">
                    <a16:creationId xmlns:a16="http://schemas.microsoft.com/office/drawing/2014/main" id="{6D269ADA-E1F8-F6C7-2123-AC08F6AD9EF3}"/>
                  </a:ext>
                </a:extLst>
              </p:cNvPr>
              <p:cNvSpPr/>
              <p:nvPr/>
            </p:nvSpPr>
            <p:spPr>
              <a:xfrm rot="1499914" flipH="1">
                <a:off x="5348495" y="7790853"/>
                <a:ext cx="128448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pic>
            <p:nvPicPr>
              <p:cNvPr id="199" name="그림 198">
                <a:extLst>
                  <a:ext uri="{FF2B5EF4-FFF2-40B4-BE49-F238E27FC236}">
                    <a16:creationId xmlns:a16="http://schemas.microsoft.com/office/drawing/2014/main" id="{15FF8E80-68CC-58E2-A545-1FFFEC5982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50000"/>
              </a:blip>
              <a:stretch>
                <a:fillRect/>
              </a:stretch>
            </p:blipFill>
            <p:spPr>
              <a:xfrm>
                <a:off x="4898933" y="7374919"/>
                <a:ext cx="138613" cy="233739"/>
              </a:xfrm>
              <a:prstGeom prst="rect">
                <a:avLst/>
              </a:prstGeom>
            </p:spPr>
          </p:pic>
        </p:grpSp>
        <p:sp>
          <p:nvSpPr>
            <p:cNvPr id="179" name="자유형: 도형 178">
              <a:extLst>
                <a:ext uri="{FF2B5EF4-FFF2-40B4-BE49-F238E27FC236}">
                  <a16:creationId xmlns:a16="http://schemas.microsoft.com/office/drawing/2014/main" id="{EF71FE24-2A38-E5EF-C1DC-1D2C5766FEF4}"/>
                </a:ext>
              </a:extLst>
            </p:cNvPr>
            <p:cNvSpPr/>
            <p:nvPr/>
          </p:nvSpPr>
          <p:spPr>
            <a:xfrm rot="10800000">
              <a:off x="4188337" y="7548539"/>
              <a:ext cx="939709" cy="111996"/>
            </a:xfrm>
            <a:custGeom>
              <a:avLst/>
              <a:gdLst>
                <a:gd name="connsiteX0" fmla="*/ 0 w 1054100"/>
                <a:gd name="connsiteY0" fmla="*/ 110186 h 199104"/>
                <a:gd name="connsiteX1" fmla="*/ 127000 w 1054100"/>
                <a:gd name="connsiteY1" fmla="*/ 2236 h 199104"/>
                <a:gd name="connsiteX2" fmla="*/ 285750 w 1054100"/>
                <a:gd name="connsiteY2" fmla="*/ 199086 h 199104"/>
                <a:gd name="connsiteX3" fmla="*/ 463550 w 1054100"/>
                <a:gd name="connsiteY3" fmla="*/ 14936 h 199104"/>
                <a:gd name="connsiteX4" fmla="*/ 609600 w 1054100"/>
                <a:gd name="connsiteY4" fmla="*/ 186386 h 199104"/>
                <a:gd name="connsiteX5" fmla="*/ 768350 w 1054100"/>
                <a:gd name="connsiteY5" fmla="*/ 33986 h 199104"/>
                <a:gd name="connsiteX6" fmla="*/ 844550 w 1054100"/>
                <a:gd name="connsiteY6" fmla="*/ 46686 h 199104"/>
                <a:gd name="connsiteX7" fmla="*/ 920750 w 1054100"/>
                <a:gd name="connsiteY7" fmla="*/ 116536 h 199104"/>
                <a:gd name="connsiteX8" fmla="*/ 1054100 w 1054100"/>
                <a:gd name="connsiteY8" fmla="*/ 122886 h 199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4100" h="199104">
                  <a:moveTo>
                    <a:pt x="0" y="110186"/>
                  </a:moveTo>
                  <a:cubicBezTo>
                    <a:pt x="39687" y="48802"/>
                    <a:pt x="79375" y="-12581"/>
                    <a:pt x="127000" y="2236"/>
                  </a:cubicBezTo>
                  <a:cubicBezTo>
                    <a:pt x="174625" y="17053"/>
                    <a:pt x="229658" y="196969"/>
                    <a:pt x="285750" y="199086"/>
                  </a:cubicBezTo>
                  <a:cubicBezTo>
                    <a:pt x="341842" y="201203"/>
                    <a:pt x="409575" y="17053"/>
                    <a:pt x="463550" y="14936"/>
                  </a:cubicBezTo>
                  <a:cubicBezTo>
                    <a:pt x="517525" y="12819"/>
                    <a:pt x="558800" y="183211"/>
                    <a:pt x="609600" y="186386"/>
                  </a:cubicBezTo>
                  <a:cubicBezTo>
                    <a:pt x="660400" y="189561"/>
                    <a:pt x="729192" y="57269"/>
                    <a:pt x="768350" y="33986"/>
                  </a:cubicBezTo>
                  <a:cubicBezTo>
                    <a:pt x="807508" y="10703"/>
                    <a:pt x="819150" y="32928"/>
                    <a:pt x="844550" y="46686"/>
                  </a:cubicBezTo>
                  <a:cubicBezTo>
                    <a:pt x="869950" y="60444"/>
                    <a:pt x="885825" y="103836"/>
                    <a:pt x="920750" y="116536"/>
                  </a:cubicBezTo>
                  <a:cubicBezTo>
                    <a:pt x="955675" y="129236"/>
                    <a:pt x="1004887" y="126061"/>
                    <a:pt x="1054100" y="122886"/>
                  </a:cubicBezTo>
                </a:path>
              </a:pathLst>
            </a:custGeom>
            <a:noFill/>
            <a:ln>
              <a:solidFill>
                <a:srgbClr val="002060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180" name="곱하기 기호 179">
              <a:extLst>
                <a:ext uri="{FF2B5EF4-FFF2-40B4-BE49-F238E27FC236}">
                  <a16:creationId xmlns:a16="http://schemas.microsoft.com/office/drawing/2014/main" id="{CBA223F7-B232-1A2D-94D2-5E76EF447290}"/>
                </a:ext>
              </a:extLst>
            </p:cNvPr>
            <p:cNvSpPr/>
            <p:nvPr/>
          </p:nvSpPr>
          <p:spPr>
            <a:xfrm>
              <a:off x="4567024" y="7440944"/>
              <a:ext cx="178638" cy="368545"/>
            </a:xfrm>
            <a:prstGeom prst="mathMultiply">
              <a:avLst/>
            </a:prstGeom>
            <a:solidFill>
              <a:srgbClr val="FF000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1" name="그림 180">
              <a:extLst>
                <a:ext uri="{FF2B5EF4-FFF2-40B4-BE49-F238E27FC236}">
                  <a16:creationId xmlns:a16="http://schemas.microsoft.com/office/drawing/2014/main" id="{307CCB46-3ABB-127A-FAAF-8A3D9D498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rcRect l="1" t="4762" r="-1" b="-1"/>
            <a:stretch/>
          </p:blipFill>
          <p:spPr>
            <a:xfrm>
              <a:off x="4883892" y="7608658"/>
              <a:ext cx="155343" cy="208866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29EFAC80-0F22-C8E0-9FBF-FA3954430E3E}"/>
              </a:ext>
            </a:extLst>
          </p:cNvPr>
          <p:cNvGrpSpPr/>
          <p:nvPr/>
        </p:nvGrpSpPr>
        <p:grpSpPr>
          <a:xfrm>
            <a:off x="302442" y="1107714"/>
            <a:ext cx="2389490" cy="2321286"/>
            <a:chOff x="1425895" y="5488309"/>
            <a:chExt cx="1801255" cy="174984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049283-9338-CD6C-AEC7-D734628B2046}"/>
                </a:ext>
              </a:extLst>
            </p:cNvPr>
            <p:cNvSpPr txBox="1"/>
            <p:nvPr/>
          </p:nvSpPr>
          <p:spPr>
            <a:xfrm>
              <a:off x="2573623" y="6804516"/>
              <a:ext cx="402808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n1</a:t>
              </a:r>
              <a:endParaRPr lang="ko-KR" altLang="en-US" sz="1100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86E0833D-D55B-9CD4-07AD-1E11DCDE3157}"/>
                </a:ext>
              </a:extLst>
            </p:cNvPr>
            <p:cNvSpPr/>
            <p:nvPr/>
          </p:nvSpPr>
          <p:spPr>
            <a:xfrm>
              <a:off x="1692868" y="5930050"/>
              <a:ext cx="1168400" cy="1308100"/>
            </a:xfrm>
            <a:custGeom>
              <a:avLst/>
              <a:gdLst>
                <a:gd name="connsiteX0" fmla="*/ 0 w 1168400"/>
                <a:gd name="connsiteY0" fmla="*/ 482600 h 1308100"/>
                <a:gd name="connsiteX1" fmla="*/ 292100 w 1168400"/>
                <a:gd name="connsiteY1" fmla="*/ 482600 h 1308100"/>
                <a:gd name="connsiteX2" fmla="*/ 374650 w 1168400"/>
                <a:gd name="connsiteY2" fmla="*/ 488950 h 1308100"/>
                <a:gd name="connsiteX3" fmla="*/ 469900 w 1168400"/>
                <a:gd name="connsiteY3" fmla="*/ 558800 h 1308100"/>
                <a:gd name="connsiteX4" fmla="*/ 514350 w 1168400"/>
                <a:gd name="connsiteY4" fmla="*/ 654050 h 1308100"/>
                <a:gd name="connsiteX5" fmla="*/ 514350 w 1168400"/>
                <a:gd name="connsiteY5" fmla="*/ 0 h 1308100"/>
                <a:gd name="connsiteX6" fmla="*/ 908050 w 1168400"/>
                <a:gd name="connsiteY6" fmla="*/ 825500 h 1308100"/>
                <a:gd name="connsiteX7" fmla="*/ 908050 w 1168400"/>
                <a:gd name="connsiteY7" fmla="*/ 1143000 h 1308100"/>
                <a:gd name="connsiteX8" fmla="*/ 1168400 w 1168400"/>
                <a:gd name="connsiteY8" fmla="*/ 1308100 h 130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8400" h="1308100">
                  <a:moveTo>
                    <a:pt x="0" y="482600"/>
                  </a:moveTo>
                  <a:lnTo>
                    <a:pt x="292100" y="482600"/>
                  </a:lnTo>
                  <a:lnTo>
                    <a:pt x="374650" y="488950"/>
                  </a:lnTo>
                  <a:lnTo>
                    <a:pt x="469900" y="558800"/>
                  </a:lnTo>
                  <a:lnTo>
                    <a:pt x="514350" y="654050"/>
                  </a:lnTo>
                  <a:lnTo>
                    <a:pt x="514350" y="0"/>
                  </a:lnTo>
                  <a:lnTo>
                    <a:pt x="908050" y="825500"/>
                  </a:lnTo>
                  <a:lnTo>
                    <a:pt x="908050" y="1143000"/>
                  </a:lnTo>
                  <a:lnTo>
                    <a:pt x="1168400" y="13081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6AA0B065-4873-01EB-4DB3-76E23F681695}"/>
                </a:ext>
              </a:extLst>
            </p:cNvPr>
            <p:cNvCxnSpPr>
              <a:cxnSpLocks/>
            </p:cNvCxnSpPr>
            <p:nvPr/>
          </p:nvCxnSpPr>
          <p:spPr>
            <a:xfrm>
              <a:off x="2234157" y="6463303"/>
              <a:ext cx="550930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F819483-4FA9-F9CF-3F7F-9B7CC7198C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1354" y="6437903"/>
              <a:ext cx="412296" cy="0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2AE402-F62B-6336-8593-2FFDCA940A06}"/>
                </a:ext>
              </a:extLst>
            </p:cNvPr>
            <p:cNvSpPr txBox="1"/>
            <p:nvPr/>
          </p:nvSpPr>
          <p:spPr>
            <a:xfrm>
              <a:off x="1527289" y="6189408"/>
              <a:ext cx="697052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Si-Channel</a:t>
              </a:r>
              <a:endParaRPr lang="ko-KR" altLang="en-US" sz="1100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C3A0B8FE-FAD4-8836-B9E8-C9B3C1BA4292}"/>
                </a:ext>
              </a:extLst>
            </p:cNvPr>
            <p:cNvSpPr/>
            <p:nvPr/>
          </p:nvSpPr>
          <p:spPr>
            <a:xfrm>
              <a:off x="2118459" y="6438900"/>
              <a:ext cx="78581" cy="123825"/>
            </a:xfrm>
            <a:custGeom>
              <a:avLst/>
              <a:gdLst>
                <a:gd name="connsiteX0" fmla="*/ 0 w 78581"/>
                <a:gd name="connsiteY0" fmla="*/ 4763 h 123825"/>
                <a:gd name="connsiteX1" fmla="*/ 52388 w 78581"/>
                <a:gd name="connsiteY1" fmla="*/ 45244 h 123825"/>
                <a:gd name="connsiteX2" fmla="*/ 78581 w 78581"/>
                <a:gd name="connsiteY2" fmla="*/ 123825 h 123825"/>
                <a:gd name="connsiteX3" fmla="*/ 78581 w 78581"/>
                <a:gd name="connsiteY3" fmla="*/ 0 h 123825"/>
                <a:gd name="connsiteX4" fmla="*/ 0 w 78581"/>
                <a:gd name="connsiteY4" fmla="*/ 4763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81" h="123825">
                  <a:moveTo>
                    <a:pt x="0" y="4763"/>
                  </a:moveTo>
                  <a:lnTo>
                    <a:pt x="52388" y="45244"/>
                  </a:lnTo>
                  <a:lnTo>
                    <a:pt x="78581" y="123825"/>
                  </a:lnTo>
                  <a:lnTo>
                    <a:pt x="78581" y="0"/>
                  </a:lnTo>
                  <a:lnTo>
                    <a:pt x="0" y="4763"/>
                  </a:lnTo>
                  <a:close/>
                </a:path>
              </a:pathLst>
            </a:custGeom>
            <a:solidFill>
              <a:srgbClr val="FF29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B604A2-96F9-A17E-1BE2-E410E7D51089}"/>
                </a:ext>
              </a:extLst>
            </p:cNvPr>
            <p:cNvSpPr txBox="1"/>
            <p:nvPr/>
          </p:nvSpPr>
          <p:spPr>
            <a:xfrm>
              <a:off x="2251906" y="5832380"/>
              <a:ext cx="607806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BETOX</a:t>
              </a:r>
              <a:endParaRPr lang="ko-KR" altLang="en-US" sz="11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39C714-1434-DE0B-737C-B0328C917A24}"/>
                </a:ext>
              </a:extLst>
            </p:cNvPr>
            <p:cNvSpPr txBox="1"/>
            <p:nvPr/>
          </p:nvSpPr>
          <p:spPr>
            <a:xfrm>
              <a:off x="2287746" y="6062283"/>
              <a:ext cx="402808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o1</a:t>
              </a:r>
              <a:endParaRPr lang="ko-KR" altLang="en-US" sz="11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80AB2B-6B31-3322-218B-2D3E770082B4}"/>
                </a:ext>
              </a:extLst>
            </p:cNvPr>
            <p:cNvSpPr txBox="1"/>
            <p:nvPr/>
          </p:nvSpPr>
          <p:spPr>
            <a:xfrm>
              <a:off x="1695639" y="6384928"/>
              <a:ext cx="439071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ko-KR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D6F820-CBE3-E6F1-5ADE-5B2ADC88ABD8}"/>
                </a:ext>
              </a:extLst>
            </p:cNvPr>
            <p:cNvSpPr txBox="1"/>
            <p:nvPr/>
          </p:nvSpPr>
          <p:spPr>
            <a:xfrm>
              <a:off x="1425895" y="5488309"/>
              <a:ext cx="1671588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 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(V</a:t>
              </a:r>
              <a:r>
                <a:rPr lang="en-US" altLang="ko-KR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ko-KR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ko-KR" sz="11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pgm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B2441F-6E84-C899-8B50-DB8AC9ECB258}"/>
                </a:ext>
              </a:extLst>
            </p:cNvPr>
            <p:cNvSpPr txBox="1"/>
            <p:nvPr/>
          </p:nvSpPr>
          <p:spPr>
            <a:xfrm>
              <a:off x="2737512" y="6308421"/>
              <a:ext cx="489638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ko-KR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FN</a:t>
              </a:r>
              <a:endParaRPr lang="ko-KR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7A49C27-FE39-BC58-EA02-A9AB05B7DF6F}"/>
              </a:ext>
            </a:extLst>
          </p:cNvPr>
          <p:cNvGrpSpPr/>
          <p:nvPr/>
        </p:nvGrpSpPr>
        <p:grpSpPr>
          <a:xfrm>
            <a:off x="342245" y="3515595"/>
            <a:ext cx="2349687" cy="2333644"/>
            <a:chOff x="3313708" y="5488178"/>
            <a:chExt cx="1749215" cy="173727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382260-C3EB-5660-76BE-341891F4245D}"/>
                </a:ext>
              </a:extLst>
            </p:cNvPr>
            <p:cNvSpPr txBox="1"/>
            <p:nvPr/>
          </p:nvSpPr>
          <p:spPr>
            <a:xfrm>
              <a:off x="3320094" y="7009381"/>
              <a:ext cx="688143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100"/>
                <a:t>Si-Channel</a:t>
              </a:r>
              <a:endParaRPr lang="ko-KR" altLang="en-US" sz="1100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EA0C6900-6EE1-28C9-E3C3-28AE266FB7ED}"/>
                </a:ext>
              </a:extLst>
            </p:cNvPr>
            <p:cNvSpPr/>
            <p:nvPr/>
          </p:nvSpPr>
          <p:spPr>
            <a:xfrm>
              <a:off x="3571815" y="5930050"/>
              <a:ext cx="1041400" cy="1295400"/>
            </a:xfrm>
            <a:custGeom>
              <a:avLst/>
              <a:gdLst>
                <a:gd name="connsiteX0" fmla="*/ 0 w 1041400"/>
                <a:gd name="connsiteY0" fmla="*/ 1295400 h 1295400"/>
                <a:gd name="connsiteX1" fmla="*/ 400050 w 1041400"/>
                <a:gd name="connsiteY1" fmla="*/ 1295400 h 1295400"/>
                <a:gd name="connsiteX2" fmla="*/ 400050 w 1041400"/>
                <a:gd name="connsiteY2" fmla="*/ 368300 h 1295400"/>
                <a:gd name="connsiteX3" fmla="*/ 749300 w 1041400"/>
                <a:gd name="connsiteY3" fmla="*/ 0 h 1295400"/>
                <a:gd name="connsiteX4" fmla="*/ 749300 w 1041400"/>
                <a:gd name="connsiteY4" fmla="*/ 431800 h 1295400"/>
                <a:gd name="connsiteX5" fmla="*/ 1041400 w 1041400"/>
                <a:gd name="connsiteY5" fmla="*/ 2540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1400" h="1295400">
                  <a:moveTo>
                    <a:pt x="0" y="1295400"/>
                  </a:moveTo>
                  <a:lnTo>
                    <a:pt x="400050" y="1295400"/>
                  </a:lnTo>
                  <a:lnTo>
                    <a:pt x="400050" y="368300"/>
                  </a:lnTo>
                  <a:lnTo>
                    <a:pt x="749300" y="0"/>
                  </a:lnTo>
                  <a:lnTo>
                    <a:pt x="749300" y="431800"/>
                  </a:lnTo>
                  <a:lnTo>
                    <a:pt x="1041400" y="2540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58AF1CF0-6BFA-1D01-009C-24DD380851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0760" y="6547727"/>
              <a:ext cx="342900" cy="175022"/>
            </a:xfrm>
            <a:prstGeom prst="line">
              <a:avLst/>
            </a:prstGeom>
            <a:ln>
              <a:solidFill>
                <a:srgbClr val="FF29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9CD70CB8-1286-D50C-B74E-ED7CCA5E7A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7390" y="6635238"/>
              <a:ext cx="690742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ACA36470-331A-F044-827A-14264A396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9528" y="6547727"/>
              <a:ext cx="412296" cy="0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1E06E01-D165-1F1E-42F1-FC97D0832022}"/>
                </a:ext>
              </a:extLst>
            </p:cNvPr>
            <p:cNvSpPr txBox="1"/>
            <p:nvPr/>
          </p:nvSpPr>
          <p:spPr>
            <a:xfrm>
              <a:off x="4282991" y="5973964"/>
              <a:ext cx="402808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n1</a:t>
              </a:r>
              <a:endParaRPr lang="ko-KR" altLang="en-US" sz="11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FEC287E-2B50-7A32-EA2A-087DFE40EA3C}"/>
                </a:ext>
              </a:extLst>
            </p:cNvPr>
            <p:cNvSpPr txBox="1"/>
            <p:nvPr/>
          </p:nvSpPr>
          <p:spPr>
            <a:xfrm>
              <a:off x="3913589" y="5930032"/>
              <a:ext cx="402808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o1</a:t>
              </a:r>
              <a:endParaRPr lang="ko-KR" altLang="en-US" sz="11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612F1FA-16A0-1323-3332-F4AB5E173E15}"/>
                </a:ext>
              </a:extLst>
            </p:cNvPr>
            <p:cNvSpPr txBox="1"/>
            <p:nvPr/>
          </p:nvSpPr>
          <p:spPr>
            <a:xfrm>
              <a:off x="4017936" y="5724658"/>
              <a:ext cx="607806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BETOX</a:t>
              </a:r>
              <a:endParaRPr lang="ko-KR" altLang="en-US" sz="1100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88083C4D-1FCF-774C-BFC6-45A7DDCAF86F}"/>
                </a:ext>
              </a:extLst>
            </p:cNvPr>
            <p:cNvSpPr/>
            <p:nvPr/>
          </p:nvSpPr>
          <p:spPr>
            <a:xfrm>
              <a:off x="3750979" y="6265258"/>
              <a:ext cx="597694" cy="118685"/>
            </a:xfrm>
            <a:custGeom>
              <a:avLst/>
              <a:gdLst>
                <a:gd name="connsiteX0" fmla="*/ 502444 w 502444"/>
                <a:gd name="connsiteY0" fmla="*/ 54390 h 118685"/>
                <a:gd name="connsiteX1" fmla="*/ 409575 w 502444"/>
                <a:gd name="connsiteY1" fmla="*/ 2003 h 118685"/>
                <a:gd name="connsiteX2" fmla="*/ 345281 w 502444"/>
                <a:gd name="connsiteY2" fmla="*/ 116303 h 118685"/>
                <a:gd name="connsiteX3" fmla="*/ 285750 w 502444"/>
                <a:gd name="connsiteY3" fmla="*/ 11528 h 118685"/>
                <a:gd name="connsiteX4" fmla="*/ 226219 w 502444"/>
                <a:gd name="connsiteY4" fmla="*/ 118684 h 118685"/>
                <a:gd name="connsiteX5" fmla="*/ 183356 w 502444"/>
                <a:gd name="connsiteY5" fmla="*/ 13909 h 118685"/>
                <a:gd name="connsiteX6" fmla="*/ 119063 w 502444"/>
                <a:gd name="connsiteY6" fmla="*/ 116303 h 118685"/>
                <a:gd name="connsiteX7" fmla="*/ 78581 w 502444"/>
                <a:gd name="connsiteY7" fmla="*/ 56772 h 118685"/>
                <a:gd name="connsiteX8" fmla="*/ 0 w 502444"/>
                <a:gd name="connsiteY8" fmla="*/ 56772 h 11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444" h="118685">
                  <a:moveTo>
                    <a:pt x="502444" y="54390"/>
                  </a:moveTo>
                  <a:cubicBezTo>
                    <a:pt x="469106" y="23037"/>
                    <a:pt x="435769" y="-8316"/>
                    <a:pt x="409575" y="2003"/>
                  </a:cubicBezTo>
                  <a:cubicBezTo>
                    <a:pt x="383381" y="12322"/>
                    <a:pt x="365918" y="114716"/>
                    <a:pt x="345281" y="116303"/>
                  </a:cubicBezTo>
                  <a:cubicBezTo>
                    <a:pt x="324644" y="117890"/>
                    <a:pt x="305594" y="11131"/>
                    <a:pt x="285750" y="11528"/>
                  </a:cubicBezTo>
                  <a:cubicBezTo>
                    <a:pt x="265906" y="11925"/>
                    <a:pt x="243285" y="118287"/>
                    <a:pt x="226219" y="118684"/>
                  </a:cubicBezTo>
                  <a:cubicBezTo>
                    <a:pt x="209153" y="119081"/>
                    <a:pt x="201215" y="14306"/>
                    <a:pt x="183356" y="13909"/>
                  </a:cubicBezTo>
                  <a:cubicBezTo>
                    <a:pt x="165497" y="13512"/>
                    <a:pt x="136525" y="109159"/>
                    <a:pt x="119063" y="116303"/>
                  </a:cubicBezTo>
                  <a:cubicBezTo>
                    <a:pt x="101601" y="123447"/>
                    <a:pt x="98425" y="66694"/>
                    <a:pt x="78581" y="56772"/>
                  </a:cubicBezTo>
                  <a:cubicBezTo>
                    <a:pt x="58737" y="46850"/>
                    <a:pt x="29368" y="51811"/>
                    <a:pt x="0" y="56772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30" name="곱하기 기호 29">
              <a:extLst>
                <a:ext uri="{FF2B5EF4-FFF2-40B4-BE49-F238E27FC236}">
                  <a16:creationId xmlns:a16="http://schemas.microsoft.com/office/drawing/2014/main" id="{189BDFC1-A4A2-91E1-67B1-4CFED1B02119}"/>
                </a:ext>
              </a:extLst>
            </p:cNvPr>
            <p:cNvSpPr/>
            <p:nvPr/>
          </p:nvSpPr>
          <p:spPr>
            <a:xfrm>
              <a:off x="3993924" y="6143376"/>
              <a:ext cx="194392" cy="376625"/>
            </a:xfrm>
            <a:prstGeom prst="mathMultiply">
              <a:avLst/>
            </a:prstGeom>
            <a:solidFill>
              <a:srgbClr val="FF2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7B0065D0-D05A-8EFA-ED19-6D42A0EC3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3764" y="6242976"/>
              <a:ext cx="68314" cy="68314"/>
            </a:xfrm>
            <a:prstGeom prst="rect">
              <a:avLst/>
            </a:prstGeom>
          </p:spPr>
        </p:pic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23778246-7FFD-9A7C-E6A4-E7EBD6306310}"/>
                </a:ext>
              </a:extLst>
            </p:cNvPr>
            <p:cNvSpPr/>
            <p:nvPr/>
          </p:nvSpPr>
          <p:spPr>
            <a:xfrm>
              <a:off x="4416365" y="6311900"/>
              <a:ext cx="60409" cy="282575"/>
            </a:xfrm>
            <a:custGeom>
              <a:avLst/>
              <a:gdLst>
                <a:gd name="connsiteX0" fmla="*/ 0 w 60409"/>
                <a:gd name="connsiteY0" fmla="*/ 0 h 282575"/>
                <a:gd name="connsiteX1" fmla="*/ 50800 w 60409"/>
                <a:gd name="connsiteY1" fmla="*/ 92075 h 282575"/>
                <a:gd name="connsiteX2" fmla="*/ 60325 w 60409"/>
                <a:gd name="connsiteY2" fmla="*/ 282575 h 282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409" h="282575">
                  <a:moveTo>
                    <a:pt x="0" y="0"/>
                  </a:moveTo>
                  <a:cubicBezTo>
                    <a:pt x="20373" y="22489"/>
                    <a:pt x="40746" y="44979"/>
                    <a:pt x="50800" y="92075"/>
                  </a:cubicBezTo>
                  <a:cubicBezTo>
                    <a:pt x="60854" y="139171"/>
                    <a:pt x="60589" y="210873"/>
                    <a:pt x="60325" y="282575"/>
                  </a:cubicBezTo>
                </a:path>
              </a:pathLst>
            </a:custGeom>
            <a:noFill/>
            <a:ln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1330A9B-B694-5153-97D5-CF5D1BB1C47E}"/>
                </a:ext>
              </a:extLst>
            </p:cNvPr>
            <p:cNvSpPr txBox="1"/>
            <p:nvPr/>
          </p:nvSpPr>
          <p:spPr>
            <a:xfrm>
              <a:off x="4549254" y="6416921"/>
              <a:ext cx="439071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ko-KR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17B0A07-3AB8-391A-9D8C-D45E4406AC48}"/>
                </a:ext>
              </a:extLst>
            </p:cNvPr>
            <p:cNvSpPr txBox="1"/>
            <p:nvPr/>
          </p:nvSpPr>
          <p:spPr>
            <a:xfrm>
              <a:off x="3313708" y="5488178"/>
              <a:ext cx="1749215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Retention 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(V</a:t>
              </a:r>
              <a:r>
                <a:rPr lang="en-US" altLang="ko-KR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 V)</a:t>
              </a:r>
              <a:endParaRPr lang="en-US" altLang="ko-KR" sz="11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650D8C6-3DCC-A1C7-A6A5-D160A0567DF4}"/>
                </a:ext>
              </a:extLst>
            </p:cNvPr>
            <p:cNvSpPr txBox="1"/>
            <p:nvPr/>
          </p:nvSpPr>
          <p:spPr>
            <a:xfrm>
              <a:off x="3388432" y="6514025"/>
              <a:ext cx="489638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i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aseline="-250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TBT</a:t>
              </a:r>
              <a:endParaRPr lang="ko-KR" altLang="en-US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93B8EF8-B809-091B-DDC2-B2D67BCCA28D}"/>
                </a:ext>
              </a:extLst>
            </p:cNvPr>
            <p:cNvSpPr txBox="1"/>
            <p:nvPr/>
          </p:nvSpPr>
          <p:spPr>
            <a:xfrm>
              <a:off x="3421808" y="6107380"/>
              <a:ext cx="489638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DT</a:t>
              </a:r>
              <a:endParaRPr lang="ko-KR" altLang="en-US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61350C7B-0A88-595F-8911-74810F6666FF}"/>
              </a:ext>
            </a:extLst>
          </p:cNvPr>
          <p:cNvSpPr txBox="1"/>
          <p:nvPr/>
        </p:nvSpPr>
        <p:spPr>
          <a:xfrm>
            <a:off x="2739572" y="1075108"/>
            <a:ext cx="61019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Program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동작에서는 강한 전기장에 의해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FN tunneling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발생함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하지만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상태에서는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0V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이므로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충분한 전자가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conduction band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축적되지 않아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direct tunneling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영향이 감소함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3AF5E-B0CA-1BEF-604C-E08AB0082CBB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FE783-5799-DC38-DBBB-9EE992C845DD}"/>
              </a:ext>
            </a:extLst>
          </p:cNvPr>
          <p:cNvSpPr txBox="1"/>
          <p:nvPr/>
        </p:nvSpPr>
        <p:spPr>
          <a:xfrm>
            <a:off x="2636312" y="4150154"/>
            <a:ext cx="37524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내부에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trapped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channel conduction band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trap-to-band tunneling  emission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될 수 있음</a:t>
            </a:r>
          </a:p>
        </p:txBody>
      </p:sp>
    </p:spTree>
    <p:extLst>
      <p:ext uri="{BB962C8B-B14F-4D97-AF65-F5344CB8AC3E}">
        <p14:creationId xmlns:p14="http://schemas.microsoft.com/office/powerpoint/2010/main" val="731828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623DB-6BD2-709E-782E-22837D9C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BETOX Trapped Electron </a:t>
            </a:r>
            <a:r>
              <a:rPr lang="en-US" altLang="ko-KR" sz="3200" dirty="0" err="1"/>
              <a:t>Detrapping</a:t>
            </a:r>
            <a:r>
              <a:rPr lang="en-US" altLang="ko-KR" sz="3200" dirty="0"/>
              <a:t> Modeling</a:t>
            </a:r>
            <a:endParaRPr lang="ko-KR" altLang="en-US" sz="3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654E95-7B48-71F3-9382-573C6053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95" y="4475550"/>
            <a:ext cx="2438927" cy="4126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0E53AB0-8193-AD84-2947-BC2CA446A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80" y="4915294"/>
            <a:ext cx="3918517" cy="6990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F5FF37E-6AED-5563-AB75-CD3E193D9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80" y="5684604"/>
            <a:ext cx="3558106" cy="52069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5B9C51-92F8-FA00-5CCD-CC60ED6BB9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273"/>
          <a:stretch>
            <a:fillRect/>
          </a:stretch>
        </p:blipFill>
        <p:spPr>
          <a:xfrm>
            <a:off x="4572000" y="5614372"/>
            <a:ext cx="3805756" cy="590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D8566E-2EFC-6A1F-56BA-277D634C0D9C}"/>
              </a:ext>
            </a:extLst>
          </p:cNvPr>
          <p:cNvSpPr txBox="1"/>
          <p:nvPr/>
        </p:nvSpPr>
        <p:spPr>
          <a:xfrm>
            <a:off x="188536" y="3978111"/>
            <a:ext cx="8795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rate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모델링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결과식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(Jin, TED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918E0-4C48-EBB1-6175-3A4CB2D2CA67}"/>
              </a:ext>
            </a:extLst>
          </p:cNvPr>
          <p:cNvSpPr txBox="1"/>
          <p:nvPr/>
        </p:nvSpPr>
        <p:spPr>
          <a:xfrm>
            <a:off x="188536" y="974452"/>
            <a:ext cx="8795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O/N/O/N/O 5-layer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Poisson solution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6B928F-72AE-53C1-1CBB-4DD6B6AE0364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7CC26-D0CA-579C-DD96-07EA1420425A}"/>
                  </a:ext>
                </a:extLst>
              </p:cNvPr>
              <p:cNvSpPr txBox="1"/>
              <p:nvPr/>
            </p:nvSpPr>
            <p:spPr>
              <a:xfrm>
                <a:off x="233072" y="1327792"/>
                <a:ext cx="4931777" cy="1399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𝑐𝑡𝑛</m:t>
                            </m:r>
                          </m:sub>
                        </m:sSub>
                      </m:num>
                      <m:den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𝑔</m:t>
                        </m:r>
                      </m:sub>
                    </m:sSub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𝑏𝑜𝑥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7CC26-D0CA-579C-DD96-07EA14204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72" y="1327792"/>
                <a:ext cx="4931777" cy="13991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92A3E4-9359-43FD-FE18-6B4B1B822481}"/>
                  </a:ext>
                </a:extLst>
              </p:cNvPr>
              <p:cNvSpPr txBox="1"/>
              <p:nvPr/>
            </p:nvSpPr>
            <p:spPr>
              <a:xfrm>
                <a:off x="380321" y="2727061"/>
                <a:ext cx="8560732" cy="841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𝑔</m:t>
                            </m:r>
                          </m:sub>
                        </m:sSub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𝑂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−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  <m: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</m:oMath>
                </a14:m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sSubSup>
                      <m:sSubSup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𝑡𝑜𝑥</m:t>
                        </m:r>
                      </m:sub>
                      <m: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</m:sub>
                    </m:sSub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  <m: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 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92A3E4-9359-43FD-FE18-6B4B1B822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21" y="2727061"/>
                <a:ext cx="8560732" cy="8413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BDA0D8-D123-884F-5FA7-AE2E947422D7}"/>
                  </a:ext>
                </a:extLst>
              </p:cNvPr>
              <p:cNvSpPr txBox="1"/>
              <p:nvPr/>
            </p:nvSpPr>
            <p:spPr>
              <a:xfrm>
                <a:off x="5078721" y="1248385"/>
                <a:ext cx="2340242" cy="1517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BDA0D8-D123-884F-5FA7-AE2E94742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721" y="1248385"/>
                <a:ext cx="2340242" cy="15177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DF6FB-8710-1CC3-ADB0-5F96955AA85D}"/>
                  </a:ext>
                </a:extLst>
              </p:cNvPr>
              <p:cNvSpPr txBox="1"/>
              <p:nvPr/>
            </p:nvSpPr>
            <p:spPr>
              <a:xfrm>
                <a:off x="462835" y="3595542"/>
                <a:ext cx="3491725" cy="2608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𝛼</m:t>
                    </m:r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ox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box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DF6FB-8710-1CC3-ADB0-5F96955AA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35" y="3595542"/>
                <a:ext cx="3491725" cy="260841"/>
              </a:xfrm>
              <a:prstGeom prst="rect">
                <a:avLst/>
              </a:prstGeom>
              <a:blipFill>
                <a:blip r:embed="rId9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12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Trapped Electron </a:t>
            </a:r>
            <a:r>
              <a:rPr lang="en-US" altLang="ko-KR" dirty="0" err="1"/>
              <a:t>Detrapping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9E240-0629-BB38-4F1A-31651C51E6ED}"/>
              </a:ext>
            </a:extLst>
          </p:cNvPr>
          <p:cNvSpPr txBox="1"/>
          <p:nvPr/>
        </p:nvSpPr>
        <p:spPr>
          <a:xfrm>
            <a:off x="409443" y="1292174"/>
            <a:ext cx="86404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연구를 통해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local trap-to-band emission rate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 구축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loss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예측을 위해서는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electrons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trap-to-band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모델링 구축이 필요함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기존모델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(Amoroso, TED 2011)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charge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uniform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가정하는 한계가 있음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본 연구에서는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arbitrary radial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대한 모델링으로 확장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E526A-F38A-B804-66AD-0446ED93057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FB13-C180-6B13-EB4E-EE5BC275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7508F-D494-EA77-A7ED-80849A62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</a:t>
            </a:r>
            <a:r>
              <a:rPr lang="ko-KR" altLang="en-US" dirty="0"/>
              <a:t> </a:t>
            </a:r>
            <a:r>
              <a:rPr lang="en-US" altLang="ko-KR" dirty="0"/>
              <a:t>Charge Node Analysis</a:t>
            </a:r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72A503D-4225-61B0-474A-CC164636B134}"/>
              </a:ext>
            </a:extLst>
          </p:cNvPr>
          <p:cNvGrpSpPr/>
          <p:nvPr/>
        </p:nvGrpSpPr>
        <p:grpSpPr>
          <a:xfrm>
            <a:off x="1833988" y="1328020"/>
            <a:ext cx="5493333" cy="2506307"/>
            <a:chOff x="625200" y="3911201"/>
            <a:chExt cx="2751706" cy="125545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F1E2ABC-C9B8-3D46-318C-8AD81EFDBFA8}"/>
                </a:ext>
              </a:extLst>
            </p:cNvPr>
            <p:cNvSpPr/>
            <p:nvPr/>
          </p:nvSpPr>
          <p:spPr>
            <a:xfrm>
              <a:off x="710049" y="4215920"/>
              <a:ext cx="571304" cy="571304"/>
            </a:xfrm>
            <a:prstGeom prst="ellipse">
              <a:avLst/>
            </a:prstGeom>
            <a:gradFill flip="none" rotWithShape="1">
              <a:gsLst>
                <a:gs pos="0">
                  <a:srgbClr val="FFFF00"/>
                </a:gs>
                <a:gs pos="68000">
                  <a:schemeClr val="bg1">
                    <a:lumMod val="87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44E6AA6-09F2-B256-F6D5-60031729195C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1FF53F1-0B71-2141-F311-CF9EBE51FABD}"/>
                </a:ext>
              </a:extLst>
            </p:cNvPr>
            <p:cNvSpPr/>
            <p:nvPr/>
          </p:nvSpPr>
          <p:spPr>
            <a:xfrm>
              <a:off x="1595454" y="4360656"/>
              <a:ext cx="272853" cy="272853"/>
            </a:xfrm>
            <a:prstGeom prst="ellipse">
              <a:avLst/>
            </a:prstGeom>
            <a:solidFill>
              <a:srgbClr val="FFE38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004AE03-CDAC-6ED7-099F-ABCD9A2798FF}"/>
                </a:ext>
              </a:extLst>
            </p:cNvPr>
            <p:cNvSpPr/>
            <p:nvPr/>
          </p:nvSpPr>
          <p:spPr>
            <a:xfrm>
              <a:off x="2009950" y="4350409"/>
              <a:ext cx="309600" cy="309600"/>
            </a:xfrm>
            <a:prstGeom prst="ellipse">
              <a:avLst/>
            </a:prstGeom>
            <a:solidFill>
              <a:srgbClr val="FFD85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BF12D6C0-9E67-B27E-253F-7E6D353D7EB9}"/>
                </a:ext>
              </a:extLst>
            </p:cNvPr>
            <p:cNvSpPr/>
            <p:nvPr/>
          </p:nvSpPr>
          <p:spPr>
            <a:xfrm>
              <a:off x="2796877" y="4219557"/>
              <a:ext cx="571304" cy="571304"/>
            </a:xfrm>
            <a:prstGeom prst="ellipse">
              <a:avLst/>
            </a:prstGeom>
            <a:solidFill>
              <a:srgbClr val="9FD6EF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DF4464B-0025-9B09-9AC9-1BD207967929}"/>
                </a:ext>
              </a:extLst>
            </p:cNvPr>
            <p:cNvSpPr txBox="1"/>
            <p:nvPr/>
          </p:nvSpPr>
          <p:spPr>
            <a:xfrm>
              <a:off x="756460" y="3999966"/>
              <a:ext cx="494704" cy="200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endParaRPr lang="ko-KR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213377B-3561-31E0-6E15-C96C1F1CBA06}"/>
                </a:ext>
              </a:extLst>
            </p:cNvPr>
            <p:cNvSpPr txBox="1"/>
            <p:nvPr/>
          </p:nvSpPr>
          <p:spPr>
            <a:xfrm>
              <a:off x="1437503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1E37DE-6D2C-C53A-53D8-EAB71F63A7C9}"/>
                </a:ext>
              </a:extLst>
            </p:cNvPr>
            <p:cNvSpPr txBox="1"/>
            <p:nvPr/>
          </p:nvSpPr>
          <p:spPr>
            <a:xfrm>
              <a:off x="1870373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B0DDCF5-76E4-9558-CF10-3B8D22796B86}"/>
                </a:ext>
              </a:extLst>
            </p:cNvPr>
            <p:cNvSpPr txBox="1"/>
            <p:nvPr/>
          </p:nvSpPr>
          <p:spPr>
            <a:xfrm>
              <a:off x="2788152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728D366-DEB5-080C-6A65-A468ABB1D3E3}"/>
                </a:ext>
              </a:extLst>
            </p:cNvPr>
            <p:cNvSpPr txBox="1"/>
            <p:nvPr/>
          </p:nvSpPr>
          <p:spPr>
            <a:xfrm>
              <a:off x="1134091" y="3999966"/>
              <a:ext cx="494704" cy="200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5A3B90-B63B-F803-3693-717F63402E82}"/>
                </a:ext>
              </a:extLst>
            </p:cNvPr>
            <p:cNvSpPr txBox="1"/>
            <p:nvPr/>
          </p:nvSpPr>
          <p:spPr>
            <a:xfrm>
              <a:off x="1700963" y="4032817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6252F50-1631-5B29-2A18-7BDC43B266D4}"/>
                </a:ext>
              </a:extLst>
            </p:cNvPr>
            <p:cNvSpPr txBox="1"/>
            <p:nvPr/>
          </p:nvSpPr>
          <p:spPr>
            <a:xfrm>
              <a:off x="2124311" y="4033302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D3026A5-DDAC-D7EE-68A7-92F5D6553221}"/>
                </a:ext>
              </a:extLst>
            </p:cNvPr>
            <p:cNvSpPr txBox="1"/>
            <p:nvPr/>
          </p:nvSpPr>
          <p:spPr>
            <a:xfrm>
              <a:off x="2625737" y="4032817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1F24E6-1E0E-1147-8211-E3AACD8F7652}"/>
                </a:ext>
              </a:extLst>
            </p:cNvPr>
            <p:cNvSpPr txBox="1"/>
            <p:nvPr/>
          </p:nvSpPr>
          <p:spPr>
            <a:xfrm>
              <a:off x="2375024" y="3911201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E62F419-C190-E18E-7944-F700E3BF2619}"/>
                </a:ext>
              </a:extLst>
            </p:cNvPr>
            <p:cNvSpPr txBox="1"/>
            <p:nvPr/>
          </p:nvSpPr>
          <p:spPr>
            <a:xfrm>
              <a:off x="1187590" y="4303226"/>
              <a:ext cx="494704" cy="385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4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F6512F1-727F-32A1-B75A-FC65130F7B43}"/>
                </a:ext>
              </a:extLst>
            </p:cNvPr>
            <p:cNvSpPr txBox="1"/>
            <p:nvPr/>
          </p:nvSpPr>
          <p:spPr>
            <a:xfrm>
              <a:off x="1688837" y="4354617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7B13DF1-5F42-0DF2-401A-E32B39C6C329}"/>
                </a:ext>
              </a:extLst>
            </p:cNvPr>
            <p:cNvSpPr txBox="1"/>
            <p:nvPr/>
          </p:nvSpPr>
          <p:spPr>
            <a:xfrm>
              <a:off x="2143363" y="4352544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412C1B8-B923-577D-46BC-0774954889FA}"/>
                </a:ext>
              </a:extLst>
            </p:cNvPr>
            <p:cNvSpPr txBox="1"/>
            <p:nvPr/>
          </p:nvSpPr>
          <p:spPr>
            <a:xfrm>
              <a:off x="2478696" y="4352544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D77D7BF-FC50-9F7E-353D-5DD679B438A1}"/>
                </a:ext>
              </a:extLst>
            </p:cNvPr>
            <p:cNvSpPr txBox="1"/>
            <p:nvPr/>
          </p:nvSpPr>
          <p:spPr>
            <a:xfrm>
              <a:off x="2311029" y="4302815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513EDBE-7793-1B39-8300-A41624EC7A7D}"/>
                </a:ext>
              </a:extLst>
            </p:cNvPr>
            <p:cNvSpPr txBox="1"/>
            <p:nvPr/>
          </p:nvSpPr>
          <p:spPr>
            <a:xfrm>
              <a:off x="1556649" y="4425387"/>
              <a:ext cx="35046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400" b="1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E2F39DA-FF1A-DB0B-87C2-45831DBE2228}"/>
                </a:ext>
              </a:extLst>
            </p:cNvPr>
            <p:cNvSpPr txBox="1"/>
            <p:nvPr/>
          </p:nvSpPr>
          <p:spPr>
            <a:xfrm>
              <a:off x="1989519" y="4425387"/>
              <a:ext cx="35046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4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19E4998-4D5D-A9B0-90AE-2BC43D625B08}"/>
                </a:ext>
              </a:extLst>
            </p:cNvPr>
            <p:cNvSpPr txBox="1"/>
            <p:nvPr/>
          </p:nvSpPr>
          <p:spPr>
            <a:xfrm>
              <a:off x="2883383" y="4425387"/>
              <a:ext cx="39829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14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02A82083-6E71-0834-8D5B-8DD96D28D6A2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8A205626-EB9F-CA81-66D7-3C648846320B}"/>
                </a:ext>
              </a:extLst>
            </p:cNvPr>
            <p:cNvSpPr/>
            <p:nvPr/>
          </p:nvSpPr>
          <p:spPr>
            <a:xfrm>
              <a:off x="840901" y="4346772"/>
              <a:ext cx="309600" cy="309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D1BFAB3F-C7E4-AC7B-38FC-6604EE5FF48C}"/>
                </a:ext>
              </a:extLst>
            </p:cNvPr>
            <p:cNvSpPr/>
            <p:nvPr/>
          </p:nvSpPr>
          <p:spPr>
            <a:xfrm>
              <a:off x="710049" y="4221336"/>
              <a:ext cx="571304" cy="56047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C0CC2DAF-2B4C-3E6F-CD64-527850716A0B}"/>
                </a:ext>
              </a:extLst>
            </p:cNvPr>
            <p:cNvSpPr/>
            <p:nvPr/>
          </p:nvSpPr>
          <p:spPr>
            <a:xfrm>
              <a:off x="822901" y="4328772"/>
              <a:ext cx="345600" cy="345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F4586BB-44DE-C8E5-B7A2-DFE6A6C01CE0}"/>
                </a:ext>
              </a:extLst>
            </p:cNvPr>
            <p:cNvSpPr txBox="1"/>
            <p:nvPr/>
          </p:nvSpPr>
          <p:spPr>
            <a:xfrm rot="19046009">
              <a:off x="1023784" y="4253832"/>
              <a:ext cx="257962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9A1607F9-BC49-9687-6799-E8E8058567DF}"/>
                </a:ext>
              </a:extLst>
            </p:cNvPr>
            <p:cNvSpPr txBox="1"/>
            <p:nvPr/>
          </p:nvSpPr>
          <p:spPr>
            <a:xfrm>
              <a:off x="625200" y="4777741"/>
              <a:ext cx="756243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atin typeface="Arial" panose="020B0604020202020204" pitchFamily="34" charset="0"/>
                  <a:cs typeface="Arial" panose="020B0604020202020204" pitchFamily="34" charset="0"/>
                </a:rPr>
                <a:t>CTN charge</a:t>
              </a:r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8588313-F35B-1178-BCFB-4C7A872BF863}"/>
                </a:ext>
              </a:extLst>
            </p:cNvPr>
            <p:cNvSpPr txBox="1"/>
            <p:nvPr/>
          </p:nvSpPr>
          <p:spPr>
            <a:xfrm>
              <a:off x="1563412" y="4734879"/>
              <a:ext cx="97055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600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π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(n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t,i+1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-n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4ADB8C6-FDD0-C787-E999-2383A62828B3}"/>
                </a:ext>
              </a:extLst>
            </p:cNvPr>
            <p:cNvSpPr txBox="1"/>
            <p:nvPr/>
          </p:nvSpPr>
          <p:spPr>
            <a:xfrm>
              <a:off x="2552466" y="4873730"/>
              <a:ext cx="629362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t,0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</a:p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t,N+1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3E8EF53-FE5E-5A30-49C4-7915B2D4A067}"/>
                </a:ext>
              </a:extLst>
            </p:cNvPr>
            <p:cNvSpPr txBox="1"/>
            <p:nvPr/>
          </p:nvSpPr>
          <p:spPr>
            <a:xfrm>
              <a:off x="1657154" y="4948827"/>
              <a:ext cx="857565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where, </a:t>
              </a:r>
              <a:r>
                <a:rPr lang="en-US" altLang="ko-K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=1-N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왼쪽 중괄호 136">
              <a:extLst>
                <a:ext uri="{FF2B5EF4-FFF2-40B4-BE49-F238E27FC236}">
                  <a16:creationId xmlns:a16="http://schemas.microsoft.com/office/drawing/2014/main" id="{84F40FA2-D013-5416-4527-699E2367FDB0}"/>
                </a:ext>
              </a:extLst>
            </p:cNvPr>
            <p:cNvSpPr/>
            <p:nvPr/>
          </p:nvSpPr>
          <p:spPr>
            <a:xfrm>
              <a:off x="2504776" y="4937390"/>
              <a:ext cx="61691" cy="200055"/>
            </a:xfrm>
            <a:prstGeom prst="leftBrace">
              <a:avLst>
                <a:gd name="adj1" fmla="val 36719"/>
                <a:gd name="adj2" fmla="val 5000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D6A2E9DC-6D22-B21D-001D-086A824010F0}"/>
              </a:ext>
            </a:extLst>
          </p:cNvPr>
          <p:cNvGrpSpPr/>
          <p:nvPr/>
        </p:nvGrpSpPr>
        <p:grpSpPr>
          <a:xfrm>
            <a:off x="1530551" y="5010760"/>
            <a:ext cx="6169658" cy="815352"/>
            <a:chOff x="2303921" y="4527578"/>
            <a:chExt cx="6169658" cy="815352"/>
          </a:xfrm>
        </p:grpSpPr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18DFE411-7B4A-0A32-3DB3-90D3CEF354B5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1" y="5004457"/>
              <a:ext cx="6118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9DC431EA-C7E3-E1FE-48D9-332E28BDB02F}"/>
                </a:ext>
              </a:extLst>
            </p:cNvPr>
            <p:cNvGrpSpPr/>
            <p:nvPr/>
          </p:nvGrpSpPr>
          <p:grpSpPr>
            <a:xfrm>
              <a:off x="2915777" y="4771606"/>
              <a:ext cx="143736" cy="465698"/>
              <a:chOff x="1663538" y="2271752"/>
              <a:chExt cx="33334" cy="233443"/>
            </a:xfrm>
          </p:grpSpPr>
          <p:cxnSp>
            <p:nvCxnSpPr>
              <p:cNvPr id="221" name="직선 연결선 220">
                <a:extLst>
                  <a:ext uri="{FF2B5EF4-FFF2-40B4-BE49-F238E27FC236}">
                    <a16:creationId xmlns:a16="http://schemas.microsoft.com/office/drawing/2014/main" id="{8F325648-A6A7-4CA8-F94A-2EB51B3376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>
                <a:extLst>
                  <a:ext uri="{FF2B5EF4-FFF2-40B4-BE49-F238E27FC236}">
                    <a16:creationId xmlns:a16="http://schemas.microsoft.com/office/drawing/2014/main" id="{5EB1EE71-6C77-568A-F10B-CFAA63F6FF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83D528CD-A108-601C-6635-5C785C6F0D99}"/>
                </a:ext>
              </a:extLst>
            </p:cNvPr>
            <p:cNvCxnSpPr>
              <a:cxnSpLocks/>
            </p:cNvCxnSpPr>
            <p:nvPr/>
          </p:nvCxnSpPr>
          <p:spPr>
            <a:xfrm>
              <a:off x="3059513" y="5004457"/>
              <a:ext cx="6118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411D78AC-74E1-B90E-7346-B59D4F2DB195}"/>
                </a:ext>
              </a:extLst>
            </p:cNvPr>
            <p:cNvGrpSpPr/>
            <p:nvPr/>
          </p:nvGrpSpPr>
          <p:grpSpPr>
            <a:xfrm>
              <a:off x="3879966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B0942312-9F5E-1815-1FDA-4F48384CBA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>
                <a:extLst>
                  <a:ext uri="{FF2B5EF4-FFF2-40B4-BE49-F238E27FC236}">
                    <a16:creationId xmlns:a16="http://schemas.microsoft.com/office/drawing/2014/main" id="{89295952-40F9-707E-51B8-E53F657703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11A1DE4B-1435-8F22-5949-F0103E2B4DF9}"/>
                </a:ext>
              </a:extLst>
            </p:cNvPr>
            <p:cNvCxnSpPr>
              <a:cxnSpLocks/>
            </p:cNvCxnSpPr>
            <p:nvPr/>
          </p:nvCxnSpPr>
          <p:spPr>
            <a:xfrm>
              <a:off x="3677136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직선 연결선 177">
              <a:extLst>
                <a:ext uri="{FF2B5EF4-FFF2-40B4-BE49-F238E27FC236}">
                  <a16:creationId xmlns:a16="http://schemas.microsoft.com/office/drawing/2014/main" id="{C778AC04-0711-4503-F986-7D06BCF8B2ED}"/>
                </a:ext>
              </a:extLst>
            </p:cNvPr>
            <p:cNvCxnSpPr>
              <a:cxnSpLocks/>
            </p:cNvCxnSpPr>
            <p:nvPr/>
          </p:nvCxnSpPr>
          <p:spPr>
            <a:xfrm>
              <a:off x="4027294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1433180F-DDF2-AF88-461D-2DB381DA8CE0}"/>
                </a:ext>
              </a:extLst>
            </p:cNvPr>
            <p:cNvGrpSpPr/>
            <p:nvPr/>
          </p:nvGrpSpPr>
          <p:grpSpPr>
            <a:xfrm>
              <a:off x="4435153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0F78B2AC-AB48-CAB4-1090-1E0EAE6860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직선 연결선 217">
                <a:extLst>
                  <a:ext uri="{FF2B5EF4-FFF2-40B4-BE49-F238E27FC236}">
                    <a16:creationId xmlns:a16="http://schemas.microsoft.com/office/drawing/2014/main" id="{DF0802A3-95AD-16A9-B6AB-8E04C7E44D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4F262ED2-7C5E-BCE2-00D4-8E974839AABF}"/>
                </a:ext>
              </a:extLst>
            </p:cNvPr>
            <p:cNvCxnSpPr>
              <a:cxnSpLocks/>
            </p:cNvCxnSpPr>
            <p:nvPr/>
          </p:nvCxnSpPr>
          <p:spPr>
            <a:xfrm>
              <a:off x="4232324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CE1E3E79-5C2D-4232-AD9A-19B77838B532}"/>
                </a:ext>
              </a:extLst>
            </p:cNvPr>
            <p:cNvCxnSpPr>
              <a:cxnSpLocks/>
            </p:cNvCxnSpPr>
            <p:nvPr/>
          </p:nvCxnSpPr>
          <p:spPr>
            <a:xfrm>
              <a:off x="4582482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B9D5BA19-7DE3-73E4-D866-7911D79622D2}"/>
                </a:ext>
              </a:extLst>
            </p:cNvPr>
            <p:cNvGrpSpPr/>
            <p:nvPr/>
          </p:nvGrpSpPr>
          <p:grpSpPr>
            <a:xfrm>
              <a:off x="4989371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5" name="직선 연결선 214">
                <a:extLst>
                  <a:ext uri="{FF2B5EF4-FFF2-40B4-BE49-F238E27FC236}">
                    <a16:creationId xmlns:a16="http://schemas.microsoft.com/office/drawing/2014/main" id="{F4CAE543-DF6D-7A56-EA78-B3CC8B1837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>
                <a:extLst>
                  <a:ext uri="{FF2B5EF4-FFF2-40B4-BE49-F238E27FC236}">
                    <a16:creationId xmlns:a16="http://schemas.microsoft.com/office/drawing/2014/main" id="{1257E854-1F91-5FC6-75DC-5F093215D5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3" name="직선 연결선 182">
              <a:extLst>
                <a:ext uri="{FF2B5EF4-FFF2-40B4-BE49-F238E27FC236}">
                  <a16:creationId xmlns:a16="http://schemas.microsoft.com/office/drawing/2014/main" id="{8C30F5CD-52D8-AA86-EAC3-5B58CFA8A07E}"/>
                </a:ext>
              </a:extLst>
            </p:cNvPr>
            <p:cNvCxnSpPr>
              <a:cxnSpLocks/>
            </p:cNvCxnSpPr>
            <p:nvPr/>
          </p:nvCxnSpPr>
          <p:spPr>
            <a:xfrm>
              <a:off x="4786545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>
              <a:extLst>
                <a:ext uri="{FF2B5EF4-FFF2-40B4-BE49-F238E27FC236}">
                  <a16:creationId xmlns:a16="http://schemas.microsoft.com/office/drawing/2014/main" id="{5423709A-B85C-3CDD-6CD3-931DEA31B2B9}"/>
                </a:ext>
              </a:extLst>
            </p:cNvPr>
            <p:cNvCxnSpPr>
              <a:cxnSpLocks/>
            </p:cNvCxnSpPr>
            <p:nvPr/>
          </p:nvCxnSpPr>
          <p:spPr>
            <a:xfrm>
              <a:off x="5136700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F56879D9-2002-8341-7D0C-F09BEB90746A}"/>
                </a:ext>
              </a:extLst>
            </p:cNvPr>
            <p:cNvGrpSpPr/>
            <p:nvPr/>
          </p:nvGrpSpPr>
          <p:grpSpPr>
            <a:xfrm>
              <a:off x="6611644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3" name="직선 연결선 212">
                <a:extLst>
                  <a:ext uri="{FF2B5EF4-FFF2-40B4-BE49-F238E27FC236}">
                    <a16:creationId xmlns:a16="http://schemas.microsoft.com/office/drawing/2014/main" id="{6C8F499A-7792-CD9F-8FA3-DA640C61F8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직선 연결선 213">
                <a:extLst>
                  <a:ext uri="{FF2B5EF4-FFF2-40B4-BE49-F238E27FC236}">
                    <a16:creationId xmlns:a16="http://schemas.microsoft.com/office/drawing/2014/main" id="{A5F8ED73-9C2D-A491-35F0-1A1A9D8872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F51E93D9-D7C6-A6D1-8AB3-7BB4A5B1EC12}"/>
                </a:ext>
              </a:extLst>
            </p:cNvPr>
            <p:cNvCxnSpPr>
              <a:cxnSpLocks/>
            </p:cNvCxnSpPr>
            <p:nvPr/>
          </p:nvCxnSpPr>
          <p:spPr>
            <a:xfrm>
              <a:off x="6408818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>
              <a:extLst>
                <a:ext uri="{FF2B5EF4-FFF2-40B4-BE49-F238E27FC236}">
                  <a16:creationId xmlns:a16="http://schemas.microsoft.com/office/drawing/2014/main" id="{06ADA5CB-494E-07A6-7E6F-1D96ED4EDEE5}"/>
                </a:ext>
              </a:extLst>
            </p:cNvPr>
            <p:cNvCxnSpPr>
              <a:cxnSpLocks/>
            </p:cNvCxnSpPr>
            <p:nvPr/>
          </p:nvCxnSpPr>
          <p:spPr>
            <a:xfrm>
              <a:off x="6758973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4B68A440-8C7E-C465-6FEB-65E1514950C8}"/>
                </a:ext>
              </a:extLst>
            </p:cNvPr>
            <p:cNvCxnSpPr>
              <a:cxnSpLocks/>
            </p:cNvCxnSpPr>
            <p:nvPr/>
          </p:nvCxnSpPr>
          <p:spPr>
            <a:xfrm>
              <a:off x="6936234" y="5004457"/>
              <a:ext cx="70718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638334FD-B7DF-E730-DA92-52771638644C}"/>
                </a:ext>
              </a:extLst>
            </p:cNvPr>
            <p:cNvGrpSpPr/>
            <p:nvPr/>
          </p:nvGrpSpPr>
          <p:grpSpPr>
            <a:xfrm>
              <a:off x="7646221" y="4771606"/>
              <a:ext cx="143736" cy="465698"/>
              <a:chOff x="1663538" y="2271752"/>
              <a:chExt cx="33334" cy="233443"/>
            </a:xfrm>
          </p:grpSpPr>
          <p:cxnSp>
            <p:nvCxnSpPr>
              <p:cNvPr id="211" name="직선 연결선 210">
                <a:extLst>
                  <a:ext uri="{FF2B5EF4-FFF2-40B4-BE49-F238E27FC236}">
                    <a16:creationId xmlns:a16="http://schemas.microsoft.com/office/drawing/2014/main" id="{12493DEA-4BB1-BE3D-2695-A9E60C0E4C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4A5A6AFF-0B29-749F-238F-EE2BC7B31E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743974C2-B322-DE55-9B4C-F1FC7A504214}"/>
                </a:ext>
              </a:extLst>
            </p:cNvPr>
            <p:cNvCxnSpPr>
              <a:cxnSpLocks/>
            </p:cNvCxnSpPr>
            <p:nvPr/>
          </p:nvCxnSpPr>
          <p:spPr>
            <a:xfrm>
              <a:off x="7790555" y="5004457"/>
              <a:ext cx="68302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D9C0D60D-A841-B617-4DCC-FF29293E2CD5}"/>
                    </a:ext>
                  </a:extLst>
                </p:cNvPr>
                <p:cNvSpPr txBox="1"/>
                <p:nvPr/>
              </p:nvSpPr>
              <p:spPr>
                <a:xfrm>
                  <a:off x="2787501" y="4527578"/>
                  <a:ext cx="412998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𝐓𝐎𝐗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dirty="0"/>
                </a:p>
              </p:txBody>
            </p:sp>
          </mc:Choice>
          <mc:Fallback xmlns="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D9C0D60D-A841-B617-4DCC-FF29293E2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7501" y="4527578"/>
                  <a:ext cx="412998" cy="215443"/>
                </a:xfrm>
                <a:prstGeom prst="rect">
                  <a:avLst/>
                </a:prstGeom>
                <a:blipFill>
                  <a:blip r:embed="rId2"/>
                  <a:stretch>
                    <a:fillRect l="-13235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1FD9BF9-B663-1C1B-1894-078C1D9CECEC}"/>
                    </a:ext>
                  </a:extLst>
                </p:cNvPr>
                <p:cNvSpPr txBox="1"/>
                <p:nvPr/>
              </p:nvSpPr>
              <p:spPr>
                <a:xfrm>
                  <a:off x="3859944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1FD9BF9-B663-1C1B-1894-078C1D9CE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9944" y="4527578"/>
                  <a:ext cx="231857" cy="215443"/>
                </a:xfrm>
                <a:prstGeom prst="rect">
                  <a:avLst/>
                </a:prstGeom>
                <a:blipFill>
                  <a:blip r:embed="rId3"/>
                  <a:stretch>
                    <a:fillRect l="-26316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96FE84B9-8AD2-92F0-ADAE-94F2C3F8DFA0}"/>
                    </a:ext>
                  </a:extLst>
                </p:cNvPr>
                <p:cNvSpPr txBox="1"/>
                <p:nvPr/>
              </p:nvSpPr>
              <p:spPr>
                <a:xfrm>
                  <a:off x="4434716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96FE84B9-8AD2-92F0-ADAE-94F2C3F8D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4716" y="4527578"/>
                  <a:ext cx="231857" cy="215443"/>
                </a:xfrm>
                <a:prstGeom prst="rect">
                  <a:avLst/>
                </a:prstGeom>
                <a:blipFill>
                  <a:blip r:embed="rId4"/>
                  <a:stretch>
                    <a:fillRect l="-28947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6A7406FE-6856-026D-382C-4F31FED57733}"/>
                    </a:ext>
                  </a:extLst>
                </p:cNvPr>
                <p:cNvSpPr txBox="1"/>
                <p:nvPr/>
              </p:nvSpPr>
              <p:spPr>
                <a:xfrm>
                  <a:off x="4987680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6A7406FE-6856-026D-382C-4F31FED57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7680" y="4527578"/>
                  <a:ext cx="231857" cy="215443"/>
                </a:xfrm>
                <a:prstGeom prst="rect">
                  <a:avLst/>
                </a:prstGeom>
                <a:blipFill>
                  <a:blip r:embed="rId5"/>
                  <a:stretch>
                    <a:fillRect l="-26316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4DE1BBB-7A83-BBAE-7085-375F85F94A13}"/>
                    </a:ext>
                  </a:extLst>
                </p:cNvPr>
                <p:cNvSpPr txBox="1"/>
                <p:nvPr/>
              </p:nvSpPr>
              <p:spPr>
                <a:xfrm>
                  <a:off x="6587654" y="4527578"/>
                  <a:ext cx="244683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𝐍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4DE1BBB-7A83-BBAE-7085-375F85F94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7654" y="4527578"/>
                  <a:ext cx="244683" cy="215443"/>
                </a:xfrm>
                <a:prstGeom prst="rect">
                  <a:avLst/>
                </a:prstGeom>
                <a:blipFill>
                  <a:blip r:embed="rId6"/>
                  <a:stretch>
                    <a:fillRect l="-25000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320E5BC-61E5-3416-2B2D-C2BB5047ACA4}"/>
                    </a:ext>
                  </a:extLst>
                </p:cNvPr>
                <p:cNvSpPr txBox="1"/>
                <p:nvPr/>
              </p:nvSpPr>
              <p:spPr>
                <a:xfrm>
                  <a:off x="7539668" y="4527578"/>
                  <a:ext cx="414602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𝐁𝐎𝐗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320E5BC-61E5-3416-2B2D-C2BB5047AC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9668" y="4527578"/>
                  <a:ext cx="414602" cy="215443"/>
                </a:xfrm>
                <a:prstGeom prst="rect">
                  <a:avLst/>
                </a:prstGeom>
                <a:blipFill>
                  <a:blip r:embed="rId7"/>
                  <a:stretch>
                    <a:fillRect l="-13235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38CE6D35-2932-CD2F-A863-1CF7105BC775}"/>
                </a:ext>
              </a:extLst>
            </p:cNvPr>
            <p:cNvSpPr txBox="1"/>
            <p:nvPr/>
          </p:nvSpPr>
          <p:spPr>
            <a:xfrm>
              <a:off x="311211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FC26A3AE-6AD2-A403-FB08-3F2DD6B1178C}"/>
                </a:ext>
              </a:extLst>
            </p:cNvPr>
            <p:cNvSpPr txBox="1"/>
            <p:nvPr/>
          </p:nvSpPr>
          <p:spPr>
            <a:xfrm>
              <a:off x="367680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EE9C6097-8E69-8DE8-64AD-3697D416946F}"/>
                </a:ext>
              </a:extLst>
            </p:cNvPr>
            <p:cNvSpPr txBox="1"/>
            <p:nvPr/>
          </p:nvSpPr>
          <p:spPr>
            <a:xfrm>
              <a:off x="424149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83CDD3E1-3FDB-F509-B562-811D09B701A4}"/>
                </a:ext>
              </a:extLst>
            </p:cNvPr>
            <p:cNvSpPr txBox="1"/>
            <p:nvPr/>
          </p:nvSpPr>
          <p:spPr>
            <a:xfrm>
              <a:off x="4806185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B790F642-9D41-397B-0EBB-68B4A44E09D6}"/>
                </a:ext>
              </a:extLst>
            </p:cNvPr>
            <p:cNvSpPr txBox="1"/>
            <p:nvPr/>
          </p:nvSpPr>
          <p:spPr>
            <a:xfrm>
              <a:off x="5587940" y="5065931"/>
              <a:ext cx="1333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N-1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CFE36130-CEF3-04FD-2A61-B1AF97904B11}"/>
                </a:ext>
              </a:extLst>
            </p:cNvPr>
            <p:cNvSpPr txBox="1"/>
            <p:nvPr/>
          </p:nvSpPr>
          <p:spPr>
            <a:xfrm>
              <a:off x="6254789" y="5065931"/>
              <a:ext cx="1333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타원 203">
              <a:extLst>
                <a:ext uri="{FF2B5EF4-FFF2-40B4-BE49-F238E27FC236}">
                  <a16:creationId xmlns:a16="http://schemas.microsoft.com/office/drawing/2014/main" id="{1E9A8437-3A4F-6831-B4C1-59530E141D03}"/>
                </a:ext>
              </a:extLst>
            </p:cNvPr>
            <p:cNvSpPr/>
            <p:nvPr/>
          </p:nvSpPr>
          <p:spPr>
            <a:xfrm>
              <a:off x="3632223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656A9055-AF82-3884-0CCC-461DDB3D1A53}"/>
                </a:ext>
              </a:extLst>
            </p:cNvPr>
            <p:cNvSpPr/>
            <p:nvPr/>
          </p:nvSpPr>
          <p:spPr>
            <a:xfrm>
              <a:off x="4196918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6" name="타원 205">
              <a:extLst>
                <a:ext uri="{FF2B5EF4-FFF2-40B4-BE49-F238E27FC236}">
                  <a16:creationId xmlns:a16="http://schemas.microsoft.com/office/drawing/2014/main" id="{B43A9A5D-610A-AF7B-C51F-021E0A9FB38D}"/>
                </a:ext>
              </a:extLst>
            </p:cNvPr>
            <p:cNvSpPr/>
            <p:nvPr/>
          </p:nvSpPr>
          <p:spPr>
            <a:xfrm>
              <a:off x="4732846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7" name="타원 206">
              <a:extLst>
                <a:ext uri="{FF2B5EF4-FFF2-40B4-BE49-F238E27FC236}">
                  <a16:creationId xmlns:a16="http://schemas.microsoft.com/office/drawing/2014/main" id="{9B6B4969-CEB7-7E95-03CF-DC9C2F6DF9F2}"/>
                </a:ext>
              </a:extLst>
            </p:cNvPr>
            <p:cNvSpPr/>
            <p:nvPr/>
          </p:nvSpPr>
          <p:spPr>
            <a:xfrm>
              <a:off x="5291638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8" name="타원 207">
              <a:extLst>
                <a:ext uri="{FF2B5EF4-FFF2-40B4-BE49-F238E27FC236}">
                  <a16:creationId xmlns:a16="http://schemas.microsoft.com/office/drawing/2014/main" id="{DF772A4E-3C93-E5A7-7A95-7F079DE2031E}"/>
                </a:ext>
              </a:extLst>
            </p:cNvPr>
            <p:cNvSpPr/>
            <p:nvPr/>
          </p:nvSpPr>
          <p:spPr>
            <a:xfrm>
              <a:off x="6386686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7D3B397A-A258-9578-6D31-D2BE6073AF71}"/>
                </a:ext>
              </a:extLst>
            </p:cNvPr>
            <p:cNvSpPr/>
            <p:nvPr/>
          </p:nvSpPr>
          <p:spPr>
            <a:xfrm>
              <a:off x="6919475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546F02D3-E684-0037-2575-1E6AA71BAFA6}"/>
                </a:ext>
              </a:extLst>
            </p:cNvPr>
            <p:cNvCxnSpPr>
              <a:cxnSpLocks/>
            </p:cNvCxnSpPr>
            <p:nvPr/>
          </p:nvCxnSpPr>
          <p:spPr>
            <a:xfrm>
              <a:off x="6161733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5" name="TextBox 264">
            <a:extLst>
              <a:ext uri="{FF2B5EF4-FFF2-40B4-BE49-F238E27FC236}">
                <a16:creationId xmlns:a16="http://schemas.microsoft.com/office/drawing/2014/main" id="{40E80BAA-3C7A-7931-AAAE-9CDD49C27053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B118A-05C6-64C9-E2F7-DD109F0125FB}"/>
              </a:ext>
            </a:extLst>
          </p:cNvPr>
          <p:cNvSpPr txBox="1"/>
          <p:nvPr/>
        </p:nvSpPr>
        <p:spPr>
          <a:xfrm>
            <a:off x="409443" y="1097965"/>
            <a:ext cx="864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영역을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개의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radial charge cell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분할</a:t>
            </a: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F5CC9C04-7F95-140B-5AF0-81EF27621DBB}"/>
              </a:ext>
            </a:extLst>
          </p:cNvPr>
          <p:cNvSpPr/>
          <p:nvPr/>
        </p:nvSpPr>
        <p:spPr>
          <a:xfrm>
            <a:off x="4167077" y="3834327"/>
            <a:ext cx="765318" cy="584774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4C1DF-32FF-30D5-ED42-B3DFFFA0091A}"/>
              </a:ext>
            </a:extLst>
          </p:cNvPr>
          <p:cNvSpPr txBox="1"/>
          <p:nvPr/>
        </p:nvSpPr>
        <p:spPr>
          <a:xfrm>
            <a:off x="409443" y="4530323"/>
            <a:ext cx="864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각각의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equivalent charge node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ΔQ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표현할 수 있음</a:t>
            </a:r>
          </a:p>
        </p:txBody>
      </p:sp>
    </p:spTree>
    <p:extLst>
      <p:ext uri="{BB962C8B-B14F-4D97-AF65-F5344CB8AC3E}">
        <p14:creationId xmlns:p14="http://schemas.microsoft.com/office/powerpoint/2010/main" val="1039400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EED9-289A-C75D-E259-CC198740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C5F83-BEED-3220-1ABB-195354AA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pic>
        <p:nvPicPr>
          <p:cNvPr id="4" name="그림 3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57F814-81C0-B11D-82BA-3C10AE605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05" y="1362634"/>
            <a:ext cx="4309835" cy="1657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05B187-72BA-F9FE-A791-B18A4C829D83}"/>
              </a:ext>
            </a:extLst>
          </p:cNvPr>
          <p:cNvSpPr txBox="1"/>
          <p:nvPr/>
        </p:nvSpPr>
        <p:spPr>
          <a:xfrm>
            <a:off x="580103" y="963561"/>
            <a:ext cx="3342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N+2 layer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전위 분포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E6F4FE7-A57F-6A32-681A-2E4753E47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016" y="3879798"/>
            <a:ext cx="1495634" cy="4667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0DDF5-DA6E-192F-24F4-DF6B5E8F2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0" y="4621154"/>
            <a:ext cx="3755923" cy="380809"/>
          </a:xfrm>
          <a:prstGeom prst="rect">
            <a:avLst/>
          </a:prstGeom>
        </p:spPr>
      </p:pic>
      <p:pic>
        <p:nvPicPr>
          <p:cNvPr id="12" name="그림 11" descr="텍스트, 도표, 폰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AEC66E-9B73-0F63-EB4A-185634E42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15" y="1570745"/>
            <a:ext cx="3755923" cy="31464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8A7378-CDF4-68F4-07FE-EFADAA096305}"/>
              </a:ext>
            </a:extLst>
          </p:cNvPr>
          <p:cNvSpPr txBox="1"/>
          <p:nvPr/>
        </p:nvSpPr>
        <p:spPr>
          <a:xfrm>
            <a:off x="5306231" y="963561"/>
            <a:ext cx="2684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경계조건 행렬식 정리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19C8A-DB6C-16EB-E305-67194412DE18}"/>
              </a:ext>
            </a:extLst>
          </p:cNvPr>
          <p:cNvSpPr txBox="1"/>
          <p:nvPr/>
        </p:nvSpPr>
        <p:spPr>
          <a:xfrm>
            <a:off x="1405304" y="3322920"/>
            <a:ext cx="25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선형방정식</a:t>
            </a:r>
          </a:p>
        </p:txBody>
      </p:sp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40FB273B-07DE-550B-C6ED-5B1B98A01187}"/>
              </a:ext>
            </a:extLst>
          </p:cNvPr>
          <p:cNvSpPr/>
          <p:nvPr/>
        </p:nvSpPr>
        <p:spPr>
          <a:xfrm>
            <a:off x="4864932" y="1363671"/>
            <a:ext cx="356707" cy="3447888"/>
          </a:xfrm>
          <a:prstGeom prst="leftBrace">
            <a:avLst>
              <a:gd name="adj1" fmla="val 80279"/>
              <a:gd name="adj2" fmla="val 6585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8E10C-866D-D215-EA54-6985C98C0068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9550E-6915-D59A-CE8E-8A031A181A7D}"/>
              </a:ext>
            </a:extLst>
          </p:cNvPr>
          <p:cNvSpPr txBox="1"/>
          <p:nvPr/>
        </p:nvSpPr>
        <p:spPr>
          <a:xfrm>
            <a:off x="580104" y="5410986"/>
            <a:ext cx="2719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역행렬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계산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…?	x = A</a:t>
            </a:r>
            <a:r>
              <a:rPr lang="en-US" altLang="ko-KR" sz="24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-1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 ..?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459E2C-4E16-26A4-071A-63101296EA36}"/>
              </a:ext>
            </a:extLst>
          </p:cNvPr>
          <p:cNvSpPr txBox="1"/>
          <p:nvPr/>
        </p:nvSpPr>
        <p:spPr>
          <a:xfrm>
            <a:off x="4572000" y="5664511"/>
            <a:ext cx="37678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구하는데 있어 모든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coefficient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계산은 불필요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DF34F1C-3C4D-D660-97C8-C53D17206B4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099250" y="6018454"/>
            <a:ext cx="14727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724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C4F5-1BC0-444C-80AE-9E166FBE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13666-3AEC-DBB1-B987-49885C8D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Q-</a:t>
            </a:r>
            <a:r>
              <a:rPr lang="en-US" altLang="ko-KR" dirty="0" err="1"/>
              <a:t>ΔV</a:t>
            </a:r>
            <a:r>
              <a:rPr lang="en-US" altLang="ko-KR" baseline="-25000" dirty="0" err="1"/>
              <a:t>th</a:t>
            </a:r>
            <a:r>
              <a:rPr lang="en-US" altLang="ko-KR" dirty="0"/>
              <a:t> Optimized Calculation</a:t>
            </a:r>
            <a:endParaRPr lang="ko-KR" altLang="en-US" dirty="0"/>
          </a:p>
        </p:txBody>
      </p:sp>
      <p:pic>
        <p:nvPicPr>
          <p:cNvPr id="5" name="그림 4" descr="폰트, 텍스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08BDE1-8A43-FEC0-E8C1-EE714D44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77" y="1770233"/>
            <a:ext cx="2410161" cy="733527"/>
          </a:xfrm>
          <a:prstGeom prst="rect">
            <a:avLst/>
          </a:prstGeom>
        </p:spPr>
      </p:pic>
      <p:pic>
        <p:nvPicPr>
          <p:cNvPr id="6" name="그림 5" descr="폰트, 텍스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F27606-0963-B914-E944-35FAE9B57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27" y="2677219"/>
            <a:ext cx="2160900" cy="5349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CEA32D-CC1D-4CEB-E725-A5295A65E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345" y="3212201"/>
            <a:ext cx="3813982" cy="4335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0153A1-F69A-C98F-D4B9-96EA751DAB8F}"/>
              </a:ext>
            </a:extLst>
          </p:cNvPr>
          <p:cNvSpPr txBox="1"/>
          <p:nvPr/>
        </p:nvSpPr>
        <p:spPr>
          <a:xfrm>
            <a:off x="530941" y="1196664"/>
            <a:ext cx="5020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channel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에서의 전기장의 세기가 중요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7EB8B-F728-D4C4-2DBF-EC64979A3A84}"/>
              </a:ext>
            </a:extLst>
          </p:cNvPr>
          <p:cNvSpPr txBox="1"/>
          <p:nvPr/>
        </p:nvSpPr>
        <p:spPr>
          <a:xfrm>
            <a:off x="530941" y="2744853"/>
            <a:ext cx="350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Cramer’s rule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따르면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D3E0A-E53D-607A-4FF3-2A882D3950FC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7" name="그림 6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FCC1F5-C0A9-FA93-07A8-C0C1C143A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8606" y="3774674"/>
            <a:ext cx="5613595" cy="2430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148E05-C795-3D57-D309-5023DCBB2510}"/>
              </a:ext>
            </a:extLst>
          </p:cNvPr>
          <p:cNvSpPr txBox="1"/>
          <p:nvPr/>
        </p:nvSpPr>
        <p:spPr>
          <a:xfrm>
            <a:off x="4175806" y="1783053"/>
            <a:ext cx="45670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값을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일치시키는게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구하는 핵심 과정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146A9C4-EFCA-2894-B40D-A521D8730E6F}"/>
              </a:ext>
            </a:extLst>
          </p:cNvPr>
          <p:cNvSpPr/>
          <p:nvPr/>
        </p:nvSpPr>
        <p:spPr>
          <a:xfrm>
            <a:off x="3212538" y="2014917"/>
            <a:ext cx="890124" cy="303119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241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407A-4361-331A-4C48-DCCF1EF9A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167D83-D14C-2A1F-C38B-F2B1B5D37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Q-</a:t>
            </a:r>
            <a:r>
              <a:rPr lang="en-US" altLang="ko-KR" dirty="0" err="1"/>
              <a:t>ΔV</a:t>
            </a:r>
            <a:r>
              <a:rPr lang="en-US" altLang="ko-KR" baseline="-25000" dirty="0" err="1"/>
              <a:t>th</a:t>
            </a:r>
            <a:r>
              <a:rPr lang="en-US" altLang="ko-KR" dirty="0"/>
              <a:t> Optimized Calculation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972AA-673D-92C3-7122-A46E58BE71E6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A0895-B17C-2A05-E460-D81E66DE46D8}"/>
              </a:ext>
            </a:extLst>
          </p:cNvPr>
          <p:cNvSpPr txBox="1"/>
          <p:nvPr/>
        </p:nvSpPr>
        <p:spPr>
          <a:xfrm>
            <a:off x="420786" y="1051965"/>
            <a:ext cx="7816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결론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임의로 주어진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discretized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분포에 대한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ABD303-D736-C00E-7EC5-CF361C230BB1}"/>
                  </a:ext>
                </a:extLst>
              </p:cNvPr>
              <p:cNvSpPr txBox="1"/>
              <p:nvPr/>
            </p:nvSpPr>
            <p:spPr>
              <a:xfrm>
                <a:off x="780341" y="3327137"/>
                <a:ext cx="7816906" cy="2677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∴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𝑡h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det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</m:t>
                                </m:r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,0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−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det</m:t>
                    </m:r>
                    <m:d>
                      <m:dPr>
                        <m:begChr m:val="["/>
                        <m:endChr m:val="]"/>
                        <m:ctrlPr>
                          <a:rPr lang="ko-KR" altLang="en-US" sz="200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ko-KR" altLang="en-US" sz="200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</m:eqAr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⋮</m:t>
                              </m:r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⋱</m:t>
                              </m:r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/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/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−1</m:t>
                                        </m:r>
                                      </m:e>
                                      <m:e/>
                                    </m:eqAr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𝐵𝑂𝑋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ABD303-D736-C00E-7EC5-CF361C230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41" y="3327137"/>
                <a:ext cx="7816906" cy="26775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6409AD-EE3B-7EB5-E832-79A8F4E18140}"/>
                  </a:ext>
                </a:extLst>
              </p:cNvPr>
              <p:cNvSpPr txBox="1"/>
              <p:nvPr/>
            </p:nvSpPr>
            <p:spPr>
              <a:xfrm>
                <a:off x="863846" y="1853077"/>
                <a:ext cx="7816906" cy="579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초기 입력 조건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(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𝑖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=1−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𝑁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)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𝐶</m:t>
                    </m:r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𝜋𝜀</m:t>
                        </m:r>
                      </m:num>
                      <m:den>
                        <m:func>
                          <m:funcPr>
                            <m:ctrlPr>
                              <a:rPr lang="en-US" altLang="ko-KR" sz="2000" b="0" i="1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</m:t>
                                </m:r>
                                <m:r>
                                  <m:rPr>
                                    <m:lit/>
                                  </m:rP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/</m:t>
                                </m:r>
                                <m: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𝑎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6409AD-EE3B-7EB5-E832-79A8F4E18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46" y="1853077"/>
                <a:ext cx="7816906" cy="579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54FA823E-92CA-840A-1DDE-B7F62364E727}"/>
              </a:ext>
            </a:extLst>
          </p:cNvPr>
          <p:cNvGrpSpPr/>
          <p:nvPr/>
        </p:nvGrpSpPr>
        <p:grpSpPr>
          <a:xfrm>
            <a:off x="6548586" y="1976728"/>
            <a:ext cx="947738" cy="886470"/>
            <a:chOff x="6105526" y="1766242"/>
            <a:chExt cx="947738" cy="886470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D67F8BE-9D96-9694-A1BA-6960AC958AD4}"/>
                </a:ext>
              </a:extLst>
            </p:cNvPr>
            <p:cNvSpPr/>
            <p:nvPr/>
          </p:nvSpPr>
          <p:spPr>
            <a:xfrm>
              <a:off x="6105526" y="1766888"/>
              <a:ext cx="885824" cy="88582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E56C46D4-392E-14C4-50E0-9C3F26C86606}"/>
                </a:ext>
              </a:extLst>
            </p:cNvPr>
            <p:cNvSpPr/>
            <p:nvPr/>
          </p:nvSpPr>
          <p:spPr>
            <a:xfrm>
              <a:off x="6338275" y="1999637"/>
              <a:ext cx="420326" cy="42032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4BD2C5D7-AECC-9DD4-A650-BAA670C8FAB3}"/>
                </a:ext>
              </a:extLst>
            </p:cNvPr>
            <p:cNvCxnSpPr>
              <a:endCxn id="7" idx="7"/>
            </p:cNvCxnSpPr>
            <p:nvPr/>
          </p:nvCxnSpPr>
          <p:spPr>
            <a:xfrm flipV="1">
              <a:off x="6553200" y="2061192"/>
              <a:ext cx="143846" cy="1581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8954EC5-F222-6104-8B98-394114FCDC2C}"/>
                </a:ext>
              </a:extLst>
            </p:cNvPr>
            <p:cNvCxnSpPr>
              <a:cxnSpLocks/>
              <a:endCxn id="3" idx="6"/>
            </p:cNvCxnSpPr>
            <p:nvPr/>
          </p:nvCxnSpPr>
          <p:spPr>
            <a:xfrm flipV="1">
              <a:off x="6548438" y="2209800"/>
              <a:ext cx="442912" cy="9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6962CBE2-5006-34A3-0FB8-CD4F84FDEE9D}"/>
                </a:ext>
              </a:extLst>
            </p:cNvPr>
            <p:cNvCxnSpPr/>
            <p:nvPr/>
          </p:nvCxnSpPr>
          <p:spPr>
            <a:xfrm>
              <a:off x="6448425" y="1853230"/>
              <a:ext cx="2000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6A9D9BF4-F3DD-0750-8A6C-73FD6D4C422B}"/>
                </a:ext>
              </a:extLst>
            </p:cNvPr>
            <p:cNvCxnSpPr/>
            <p:nvPr/>
          </p:nvCxnSpPr>
          <p:spPr>
            <a:xfrm>
              <a:off x="6448425" y="1907205"/>
              <a:ext cx="2000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918C43A9-724D-1FFC-C55D-478A8093C4FD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6548438" y="1914786"/>
              <a:ext cx="0" cy="848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EB067FF-2361-D35C-4613-14F06E7D7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8437" y="1766242"/>
              <a:ext cx="0" cy="876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14D1E24-7CC3-76F6-BEA4-E42EE728E4A5}"/>
                    </a:ext>
                  </a:extLst>
                </p:cNvPr>
                <p:cNvSpPr txBox="1"/>
                <p:nvPr/>
              </p:nvSpPr>
              <p:spPr>
                <a:xfrm>
                  <a:off x="6433343" y="1961263"/>
                  <a:ext cx="33655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050" b="0" i="1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𝑎</m:t>
                      </m:r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14D1E24-7CC3-76F6-BEA4-E42EE728E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3343" y="1961263"/>
                  <a:ext cx="336551" cy="261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4E1D0FB-CE49-6B85-C3E8-E3F33F71F3B0}"/>
                    </a:ext>
                  </a:extLst>
                </p:cNvPr>
                <p:cNvSpPr txBox="1"/>
                <p:nvPr/>
              </p:nvSpPr>
              <p:spPr>
                <a:xfrm>
                  <a:off x="6716713" y="2157595"/>
                  <a:ext cx="33655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050" b="0" i="1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𝑏</m:t>
                      </m:r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4E1D0FB-CE49-6B85-C3E8-E3F33F71F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713" y="2157595"/>
                  <a:ext cx="336551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D504B7-ED9F-7FEE-7B70-49BD7BED55A6}"/>
                  </a:ext>
                </a:extLst>
              </p:cNvPr>
              <p:cNvSpPr txBox="1"/>
              <p:nvPr/>
            </p:nvSpPr>
            <p:spPr>
              <a:xfrm>
                <a:off x="6555492" y="1886374"/>
                <a:ext cx="5467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baseline="-3000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𝐶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D504B7-ED9F-7FEE-7B70-49BD7BED5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492" y="1886374"/>
                <a:ext cx="54675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774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3ADB9-34DA-B950-A802-3A43A8BE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7F58E887-E832-99FA-0F24-A9AFF8C1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5A4D3-247C-22B1-F1AE-B86974CCBE78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B019CFC-82C9-105D-FCDD-B75465C27C5D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15A7DFE3-C15B-860D-119E-F34640D54D2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311B41D-60B9-2619-8B99-9242345E3C1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ADA6501-2D63-D31A-2E5E-0221B93D84B6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D5066E75-AF93-E9A3-9676-300154B024F9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EF8090E-1CBF-ECCD-AB9E-F978D889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95" y="1854072"/>
            <a:ext cx="5496708" cy="3860024"/>
          </a:xfrm>
          <a:prstGeom prst="rect">
            <a:avLst/>
          </a:prstGeom>
        </p:spPr>
      </p:pic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EACCCCB-6BCA-1872-D756-495F8CC939D3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CCC6D7-D585-2B55-CEDB-2857EAD6F2D7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CF5BBB-2D30-00D7-79F5-405AED2EA63C}"/>
              </a:ext>
            </a:extLst>
          </p:cNvPr>
          <p:cNvSpPr txBox="1"/>
          <p:nvPr/>
        </p:nvSpPr>
        <p:spPr>
          <a:xfrm>
            <a:off x="1541143" y="5761990"/>
            <a:ext cx="7509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 비용은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</a:t>
            </a:r>
          </a:p>
          <a:p>
            <a:pPr algn="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988DD71-58A4-C0F7-7D4B-BA19C07038AA}"/>
              </a:ext>
            </a:extLst>
          </p:cNvPr>
          <p:cNvCxnSpPr>
            <a:cxnSpLocks/>
          </p:cNvCxnSpPr>
          <p:nvPr/>
        </p:nvCxnSpPr>
        <p:spPr>
          <a:xfrm flipH="1">
            <a:off x="6046586" y="2576839"/>
            <a:ext cx="443114" cy="3160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8F921A-9011-3F85-500D-0EB173CEC725}"/>
              </a:ext>
            </a:extLst>
          </p:cNvPr>
          <p:cNvSpPr txBox="1"/>
          <p:nvPr/>
        </p:nvSpPr>
        <p:spPr>
          <a:xfrm>
            <a:off x="806823" y="3679576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7BCF5-2405-5B72-05BF-C4316D65EF91}"/>
              </a:ext>
            </a:extLst>
          </p:cNvPr>
          <p:cNvSpPr txBox="1"/>
          <p:nvPr/>
        </p:nvSpPr>
        <p:spPr>
          <a:xfrm>
            <a:off x="344242" y="4157188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076E66-0C5F-6E31-9940-F4C00432FE22}"/>
              </a:ext>
            </a:extLst>
          </p:cNvPr>
          <p:cNvSpPr txBox="1"/>
          <p:nvPr/>
        </p:nvSpPr>
        <p:spPr>
          <a:xfrm>
            <a:off x="1367564" y="4157188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F96E6-0A68-3A23-64B1-5B337DD34AC3}"/>
              </a:ext>
            </a:extLst>
          </p:cNvPr>
          <p:cNvSpPr txBox="1"/>
          <p:nvPr/>
        </p:nvSpPr>
        <p:spPr>
          <a:xfrm>
            <a:off x="-97824" y="3510050"/>
            <a:ext cx="901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Si-channel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52228B-9112-3A34-8731-54BE8A79F6D3}"/>
              </a:ext>
            </a:extLst>
          </p:cNvPr>
          <p:cNvSpPr txBox="1"/>
          <p:nvPr/>
        </p:nvSpPr>
        <p:spPr>
          <a:xfrm>
            <a:off x="1840902" y="3404795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1134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D9860-FE47-EE4D-586C-5252C3DE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0F9AB-425E-FA11-7964-DA92B4B8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E214A776-0BA0-6D9B-EE09-CF6C8122E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089150"/>
              </p:ext>
            </p:extLst>
          </p:nvPr>
        </p:nvGraphicFramePr>
        <p:xfrm>
          <a:off x="94129" y="2477565"/>
          <a:ext cx="3272867" cy="2313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1068" imgH="3429000" progId="Origin50.Graph">
                  <p:embed/>
                </p:oleObj>
              </mc:Choice>
              <mc:Fallback>
                <p:oleObj name="Graph" r:id="rId2" imgW="4851068" imgH="3429000" progId="Origin50.Graph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E214A776-0BA0-6D9B-EE09-CF6C8122E8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129" y="2477565"/>
                        <a:ext cx="3272867" cy="23132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5D5268AF-0DA4-A78D-FBBD-A716375A91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827693"/>
              </p:ext>
            </p:extLst>
          </p:nvPr>
        </p:nvGraphicFramePr>
        <p:xfrm>
          <a:off x="3079377" y="2477565"/>
          <a:ext cx="3272870" cy="2312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852293" imgH="3429000" progId="Origin50.Graph">
                  <p:embed/>
                </p:oleObj>
              </mc:Choice>
              <mc:Fallback>
                <p:oleObj name="Graph" r:id="rId4" imgW="4852293" imgH="3429000" progId="Origin50.Graph">
                  <p:embed/>
                  <p:pic>
                    <p:nvPicPr>
                      <p:cNvPr id="11" name="개체 10">
                        <a:extLst>
                          <a:ext uri="{FF2B5EF4-FFF2-40B4-BE49-F238E27FC236}">
                            <a16:creationId xmlns:a16="http://schemas.microsoft.com/office/drawing/2014/main" id="{5D5268AF-0DA4-A78D-FBBD-A716375A91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79377" y="2477565"/>
                        <a:ext cx="3272870" cy="2312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BEA3E0D-66BC-97CB-2974-B02824AC9B4F}"/>
              </a:ext>
            </a:extLst>
          </p:cNvPr>
          <p:cNvSpPr txBox="1"/>
          <p:nvPr/>
        </p:nvSpPr>
        <p:spPr>
          <a:xfrm>
            <a:off x="290596" y="1937786"/>
            <a:ext cx="8132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Numerical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상관관계 실험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ED5578-D548-FAD6-E0CD-87F45C626CD9}"/>
              </a:ext>
            </a:extLst>
          </p:cNvPr>
          <p:cNvSpPr txBox="1"/>
          <p:nvPr/>
        </p:nvSpPr>
        <p:spPr>
          <a:xfrm>
            <a:off x="170117" y="4977911"/>
            <a:ext cx="32329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10-140 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등분하여 비교 테스트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100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 이상부터 수렴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DD621D-D424-F110-3C45-0440816845D3}"/>
              </a:ext>
            </a:extLst>
          </p:cNvPr>
          <p:cNvSpPr txBox="1"/>
          <p:nvPr/>
        </p:nvSpPr>
        <p:spPr>
          <a:xfrm>
            <a:off x="3403079" y="4978666"/>
            <a:ext cx="28091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slice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5-50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등분하여 비교 테스트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30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 이상부터 수렴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C108074A-5398-A5EE-1C42-93ABBC6AA34F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6928542-BF00-FA00-B0C1-85E590104E3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16A4D45-15EB-9A15-5890-816F64A32EA5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746F2A7-0A8B-91A9-BF93-19E3F7248752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1C3DD21-A8F3-AE5E-2E0D-B2186A0D3AC4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F6EF07-2A81-EEC2-8EFF-F92E71A4F92D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03260FF-CD2F-D451-3738-A9A7E20B535D}"/>
              </a:ext>
            </a:extLst>
          </p:cNvPr>
          <p:cNvCxnSpPr>
            <a:cxnSpLocks/>
          </p:cNvCxnSpPr>
          <p:nvPr/>
        </p:nvCxnSpPr>
        <p:spPr>
          <a:xfrm flipH="1">
            <a:off x="6046586" y="2576839"/>
            <a:ext cx="443114" cy="3160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7B55EE-D75B-E80E-A93D-48427165EAE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E2A6B0-2BB0-DDE9-59BA-F5EF06917DC1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</p:spTree>
    <p:extLst>
      <p:ext uri="{BB962C8B-B14F-4D97-AF65-F5344CB8AC3E}">
        <p14:creationId xmlns:p14="http://schemas.microsoft.com/office/powerpoint/2010/main" val="3912656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69A62632-E77A-3927-5FF5-36F3D484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4B12687F-16DE-0115-C6A4-52E374D80ADA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1ACA70EC-8205-C076-89B9-19A20CDEC131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D85A6764-C53E-AE99-4112-60BB60EFD33A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D9D4F22-0BD8-C767-6471-0D1BF4AE26E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602DC4E-8168-9EC4-84C7-2DA8A78AE552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24" name="Image 0">
            <a:extLst>
              <a:ext uri="{FF2B5EF4-FFF2-40B4-BE49-F238E27FC236}">
                <a16:creationId xmlns:a16="http://schemas.microsoft.com/office/drawing/2014/main" id="{F767B7CD-BAE3-34B5-A4FA-06E1828475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94" t="61128" r="14538"/>
          <a:stretch>
            <a:fillRect/>
          </a:stretch>
        </p:blipFill>
        <p:spPr>
          <a:xfrm>
            <a:off x="1652622" y="4733900"/>
            <a:ext cx="3605719" cy="1413205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09F6592-A71C-39DA-CBD2-234513F82200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958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4D90DDE-2D84-9963-E550-2C0D76C46C27}"/>
              </a:ext>
            </a:extLst>
          </p:cNvPr>
          <p:cNvCxnSpPr>
            <a:cxnSpLocks/>
          </p:cNvCxnSpPr>
          <p:nvPr/>
        </p:nvCxnSpPr>
        <p:spPr>
          <a:xfrm flipH="1">
            <a:off x="5453517" y="3968319"/>
            <a:ext cx="1036183" cy="2051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FB1475-1299-9D16-CE2C-045210718D6B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765071B-98C4-1AFE-696F-48E64ECF1D5B}"/>
              </a:ext>
            </a:extLst>
          </p:cNvPr>
          <p:cNvGrpSpPr/>
          <p:nvPr/>
        </p:nvGrpSpPr>
        <p:grpSpPr>
          <a:xfrm>
            <a:off x="962958" y="1828348"/>
            <a:ext cx="4351370" cy="1689118"/>
            <a:chOff x="1008979" y="2324100"/>
            <a:chExt cx="4351370" cy="1689118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" name="개체 1">
                  <a:extLst>
                    <a:ext uri="{FF2B5EF4-FFF2-40B4-BE49-F238E27FC236}">
                      <a16:creationId xmlns:a16="http://schemas.microsoft.com/office/drawing/2014/main" id="{5A8CC464-9F64-C3DA-DC18-C10744D49F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69609160"/>
                    </p:ext>
                  </p:extLst>
                </p:nvPr>
              </p:nvGraphicFramePr>
              <p:xfrm>
                <a:off x="1008979" y="2324100"/>
                <a:ext cx="4351370" cy="16891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3" imgW="6012550" imgH="2335684" progId="Origin50.Graph">
                        <p:embed/>
                      </p:oleObj>
                    </mc:Choice>
                    <mc:Fallback>
                      <p:oleObj name="Graph" r:id="rId3" imgW="6012550" imgH="2335684" progId="Origin50.Graph">
                        <p:embed/>
                        <p:pic>
                          <p:nvPicPr>
                            <p:cNvPr id="2" name="개체 1">
                              <a:extLst>
                                <a:ext uri="{FF2B5EF4-FFF2-40B4-BE49-F238E27FC236}">
                                  <a16:creationId xmlns:a16="http://schemas.microsoft.com/office/drawing/2014/main" id="{5A8CC464-9F64-C3DA-DC18-C10744D49F0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979" y="2324100"/>
                              <a:ext cx="4351370" cy="168911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" name="개체 1">
                  <a:extLst>
                    <a:ext uri="{FF2B5EF4-FFF2-40B4-BE49-F238E27FC236}">
                      <a16:creationId xmlns:a16="http://schemas.microsoft.com/office/drawing/2014/main" id="{5A8CC464-9F64-C3DA-DC18-C10744D49F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69609160"/>
                    </p:ext>
                  </p:extLst>
                </p:nvPr>
              </p:nvGraphicFramePr>
              <p:xfrm>
                <a:off x="1008979" y="2324100"/>
                <a:ext cx="4351370" cy="16891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5" imgW="6012550" imgH="2335684" progId="Origin50.Graph">
                        <p:embed/>
                      </p:oleObj>
                    </mc:Choice>
                    <mc:Fallback>
                      <p:oleObj name="Graph" r:id="rId5" imgW="6012550" imgH="2335684" progId="Origin50.Graph">
                        <p:embed/>
                        <p:pic>
                          <p:nvPicPr>
                            <p:cNvPr id="66" name="개체 65">
                              <a:extLst>
                                <a:ext uri="{FF2B5EF4-FFF2-40B4-BE49-F238E27FC236}">
                                  <a16:creationId xmlns:a16="http://schemas.microsoft.com/office/drawing/2014/main" id="{53425263-3E34-2652-799F-E0AC3F4F1EC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979" y="2324100"/>
                              <a:ext cx="4351370" cy="168911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F019DA1-A28F-0AAB-A173-B21E7AC7EC08}"/>
                    </a:ext>
                  </a:extLst>
                </p:cNvPr>
                <p:cNvSpPr txBox="1"/>
                <p:nvPr/>
              </p:nvSpPr>
              <p:spPr>
                <a:xfrm>
                  <a:off x="1798187" y="3028603"/>
                  <a:ext cx="1691465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 panose="02020603050405020304" pitchFamily="18" charset="0"/>
                      <a:ea typeface="맑은 고딕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F019DA1-A28F-0AAB-A173-B21E7AC7EC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8187" y="3028603"/>
                  <a:ext cx="1691465" cy="25391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C40F8D-4B57-7460-16CD-7232E8CF6506}"/>
                    </a:ext>
                  </a:extLst>
                </p:cNvPr>
                <p:cNvSpPr txBox="1"/>
                <p:nvPr/>
              </p:nvSpPr>
              <p:spPr>
                <a:xfrm>
                  <a:off x="3299817" y="3028603"/>
                  <a:ext cx="1757144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 panose="02020603050405020304" pitchFamily="18" charset="0"/>
                      <a:ea typeface="맑은 고딕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C40F8D-4B57-7460-16CD-7232E8CF65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9817" y="3028603"/>
                  <a:ext cx="1757144" cy="25391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곱하기 기호 5">
              <a:extLst>
                <a:ext uri="{FF2B5EF4-FFF2-40B4-BE49-F238E27FC236}">
                  <a16:creationId xmlns:a16="http://schemas.microsoft.com/office/drawing/2014/main" id="{8951DCAA-6CC8-B760-13EE-B7B98F210ED1}"/>
                </a:ext>
              </a:extLst>
            </p:cNvPr>
            <p:cNvSpPr/>
            <p:nvPr/>
          </p:nvSpPr>
          <p:spPr>
            <a:xfrm>
              <a:off x="2902427" y="2960108"/>
              <a:ext cx="172873" cy="172873"/>
            </a:xfrm>
            <a:prstGeom prst="mathMultiply">
              <a:avLst>
                <a:gd name="adj1" fmla="val 637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60DE76E4-7E92-40FA-EF2D-5EE68EED11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8911" y="3046547"/>
              <a:ext cx="12391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ysDash"/>
              <a:headEnd w="sm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3130A2D6-E888-8AC1-BCF4-29BAB376CD71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55" y="3046545"/>
              <a:ext cx="1730121" cy="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ysDash"/>
              <a:headEnd w="sm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99085FB-222D-229D-CFA6-F8B4B521CB06}"/>
                </a:ext>
              </a:extLst>
            </p:cNvPr>
            <p:cNvCxnSpPr>
              <a:cxnSpLocks/>
            </p:cNvCxnSpPr>
            <p:nvPr/>
          </p:nvCxnSpPr>
          <p:spPr>
            <a:xfrm>
              <a:off x="1666852" y="2727327"/>
              <a:ext cx="2" cy="60813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73D1D068-1E5E-B21E-C045-8A94A0F862BA}"/>
                </a:ext>
              </a:extLst>
            </p:cNvPr>
            <p:cNvCxnSpPr>
              <a:cxnSpLocks/>
            </p:cNvCxnSpPr>
            <p:nvPr/>
          </p:nvCxnSpPr>
          <p:spPr>
            <a:xfrm>
              <a:off x="4827719" y="2778466"/>
              <a:ext cx="2" cy="69060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2932EEE7-DCD2-79E4-9F6E-E282117B0691}"/>
                </a:ext>
              </a:extLst>
            </p:cNvPr>
            <p:cNvCxnSpPr>
              <a:cxnSpLocks/>
            </p:cNvCxnSpPr>
            <p:nvPr/>
          </p:nvCxnSpPr>
          <p:spPr>
            <a:xfrm>
              <a:off x="2304263" y="2632072"/>
              <a:ext cx="2" cy="23656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91CDF9-D48C-E570-D828-2DC4B923877A}"/>
                </a:ext>
              </a:extLst>
            </p:cNvPr>
            <p:cNvSpPr txBox="1"/>
            <p:nvPr/>
          </p:nvSpPr>
          <p:spPr>
            <a:xfrm rot="16200000">
              <a:off x="1162896" y="2898661"/>
              <a:ext cx="79906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3.1 eV</a:t>
              </a:r>
              <a:endParaRPr lang="ko-KR" altLang="en-US" sz="1100" baseline="-25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CA5A6E-F2FA-E672-0003-E7B2BF846745}"/>
                </a:ext>
              </a:extLst>
            </p:cNvPr>
            <p:cNvSpPr txBox="1"/>
            <p:nvPr/>
          </p:nvSpPr>
          <p:spPr>
            <a:xfrm>
              <a:off x="2252634" y="2585061"/>
              <a:ext cx="7990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1.0 eV</a:t>
              </a:r>
              <a:endParaRPr lang="ko-KR" altLang="en-US" sz="1100" baseline="-250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8C12D0-1117-7717-FDA0-64AAE0373F3D}"/>
                </a:ext>
              </a:extLst>
            </p:cNvPr>
            <p:cNvSpPr txBox="1"/>
            <p:nvPr/>
          </p:nvSpPr>
          <p:spPr>
            <a:xfrm rot="16200000">
              <a:off x="4530912" y="3024883"/>
              <a:ext cx="906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3.65 eV</a:t>
              </a:r>
              <a:endParaRPr lang="ko-KR" altLang="en-US" sz="1100" baseline="-2500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1152F07-F07F-DF93-F69C-C157A2EFB5B0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3F40A5-6E59-AA1E-DD39-08BF4CD733B9}"/>
              </a:ext>
            </a:extLst>
          </p:cNvPr>
          <p:cNvSpPr txBox="1"/>
          <p:nvPr/>
        </p:nvSpPr>
        <p:spPr>
          <a:xfrm>
            <a:off x="623295" y="3968319"/>
            <a:ext cx="52353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주어진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initial band diagram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기준으로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channel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방향과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word line (WL)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방향으로의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rate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계산</a:t>
            </a:r>
          </a:p>
        </p:txBody>
      </p:sp>
    </p:spTree>
    <p:extLst>
      <p:ext uri="{BB962C8B-B14F-4D97-AF65-F5344CB8AC3E}">
        <p14:creationId xmlns:p14="http://schemas.microsoft.com/office/powerpoint/2010/main" val="1727606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>
            <a:extLst>
              <a:ext uri="{FF2B5EF4-FFF2-40B4-BE49-F238E27FC236}">
                <a16:creationId xmlns:a16="http://schemas.microsoft.com/office/drawing/2014/main" id="{9D86E16C-2668-BDFB-67AF-17D3DF21BE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793" b="54372"/>
          <a:stretch>
            <a:fillRect/>
          </a:stretch>
        </p:blipFill>
        <p:spPr>
          <a:xfrm>
            <a:off x="119260" y="4521925"/>
            <a:ext cx="5743704" cy="71038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94963FC-EDAD-6A5C-ADF7-04DF9FB3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8494EF6E-67AB-B509-21AC-D9782210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833"/>
          <a:stretch>
            <a:fillRect/>
          </a:stretch>
        </p:blipFill>
        <p:spPr>
          <a:xfrm>
            <a:off x="94129" y="3308745"/>
            <a:ext cx="5743704" cy="68220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0EAB49-46F6-5CD2-4064-B6DF13C5494E}"/>
              </a:ext>
            </a:extLst>
          </p:cNvPr>
          <p:cNvSpPr/>
          <p:nvPr/>
        </p:nvSpPr>
        <p:spPr>
          <a:xfrm>
            <a:off x="94129" y="4523817"/>
            <a:ext cx="5743705" cy="7103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30A67EAC-3D18-A813-1B7F-EF00AB74EE0B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A3316C8-B3F0-0741-486E-9F598E19EAC9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A06F1B6E-FF40-0D85-3AFB-60732B005EB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6C744D8-385E-9175-FCCD-311D63DFD29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0879281-E7E4-1239-2EB3-9AA6BBAFC2F7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C19316-AA1E-A65B-62A1-C5778A2FF30D}"/>
              </a:ext>
            </a:extLst>
          </p:cNvPr>
          <p:cNvSpPr txBox="1"/>
          <p:nvPr/>
        </p:nvSpPr>
        <p:spPr>
          <a:xfrm>
            <a:off x="685804" y="5763278"/>
            <a:ext cx="2044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초기 전하 분포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91B02D-6FA9-5624-5571-5AEAC82166C6}"/>
              </a:ext>
            </a:extLst>
          </p:cNvPr>
          <p:cNvSpPr txBox="1"/>
          <p:nvPr/>
        </p:nvSpPr>
        <p:spPr>
          <a:xfrm>
            <a:off x="2940369" y="5763278"/>
            <a:ext cx="3055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1C1046-9366-24B4-9B84-F63C4F802D07}"/>
              </a:ext>
            </a:extLst>
          </p:cNvPr>
          <p:cNvSpPr txBox="1"/>
          <p:nvPr/>
        </p:nvSpPr>
        <p:spPr>
          <a:xfrm>
            <a:off x="1279396" y="2992018"/>
            <a:ext cx="3525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Autonomous ODE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DAB256E-2B4D-60A8-D584-17DBDA9A9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22" y="2096806"/>
            <a:ext cx="1473454" cy="5832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0FF1D13-8AA4-D278-4E0A-EF5F9B16F212}"/>
              </a:ext>
            </a:extLst>
          </p:cNvPr>
          <p:cNvSpPr txBox="1"/>
          <p:nvPr/>
        </p:nvSpPr>
        <p:spPr>
          <a:xfrm>
            <a:off x="2416176" y="2202088"/>
            <a:ext cx="2963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Autonomous ODE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FE68F3D-0A0E-724C-ADBE-10863EC0246F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2430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C13342E-CC28-5518-920B-68D264394054}"/>
              </a:ext>
            </a:extLst>
          </p:cNvPr>
          <p:cNvCxnSpPr>
            <a:cxnSpLocks/>
          </p:cNvCxnSpPr>
          <p:nvPr/>
        </p:nvCxnSpPr>
        <p:spPr>
          <a:xfrm flipH="1">
            <a:off x="5664200" y="5440503"/>
            <a:ext cx="825500" cy="364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4F5560A-5E4C-FDE4-2499-CACE4E1756D6}"/>
              </a:ext>
            </a:extLst>
          </p:cNvPr>
          <p:cNvCxnSpPr>
            <a:cxnSpLocks/>
          </p:cNvCxnSpPr>
          <p:nvPr/>
        </p:nvCxnSpPr>
        <p:spPr>
          <a:xfrm flipH="1">
            <a:off x="2208891" y="4965700"/>
            <a:ext cx="521609" cy="677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510CED3-0489-0CBC-0FC6-B84C13B7EA5E}"/>
              </a:ext>
            </a:extLst>
          </p:cNvPr>
          <p:cNvCxnSpPr>
            <a:cxnSpLocks/>
          </p:cNvCxnSpPr>
          <p:nvPr/>
        </p:nvCxnSpPr>
        <p:spPr>
          <a:xfrm>
            <a:off x="4023362" y="5082210"/>
            <a:ext cx="0" cy="56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463AD96-4B77-F53B-65CE-579DC5A3457A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47A803-82ED-C960-87D1-686C061EC82E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4A7D5-AE2B-59F2-51AD-65A4E5885624}"/>
              </a:ext>
            </a:extLst>
          </p:cNvPr>
          <p:cNvSpPr txBox="1"/>
          <p:nvPr/>
        </p:nvSpPr>
        <p:spPr>
          <a:xfrm>
            <a:off x="221198" y="3976663"/>
            <a:ext cx="5641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위 식을 풀면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시간에 따른 일반해를 구할 수 있음</a:t>
            </a:r>
          </a:p>
        </p:txBody>
      </p:sp>
    </p:spTree>
    <p:extLst>
      <p:ext uri="{BB962C8B-B14F-4D97-AF65-F5344CB8AC3E}">
        <p14:creationId xmlns:p14="http://schemas.microsoft.com/office/powerpoint/2010/main" val="79215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1B074-14AA-D1D3-2BED-7349DDDA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Validation</a:t>
            </a:r>
            <a:r>
              <a:rPr lang="ko-KR" altLang="ko-KR" dirty="0"/>
              <a:t> of Time-</a:t>
            </a:r>
            <a:r>
              <a:rPr lang="ko-KR" altLang="ko-KR" dirty="0" err="1"/>
              <a:t>Step</a:t>
            </a:r>
            <a:r>
              <a:rPr lang="ko-KR" altLang="ko-KR" dirty="0"/>
              <a:t>-</a:t>
            </a:r>
            <a:r>
              <a:rPr lang="ko-KR" altLang="ko-KR" dirty="0" err="1"/>
              <a:t>Free</a:t>
            </a:r>
            <a:r>
              <a:rPr lang="ko-KR" altLang="ko-KR" dirty="0"/>
              <a:t> </a:t>
            </a:r>
            <a:r>
              <a:rPr lang="ko-KR" altLang="ko-KR" dirty="0" err="1"/>
              <a:t>Evaluation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B8559-A6CB-4679-56E2-9555CFA35DDF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CC4BF23F-9A1E-A8CF-CD5D-C773068B05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244881"/>
              </p:ext>
            </p:extLst>
          </p:nvPr>
        </p:nvGraphicFramePr>
        <p:xfrm>
          <a:off x="317608" y="1589149"/>
          <a:ext cx="5939817" cy="3128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510977" imgH="3429000" progId="Origin50.Graph">
                  <p:embed/>
                </p:oleObj>
              </mc:Choice>
              <mc:Fallback>
                <p:oleObj name="Graph" r:id="rId2" imgW="6510977" imgH="3429000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CC4BF23F-9A1E-A8CF-CD5D-C773068B05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7608" y="1589149"/>
                        <a:ext cx="5939817" cy="31285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E695E53B-06B8-4866-D8B4-056CE9310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569977"/>
              </p:ext>
            </p:extLst>
          </p:nvPr>
        </p:nvGraphicFramePr>
        <p:xfrm>
          <a:off x="5942910" y="1405156"/>
          <a:ext cx="2720590" cy="271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430915" imgH="3429000" progId="Origin50.Graph">
                  <p:embed/>
                </p:oleObj>
              </mc:Choice>
              <mc:Fallback>
                <p:oleObj name="Graph" r:id="rId4" imgW="3430915" imgH="3429000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E695E53B-06B8-4866-D8B4-056CE93104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42910" y="1405156"/>
                        <a:ext cx="2720590" cy="2719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DBA3946F-0D9D-D20E-343F-DB58E7B84E28}"/>
              </a:ext>
            </a:extLst>
          </p:cNvPr>
          <p:cNvSpPr/>
          <p:nvPr/>
        </p:nvSpPr>
        <p:spPr>
          <a:xfrm>
            <a:off x="4632968" y="3237176"/>
            <a:ext cx="776459" cy="7881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5C47E32-DCF9-3066-374E-B3B5B91FE7BD}"/>
              </a:ext>
            </a:extLst>
          </p:cNvPr>
          <p:cNvCxnSpPr>
            <a:cxnSpLocks/>
          </p:cNvCxnSpPr>
          <p:nvPr/>
        </p:nvCxnSpPr>
        <p:spPr>
          <a:xfrm flipV="1">
            <a:off x="5412783" y="1990641"/>
            <a:ext cx="982837" cy="1238443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9B2448-13F2-3A59-4CF3-7B7568869EA4}"/>
              </a:ext>
            </a:extLst>
          </p:cNvPr>
          <p:cNvCxnSpPr>
            <a:cxnSpLocks/>
          </p:cNvCxnSpPr>
          <p:nvPr/>
        </p:nvCxnSpPr>
        <p:spPr>
          <a:xfrm flipV="1">
            <a:off x="5412783" y="3907197"/>
            <a:ext cx="976156" cy="12633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A3A06D7-A104-27CE-74BB-AF9BE9261D4A}"/>
              </a:ext>
            </a:extLst>
          </p:cNvPr>
          <p:cNvSpPr txBox="1"/>
          <p:nvPr/>
        </p:nvSpPr>
        <p:spPr>
          <a:xfrm>
            <a:off x="609600" y="998706"/>
            <a:ext cx="8440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evaluation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validity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확인하기 위해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iteration test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수행함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678DCF-0AC9-42F4-FCC8-A364F96D6EA1}"/>
              </a:ext>
            </a:extLst>
          </p:cNvPr>
          <p:cNvSpPr txBox="1"/>
          <p:nvPr/>
        </p:nvSpPr>
        <p:spPr>
          <a:xfrm>
            <a:off x="404602" y="4856657"/>
            <a:ext cx="86452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Iterative test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진행한 결과와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없는 단일계산으로 진행한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evaluation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차이가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9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[s]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이상의 시간이 지나야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3%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가량 차이 발생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두 결과의 차이가 작아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approximation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유효함을 확인함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912FC59-0819-61D0-A5AD-8B40C19393F8}"/>
              </a:ext>
            </a:extLst>
          </p:cNvPr>
          <p:cNvSpPr/>
          <p:nvPr/>
        </p:nvSpPr>
        <p:spPr>
          <a:xfrm>
            <a:off x="7444673" y="2764821"/>
            <a:ext cx="906308" cy="114237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910136-1934-488E-0CB2-D79D42046EA9}"/>
              </a:ext>
            </a:extLst>
          </p:cNvPr>
          <p:cNvSpPr txBox="1"/>
          <p:nvPr/>
        </p:nvSpPr>
        <p:spPr>
          <a:xfrm>
            <a:off x="6168259" y="2010077"/>
            <a:ext cx="2042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&lt; 3% difference</a:t>
            </a:r>
          </a:p>
          <a:p>
            <a:pPr algn="r"/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after 10</a:t>
            </a:r>
            <a:r>
              <a:rPr lang="en-US" altLang="ko-KR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9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s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4335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F3F79-6A8A-8036-C0EA-5795BB86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 Retention Condition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0C03B-AB43-3256-A1E2-5EEE9F5EB919}"/>
              </a:ext>
            </a:extLst>
          </p:cNvPr>
          <p:cNvSpPr txBox="1"/>
          <p:nvPr/>
        </p:nvSpPr>
        <p:spPr>
          <a:xfrm>
            <a:off x="6500047" y="3429000"/>
            <a:ext cx="2335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실험 측정 결과</a:t>
            </a:r>
            <a:b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Refaldi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IRPS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E3B60B-6694-A2A6-F560-C9BB3B565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41" y="1233845"/>
            <a:ext cx="5515526" cy="34188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D8035-BA60-EBB1-D663-6D0EA6820F51}"/>
              </a:ext>
            </a:extLst>
          </p:cNvPr>
          <p:cNvSpPr txBox="1"/>
          <p:nvPr/>
        </p:nvSpPr>
        <p:spPr>
          <a:xfrm>
            <a:off x="386415" y="4668923"/>
            <a:ext cx="85382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실험적으로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분리하는 기법</a:t>
            </a:r>
            <a:endParaRPr lang="en-US" altLang="ko-KR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Thermal transition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억제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분리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Modeling validation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적합한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reference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제공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단위는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A.U.)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748CA-8A3C-2756-E4D8-C7F53508008F}"/>
              </a:ext>
            </a:extLst>
          </p:cNvPr>
          <p:cNvSpPr txBox="1"/>
          <p:nvPr/>
        </p:nvSpPr>
        <p:spPr>
          <a:xfrm>
            <a:off x="490376" y="944426"/>
            <a:ext cx="4671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극저온 조건이 필요한 이유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?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7947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DBA3E-99CC-2403-9B66-32F6B0A6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Cryogenic-like</a:t>
            </a:r>
            <a:r>
              <a:rPr lang="ko-KR" altLang="en-US" dirty="0"/>
              <a:t> </a:t>
            </a:r>
            <a:r>
              <a:rPr lang="en-US" altLang="ko-KR" dirty="0"/>
              <a:t>TCAD Emulation</a:t>
            </a:r>
            <a:endParaRPr lang="ko-KR" altLang="en-US" dirty="0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FD167D98-28C5-E5A9-685D-94869095AB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560406"/>
              </p:ext>
            </p:extLst>
          </p:nvPr>
        </p:nvGraphicFramePr>
        <p:xfrm>
          <a:off x="270133" y="2456147"/>
          <a:ext cx="4512278" cy="318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2293" imgH="3429000" progId="Origin50.Graph">
                  <p:embed/>
                </p:oleObj>
              </mc:Choice>
              <mc:Fallback>
                <p:oleObj name="Graph" r:id="rId2" imgW="4852293" imgH="3429000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FD167D98-28C5-E5A9-685D-94869095AB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0133" y="2456147"/>
                        <a:ext cx="4512278" cy="318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14B6E2C1-3363-1BE2-6647-EE01764791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832575"/>
              </p:ext>
            </p:extLst>
          </p:nvPr>
        </p:nvGraphicFramePr>
        <p:xfrm>
          <a:off x="4312293" y="2456146"/>
          <a:ext cx="4512277" cy="318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852293" imgH="3429000" progId="Origin50.Graph">
                  <p:embed/>
                </p:oleObj>
              </mc:Choice>
              <mc:Fallback>
                <p:oleObj name="Graph" r:id="rId4" imgW="4852293" imgH="3429000" progId="Origin50.Graph">
                  <p:embed/>
                  <p:pic>
                    <p:nvPicPr>
                      <p:cNvPr id="7" name="개체 6">
                        <a:extLst>
                          <a:ext uri="{FF2B5EF4-FFF2-40B4-BE49-F238E27FC236}">
                            <a16:creationId xmlns:a16="http://schemas.microsoft.com/office/drawing/2014/main" id="{14B6E2C1-3363-1BE2-6647-EE01764791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12293" y="2456146"/>
                        <a:ext cx="4512277" cy="318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BC5718D-5BED-047F-20A9-523A06430935}"/>
              </a:ext>
            </a:extLst>
          </p:cNvPr>
          <p:cNvSpPr txBox="1"/>
          <p:nvPr/>
        </p:nvSpPr>
        <p:spPr>
          <a:xfrm>
            <a:off x="582626" y="914400"/>
            <a:ext cx="8132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온도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–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수렴성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테스트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극저온 환경과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사이의 상호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608DE6-0EF3-553C-CD62-5355B43A02DA}"/>
              </a:ext>
            </a:extLst>
          </p:cNvPr>
          <p:cNvSpPr txBox="1"/>
          <p:nvPr/>
        </p:nvSpPr>
        <p:spPr>
          <a:xfrm>
            <a:off x="449107" y="5644409"/>
            <a:ext cx="419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300 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83 K (TCAD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최저온도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345EB9-D1D5-A26A-BAE4-AC75B00ED387}"/>
              </a:ext>
            </a:extLst>
          </p:cNvPr>
          <p:cNvSpPr txBox="1"/>
          <p:nvPr/>
        </p:nvSpPr>
        <p:spPr>
          <a:xfrm>
            <a:off x="4674101" y="5644409"/>
            <a:ext cx="4199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-16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 [cm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]</a:t>
            </a:r>
          </a:p>
          <a:p>
            <a:pPr algn="ctr"/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→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0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지속적으로 확장 가능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1D683-5F2B-B1E1-496C-C09134B03AED}"/>
              </a:ext>
            </a:extLst>
          </p:cNvPr>
          <p:cNvSpPr txBox="1"/>
          <p:nvPr/>
        </p:nvSpPr>
        <p:spPr>
          <a:xfrm>
            <a:off x="582626" y="1480008"/>
            <a:ext cx="80240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Cyrogenic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-like TCAD Emulation Physics deck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SRH Recombination, Fermi statistics, non-local tunneling, Poole-Frenkel emission, thermionic emission </a:t>
            </a:r>
          </a:p>
        </p:txBody>
      </p:sp>
    </p:spTree>
    <p:extLst>
      <p:ext uri="{BB962C8B-B14F-4D97-AF65-F5344CB8AC3E}">
        <p14:creationId xmlns:p14="http://schemas.microsoft.com/office/powerpoint/2010/main" val="2781955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778E4-D4DA-FF84-213C-4BA55B8D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78384-2A41-9399-D026-DC24419F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Cryogenic-like</a:t>
            </a:r>
            <a:r>
              <a:rPr lang="ko-KR" altLang="en-US" dirty="0"/>
              <a:t> </a:t>
            </a:r>
            <a:r>
              <a:rPr lang="en-US" altLang="ko-KR" dirty="0"/>
              <a:t>Emulation</a:t>
            </a:r>
            <a:endParaRPr lang="ko-KR" altLang="en-US" dirty="0"/>
          </a:p>
        </p:txBody>
      </p:sp>
      <p:graphicFrame>
        <p:nvGraphicFramePr>
          <p:cNvPr id="34" name="개체 33">
            <a:extLst>
              <a:ext uri="{FF2B5EF4-FFF2-40B4-BE49-F238E27FC236}">
                <a16:creationId xmlns:a16="http://schemas.microsoft.com/office/drawing/2014/main" id="{58BB9F18-96F1-98CA-A9A2-43AF25E72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002017"/>
              </p:ext>
            </p:extLst>
          </p:nvPr>
        </p:nvGraphicFramePr>
        <p:xfrm>
          <a:off x="4246004" y="2469567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842908" imgH="4833106" progId="Origin50.Graph">
                  <p:embed/>
                </p:oleObj>
              </mc:Choice>
              <mc:Fallback>
                <p:oleObj name="Graph" r:id="rId2" imgW="6842908" imgH="4833106" progId="Origin50.Graph">
                  <p:embed/>
                  <p:pic>
                    <p:nvPicPr>
                      <p:cNvPr id="34" name="개체 33">
                        <a:extLst>
                          <a:ext uri="{FF2B5EF4-FFF2-40B4-BE49-F238E27FC236}">
                            <a16:creationId xmlns:a16="http://schemas.microsoft.com/office/drawing/2014/main" id="{58BB9F18-96F1-98CA-A9A2-43AF25E72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46004" y="2469567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개체 34">
            <a:extLst>
              <a:ext uri="{FF2B5EF4-FFF2-40B4-BE49-F238E27FC236}">
                <a16:creationId xmlns:a16="http://schemas.microsoft.com/office/drawing/2014/main" id="{891322FF-2DED-B48F-6ACB-94E2A4CB1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164639"/>
              </p:ext>
            </p:extLst>
          </p:nvPr>
        </p:nvGraphicFramePr>
        <p:xfrm>
          <a:off x="329810" y="2469567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6842908" imgH="4833106" progId="Origin50.Graph">
                  <p:embed/>
                </p:oleObj>
              </mc:Choice>
              <mc:Fallback>
                <p:oleObj name="Graph" r:id="rId4" imgW="6842908" imgH="4833106" progId="Origin50.Graph">
                  <p:embed/>
                  <p:pic>
                    <p:nvPicPr>
                      <p:cNvPr id="35" name="개체 34">
                        <a:extLst>
                          <a:ext uri="{FF2B5EF4-FFF2-40B4-BE49-F238E27FC236}">
                            <a16:creationId xmlns:a16="http://schemas.microsoft.com/office/drawing/2014/main" id="{891322FF-2DED-B48F-6ACB-94E2A4CB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810" y="2469567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6E4C4EB1-1AB2-EF73-61FE-BF2FED9CA5D4}"/>
              </a:ext>
            </a:extLst>
          </p:cNvPr>
          <p:cNvSpPr/>
          <p:nvPr/>
        </p:nvSpPr>
        <p:spPr>
          <a:xfrm rot="19517270">
            <a:off x="6601209" y="3212271"/>
            <a:ext cx="2063126" cy="28836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6E982E-8192-2839-C046-42F0792C60F9}"/>
              </a:ext>
            </a:extLst>
          </p:cNvPr>
          <p:cNvSpPr txBox="1"/>
          <p:nvPr/>
        </p:nvSpPr>
        <p:spPr>
          <a:xfrm>
            <a:off x="5766892" y="3981728"/>
            <a:ext cx="268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ko-KR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TOX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= 3, 3.5, 4, 4.5, 5 [nm]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EAFB2D-3964-F8C5-3A78-F54BCCB0BDC3}"/>
              </a:ext>
            </a:extLst>
          </p:cNvPr>
          <p:cNvSpPr txBox="1"/>
          <p:nvPr/>
        </p:nvSpPr>
        <p:spPr>
          <a:xfrm>
            <a:off x="457874" y="869128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측정치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–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6E689E-70A9-729F-9318-9FC0E2EB24FF}"/>
              </a:ext>
            </a:extLst>
          </p:cNvPr>
          <p:cNvSpPr txBox="1"/>
          <p:nvPr/>
        </p:nvSpPr>
        <p:spPr>
          <a:xfrm>
            <a:off x="838200" y="5655236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 = </a:t>
            </a:r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/6/8 [nm]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8B69CA-0EFC-F706-FD4E-7D72C00A5731}"/>
              </a:ext>
            </a:extLst>
          </p:cNvPr>
          <p:cNvSpPr txBox="1"/>
          <p:nvPr/>
        </p:nvSpPr>
        <p:spPr>
          <a:xfrm>
            <a:off x="5236915" y="869128"/>
            <a:ext cx="324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–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C85960-DCE8-5A8A-C306-712154208786}"/>
              </a:ext>
            </a:extLst>
          </p:cNvPr>
          <p:cNvSpPr txBox="1"/>
          <p:nvPr/>
        </p:nvSpPr>
        <p:spPr>
          <a:xfrm>
            <a:off x="5347463" y="1565557"/>
            <a:ext cx="370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3 ~ 5 [nm]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변화에 따른 변동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C7020-E6E8-261A-1309-E318F0030DC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307E3-3C5B-A30F-F588-D2C7BD43FE83}"/>
              </a:ext>
            </a:extLst>
          </p:cNvPr>
          <p:cNvSpPr txBox="1"/>
          <p:nvPr/>
        </p:nvSpPr>
        <p:spPr>
          <a:xfrm>
            <a:off x="532065" y="1269238"/>
            <a:ext cx="43083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측정치와 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calibration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진행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A.U.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값이지만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조절을 하며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scale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기준으로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calibration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0506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E756A-E44F-E0AA-9320-D7B3AF30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Computational Impact</a:t>
            </a:r>
            <a:endParaRPr lang="ko-KR" alt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CD5D8C2-B9F6-A0F7-6221-3EEF51EFE7A4}"/>
              </a:ext>
            </a:extLst>
          </p:cNvPr>
          <p:cNvSpPr/>
          <p:nvPr/>
        </p:nvSpPr>
        <p:spPr>
          <a:xfrm>
            <a:off x="1678940" y="987552"/>
            <a:ext cx="1325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Property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C292B0B-D34E-907E-C605-4BFBBE5B65D8}"/>
              </a:ext>
            </a:extLst>
          </p:cNvPr>
          <p:cNvSpPr/>
          <p:nvPr/>
        </p:nvSpPr>
        <p:spPr>
          <a:xfrm>
            <a:off x="3004820" y="987552"/>
            <a:ext cx="196596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Transient TCAD</a:t>
            </a: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CAC4BE1-4759-0E57-69C3-F84F2E395A97}"/>
              </a:ext>
            </a:extLst>
          </p:cNvPr>
          <p:cNvSpPr/>
          <p:nvPr/>
        </p:nvSpPr>
        <p:spPr>
          <a:xfrm>
            <a:off x="4970780" y="987552"/>
            <a:ext cx="2468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Time-step-free model</a:t>
            </a:r>
            <a:endParaRPr lang="en-US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4A61EC9-7FFD-4533-05C7-E035E49B4AA9}"/>
              </a:ext>
            </a:extLst>
          </p:cNvPr>
          <p:cNvSpPr/>
          <p:nvPr/>
        </p:nvSpPr>
        <p:spPr>
          <a:xfrm>
            <a:off x="1678940" y="1399032"/>
            <a:ext cx="1325880" cy="658368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Temporal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9DE8736-7A8A-C50A-3017-6C1F863E93F0}"/>
              </a:ext>
            </a:extLst>
          </p:cNvPr>
          <p:cNvSpPr/>
          <p:nvPr/>
        </p:nvSpPr>
        <p:spPr>
          <a:xfrm>
            <a:off x="3004820" y="1399032"/>
            <a:ext cx="1965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Sequential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 stepping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8E33C37-1795-66F9-5660-BBB19ED8B691}"/>
              </a:ext>
            </a:extLst>
          </p:cNvPr>
          <p:cNvSpPr/>
          <p:nvPr/>
        </p:nvSpPr>
        <p:spPr>
          <a:xfrm>
            <a:off x="1678940" y="2057400"/>
            <a:ext cx="1325880" cy="768096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Final-time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dependence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7DC4FCC-0D75-763F-35C3-C1C4EE2BAA4F}"/>
              </a:ext>
            </a:extLst>
          </p:cNvPr>
          <p:cNvSpPr/>
          <p:nvPr/>
        </p:nvSpPr>
        <p:spPr>
          <a:xfrm>
            <a:off x="3004820" y="2057400"/>
            <a:ext cx="1965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grows 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simulated retention time increases</a:t>
            </a:r>
            <a:endParaRPr lang="en-US" sz="12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FE02911-90C1-620B-37B5-516FFEA285B3}"/>
              </a:ext>
            </a:extLst>
          </p:cNvPr>
          <p:cNvSpPr/>
          <p:nvPr/>
        </p:nvSpPr>
        <p:spPr>
          <a:xfrm>
            <a:off x="4970780" y="2057400"/>
            <a:ext cx="24688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Independent of final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physical time for fixed queries</a:t>
            </a:r>
            <a:endParaRPr lang="en-US" sz="1400" b="1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9D174F1-A2EB-7C3A-60B1-3C29EC4E261C}"/>
              </a:ext>
            </a:extLst>
          </p:cNvPr>
          <p:cNvSpPr/>
          <p:nvPr/>
        </p:nvSpPr>
        <p:spPr>
          <a:xfrm>
            <a:off x="1678940" y="2825496"/>
            <a:ext cx="1325880" cy="603504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Average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</a:t>
            </a:r>
            <a:endParaRPr lang="en-US" sz="14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5677FC9-B3AA-9449-57E9-50B3E482C8F1}"/>
              </a:ext>
            </a:extLst>
          </p:cNvPr>
          <p:cNvSpPr/>
          <p:nvPr/>
        </p:nvSpPr>
        <p:spPr>
          <a:xfrm>
            <a:off x="3004820" y="2825496"/>
            <a:ext cx="19659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5C66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27483 s</a:t>
            </a:r>
            <a:endParaRPr lang="en-US" sz="24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6EB728DA-214C-44E4-E603-837D7618C767}"/>
              </a:ext>
            </a:extLst>
          </p:cNvPr>
          <p:cNvSpPr/>
          <p:nvPr/>
        </p:nvSpPr>
        <p:spPr>
          <a:xfrm>
            <a:off x="4970780" y="2825496"/>
            <a:ext cx="2468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3.926 s</a:t>
            </a:r>
            <a:endParaRPr lang="en-US" sz="2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04CC522-EDC8-597E-28D2-84CE8A293807}"/>
              </a:ext>
            </a:extLst>
          </p:cNvPr>
          <p:cNvSpPr/>
          <p:nvPr/>
        </p:nvSpPr>
        <p:spPr>
          <a:xfrm>
            <a:off x="4806315" y="1355175"/>
            <a:ext cx="2797810" cy="74608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Closed-form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evaluation of Eq. (13)</a:t>
            </a:r>
            <a:endParaRPr lang="en-US" sz="1600" dirty="0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7859EE1C-ABE7-24EC-F8B1-5EEDAA8EDA66}"/>
              </a:ext>
            </a:extLst>
          </p:cNvPr>
          <p:cNvSpPr/>
          <p:nvPr/>
        </p:nvSpPr>
        <p:spPr>
          <a:xfrm>
            <a:off x="4254500" y="3306735"/>
            <a:ext cx="1460500" cy="286857"/>
          </a:xfrm>
          <a:custGeom>
            <a:avLst/>
            <a:gdLst>
              <a:gd name="csX0" fmla="*/ 0 w 1460500"/>
              <a:gd name="csY0" fmla="*/ 0 h 457598"/>
              <a:gd name="csX1" fmla="*/ 787400 w 1460500"/>
              <a:gd name="csY1" fmla="*/ 457200 h 457598"/>
              <a:gd name="csX2" fmla="*/ 1460500 w 1460500"/>
              <a:gd name="csY2" fmla="*/ 63500 h 457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60500" h="457598">
                <a:moveTo>
                  <a:pt x="0" y="0"/>
                </a:moveTo>
                <a:cubicBezTo>
                  <a:pt x="271991" y="223308"/>
                  <a:pt x="543983" y="446617"/>
                  <a:pt x="787400" y="457200"/>
                </a:cubicBezTo>
                <a:cubicBezTo>
                  <a:pt x="1030817" y="467783"/>
                  <a:pt x="1245658" y="265641"/>
                  <a:pt x="1460500" y="635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5527E49-DD95-E8F9-13BD-E2F50DA954EA}"/>
              </a:ext>
            </a:extLst>
          </p:cNvPr>
          <p:cNvSpPr/>
          <p:nvPr/>
        </p:nvSpPr>
        <p:spPr>
          <a:xfrm>
            <a:off x="4060190" y="3593592"/>
            <a:ext cx="1849120" cy="41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A6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≈ 7000×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3320400-7B65-329F-145D-D149F9AC68A8}"/>
              </a:ext>
            </a:extLst>
          </p:cNvPr>
          <p:cNvSpPr/>
          <p:nvPr/>
        </p:nvSpPr>
        <p:spPr>
          <a:xfrm>
            <a:off x="4060190" y="3913803"/>
            <a:ext cx="1849120" cy="28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reduction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8F11F-06B6-3B51-BBFF-6FB4C620D1E5}"/>
              </a:ext>
            </a:extLst>
          </p:cNvPr>
          <p:cNvSpPr txBox="1"/>
          <p:nvPr/>
        </p:nvSpPr>
        <p:spPr>
          <a:xfrm>
            <a:off x="838200" y="4326304"/>
            <a:ext cx="7581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physical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까지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step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별 순차적으로 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model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Computational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resource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331CB-D5AF-B0B9-DC72-6B9FA595B49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1383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A5D5B-DFAF-EC00-BB27-B7038E75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 and Future Works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562CA-1197-3480-6AE5-83E0224C1610}"/>
              </a:ext>
            </a:extLst>
          </p:cNvPr>
          <p:cNvSpPr txBox="1"/>
          <p:nvPr/>
        </p:nvSpPr>
        <p:spPr>
          <a:xfrm>
            <a:off x="838200" y="4445447"/>
            <a:ext cx="75819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Future Works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cell-to-cell variation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산포 적용 가능한 모델링 셋업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SPICE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단위의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reliability simulation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과의 연계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87DAE-5004-3A5D-5530-833BD49E1D52}"/>
              </a:ext>
            </a:extLst>
          </p:cNvPr>
          <p:cNvSpPr txBox="1"/>
          <p:nvPr/>
        </p:nvSpPr>
        <p:spPr>
          <a:xfrm>
            <a:off x="838200" y="1030607"/>
            <a:ext cx="79578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Summary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trap-to-band tunneling emission rate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(Jin, TED 2025)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전자 임의 분포에 대한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framework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autonomous ODE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기반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 제안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Cryogenic-like 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검증 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~7000x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시뮬레이션 시간 단축 확인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6684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3882</TotalTime>
  <Words>1347</Words>
  <Application>Microsoft Office PowerPoint</Application>
  <PresentationFormat>화면 슬라이드 쇼(4:3)</PresentationFormat>
  <Paragraphs>289</Paragraphs>
  <Slides>20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Noto Sans CJK KR</vt:lpstr>
      <vt:lpstr>맑은 고딕</vt:lpstr>
      <vt:lpstr>Arial</vt:lpstr>
      <vt:lpstr>Calibri</vt:lpstr>
      <vt:lpstr>Cambria Math</vt:lpstr>
      <vt:lpstr>Times New Roman</vt:lpstr>
      <vt:lpstr>Wingdings</vt:lpstr>
      <vt:lpstr>Office 테마</vt:lpstr>
      <vt:lpstr>Graph</vt:lpstr>
      <vt:lpstr>Time-Step-Free Physics-based Modeling of Retention Loss in Cryogenic 3-D NAND Flash </vt:lpstr>
      <vt:lpstr>Content</vt:lpstr>
      <vt:lpstr>Introduction</vt:lpstr>
      <vt:lpstr>BETOX Trapped Electron Detrapping Modeling</vt:lpstr>
      <vt:lpstr>BETOX Trapped Electron Detrapping Modeling</vt:lpstr>
      <vt:lpstr>CTN Trapped Electron Detrapping</vt:lpstr>
      <vt:lpstr>Visualization of Charge Node Analysis</vt:lpstr>
      <vt:lpstr>Detailed Poisson Solution</vt:lpstr>
      <vt:lpstr>Q-ΔVth Optimized Calculation</vt:lpstr>
      <vt:lpstr>Q-ΔVth Optimized Calculation</vt:lpstr>
      <vt:lpstr>Time-step-free Physics-based Modeling</vt:lpstr>
      <vt:lpstr>Time-step-free Physics-based Modeling</vt:lpstr>
      <vt:lpstr>Time-step-free Physics-based Modeling</vt:lpstr>
      <vt:lpstr>Time-step-free Physics-based Modeling</vt:lpstr>
      <vt:lpstr>Validation of Time-Step-Free Evaluation</vt:lpstr>
      <vt:lpstr>Cryogenic Retention Condition</vt:lpstr>
      <vt:lpstr>Cryogenic-like TCAD Emulation</vt:lpstr>
      <vt:lpstr>Cryogenic-like Emulation</vt:lpstr>
      <vt:lpstr>Computational Impact</vt:lpstr>
      <vt:lpstr>Summary and Future Works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984</cp:revision>
  <dcterms:created xsi:type="dcterms:W3CDTF">2016-06-02T05:19:04Z</dcterms:created>
  <dcterms:modified xsi:type="dcterms:W3CDTF">2026-07-09T08:09:06Z</dcterms:modified>
  <cp:version/>
</cp:coreProperties>
</file>