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2"/>
  </p:notesMasterIdLst>
  <p:sldIdLst>
    <p:sldId id="256" r:id="rId2"/>
    <p:sldId id="334" r:id="rId3"/>
    <p:sldId id="329" r:id="rId4"/>
    <p:sldId id="330" r:id="rId5"/>
    <p:sldId id="331" r:id="rId6"/>
    <p:sldId id="315" r:id="rId7"/>
    <p:sldId id="322" r:id="rId8"/>
    <p:sldId id="333" r:id="rId9"/>
    <p:sldId id="320" r:id="rId10"/>
    <p:sldId id="336" r:id="rId11"/>
    <p:sldId id="324" r:id="rId12"/>
    <p:sldId id="323" r:id="rId13"/>
    <p:sldId id="321" r:id="rId14"/>
    <p:sldId id="328" r:id="rId15"/>
    <p:sldId id="325" r:id="rId16"/>
    <p:sldId id="337" r:id="rId17"/>
    <p:sldId id="339" r:id="rId18"/>
    <p:sldId id="326" r:id="rId19"/>
    <p:sldId id="327" r:id="rId20"/>
    <p:sldId id="338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7687"/>
    <a:srgbClr val="284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85" autoAdjust="0"/>
    <p:restoredTop sz="97300" autoAdjust="0"/>
  </p:normalViewPr>
  <p:slideViewPr>
    <p:cSldViewPr snapToGrid="0">
      <p:cViewPr varScale="1">
        <p:scale>
          <a:sx n="118" d="100"/>
          <a:sy n="118" d="100"/>
        </p:scale>
        <p:origin x="114" y="744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AF3849-7B75-418B-A29D-3680F7145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192D5C-D446-4FA3-ADD1-C38C90C7EE5F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896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0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00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DC6DFB7-6350-4B39-A52F-9F6B530A330B}"/>
              </a:ext>
            </a:extLst>
          </p:cNvPr>
          <p:cNvSpPr/>
          <p:nvPr userDrawn="1"/>
        </p:nvSpPr>
        <p:spPr bwMode="auto"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157A76F-DACA-44EE-A4A0-2B111084B4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5152B70-22AA-4E3B-9C71-C7A8D0FF28D7}"/>
              </a:ext>
            </a:extLst>
          </p:cNvPr>
          <p:cNvSpPr/>
          <p:nvPr userDrawn="1"/>
        </p:nvSpPr>
        <p:spPr>
          <a:xfrm>
            <a:off x="6635692" y="6555964"/>
            <a:ext cx="2525087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Dept. of ECE, Seoul National University</a:t>
            </a:r>
            <a:endParaRPr lang="en-US" altLang="ko-KR" sz="1100" b="1" kern="0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7059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  <p:sp>
        <p:nvSpPr>
          <p:cNvPr id="4" name="슬라이드 번호 개체 틀 1">
            <a:extLst>
              <a:ext uri="{FF2B5EF4-FFF2-40B4-BE49-F238E27FC236}">
                <a16:creationId xmlns:a16="http://schemas.microsoft.com/office/drawing/2014/main" id="{770A8E3B-2F99-2E3D-21C3-3332B4D77E3A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  <p:sldLayoutId id="2147483676" r:id="rId15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emf"/><Relationship Id="rId4" Type="http://schemas.openxmlformats.org/officeDocument/2006/relationships/oleObject" Target="../embeddings/oleObject3.bin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emf"/><Relationship Id="rId4" Type="http://schemas.openxmlformats.org/officeDocument/2006/relationships/oleObject" Target="../embeddings/oleObject5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emf"/><Relationship Id="rId4" Type="http://schemas.openxmlformats.org/officeDocument/2006/relationships/oleObject" Target="../embeddings/oleObject7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emf"/><Relationship Id="rId4" Type="http://schemas.openxmlformats.org/officeDocument/2006/relationships/oleObject" Target="../embeddings/oleObject9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2C339-410E-4EC1-8B38-E1FD889CD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937" y="650632"/>
            <a:ext cx="8439709" cy="228599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Time-Step-Free Physics-based Modeling of 3-D NAND Flash Memories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8BFC4B-D59D-483F-8FA0-62EAA5FC0F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2026. 07. 08</a:t>
            </a:r>
          </a:p>
          <a:p>
            <a:r>
              <a:rPr lang="ko-KR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ko-KR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5A379D-0C9F-4120-A1FC-1174744553D2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98066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493614" y="1726575"/>
            <a:ext cx="777644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discretization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Q-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계산 효율 분석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Vth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임의 분포된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02CFA-4AE9-C87A-A0C4-389C69A4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06CA8A-3E00-E06C-5092-F220B5B4A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8F022FD0-ACA4-98C9-1A38-7C6A3D14B528}"/>
              </a:ext>
            </a:extLst>
          </p:cNvPr>
          <p:cNvGrpSpPr/>
          <p:nvPr/>
        </p:nvGrpSpPr>
        <p:grpSpPr>
          <a:xfrm>
            <a:off x="6677510" y="3167467"/>
            <a:ext cx="2200260" cy="3288813"/>
            <a:chOff x="4155873" y="5829539"/>
            <a:chExt cx="2200260" cy="3288813"/>
          </a:xfrm>
        </p:grpSpPr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B0CC0EDB-2980-8DDE-4097-192140646C78}"/>
                </a:ext>
              </a:extLst>
            </p:cNvPr>
            <p:cNvGrpSpPr/>
            <p:nvPr/>
          </p:nvGrpSpPr>
          <p:grpSpPr>
            <a:xfrm>
              <a:off x="4155873" y="5829539"/>
              <a:ext cx="2200260" cy="3288813"/>
              <a:chOff x="4155873" y="5829539"/>
              <a:chExt cx="2200260" cy="3288813"/>
            </a:xfrm>
          </p:grpSpPr>
          <p:pic>
            <p:nvPicPr>
              <p:cNvPr id="182" name="그림 181" descr="스크린샷, 디자인, 예술이(가) 표시된 사진&#10;&#10;자동 생성된 설명">
                <a:extLst>
                  <a:ext uri="{FF2B5EF4-FFF2-40B4-BE49-F238E27FC236}">
                    <a16:creationId xmlns:a16="http://schemas.microsoft.com/office/drawing/2014/main" id="{1B150861-9878-20FE-6E22-72F9ADF82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856" t="4775" r="29017"/>
              <a:stretch/>
            </p:blipFill>
            <p:spPr>
              <a:xfrm>
                <a:off x="4155873" y="6233981"/>
                <a:ext cx="1987554" cy="2588633"/>
              </a:xfrm>
              <a:prstGeom prst="rect">
                <a:avLst/>
              </a:prstGeom>
            </p:spPr>
          </p:pic>
          <p:sp>
            <p:nvSpPr>
              <p:cNvPr id="183" name="화살표: 아래쪽 182">
                <a:extLst>
                  <a:ext uri="{FF2B5EF4-FFF2-40B4-BE49-F238E27FC236}">
                    <a16:creationId xmlns:a16="http://schemas.microsoft.com/office/drawing/2014/main" id="{1C64350A-9879-73C9-D1DE-E01148706FE9}"/>
                  </a:ext>
                </a:extLst>
              </p:cNvPr>
              <p:cNvSpPr/>
              <p:nvPr/>
            </p:nvSpPr>
            <p:spPr>
              <a:xfrm rot="5400000">
                <a:off x="4689525" y="8049405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4" name="화살표: 아래쪽 183">
                <a:extLst>
                  <a:ext uri="{FF2B5EF4-FFF2-40B4-BE49-F238E27FC236}">
                    <a16:creationId xmlns:a16="http://schemas.microsoft.com/office/drawing/2014/main" id="{95479DC5-511F-5FE9-835F-62BFF680BF45}"/>
                  </a:ext>
                </a:extLst>
              </p:cNvPr>
              <p:cNvSpPr/>
              <p:nvPr/>
            </p:nvSpPr>
            <p:spPr>
              <a:xfrm rot="5400000">
                <a:off x="4592224" y="7919520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5" name="화살표: 아래쪽 184">
                <a:extLst>
                  <a:ext uri="{FF2B5EF4-FFF2-40B4-BE49-F238E27FC236}">
                    <a16:creationId xmlns:a16="http://schemas.microsoft.com/office/drawing/2014/main" id="{791B09F6-6D15-6365-BCD3-051BED19B053}"/>
                  </a:ext>
                </a:extLst>
              </p:cNvPr>
              <p:cNvSpPr/>
              <p:nvPr/>
            </p:nvSpPr>
            <p:spPr>
              <a:xfrm rot="5400000">
                <a:off x="4490073" y="7798983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016D00E6-C014-12C5-9B34-7FCB132CC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6725" y="5896691"/>
                <a:ext cx="0" cy="1535906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>
                <a:extLst>
                  <a:ext uri="{FF2B5EF4-FFF2-40B4-BE49-F238E27FC236}">
                    <a16:creationId xmlns:a16="http://schemas.microsoft.com/office/drawing/2014/main" id="{DCC3EFDD-CB48-0F57-28AB-86599E6DC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5896691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F5BF1A-3EB7-8CBC-2AE9-CD40DB4EBCC4}"/>
                  </a:ext>
                </a:extLst>
              </p:cNvPr>
              <p:cNvSpPr txBox="1"/>
              <p:nvPr/>
            </p:nvSpPr>
            <p:spPr>
              <a:xfrm>
                <a:off x="4566176" y="5829539"/>
                <a:ext cx="1043735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BETOX Region</a:t>
                </a:r>
              </a:p>
              <a:p>
                <a:pPr algn="ctr"/>
                <a:r>
                  <a:rPr lang="en-US" altLang="ko-KR" sz="1013"/>
                  <a:t>(ONO)</a:t>
                </a:r>
              </a:p>
            </p:txBody>
          </p:sp>
          <p:grpSp>
            <p:nvGrpSpPr>
              <p:cNvPr id="189" name="그룹 188">
                <a:extLst>
                  <a:ext uri="{FF2B5EF4-FFF2-40B4-BE49-F238E27FC236}">
                    <a16:creationId xmlns:a16="http://schemas.microsoft.com/office/drawing/2014/main" id="{118F26CA-DA88-FE1C-1AC6-9A8103B90415}"/>
                  </a:ext>
                </a:extLst>
              </p:cNvPr>
              <p:cNvGrpSpPr/>
              <p:nvPr/>
            </p:nvGrpSpPr>
            <p:grpSpPr>
              <a:xfrm>
                <a:off x="4409675" y="6265426"/>
                <a:ext cx="1427217" cy="2124973"/>
                <a:chOff x="4409675" y="6458070"/>
                <a:chExt cx="1427217" cy="2124973"/>
              </a:xfrm>
            </p:grpSpPr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6CA1E149-AE62-AEA9-4EDD-780E24610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09675" y="7575550"/>
                  <a:ext cx="59199" cy="1007493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CCE48783-E6F8-F856-1E5F-E3D4BC4C2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18201" y="7009769"/>
                  <a:ext cx="401449" cy="56578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385DC8FC-E4B8-F28F-58EF-8338CA7188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6700" y="7009769"/>
                  <a:ext cx="30143" cy="100904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직선 연결선 202">
                  <a:extLst>
                    <a:ext uri="{FF2B5EF4-FFF2-40B4-BE49-F238E27FC236}">
                      <a16:creationId xmlns:a16="http://schemas.microsoft.com/office/drawing/2014/main" id="{75B69C6A-0495-04BC-9B14-50A3723823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883893" y="7924249"/>
                  <a:ext cx="157410" cy="9456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BDEA1707-83EF-6FE2-B75D-2A1BA8354A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6775" y="6680200"/>
                  <a:ext cx="0" cy="1040384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3196023A-72CE-2505-AA69-304117AC80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96775" y="6458070"/>
                  <a:ext cx="328684" cy="222130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E2C2599A-F5E0-5598-B565-837DF59006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09911" y="6482254"/>
                  <a:ext cx="115548" cy="1501065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A314CE9F-7296-2D91-7ABC-7F93C48CA7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26962" y="7909590"/>
                  <a:ext cx="209930" cy="73729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1A430988-E3F7-73C3-C5B2-C66EE68EE4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49061" y="7718808"/>
                  <a:ext cx="341973" cy="20544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0" name="화살표: 아래쪽 189">
                <a:extLst>
                  <a:ext uri="{FF2B5EF4-FFF2-40B4-BE49-F238E27FC236}">
                    <a16:creationId xmlns:a16="http://schemas.microsoft.com/office/drawing/2014/main" id="{30F43438-227F-C99A-BE24-8BF92C956B59}"/>
                  </a:ext>
                </a:extLst>
              </p:cNvPr>
              <p:cNvSpPr/>
              <p:nvPr/>
            </p:nvSpPr>
            <p:spPr>
              <a:xfrm rot="19925906" flipH="1">
                <a:off x="5224310" y="7576453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1" name="직선 연결선 190">
                <a:extLst>
                  <a:ext uri="{FF2B5EF4-FFF2-40B4-BE49-F238E27FC236}">
                    <a16:creationId xmlns:a16="http://schemas.microsoft.com/office/drawing/2014/main" id="{E8C01DC7-791B-4A74-43F2-CB9DDC35C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5627" y="8304239"/>
                <a:ext cx="118266" cy="4648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529AD0C-C28F-02DB-5D61-2264039B3938}"/>
                  </a:ext>
                </a:extLst>
              </p:cNvPr>
              <p:cNvSpPr txBox="1"/>
              <p:nvPr/>
            </p:nvSpPr>
            <p:spPr>
              <a:xfrm>
                <a:off x="4362450" y="8783517"/>
                <a:ext cx="1085850" cy="334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88"/>
                  <a:t>Trap-to-Band Tunneling Emission</a:t>
                </a:r>
                <a:endParaRPr lang="ko-KR" altLang="en-US" sz="788"/>
              </a:p>
            </p:txBody>
          </p:sp>
          <p:sp>
            <p:nvSpPr>
              <p:cNvPr id="194" name="화살표: 아래쪽 193">
                <a:extLst>
                  <a:ext uri="{FF2B5EF4-FFF2-40B4-BE49-F238E27FC236}">
                    <a16:creationId xmlns:a16="http://schemas.microsoft.com/office/drawing/2014/main" id="{283CB6CC-4823-540D-528E-2243C2EDA567}"/>
                  </a:ext>
                </a:extLst>
              </p:cNvPr>
              <p:cNvSpPr/>
              <p:nvPr/>
            </p:nvSpPr>
            <p:spPr>
              <a:xfrm rot="8800769" flipH="1">
                <a:off x="4945085" y="7362945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902812" lon="2358286" rev="1722722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E1A415D3-4B26-4A0D-94BF-358842F56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8217236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BD2A5A98-ABFD-BEE5-3591-F7D93E6F5542}"/>
                  </a:ext>
                </a:extLst>
              </p:cNvPr>
              <p:cNvSpPr txBox="1"/>
              <p:nvPr/>
            </p:nvSpPr>
            <p:spPr>
              <a:xfrm>
                <a:off x="5603199" y="8193932"/>
                <a:ext cx="752934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CTN</a:t>
                </a:r>
              </a:p>
              <a:p>
                <a:pPr algn="ctr"/>
                <a:r>
                  <a:rPr lang="en-US" altLang="ko-KR" sz="1013"/>
                  <a:t>Region</a:t>
                </a:r>
              </a:p>
            </p:txBody>
          </p:sp>
          <p:sp>
            <p:nvSpPr>
              <p:cNvPr id="197" name="화살표: 아래쪽 196">
                <a:extLst>
                  <a:ext uri="{FF2B5EF4-FFF2-40B4-BE49-F238E27FC236}">
                    <a16:creationId xmlns:a16="http://schemas.microsoft.com/office/drawing/2014/main" id="{F57EA6A0-48DA-F547-4FB5-7CD1D313A355}"/>
                  </a:ext>
                </a:extLst>
              </p:cNvPr>
              <p:cNvSpPr/>
              <p:nvPr/>
            </p:nvSpPr>
            <p:spPr>
              <a:xfrm rot="1499914" flipH="1">
                <a:off x="4910895" y="7515700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98" name="화살표: 아래쪽 197">
                <a:extLst>
                  <a:ext uri="{FF2B5EF4-FFF2-40B4-BE49-F238E27FC236}">
                    <a16:creationId xmlns:a16="http://schemas.microsoft.com/office/drawing/2014/main" id="{6D269ADA-E1F8-F6C7-2123-AC08F6AD9EF3}"/>
                  </a:ext>
                </a:extLst>
              </p:cNvPr>
              <p:cNvSpPr/>
              <p:nvPr/>
            </p:nvSpPr>
            <p:spPr>
              <a:xfrm rot="1499914" flipH="1">
                <a:off x="5348495" y="7790853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pic>
            <p:nvPicPr>
              <p:cNvPr id="199" name="그림 198">
                <a:extLst>
                  <a:ext uri="{FF2B5EF4-FFF2-40B4-BE49-F238E27FC236}">
                    <a16:creationId xmlns:a16="http://schemas.microsoft.com/office/drawing/2014/main" id="{15FF8E80-68CC-58E2-A545-1FFFEC5982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 amt="50000"/>
              </a:blip>
              <a:stretch>
                <a:fillRect/>
              </a:stretch>
            </p:blipFill>
            <p:spPr>
              <a:xfrm>
                <a:off x="4898933" y="7374919"/>
                <a:ext cx="138613" cy="233739"/>
              </a:xfrm>
              <a:prstGeom prst="rect">
                <a:avLst/>
              </a:prstGeom>
            </p:spPr>
          </p:pic>
        </p:grpSp>
        <p:sp>
          <p:nvSpPr>
            <p:cNvPr id="179" name="자유형: 도형 178">
              <a:extLst>
                <a:ext uri="{FF2B5EF4-FFF2-40B4-BE49-F238E27FC236}">
                  <a16:creationId xmlns:a16="http://schemas.microsoft.com/office/drawing/2014/main" id="{EF71FE24-2A38-E5EF-C1DC-1D2C5766FEF4}"/>
                </a:ext>
              </a:extLst>
            </p:cNvPr>
            <p:cNvSpPr/>
            <p:nvPr/>
          </p:nvSpPr>
          <p:spPr>
            <a:xfrm rot="10800000">
              <a:off x="4188337" y="7548539"/>
              <a:ext cx="939709" cy="111996"/>
            </a:xfrm>
            <a:custGeom>
              <a:avLst/>
              <a:gdLst>
                <a:gd name="connsiteX0" fmla="*/ 0 w 1054100"/>
                <a:gd name="connsiteY0" fmla="*/ 110186 h 199104"/>
                <a:gd name="connsiteX1" fmla="*/ 127000 w 1054100"/>
                <a:gd name="connsiteY1" fmla="*/ 2236 h 199104"/>
                <a:gd name="connsiteX2" fmla="*/ 285750 w 1054100"/>
                <a:gd name="connsiteY2" fmla="*/ 199086 h 199104"/>
                <a:gd name="connsiteX3" fmla="*/ 463550 w 1054100"/>
                <a:gd name="connsiteY3" fmla="*/ 14936 h 199104"/>
                <a:gd name="connsiteX4" fmla="*/ 609600 w 1054100"/>
                <a:gd name="connsiteY4" fmla="*/ 186386 h 199104"/>
                <a:gd name="connsiteX5" fmla="*/ 768350 w 1054100"/>
                <a:gd name="connsiteY5" fmla="*/ 33986 h 199104"/>
                <a:gd name="connsiteX6" fmla="*/ 844550 w 1054100"/>
                <a:gd name="connsiteY6" fmla="*/ 46686 h 199104"/>
                <a:gd name="connsiteX7" fmla="*/ 920750 w 1054100"/>
                <a:gd name="connsiteY7" fmla="*/ 116536 h 199104"/>
                <a:gd name="connsiteX8" fmla="*/ 1054100 w 1054100"/>
                <a:gd name="connsiteY8" fmla="*/ 122886 h 199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4100" h="199104">
                  <a:moveTo>
                    <a:pt x="0" y="110186"/>
                  </a:moveTo>
                  <a:cubicBezTo>
                    <a:pt x="39687" y="48802"/>
                    <a:pt x="79375" y="-12581"/>
                    <a:pt x="127000" y="2236"/>
                  </a:cubicBezTo>
                  <a:cubicBezTo>
                    <a:pt x="174625" y="17053"/>
                    <a:pt x="229658" y="196969"/>
                    <a:pt x="285750" y="199086"/>
                  </a:cubicBezTo>
                  <a:cubicBezTo>
                    <a:pt x="341842" y="201203"/>
                    <a:pt x="409575" y="17053"/>
                    <a:pt x="463550" y="14936"/>
                  </a:cubicBezTo>
                  <a:cubicBezTo>
                    <a:pt x="517525" y="12819"/>
                    <a:pt x="558800" y="183211"/>
                    <a:pt x="609600" y="186386"/>
                  </a:cubicBezTo>
                  <a:cubicBezTo>
                    <a:pt x="660400" y="189561"/>
                    <a:pt x="729192" y="57269"/>
                    <a:pt x="768350" y="33986"/>
                  </a:cubicBezTo>
                  <a:cubicBezTo>
                    <a:pt x="807508" y="10703"/>
                    <a:pt x="819150" y="32928"/>
                    <a:pt x="844550" y="46686"/>
                  </a:cubicBezTo>
                  <a:cubicBezTo>
                    <a:pt x="869950" y="60444"/>
                    <a:pt x="885825" y="103836"/>
                    <a:pt x="920750" y="116536"/>
                  </a:cubicBezTo>
                  <a:cubicBezTo>
                    <a:pt x="955675" y="129236"/>
                    <a:pt x="1004887" y="126061"/>
                    <a:pt x="1054100" y="122886"/>
                  </a:cubicBezTo>
                </a:path>
              </a:pathLst>
            </a:custGeom>
            <a:noFill/>
            <a:ln>
              <a:solidFill>
                <a:srgbClr val="002060"/>
              </a:solidFill>
              <a:prstDash val="dash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80" name="곱하기 기호 179">
              <a:extLst>
                <a:ext uri="{FF2B5EF4-FFF2-40B4-BE49-F238E27FC236}">
                  <a16:creationId xmlns:a16="http://schemas.microsoft.com/office/drawing/2014/main" id="{CBA223F7-B232-1A2D-94D2-5E76EF447290}"/>
                </a:ext>
              </a:extLst>
            </p:cNvPr>
            <p:cNvSpPr/>
            <p:nvPr/>
          </p:nvSpPr>
          <p:spPr>
            <a:xfrm>
              <a:off x="4567024" y="7440944"/>
              <a:ext cx="178638" cy="368545"/>
            </a:xfrm>
            <a:prstGeom prst="mathMultiply">
              <a:avLst/>
            </a:prstGeom>
            <a:solidFill>
              <a:srgbClr val="FF0000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307CCB46-3ABB-127A-FAAF-8A3D9D498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rcRect l="1" t="4762" r="-1" b="-1"/>
            <a:stretch/>
          </p:blipFill>
          <p:spPr>
            <a:xfrm>
              <a:off x="4883892" y="7608658"/>
              <a:ext cx="155343" cy="208866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EFAC80-0F22-C8E0-9FBF-FA3954430E3E}"/>
              </a:ext>
            </a:extLst>
          </p:cNvPr>
          <p:cNvGrpSpPr/>
          <p:nvPr/>
        </p:nvGrpSpPr>
        <p:grpSpPr>
          <a:xfrm>
            <a:off x="302442" y="1107714"/>
            <a:ext cx="2389490" cy="2321286"/>
            <a:chOff x="1425895" y="5488309"/>
            <a:chExt cx="1801255" cy="174984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049283-9338-CD6C-AEC7-D734628B2046}"/>
                </a:ext>
              </a:extLst>
            </p:cNvPr>
            <p:cNvSpPr txBox="1"/>
            <p:nvPr/>
          </p:nvSpPr>
          <p:spPr>
            <a:xfrm>
              <a:off x="2573623" y="6804516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86E0833D-D55B-9CD4-07AD-1E11DCDE3157}"/>
                </a:ext>
              </a:extLst>
            </p:cNvPr>
            <p:cNvSpPr/>
            <p:nvPr/>
          </p:nvSpPr>
          <p:spPr>
            <a:xfrm>
              <a:off x="1692868" y="5930050"/>
              <a:ext cx="1168400" cy="1308100"/>
            </a:xfrm>
            <a:custGeom>
              <a:avLst/>
              <a:gdLst>
                <a:gd name="connsiteX0" fmla="*/ 0 w 1168400"/>
                <a:gd name="connsiteY0" fmla="*/ 482600 h 1308100"/>
                <a:gd name="connsiteX1" fmla="*/ 292100 w 1168400"/>
                <a:gd name="connsiteY1" fmla="*/ 482600 h 1308100"/>
                <a:gd name="connsiteX2" fmla="*/ 374650 w 1168400"/>
                <a:gd name="connsiteY2" fmla="*/ 488950 h 1308100"/>
                <a:gd name="connsiteX3" fmla="*/ 469900 w 1168400"/>
                <a:gd name="connsiteY3" fmla="*/ 558800 h 1308100"/>
                <a:gd name="connsiteX4" fmla="*/ 514350 w 1168400"/>
                <a:gd name="connsiteY4" fmla="*/ 654050 h 1308100"/>
                <a:gd name="connsiteX5" fmla="*/ 514350 w 1168400"/>
                <a:gd name="connsiteY5" fmla="*/ 0 h 1308100"/>
                <a:gd name="connsiteX6" fmla="*/ 908050 w 1168400"/>
                <a:gd name="connsiteY6" fmla="*/ 825500 h 1308100"/>
                <a:gd name="connsiteX7" fmla="*/ 908050 w 1168400"/>
                <a:gd name="connsiteY7" fmla="*/ 1143000 h 1308100"/>
                <a:gd name="connsiteX8" fmla="*/ 1168400 w 1168400"/>
                <a:gd name="connsiteY8" fmla="*/ 1308100 h 1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8400" h="1308100">
                  <a:moveTo>
                    <a:pt x="0" y="482600"/>
                  </a:moveTo>
                  <a:lnTo>
                    <a:pt x="292100" y="482600"/>
                  </a:lnTo>
                  <a:lnTo>
                    <a:pt x="374650" y="488950"/>
                  </a:lnTo>
                  <a:lnTo>
                    <a:pt x="469900" y="558800"/>
                  </a:lnTo>
                  <a:lnTo>
                    <a:pt x="514350" y="654050"/>
                  </a:lnTo>
                  <a:lnTo>
                    <a:pt x="514350" y="0"/>
                  </a:lnTo>
                  <a:lnTo>
                    <a:pt x="908050" y="825500"/>
                  </a:lnTo>
                  <a:lnTo>
                    <a:pt x="908050" y="1143000"/>
                  </a:lnTo>
                  <a:lnTo>
                    <a:pt x="1168400" y="13081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6AA0B065-4873-01EB-4DB3-76E23F681695}"/>
                </a:ext>
              </a:extLst>
            </p:cNvPr>
            <p:cNvCxnSpPr>
              <a:cxnSpLocks/>
            </p:cNvCxnSpPr>
            <p:nvPr/>
          </p:nvCxnSpPr>
          <p:spPr>
            <a:xfrm>
              <a:off x="2234157" y="6463303"/>
              <a:ext cx="550930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F819483-4FA9-F9CF-3F7F-9B7CC7198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1354" y="6437903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2AE402-F62B-6336-8593-2FFDCA940A06}"/>
                </a:ext>
              </a:extLst>
            </p:cNvPr>
            <p:cNvSpPr txBox="1"/>
            <p:nvPr/>
          </p:nvSpPr>
          <p:spPr>
            <a:xfrm>
              <a:off x="1527289" y="6189408"/>
              <a:ext cx="697052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C3A0B8FE-FAD4-8836-B9E8-C9B3C1BA4292}"/>
                </a:ext>
              </a:extLst>
            </p:cNvPr>
            <p:cNvSpPr/>
            <p:nvPr/>
          </p:nvSpPr>
          <p:spPr>
            <a:xfrm>
              <a:off x="2118459" y="6438900"/>
              <a:ext cx="78581" cy="123825"/>
            </a:xfrm>
            <a:custGeom>
              <a:avLst/>
              <a:gdLst>
                <a:gd name="connsiteX0" fmla="*/ 0 w 78581"/>
                <a:gd name="connsiteY0" fmla="*/ 4763 h 123825"/>
                <a:gd name="connsiteX1" fmla="*/ 52388 w 78581"/>
                <a:gd name="connsiteY1" fmla="*/ 45244 h 123825"/>
                <a:gd name="connsiteX2" fmla="*/ 78581 w 78581"/>
                <a:gd name="connsiteY2" fmla="*/ 123825 h 123825"/>
                <a:gd name="connsiteX3" fmla="*/ 78581 w 78581"/>
                <a:gd name="connsiteY3" fmla="*/ 0 h 123825"/>
                <a:gd name="connsiteX4" fmla="*/ 0 w 78581"/>
                <a:gd name="connsiteY4" fmla="*/ 4763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581" h="123825">
                  <a:moveTo>
                    <a:pt x="0" y="4763"/>
                  </a:moveTo>
                  <a:lnTo>
                    <a:pt x="52388" y="45244"/>
                  </a:lnTo>
                  <a:lnTo>
                    <a:pt x="78581" y="123825"/>
                  </a:lnTo>
                  <a:lnTo>
                    <a:pt x="78581" y="0"/>
                  </a:lnTo>
                  <a:lnTo>
                    <a:pt x="0" y="4763"/>
                  </a:lnTo>
                  <a:close/>
                </a:path>
              </a:pathLst>
            </a:custGeom>
            <a:solidFill>
              <a:srgbClr val="FF29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B604A2-96F9-A17E-1BE2-E410E7D51089}"/>
                </a:ext>
              </a:extLst>
            </p:cNvPr>
            <p:cNvSpPr txBox="1"/>
            <p:nvPr/>
          </p:nvSpPr>
          <p:spPr>
            <a:xfrm>
              <a:off x="2251906" y="5832380"/>
              <a:ext cx="607806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39C714-1434-DE0B-737C-B0328C917A24}"/>
                </a:ext>
              </a:extLst>
            </p:cNvPr>
            <p:cNvSpPr txBox="1"/>
            <p:nvPr/>
          </p:nvSpPr>
          <p:spPr>
            <a:xfrm>
              <a:off x="2287746" y="6062283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D80AB2B-6B31-3322-218B-2D3E770082B4}"/>
                </a:ext>
              </a:extLst>
            </p:cNvPr>
            <p:cNvSpPr txBox="1"/>
            <p:nvPr/>
          </p:nvSpPr>
          <p:spPr>
            <a:xfrm>
              <a:off x="1695639" y="6384928"/>
              <a:ext cx="439071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6F820-CBE3-E6F1-5ADE-5B2ADC88ABD8}"/>
                </a:ext>
              </a:extLst>
            </p:cNvPr>
            <p:cNvSpPr txBox="1"/>
            <p:nvPr/>
          </p:nvSpPr>
          <p:spPr>
            <a:xfrm>
              <a:off x="1425895" y="5488309"/>
              <a:ext cx="167158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Program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en-US" altLang="ko-KR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11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pgm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B2441F-6E84-C899-8B50-DB8AC9ECB258}"/>
                </a:ext>
              </a:extLst>
            </p:cNvPr>
            <p:cNvSpPr txBox="1"/>
            <p:nvPr/>
          </p:nvSpPr>
          <p:spPr>
            <a:xfrm>
              <a:off x="2737512" y="6308421"/>
              <a:ext cx="48963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en-US" altLang="ko-K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FN</a:t>
              </a:r>
              <a:endParaRPr lang="ko-KR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7A49C27-FE39-BC58-EA02-A9AB05B7DF6F}"/>
              </a:ext>
            </a:extLst>
          </p:cNvPr>
          <p:cNvGrpSpPr/>
          <p:nvPr/>
        </p:nvGrpSpPr>
        <p:grpSpPr>
          <a:xfrm>
            <a:off x="342245" y="3515595"/>
            <a:ext cx="2349687" cy="2333644"/>
            <a:chOff x="3313708" y="5488178"/>
            <a:chExt cx="1749215" cy="173727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6382260-C3EB-5660-76BE-341891F4245D}"/>
                </a:ext>
              </a:extLst>
            </p:cNvPr>
            <p:cNvSpPr txBox="1"/>
            <p:nvPr/>
          </p:nvSpPr>
          <p:spPr>
            <a:xfrm>
              <a:off x="3320094" y="7009381"/>
              <a:ext cx="688143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EA0C6900-6EE1-28C9-E3C3-28AE266FB7ED}"/>
                </a:ext>
              </a:extLst>
            </p:cNvPr>
            <p:cNvSpPr/>
            <p:nvPr/>
          </p:nvSpPr>
          <p:spPr>
            <a:xfrm>
              <a:off x="3571815" y="5930050"/>
              <a:ext cx="1041400" cy="1295400"/>
            </a:xfrm>
            <a:custGeom>
              <a:avLst/>
              <a:gdLst>
                <a:gd name="connsiteX0" fmla="*/ 0 w 1041400"/>
                <a:gd name="connsiteY0" fmla="*/ 1295400 h 1295400"/>
                <a:gd name="connsiteX1" fmla="*/ 400050 w 1041400"/>
                <a:gd name="connsiteY1" fmla="*/ 1295400 h 1295400"/>
                <a:gd name="connsiteX2" fmla="*/ 400050 w 1041400"/>
                <a:gd name="connsiteY2" fmla="*/ 368300 h 1295400"/>
                <a:gd name="connsiteX3" fmla="*/ 749300 w 1041400"/>
                <a:gd name="connsiteY3" fmla="*/ 0 h 1295400"/>
                <a:gd name="connsiteX4" fmla="*/ 749300 w 1041400"/>
                <a:gd name="connsiteY4" fmla="*/ 431800 h 1295400"/>
                <a:gd name="connsiteX5" fmla="*/ 1041400 w 1041400"/>
                <a:gd name="connsiteY5" fmla="*/ 2540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1400" h="1295400">
                  <a:moveTo>
                    <a:pt x="0" y="1295400"/>
                  </a:moveTo>
                  <a:lnTo>
                    <a:pt x="400050" y="1295400"/>
                  </a:lnTo>
                  <a:lnTo>
                    <a:pt x="400050" y="368300"/>
                  </a:lnTo>
                  <a:lnTo>
                    <a:pt x="749300" y="0"/>
                  </a:lnTo>
                  <a:lnTo>
                    <a:pt x="749300" y="431800"/>
                  </a:lnTo>
                  <a:lnTo>
                    <a:pt x="1041400" y="2540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58AF1CF0-6BFA-1D01-009C-24DD38085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00760" y="6547727"/>
              <a:ext cx="342900" cy="175022"/>
            </a:xfrm>
            <a:prstGeom prst="line">
              <a:avLst/>
            </a:prstGeom>
            <a:ln>
              <a:solidFill>
                <a:srgbClr val="FF29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CD70CB8-1286-D50C-B74E-ED7CCA5E7A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7390" y="6635238"/>
              <a:ext cx="690742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ACA36470-331A-F044-827A-14264A3967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9528" y="6547727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E06E01-D165-1F1E-42F1-FC97D0832022}"/>
                </a:ext>
              </a:extLst>
            </p:cNvPr>
            <p:cNvSpPr txBox="1"/>
            <p:nvPr/>
          </p:nvSpPr>
          <p:spPr>
            <a:xfrm>
              <a:off x="4282991" y="5973964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EC287E-2B50-7A32-EA2A-087DFE40EA3C}"/>
                </a:ext>
              </a:extLst>
            </p:cNvPr>
            <p:cNvSpPr txBox="1"/>
            <p:nvPr/>
          </p:nvSpPr>
          <p:spPr>
            <a:xfrm>
              <a:off x="3913589" y="5930032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12F1FA-16A0-1323-3332-F4AB5E173E15}"/>
                </a:ext>
              </a:extLst>
            </p:cNvPr>
            <p:cNvSpPr txBox="1"/>
            <p:nvPr/>
          </p:nvSpPr>
          <p:spPr>
            <a:xfrm>
              <a:off x="4017936" y="5724658"/>
              <a:ext cx="607806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88083C4D-1FCF-774C-BFC6-45A7DDCAF86F}"/>
                </a:ext>
              </a:extLst>
            </p:cNvPr>
            <p:cNvSpPr/>
            <p:nvPr/>
          </p:nvSpPr>
          <p:spPr>
            <a:xfrm>
              <a:off x="3750979" y="6265258"/>
              <a:ext cx="597694" cy="118685"/>
            </a:xfrm>
            <a:custGeom>
              <a:avLst/>
              <a:gdLst>
                <a:gd name="connsiteX0" fmla="*/ 502444 w 502444"/>
                <a:gd name="connsiteY0" fmla="*/ 54390 h 118685"/>
                <a:gd name="connsiteX1" fmla="*/ 409575 w 502444"/>
                <a:gd name="connsiteY1" fmla="*/ 2003 h 118685"/>
                <a:gd name="connsiteX2" fmla="*/ 345281 w 502444"/>
                <a:gd name="connsiteY2" fmla="*/ 116303 h 118685"/>
                <a:gd name="connsiteX3" fmla="*/ 285750 w 502444"/>
                <a:gd name="connsiteY3" fmla="*/ 11528 h 118685"/>
                <a:gd name="connsiteX4" fmla="*/ 226219 w 502444"/>
                <a:gd name="connsiteY4" fmla="*/ 118684 h 118685"/>
                <a:gd name="connsiteX5" fmla="*/ 183356 w 502444"/>
                <a:gd name="connsiteY5" fmla="*/ 13909 h 118685"/>
                <a:gd name="connsiteX6" fmla="*/ 119063 w 502444"/>
                <a:gd name="connsiteY6" fmla="*/ 116303 h 118685"/>
                <a:gd name="connsiteX7" fmla="*/ 78581 w 502444"/>
                <a:gd name="connsiteY7" fmla="*/ 56772 h 118685"/>
                <a:gd name="connsiteX8" fmla="*/ 0 w 502444"/>
                <a:gd name="connsiteY8" fmla="*/ 56772 h 118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2444" h="118685">
                  <a:moveTo>
                    <a:pt x="502444" y="54390"/>
                  </a:moveTo>
                  <a:cubicBezTo>
                    <a:pt x="469106" y="23037"/>
                    <a:pt x="435769" y="-8316"/>
                    <a:pt x="409575" y="2003"/>
                  </a:cubicBezTo>
                  <a:cubicBezTo>
                    <a:pt x="383381" y="12322"/>
                    <a:pt x="365918" y="114716"/>
                    <a:pt x="345281" y="116303"/>
                  </a:cubicBezTo>
                  <a:cubicBezTo>
                    <a:pt x="324644" y="117890"/>
                    <a:pt x="305594" y="11131"/>
                    <a:pt x="285750" y="11528"/>
                  </a:cubicBezTo>
                  <a:cubicBezTo>
                    <a:pt x="265906" y="11925"/>
                    <a:pt x="243285" y="118287"/>
                    <a:pt x="226219" y="118684"/>
                  </a:cubicBezTo>
                  <a:cubicBezTo>
                    <a:pt x="209153" y="119081"/>
                    <a:pt x="201215" y="14306"/>
                    <a:pt x="183356" y="13909"/>
                  </a:cubicBezTo>
                  <a:cubicBezTo>
                    <a:pt x="165497" y="13512"/>
                    <a:pt x="136525" y="109159"/>
                    <a:pt x="119063" y="116303"/>
                  </a:cubicBezTo>
                  <a:cubicBezTo>
                    <a:pt x="101601" y="123447"/>
                    <a:pt x="98425" y="66694"/>
                    <a:pt x="78581" y="56772"/>
                  </a:cubicBezTo>
                  <a:cubicBezTo>
                    <a:pt x="58737" y="46850"/>
                    <a:pt x="29368" y="51811"/>
                    <a:pt x="0" y="56772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0" name="곱하기 기호 29">
              <a:extLst>
                <a:ext uri="{FF2B5EF4-FFF2-40B4-BE49-F238E27FC236}">
                  <a16:creationId xmlns:a16="http://schemas.microsoft.com/office/drawing/2014/main" id="{189BDFC1-A4A2-91E1-67B1-4CFED1B02119}"/>
                </a:ext>
              </a:extLst>
            </p:cNvPr>
            <p:cNvSpPr/>
            <p:nvPr/>
          </p:nvSpPr>
          <p:spPr>
            <a:xfrm>
              <a:off x="3993924" y="6143376"/>
              <a:ext cx="194392" cy="376625"/>
            </a:xfrm>
            <a:prstGeom prst="mathMultiply">
              <a:avLst/>
            </a:prstGeom>
            <a:solidFill>
              <a:srgbClr val="FF2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7B0065D0-D05A-8EFA-ED19-6D42A0EC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43764" y="6242976"/>
              <a:ext cx="68314" cy="68314"/>
            </a:xfrm>
            <a:prstGeom prst="rect">
              <a:avLst/>
            </a:prstGeom>
          </p:spPr>
        </p:pic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23778246-7FFD-9A7C-E6A4-E7EBD6306310}"/>
                </a:ext>
              </a:extLst>
            </p:cNvPr>
            <p:cNvSpPr/>
            <p:nvPr/>
          </p:nvSpPr>
          <p:spPr>
            <a:xfrm>
              <a:off x="4416365" y="6311900"/>
              <a:ext cx="60409" cy="282575"/>
            </a:xfrm>
            <a:custGeom>
              <a:avLst/>
              <a:gdLst>
                <a:gd name="connsiteX0" fmla="*/ 0 w 60409"/>
                <a:gd name="connsiteY0" fmla="*/ 0 h 282575"/>
                <a:gd name="connsiteX1" fmla="*/ 50800 w 60409"/>
                <a:gd name="connsiteY1" fmla="*/ 92075 h 282575"/>
                <a:gd name="connsiteX2" fmla="*/ 60325 w 60409"/>
                <a:gd name="connsiteY2" fmla="*/ 282575 h 282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09" h="282575">
                  <a:moveTo>
                    <a:pt x="0" y="0"/>
                  </a:moveTo>
                  <a:cubicBezTo>
                    <a:pt x="20373" y="22489"/>
                    <a:pt x="40746" y="44979"/>
                    <a:pt x="50800" y="92075"/>
                  </a:cubicBezTo>
                  <a:cubicBezTo>
                    <a:pt x="60854" y="139171"/>
                    <a:pt x="60589" y="210873"/>
                    <a:pt x="60325" y="282575"/>
                  </a:cubicBezTo>
                </a:path>
              </a:pathLst>
            </a:custGeom>
            <a:noFill/>
            <a:ln>
              <a:solidFill>
                <a:srgbClr val="0000FF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1330A9B-B694-5153-97D5-CF5D1BB1C47E}"/>
                </a:ext>
              </a:extLst>
            </p:cNvPr>
            <p:cNvSpPr txBox="1"/>
            <p:nvPr/>
          </p:nvSpPr>
          <p:spPr>
            <a:xfrm>
              <a:off x="4549254" y="6416921"/>
              <a:ext cx="439071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7B0A07-3AB8-391A-9D8C-D45E4406AC48}"/>
                </a:ext>
              </a:extLst>
            </p:cNvPr>
            <p:cNvSpPr txBox="1"/>
            <p:nvPr/>
          </p:nvSpPr>
          <p:spPr>
            <a:xfrm>
              <a:off x="3313708" y="5488178"/>
              <a:ext cx="1749215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Retention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V)</a:t>
              </a:r>
              <a:endParaRPr lang="en-US" altLang="ko-KR" sz="11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650D8C6-3DCC-A1C7-A6A5-D160A0567DF4}"/>
                </a:ext>
              </a:extLst>
            </p:cNvPr>
            <p:cNvSpPr txBox="1"/>
            <p:nvPr/>
          </p:nvSpPr>
          <p:spPr>
            <a:xfrm>
              <a:off x="3388432" y="6514025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TBT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93B8EF8-B809-091B-DDC2-B2D67BCCA28D}"/>
                </a:ext>
              </a:extLst>
            </p:cNvPr>
            <p:cNvSpPr txBox="1"/>
            <p:nvPr/>
          </p:nvSpPr>
          <p:spPr>
            <a:xfrm>
              <a:off x="3421808" y="6107380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DT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1350C7B-0A88-595F-8911-74810F6666FF}"/>
              </a:ext>
            </a:extLst>
          </p:cNvPr>
          <p:cNvSpPr txBox="1"/>
          <p:nvPr/>
        </p:nvSpPr>
        <p:spPr>
          <a:xfrm>
            <a:off x="2739572" y="1075108"/>
            <a:ext cx="610198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Program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동작에서는 강한 전기장에 의해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FN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발생함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하지만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상태에서는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VG = 0V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이므로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충분한 전자가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conduction 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축적되지 않아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direct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영향이 감소함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3AF5E-B0CA-1BEF-604C-E08AB0082CB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CFE783-5799-DC38-DBBB-9EE992C845DD}"/>
              </a:ext>
            </a:extLst>
          </p:cNvPr>
          <p:cNvSpPr txBox="1"/>
          <p:nvPr/>
        </p:nvSpPr>
        <p:spPr>
          <a:xfrm>
            <a:off x="2636312" y="4150154"/>
            <a:ext cx="37524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trapped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conduction 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tunneling 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될 수 있음</a:t>
            </a:r>
          </a:p>
        </p:txBody>
      </p:sp>
    </p:spTree>
    <p:extLst>
      <p:ext uri="{BB962C8B-B14F-4D97-AF65-F5344CB8AC3E}">
        <p14:creationId xmlns:p14="http://schemas.microsoft.com/office/powerpoint/2010/main" val="731828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5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80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0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572000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0B26E-D7EF-B0B7-2CB8-5143E660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Trapped Electron </a:t>
            </a:r>
            <a:r>
              <a:rPr lang="en-US" altLang="ko-KR" dirty="0" err="1"/>
              <a:t>Detrapping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B9E240-0629-BB38-4F1A-31651C51E6ED}"/>
              </a:ext>
            </a:extLst>
          </p:cNvPr>
          <p:cNvSpPr txBox="1"/>
          <p:nvPr/>
        </p:nvSpPr>
        <p:spPr>
          <a:xfrm>
            <a:off x="409443" y="1292174"/>
            <a:ext cx="86404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연구를 통해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local trap-to-band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예측을 위해서는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영향 고려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기존모델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(Amoroso, TED 2011)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charge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uniform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가정하는 한계가 있음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본 연구에서는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radial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대한 모델링으로 확장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E526A-F38A-B804-66AD-0446ED93057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9934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1530551" y="5010760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834327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53032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</a:t>
            </a:r>
          </a:p>
          <a:p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127" y="2677219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5345" y="3212201"/>
            <a:ext cx="3813982" cy="4335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8606" y="3774674"/>
            <a:ext cx="5613595" cy="2430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E407A-4361-331A-4C48-DCCF1EF9A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167D83-D14C-2A1F-C38B-F2B1B5D37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1972AA-673D-92C3-7122-A46E58BE71E6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A0895-B17C-2A05-E460-D81E66DE46D8}"/>
              </a:ext>
            </a:extLst>
          </p:cNvPr>
          <p:cNvSpPr txBox="1"/>
          <p:nvPr/>
        </p:nvSpPr>
        <p:spPr>
          <a:xfrm>
            <a:off x="420786" y="1051965"/>
            <a:ext cx="78169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결론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임의로 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discretized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ABD303-D736-C00E-7EC5-CF361C230BB1}"/>
                  </a:ext>
                </a:extLst>
              </p:cNvPr>
              <p:cNvSpPr txBox="1"/>
              <p:nvPr/>
            </p:nvSpPr>
            <p:spPr>
              <a:xfrm>
                <a:off x="1399922" y="2816029"/>
                <a:ext cx="6101395" cy="30953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𝑡h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ko-KR" altLang="en-US" sz="200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200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Δ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𝑄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−1</m:t>
                                      </m:r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200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Δ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𝑄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−1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ko-KR" altLang="en-US" sz="200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ko-KR" altLang="en-US" sz="200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mPr>
                                  <m:mr>
                                    <m:e>
                                      <m:eqArr>
                                        <m:eqArr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eqArrP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0</m:t>
                                          </m:r>
                                        </m:e>
                                        <m:e/>
                                      </m:eqArr>
                                    </m:e>
                                    <m:e>
                                      <m:eqArr>
                                        <m:eqArr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eqArr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0</m:t>
                                          </m:r>
                                        </m:e>
                                        <m:e/>
                                      </m:eqAr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ko-KR" altLang="en-US" sz="200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ko-KR" altLang="en-US" sz="200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ko-KR" altLang="en-US" sz="200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ko-KR" altLang="en-US" sz="200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ko-KR" sz="200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Δ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𝑄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𝑁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0</m:t>
                                      </m:r>
                                    </m:e>
                                    <m:e>
                                      <m:f>
                                        <m:f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  <m:e>
                                      <m:f>
                                        <m:f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ko-KR" altLang="en-US" sz="200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ko-KR" altLang="en-US" sz="200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mPr>
                                  <m:mr>
                                    <m:e>
                                      <m:eqArr>
                                        <m:eqArr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eqArrPr>
                                        <m:e/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1</m:t>
                                          </m:r>
                                        </m:e>
                                        <m:e/>
                                      </m:eqArr>
                                    </m:e>
                                    <m:e>
                                      <m:eqArr>
                                        <m:eqArr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eqArrPr>
                                        <m:e/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−1</m:t>
                                          </m:r>
                                        </m:e>
                                        <m:e/>
                                      </m:eqArr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𝑁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  <m:e>
                                      <m:f>
                                        <m:f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2</m:t>
                                          </m:r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2000" i="1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2000" b="0" i="1" smtClean="0">
                                                  <a:ln w="9525">
                                                    <a:solidFill>
                                                      <a:schemeClr val="tx1">
                                                        <a:alpha val="29000"/>
                                                      </a:schemeClr>
                                                    </a:solidFill>
                                                  </a:ln>
                                                  <a:latin typeface="Cambria Math" panose="02040503050406030204" pitchFamily="18" charset="0"/>
                                                  <a:ea typeface="맑은 고딕"/>
                                                  <a:cs typeface="Times New Roman"/>
                                                </a:rPr>
                                                <m:t>𝐵𝑂𝑋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ABD303-D736-C00E-7EC5-CF361C230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9922" y="2816029"/>
                <a:ext cx="6101395" cy="30953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E6409AD-EE3B-7EB5-E832-79A8F4E18140}"/>
              </a:ext>
            </a:extLst>
          </p:cNvPr>
          <p:cNvSpPr txBox="1"/>
          <p:nvPr/>
        </p:nvSpPr>
        <p:spPr>
          <a:xfrm>
            <a:off x="420786" y="1853077"/>
            <a:ext cx="78169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입력 조건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(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1-N) 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76774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distributio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89EBAB40-DF68-1C55-F411-6EF90C330B79}"/>
              </a:ext>
            </a:extLst>
          </p:cNvPr>
          <p:cNvCxnSpPr>
            <a:cxnSpLocks/>
          </p:cNvCxnSpPr>
          <p:nvPr/>
        </p:nvCxnSpPr>
        <p:spPr>
          <a:xfrm flipH="1">
            <a:off x="5740924" y="2576839"/>
            <a:ext cx="748776" cy="31372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733900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7C40F8D-4B57-7460-16CD-7232E8CF6506}"/>
                    </a:ext>
                  </a:extLst>
                </p:cNvPr>
                <p:cNvSpPr txBox="1"/>
                <p:nvPr/>
              </p:nvSpPr>
              <p:spPr>
                <a:xfrm>
                  <a:off x="3299817" y="3028603"/>
                  <a:ext cx="1757144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7C40F8D-4B57-7460-16CD-7232E8CF6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9817" y="3028603"/>
                  <a:ext cx="1757144" cy="25391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3130A2D6-E888-8AC1-BCF4-29BAB376CD71}"/>
                </a:ext>
              </a:extLst>
            </p:cNvPr>
            <p:cNvCxnSpPr>
              <a:cxnSpLocks/>
            </p:cNvCxnSpPr>
            <p:nvPr/>
          </p:nvCxnSpPr>
          <p:spPr>
            <a:xfrm>
              <a:off x="3123355" y="3046545"/>
              <a:ext cx="173012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distributio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968319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distributio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" name="개체 2">
            <a:extLst>
              <a:ext uri="{FF2B5EF4-FFF2-40B4-BE49-F238E27FC236}">
                <a16:creationId xmlns:a16="http://schemas.microsoft.com/office/drawing/2014/main" id="{CC4BF23F-9A1E-A8CF-CD5D-C773068B0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2244881"/>
              </p:ext>
            </p:extLst>
          </p:nvPr>
        </p:nvGraphicFramePr>
        <p:xfrm>
          <a:off x="317608" y="1589149"/>
          <a:ext cx="5939817" cy="31285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22" name="개체 21">
                        <a:extLst>
                          <a:ext uri="{FF2B5EF4-FFF2-40B4-BE49-F238E27FC236}">
                            <a16:creationId xmlns:a16="http://schemas.microsoft.com/office/drawing/2014/main" id="{9B932EBC-BE98-DEB4-B20E-D2E1628413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608" y="1589149"/>
                        <a:ext cx="5939817" cy="31285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E695E53B-06B8-4866-D8B4-056CE931048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8569977"/>
              </p:ext>
            </p:extLst>
          </p:nvPr>
        </p:nvGraphicFramePr>
        <p:xfrm>
          <a:off x="5942910" y="1405156"/>
          <a:ext cx="2720590" cy="271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21" name="개체 20">
                        <a:extLst>
                          <a:ext uri="{FF2B5EF4-FFF2-40B4-BE49-F238E27FC236}">
                            <a16:creationId xmlns:a16="http://schemas.microsoft.com/office/drawing/2014/main" id="{A25E9AFC-6346-36F5-83D8-68949C6A39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942910" y="1405156"/>
                        <a:ext cx="2720590" cy="271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BA3946F-0D9D-D20E-343F-DB58E7B84E28}"/>
              </a:ext>
            </a:extLst>
          </p:cNvPr>
          <p:cNvSpPr/>
          <p:nvPr/>
        </p:nvSpPr>
        <p:spPr>
          <a:xfrm>
            <a:off x="4632968" y="3237176"/>
            <a:ext cx="776459" cy="78815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5C47E32-DCF9-3066-374E-B3B5B91FE7BD}"/>
              </a:ext>
            </a:extLst>
          </p:cNvPr>
          <p:cNvCxnSpPr>
            <a:cxnSpLocks/>
          </p:cNvCxnSpPr>
          <p:nvPr/>
        </p:nvCxnSpPr>
        <p:spPr>
          <a:xfrm flipV="1">
            <a:off x="5412783" y="1990641"/>
            <a:ext cx="982837" cy="12384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A9B2448-13F2-3A59-4CF3-7B7568869EA4}"/>
              </a:ext>
            </a:extLst>
          </p:cNvPr>
          <p:cNvCxnSpPr>
            <a:cxnSpLocks/>
          </p:cNvCxnSpPr>
          <p:nvPr/>
        </p:nvCxnSpPr>
        <p:spPr>
          <a:xfrm flipV="1">
            <a:off x="5412783" y="3907197"/>
            <a:ext cx="976156" cy="1263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99870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404602" y="4856657"/>
            <a:ext cx="864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912FC59-0819-61D0-A5AD-8B40C19393F8}"/>
              </a:ext>
            </a:extLst>
          </p:cNvPr>
          <p:cNvSpPr/>
          <p:nvPr/>
        </p:nvSpPr>
        <p:spPr>
          <a:xfrm>
            <a:off x="7444673" y="2764821"/>
            <a:ext cx="906308" cy="114237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10136-1934-488E-0CB2-D79D42046EA9}"/>
              </a:ext>
            </a:extLst>
          </p:cNvPr>
          <p:cNvSpPr txBox="1"/>
          <p:nvPr/>
        </p:nvSpPr>
        <p:spPr>
          <a:xfrm>
            <a:off x="6168259" y="2010077"/>
            <a:ext cx="20428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&lt; 3% difference</a:t>
            </a:r>
          </a:p>
          <a:p>
            <a:pPr algn="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after 10</a:t>
            </a:r>
            <a:r>
              <a:rPr lang="en-US" altLang="ko-KR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s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F3F79-6A8A-8036-C0EA-5795BB86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 Retention Condition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D0C03B-AB43-3256-A1E2-5EEE9F5EB919}"/>
              </a:ext>
            </a:extLst>
          </p:cNvPr>
          <p:cNvSpPr txBox="1"/>
          <p:nvPr/>
        </p:nvSpPr>
        <p:spPr>
          <a:xfrm>
            <a:off x="6500047" y="3429000"/>
            <a:ext cx="2335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실험 측정 결과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Refaldi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IRPS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DE3B60B-6694-A2A6-F560-C9BB3B565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41" y="1233845"/>
            <a:ext cx="5515526" cy="3418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ED8035-BA60-EBB1-D663-6D0EA6820F51}"/>
              </a:ext>
            </a:extLst>
          </p:cNvPr>
          <p:cNvSpPr txBox="1"/>
          <p:nvPr/>
        </p:nvSpPr>
        <p:spPr>
          <a:xfrm>
            <a:off x="386415" y="4668923"/>
            <a:ext cx="85382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실험적으로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분리하는 기법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800100" lvl="1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transition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억제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800100" lvl="1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분리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 validation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적합한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 reference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제공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A.U.)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9748CA-8A3C-2756-E4D8-C7F53508008F}"/>
              </a:ext>
            </a:extLst>
          </p:cNvPr>
          <p:cNvSpPr txBox="1"/>
          <p:nvPr/>
        </p:nvSpPr>
        <p:spPr>
          <a:xfrm>
            <a:off x="490376" y="944426"/>
            <a:ext cx="46711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조건이 필요한 이유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?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77947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DBA3E-99CC-2403-9B66-32F6B0A6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TCAD Emulation</a:t>
            </a:r>
            <a:endParaRPr lang="ko-KR" altLang="en-US" dirty="0"/>
          </a:p>
        </p:txBody>
      </p:sp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FD167D98-28C5-E5A9-685D-94869095AB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1195586"/>
              </p:ext>
            </p:extLst>
          </p:nvPr>
        </p:nvGraphicFramePr>
        <p:xfrm>
          <a:off x="270133" y="1734018"/>
          <a:ext cx="4512278" cy="318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2293" imgH="3429000" progId="Origin50.Graph">
                  <p:embed/>
                </p:oleObj>
              </mc:Choice>
              <mc:Fallback>
                <p:oleObj name="Graph" r:id="rId2" imgW="4852293" imgH="3429000" progId="Origin50.Graph">
                  <p:embed/>
                  <p:pic>
                    <p:nvPicPr>
                      <p:cNvPr id="4" name="개체 3">
                        <a:extLst>
                          <a:ext uri="{FF2B5EF4-FFF2-40B4-BE49-F238E27FC236}">
                            <a16:creationId xmlns:a16="http://schemas.microsoft.com/office/drawing/2014/main" id="{8AC4FE14-0D79-E56D-1C85-BEDED72A21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0133" y="1734018"/>
                        <a:ext cx="4512278" cy="318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개체 6">
            <a:extLst>
              <a:ext uri="{FF2B5EF4-FFF2-40B4-BE49-F238E27FC236}">
                <a16:creationId xmlns:a16="http://schemas.microsoft.com/office/drawing/2014/main" id="{14B6E2C1-3363-1BE2-6647-EE01764791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33890607"/>
              </p:ext>
            </p:extLst>
          </p:nvPr>
        </p:nvGraphicFramePr>
        <p:xfrm>
          <a:off x="4312293" y="1734017"/>
          <a:ext cx="4512277" cy="318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9ABD4DAC-BDDE-593E-7E10-7C3357AD3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312293" y="1734017"/>
                        <a:ext cx="4512277" cy="318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BC5718D-5BED-047F-20A9-523A06430935}"/>
              </a:ext>
            </a:extLst>
          </p:cNvPr>
          <p:cNvSpPr txBox="1"/>
          <p:nvPr/>
        </p:nvSpPr>
        <p:spPr>
          <a:xfrm>
            <a:off x="582626" y="914400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온도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–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수렴성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테스트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사이의 상호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608DE6-0EF3-553C-CD62-5355B43A02DA}"/>
              </a:ext>
            </a:extLst>
          </p:cNvPr>
          <p:cNvSpPr txBox="1"/>
          <p:nvPr/>
        </p:nvSpPr>
        <p:spPr>
          <a:xfrm>
            <a:off x="449107" y="5191923"/>
            <a:ext cx="4199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300 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83 K (TCAD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최저온도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345EB9-D1D5-A26A-BAE4-AC75B00ED387}"/>
              </a:ext>
            </a:extLst>
          </p:cNvPr>
          <p:cNvSpPr txBox="1"/>
          <p:nvPr/>
        </p:nvSpPr>
        <p:spPr>
          <a:xfrm>
            <a:off x="4674101" y="5191923"/>
            <a:ext cx="4199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-16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-31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 [cm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</a:p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→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0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지속적으로 확장 가능</a:t>
            </a:r>
          </a:p>
        </p:txBody>
      </p:sp>
    </p:spTree>
    <p:extLst>
      <p:ext uri="{BB962C8B-B14F-4D97-AF65-F5344CB8AC3E}">
        <p14:creationId xmlns:p14="http://schemas.microsoft.com/office/powerpoint/2010/main" val="2781955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Numerical Convergence Test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7504238"/>
              </p:ext>
            </p:extLst>
          </p:nvPr>
        </p:nvGraphicFramePr>
        <p:xfrm>
          <a:off x="445063" y="1669871"/>
          <a:ext cx="4125950" cy="29162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997A4B5B-64E9-858A-A972-631B05052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45063" y="1669871"/>
                        <a:ext cx="4125950" cy="291624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9866775"/>
              </p:ext>
            </p:extLst>
          </p:nvPr>
        </p:nvGraphicFramePr>
        <p:xfrm>
          <a:off x="4804944" y="1669871"/>
          <a:ext cx="4125953" cy="29152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92CAF301-DD2E-1015-58A8-A10CE01926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804944" y="1669871"/>
                        <a:ext cx="4125953" cy="29152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582626" y="1149450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28485" y="4585165"/>
            <a:ext cx="45203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4571013" y="4585165"/>
            <a:ext cx="45203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002017"/>
              </p:ext>
            </p:extLst>
          </p:nvPr>
        </p:nvGraphicFramePr>
        <p:xfrm>
          <a:off x="4246004" y="2469567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469567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3164639"/>
              </p:ext>
            </p:extLst>
          </p:nvPr>
        </p:nvGraphicFramePr>
        <p:xfrm>
          <a:off x="329810" y="2469567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469567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212271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3981728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655236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565557"/>
            <a:ext cx="3702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측정치와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 calibration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진행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562CA-1197-3480-6AE5-83E0224C1610}"/>
              </a:ext>
            </a:extLst>
          </p:cNvPr>
          <p:cNvSpPr txBox="1"/>
          <p:nvPr/>
        </p:nvSpPr>
        <p:spPr>
          <a:xfrm>
            <a:off x="838200" y="4445447"/>
            <a:ext cx="75819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Future Works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cell-to-cell variation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산포 적용 가능한 모델링 셋업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SPICE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reliability simulation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과의 연계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838200" y="1030607"/>
            <a:ext cx="795784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3281</TotalTime>
  <Words>1291</Words>
  <Application>Microsoft Office PowerPoint</Application>
  <PresentationFormat>화면 슬라이드 쇼(4:3)</PresentationFormat>
  <Paragraphs>273</Paragraphs>
  <Slides>20</Slides>
  <Notes>1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20</vt:i4>
      </vt:variant>
    </vt:vector>
  </HeadingPairs>
  <TitlesOfParts>
    <vt:vector size="29" baseType="lpstr">
      <vt:lpstr>Noto Sans CJK KR</vt:lpstr>
      <vt:lpstr>맑은 고딕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Time-Step-Free Physics-based Modeling of 3-D NAND Flash Memories</vt:lpstr>
      <vt:lpstr>Content</vt:lpstr>
      <vt:lpstr>Introduction</vt:lpstr>
      <vt:lpstr>BETOX Trapped Electron Detrapping Modeling</vt:lpstr>
      <vt:lpstr>BETOX Trapped Electron Detrapping Modeling</vt:lpstr>
      <vt:lpstr>CTN Trapped Electron Detrapping</vt:lpstr>
      <vt:lpstr>Visualization of Charge Node Analysis</vt:lpstr>
      <vt:lpstr>Detailed Poisson Solution</vt:lpstr>
      <vt:lpstr>Q-ΔVth Optimized Calculation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 Retention Condition</vt:lpstr>
      <vt:lpstr>Cryogenic-like TCAD Emulation</vt:lpstr>
      <vt:lpstr>Numerical Convergence Test</vt:lpstr>
      <vt:lpstr>Cryogenic-like Emulation</vt:lpstr>
      <vt:lpstr>Computational Impact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978</cp:revision>
  <dcterms:created xsi:type="dcterms:W3CDTF">2016-06-02T05:19:04Z</dcterms:created>
  <dcterms:modified xsi:type="dcterms:W3CDTF">2026-07-07T16:26:20Z</dcterms:modified>
  <cp:version/>
</cp:coreProperties>
</file>