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>
  <p:sldMasterIdLst>
    <p:sldMasterId id="2147483672" r:id="rId1"/>
  </p:sldMasterIdLst>
  <p:notesMasterIdLst>
    <p:notesMasterId r:id="rId24"/>
  </p:notesMasterIdLst>
  <p:sldIdLst>
    <p:sldId id="341" r:id="rId2"/>
    <p:sldId id="334" r:id="rId3"/>
    <p:sldId id="329" r:id="rId4"/>
    <p:sldId id="330" r:id="rId5"/>
    <p:sldId id="331" r:id="rId6"/>
    <p:sldId id="315" r:id="rId7"/>
    <p:sldId id="322" r:id="rId8"/>
    <p:sldId id="333" r:id="rId9"/>
    <p:sldId id="320" r:id="rId10"/>
    <p:sldId id="336" r:id="rId11"/>
    <p:sldId id="324" r:id="rId12"/>
    <p:sldId id="339" r:id="rId13"/>
    <p:sldId id="323" r:id="rId14"/>
    <p:sldId id="321" r:id="rId15"/>
    <p:sldId id="328" r:id="rId16"/>
    <p:sldId id="325" r:id="rId17"/>
    <p:sldId id="337" r:id="rId18"/>
    <p:sldId id="326" r:id="rId19"/>
    <p:sldId id="327" r:id="rId20"/>
    <p:sldId id="342" r:id="rId21"/>
    <p:sldId id="343" r:id="rId22"/>
    <p:sldId id="338" r:id="rId23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197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F7687"/>
    <a:srgbClr val="2848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17" autoAdjust="0"/>
    <p:restoredTop sz="97300" autoAdjust="0"/>
  </p:normalViewPr>
  <p:slideViewPr>
    <p:cSldViewPr snapToGrid="0">
      <p:cViewPr varScale="1">
        <p:scale>
          <a:sx n="147" d="100"/>
          <a:sy n="147" d="100"/>
        </p:scale>
        <p:origin x="2004" y="108"/>
      </p:cViewPr>
      <p:guideLst>
        <p:guide orient="horz" pos="2183"/>
        <p:guide pos="1973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121" d="100"/>
          <a:sy n="121" d="100"/>
        </p:scale>
        <p:origin x="5022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8180F2F1-247D-439A-AE1A-1AD18BF0EBC5}" type="datetime1">
              <a:rPr lang="ko-KR" altLang="en-US"/>
              <a:pPr lvl="0">
                <a:defRPr/>
              </a:pPr>
              <a:t>2026-07-23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969D8441-CF3E-4C34-A420-65ADD8A7BB05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C47ACFDF-210B-4108-EB77-9160E7834D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kumimoji="1" lang="en-US" sz="3200" b="1" dirty="0">
                <a:solidFill>
                  <a:srgbClr val="0000FF"/>
                </a:solidFill>
                <a:effectLst/>
                <a:latin typeface="Calibri"/>
                <a:ea typeface="굴림"/>
                <a:cs typeface="굴림"/>
              </a:defRPr>
            </a:lvl1pPr>
          </a:lstStyle>
          <a:p>
            <a:pPr lvl="0" algn="ctr"/>
            <a:r>
              <a:rPr lang="ko-KR" altLang="en-US" dirty="0"/>
              <a:t>제목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진명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32741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2B732FBD-70BB-590B-EED9-6BA8F8E915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29" y="165556"/>
            <a:ext cx="8955742" cy="59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algn="ctr">
              <a:defRPr lang="en-US" sz="360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defRPr>
            </a:lvl1pPr>
          </a:lstStyle>
          <a:p>
            <a:pPr marL="0" lvl="0" algn="ctr"/>
            <a:endParaRPr lang="en-US" dirty="0"/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A68D360D-C118-14A3-C8B6-E639F8DD026C}"/>
              </a:ext>
            </a:extLst>
          </p:cNvPr>
          <p:cNvCxnSpPr/>
          <p:nvPr userDrawn="1"/>
        </p:nvCxnSpPr>
        <p:spPr>
          <a:xfrm>
            <a:off x="456818" y="877735"/>
            <a:ext cx="8687182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oval" w="med" len="med"/>
            <a:tailEnd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15273710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ppendix_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C47ACFDF-210B-4108-EB77-9160E7834D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kumimoji="1" lang="en-US" sz="3200" b="1" dirty="0">
                <a:solidFill>
                  <a:srgbClr val="0000FF"/>
                </a:solidFill>
                <a:effectLst/>
                <a:latin typeface="Calibri"/>
                <a:ea typeface="굴림"/>
                <a:cs typeface="굴림"/>
              </a:defRPr>
            </a:lvl1pPr>
          </a:lstStyle>
          <a:p>
            <a:pPr lvl="0" algn="ctr"/>
            <a:r>
              <a:rPr lang="ko-KR" altLang="en-US" dirty="0"/>
              <a:t>제목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진명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86372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ppendix_본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2B732FBD-70BB-590B-EED9-6BA8F8E915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29" y="165556"/>
            <a:ext cx="8955742" cy="59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algn="ctr">
              <a:defRPr lang="en-US" sz="360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defRPr>
            </a:lvl1pPr>
          </a:lstStyle>
          <a:p>
            <a:pPr marL="0" lvl="0" algn="ctr"/>
            <a:endParaRPr lang="en-US" dirty="0"/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A68D360D-C118-14A3-C8B6-E639F8DD026C}"/>
              </a:ext>
            </a:extLst>
          </p:cNvPr>
          <p:cNvCxnSpPr/>
          <p:nvPr userDrawn="1"/>
        </p:nvCxnSpPr>
        <p:spPr>
          <a:xfrm>
            <a:off x="456818" y="877735"/>
            <a:ext cx="8687182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oval" w="med" len="med"/>
            <a:tailEnd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17233037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34A334C5-B9FA-4ED1-A744-F408B6777B24}" type="datetime1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8009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9E5042A7-DF43-46DE-92FC-CFB97544BBB3}" type="datetime1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6779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2916D5AD-5A6F-454C-9545-6885344E280D}" type="datetime1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63163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3F7BB00-28E5-4A3B-9E5F-1F4BB3A8F165}" type="datetime1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5328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2CEAC59B-C817-48F5-8ACE-D9D17C2470A4}" type="datetime1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46923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B3B0509C-DF52-4D9E-B08B-80FF4BADBE5B}" type="datetime1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16182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D7E32654-65AB-44C2-B15A-24814E9FAC6C}" type="datetime1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393437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A4443EB-2E16-4E63-8781-456863843F67}" type="datetime1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125900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  <a:prstGeom prst="rect">
            <a:avLst/>
          </a:prstGeo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33B04AE-6A3D-446A-BA2E-D60D9DF7E98F}" type="datetime1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87923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2F9506-E5DD-4FE8-0BB7-EACC1C891B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25DBDE6-F08E-5E13-9BC0-67987A6A885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DDA8C695-F3F3-4DFA-BE8E-F96FA1E20C9A}" type="datetime1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7BAB051-DD19-19B3-C999-DD1B7F47C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796CDF9-9319-B249-5F10-09AFE0D96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81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7706" y="2329156"/>
            <a:ext cx="7886700" cy="219968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ctr" latinLnBrk="1">
              <a:defRPr/>
            </a:pPr>
            <a:endParaRPr kumimoji="1" lang="ko-KR" altLang="en-US" sz="4400" b="1" dirty="0">
              <a:solidFill>
                <a:srgbClr val="0000FF"/>
              </a:solidFill>
              <a:effectLst/>
              <a:latin typeface="Calibri"/>
              <a:ea typeface="굴림"/>
              <a:cs typeface="굴림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5B2251B-B63B-3A95-4A71-181753A1254A}"/>
              </a:ext>
            </a:extLst>
          </p:cNvPr>
          <p:cNvSpPr/>
          <p:nvPr userDrawn="1"/>
        </p:nvSpPr>
        <p:spPr>
          <a:xfrm>
            <a:off x="-10765" y="6476626"/>
            <a:ext cx="9163643" cy="390252"/>
          </a:xfrm>
          <a:prstGeom prst="rect">
            <a:avLst/>
          </a:prstGeom>
          <a:solidFill>
            <a:srgbClr val="00397F"/>
          </a:solidFill>
          <a:ln w="9525" cap="flat" cmpd="sng" algn="ctr">
            <a:noFill/>
            <a:prstDash val="solid"/>
            <a:round/>
            <a:headEnd w="med" len="med"/>
            <a:tailEnd w="med" len="med"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endParaRPr kumimoji="1" lang="ko-KR" altLang="en-US" sz="1600" b="0" i="0" u="none" strike="noStrike" cap="none" normalizeH="0">
              <a:solidFill>
                <a:schemeClr val="tx1"/>
              </a:solidFill>
              <a:effectLst/>
              <a:latin typeface="Times New Roman"/>
              <a:ea typeface="맑은 고딕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5AE41EA-423B-2D50-1B61-33F790630545}"/>
              </a:ext>
            </a:extLst>
          </p:cNvPr>
          <p:cNvSpPr/>
          <p:nvPr userDrawn="1"/>
        </p:nvSpPr>
        <p:spPr>
          <a:xfrm>
            <a:off x="5104660" y="6547575"/>
            <a:ext cx="4039339" cy="2362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85000"/>
              </a:lnSpc>
              <a:spcBef>
                <a:spcPct val="20000"/>
              </a:spcBef>
              <a:buClr>
                <a:schemeClr val="accent1"/>
              </a:buClr>
              <a:buSzPct val="70000"/>
              <a:defRPr/>
            </a:pPr>
            <a:r>
              <a:rPr lang="en-US" altLang="ko-KR" sz="1100" b="1" i="1">
                <a:solidFill>
                  <a:schemeClr val="bg1">
                    <a:lumMod val="75000"/>
                  </a:schemeClr>
                </a:solidFill>
                <a:latin typeface="Times New Roman"/>
                <a:ea typeface="맑은 고딕"/>
                <a:cs typeface="Times New Roman"/>
              </a:rPr>
              <a:t>School of Electrical Engineering, Seoul National University</a:t>
            </a:r>
            <a:endParaRPr lang="en-US" altLang="ko-KR" sz="1100" b="1" kern="0">
              <a:solidFill>
                <a:schemeClr val="bg1">
                  <a:lumMod val="75000"/>
                </a:schemeClr>
              </a:solidFill>
              <a:latin typeface="Times New Roman"/>
              <a:ea typeface="맑은 고딕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E44581E-9BA8-E469-247F-0330F2662E6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6"/>
          <a:stretch>
            <a:fillRect/>
          </a:stretch>
        </p:blipFill>
        <p:spPr>
          <a:xfrm>
            <a:off x="278983" y="6525344"/>
            <a:ext cx="1023426" cy="287891"/>
          </a:xfrm>
          <a:prstGeom prst="rect">
            <a:avLst/>
          </a:prstGeom>
        </p:spPr>
      </p:pic>
      <p:sp>
        <p:nvSpPr>
          <p:cNvPr id="4" name="슬라이드 번호 개체 틀 1">
            <a:extLst>
              <a:ext uri="{FF2B5EF4-FFF2-40B4-BE49-F238E27FC236}">
                <a16:creationId xmlns:a16="http://schemas.microsoft.com/office/drawing/2014/main" id="{770A8E3B-2F99-2E3D-21C3-3332B4D77E3A}"/>
              </a:ext>
            </a:extLst>
          </p:cNvPr>
          <p:cNvSpPr txBox="1">
            <a:spLocks/>
          </p:cNvSpPr>
          <p:nvPr userDrawn="1"/>
        </p:nvSpPr>
        <p:spPr>
          <a:xfrm>
            <a:off x="4125611" y="6467849"/>
            <a:ext cx="89089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1F989CB1-DA8A-44BB-A4A9-D7F9352F01ED}" type="slidenum">
              <a:rPr lang="ko-KR" altLang="en-US" sz="1800" smtClean="0">
                <a:solidFill>
                  <a:srgbClr val="FFFFFF"/>
                </a:solidFill>
              </a:rPr>
              <a:pPr algn="ctr">
                <a:defRPr/>
              </a:pPr>
              <a:t>‹#›</a:t>
            </a:fld>
            <a:r>
              <a:rPr lang="ko-KR" altLang="en-US" sz="1800" dirty="0">
                <a:solidFill>
                  <a:srgbClr val="FFFFFF"/>
                </a:solidFill>
              </a:rPr>
              <a:t> </a:t>
            </a:r>
            <a:r>
              <a:rPr lang="en-US" altLang="ko-KR" sz="1800" dirty="0">
                <a:solidFill>
                  <a:srgbClr val="FFFFFF"/>
                </a:solidFill>
              </a:rPr>
              <a:t>/ 19</a:t>
            </a:r>
            <a:endParaRPr lang="ko-KR" altLang="en-US" sz="18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658227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74" r:id="rId3"/>
    <p:sldLayoutId id="2147483675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3" r:id="rId14"/>
  </p:sldLayoutIdLst>
  <p:hf hdr="0" ftr="0" dt="0"/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8.png"/><Relationship Id="rId7" Type="http://schemas.openxmlformats.org/officeDocument/2006/relationships/image" Target="../media/image1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9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emf"/><Relationship Id="rId4" Type="http://schemas.openxmlformats.org/officeDocument/2006/relationships/oleObject" Target="../embeddings/oleObject2.bin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oleObject" Target="../embeddings/oleObject3.bin"/><Relationship Id="rId7" Type="http://schemas.openxmlformats.org/officeDocument/2006/relationships/image" Target="../media/image340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emf"/><Relationship Id="rId5" Type="http://schemas.openxmlformats.org/officeDocument/2006/relationships/oleObject" Target="../embeddings/oleObject3.bin"/><Relationship Id="rId4" Type="http://schemas.openxmlformats.org/officeDocument/2006/relationships/image" Target="../media/image38.e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e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emf"/><Relationship Id="rId4" Type="http://schemas.openxmlformats.org/officeDocument/2006/relationships/oleObject" Target="../embeddings/oleObject5.bin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e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emf"/><Relationship Id="rId4" Type="http://schemas.openxmlformats.org/officeDocument/2006/relationships/oleObject" Target="../embeddings/oleObject7.bin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emf"/><Relationship Id="rId2" Type="http://schemas.openxmlformats.org/officeDocument/2006/relationships/oleObject" Target="../embeddings/oleObject8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6.emf"/><Relationship Id="rId4" Type="http://schemas.openxmlformats.org/officeDocument/2006/relationships/oleObject" Target="../embeddings/oleObject9.bin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emf"/><Relationship Id="rId2" Type="http://schemas.openxmlformats.org/officeDocument/2006/relationships/oleObject" Target="../embeddings/oleObject10.bin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EAD9BE-B151-7AAD-E452-D503C03C0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638" y="739963"/>
            <a:ext cx="8756724" cy="2199687"/>
          </a:xfrm>
        </p:spPr>
        <p:txBody>
          <a:bodyPr/>
          <a:lstStyle/>
          <a:p>
            <a:pPr>
              <a:lnSpc>
                <a:spcPct val="114000"/>
              </a:lnSpc>
              <a:spcBef>
                <a:spcPts val="0"/>
              </a:spcBef>
            </a:pPr>
            <a:r>
              <a:rPr kumimoji="0" lang="en-US" altLang="ko-KR" sz="4000" i="0" u="none" strike="noStrike" kern="1200" cap="none" spc="0" normalizeH="0" baseline="0" noProof="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Time-Step-Free Physics-based</a:t>
            </a:r>
            <a:br>
              <a:rPr kumimoji="0" lang="en-US" altLang="ko-KR" sz="4000" i="0" u="none" strike="noStrike" kern="1200" cap="none" spc="0" normalizeH="0" baseline="0" noProof="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</a:br>
            <a:r>
              <a:rPr kumimoji="0" lang="en-US" altLang="ko-KR" sz="4000" i="0" u="none" strike="noStrike" kern="1200" cap="none" spc="0" normalizeH="0" baseline="0" noProof="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Modeling of Retention Loss in</a:t>
            </a:r>
            <a:br>
              <a:rPr kumimoji="0" lang="en-US" altLang="ko-KR" sz="4000" i="0" u="none" strike="noStrike" kern="1200" cap="none" spc="0" normalizeH="0" baseline="0" noProof="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</a:br>
            <a:r>
              <a:rPr kumimoji="0" lang="en-US" altLang="ko-KR" sz="4000" i="0" u="none" strike="noStrike" kern="1200" cap="none" spc="0" normalizeH="0" baseline="0" noProof="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Cryogenic 3-D NAND Flash </a:t>
            </a:r>
            <a:endParaRPr lang="ko-KR" altLang="en-US" sz="36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FB1B79B-E8A0-4133-BFF3-3E14AF3D2439}"/>
              </a:ext>
            </a:extLst>
          </p:cNvPr>
          <p:cNvSpPr txBox="1">
            <a:spLocks/>
          </p:cNvSpPr>
          <p:nvPr/>
        </p:nvSpPr>
        <p:spPr>
          <a:xfrm>
            <a:off x="1151792" y="4683491"/>
            <a:ext cx="6858000" cy="1224940"/>
          </a:xfrm>
        </p:spPr>
        <p:txBody>
          <a:bodyPr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ko-K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2026. 07. 09</a:t>
            </a:r>
          </a:p>
          <a:p>
            <a:pPr marL="0" indent="0" algn="ctr">
              <a:buNone/>
            </a:pPr>
            <a:r>
              <a:rPr lang="ko-KR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석사과정</a:t>
            </a:r>
            <a:endParaRPr lang="en-US" altLang="ko-KR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ko-KR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진 명</a:t>
            </a:r>
            <a:endParaRPr lang="en-US" altLang="ko-KR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4B3F3CA-58AA-91BB-A047-308EF26AD10A}"/>
              </a:ext>
            </a:extLst>
          </p:cNvPr>
          <p:cNvSpPr/>
          <p:nvPr/>
        </p:nvSpPr>
        <p:spPr>
          <a:xfrm>
            <a:off x="615460" y="3144045"/>
            <a:ext cx="8159261" cy="11887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 defTabSz="914400" fontAlgn="base" latinLnBrk="1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0000"/>
              <a:defRPr/>
            </a:pPr>
            <a:endParaRPr kumimoji="1" lang="en-US" altLang="ko-KR" sz="2500" b="1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ko-KR" sz="2500" b="1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Electrical and Computer Engineering</a:t>
            </a:r>
          </a:p>
          <a:p>
            <a:pPr algn="ctr"/>
            <a:r>
              <a:rPr lang="en-US" altLang="ko-KR" sz="2500" b="1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Seoul National University</a:t>
            </a:r>
            <a:endParaRPr lang="ko-KR" altLang="en-US" sz="2500" b="1" kern="0" dirty="0">
              <a:solidFill>
                <a:schemeClr val="tx1">
                  <a:lumMod val="50000"/>
                  <a:lumOff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38515767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3130EB-119C-CF9B-60C4-3E5F31E091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Content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4534FF-2A4F-8DDE-7E26-13F638DD3D8E}"/>
              </a:ext>
            </a:extLst>
          </p:cNvPr>
          <p:cNvSpPr txBox="1"/>
          <p:nvPr/>
        </p:nvSpPr>
        <p:spPr>
          <a:xfrm>
            <a:off x="493614" y="1726575"/>
            <a:ext cx="7776446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Introduction: 3-D NAND Flash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Retention Loss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BETOX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Trapped Electron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모델링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 discretization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분석 및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Q-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계산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Time-Step-Free Physics-Based Retention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모델링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Cryogenic-like TCAD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검증 및 계산 효율 분석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Summary and Future Works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630744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0B6771-B904-D06D-3F1E-BC95E197EB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Introduction</a:t>
            </a:r>
            <a:endParaRPr lang="ko-KR" altLang="en-US" dirty="0"/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ED6AAE71-58AD-D1BB-55DE-F3B54D84314F}"/>
              </a:ext>
            </a:extLst>
          </p:cNvPr>
          <p:cNvSpPr txBox="1"/>
          <p:nvPr/>
        </p:nvSpPr>
        <p:spPr>
          <a:xfrm>
            <a:off x="3127118" y="1690062"/>
            <a:ext cx="5762271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3-D NAND Flash memory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는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charge-trap stack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내부에 저장된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trapped electron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을 통해 정보를 저장함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Retention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시간이 증가하면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trapped electron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인해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V</a:t>
            </a:r>
            <a:r>
              <a:rPr lang="en-US" altLang="ko-KR" sz="2000" baseline="-25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감소 발생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Cylindrical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구조와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내부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arbitrary trapped electron distribution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을 고려하기 위한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physics-based modeling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필요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312" name="TextBox 311">
            <a:extLst>
              <a:ext uri="{FF2B5EF4-FFF2-40B4-BE49-F238E27FC236}">
                <a16:creationId xmlns:a16="http://schemas.microsoft.com/office/drawing/2014/main" id="{2D96CCE7-A280-B373-6CB7-767DEE18E9E2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TED 2025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A8A1AACC-D995-3921-A447-F6F0B5598086}"/>
              </a:ext>
            </a:extLst>
          </p:cNvPr>
          <p:cNvGrpSpPr/>
          <p:nvPr/>
        </p:nvGrpSpPr>
        <p:grpSpPr>
          <a:xfrm>
            <a:off x="625316" y="1566952"/>
            <a:ext cx="2302341" cy="3689196"/>
            <a:chOff x="625316" y="1412405"/>
            <a:chExt cx="2302341" cy="3689196"/>
          </a:xfrm>
        </p:grpSpPr>
        <p:pic>
          <p:nvPicPr>
            <p:cNvPr id="211" name="그림 210" descr="로고, 그래픽, 디자인이(가) 표시된 사진&#10;&#10;자동 생성된 설명">
              <a:extLst>
                <a:ext uri="{FF2B5EF4-FFF2-40B4-BE49-F238E27FC236}">
                  <a16:creationId xmlns:a16="http://schemas.microsoft.com/office/drawing/2014/main" id="{20E526E3-9043-CED4-08E9-9DE1295ECBD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8303" t="12315" r="12187"/>
            <a:stretch/>
          </p:blipFill>
          <p:spPr>
            <a:xfrm>
              <a:off x="625316" y="2205492"/>
              <a:ext cx="2064544" cy="2577269"/>
            </a:xfrm>
            <a:prstGeom prst="rect">
              <a:avLst/>
            </a:prstGeom>
          </p:spPr>
        </p:pic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D6E6291A-5098-30EC-CE55-4904DD2AD286}"/>
                </a:ext>
              </a:extLst>
            </p:cNvPr>
            <p:cNvSpPr txBox="1"/>
            <p:nvPr/>
          </p:nvSpPr>
          <p:spPr>
            <a:xfrm>
              <a:off x="703153" y="4793824"/>
              <a:ext cx="168741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dirty="0"/>
                <a:t>Trapped</a:t>
              </a:r>
              <a:r>
                <a:rPr lang="ko-KR" altLang="en-US" sz="1400" dirty="0"/>
                <a:t> </a:t>
              </a:r>
              <a:r>
                <a:rPr lang="en-US" altLang="ko-KR" sz="1400" dirty="0"/>
                <a:t>Electrons</a:t>
              </a:r>
              <a:endParaRPr lang="ko-KR" altLang="en-US" sz="1400" dirty="0"/>
            </a:p>
          </p:txBody>
        </p:sp>
        <p:cxnSp>
          <p:nvCxnSpPr>
            <p:cNvPr id="222" name="직선 연결선 221">
              <a:extLst>
                <a:ext uri="{FF2B5EF4-FFF2-40B4-BE49-F238E27FC236}">
                  <a16:creationId xmlns:a16="http://schemas.microsoft.com/office/drawing/2014/main" id="{384FD8E0-8B22-B661-A154-AEAD7A52D28C}"/>
                </a:ext>
              </a:extLst>
            </p:cNvPr>
            <p:cNvCxnSpPr>
              <a:cxnSpLocks/>
              <a:endCxn id="221" idx="0"/>
            </p:cNvCxnSpPr>
            <p:nvPr/>
          </p:nvCxnSpPr>
          <p:spPr>
            <a:xfrm>
              <a:off x="1439704" y="4127520"/>
              <a:ext cx="107156" cy="66630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직선 연결선 222">
              <a:extLst>
                <a:ext uri="{FF2B5EF4-FFF2-40B4-BE49-F238E27FC236}">
                  <a16:creationId xmlns:a16="http://schemas.microsoft.com/office/drawing/2014/main" id="{D3D91B11-9F4C-7339-FB02-8BD8F41E62AF}"/>
                </a:ext>
              </a:extLst>
            </p:cNvPr>
            <p:cNvCxnSpPr>
              <a:cxnSpLocks/>
              <a:endCxn id="221" idx="0"/>
            </p:cNvCxnSpPr>
            <p:nvPr/>
          </p:nvCxnSpPr>
          <p:spPr>
            <a:xfrm flipH="1">
              <a:off x="1546860" y="4137587"/>
              <a:ext cx="39287" cy="65623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직선 연결선 223">
              <a:extLst>
                <a:ext uri="{FF2B5EF4-FFF2-40B4-BE49-F238E27FC236}">
                  <a16:creationId xmlns:a16="http://schemas.microsoft.com/office/drawing/2014/main" id="{514A09F0-556C-F0DA-D395-2E3A51E11DC2}"/>
                </a:ext>
              </a:extLst>
            </p:cNvPr>
            <p:cNvCxnSpPr>
              <a:cxnSpLocks/>
            </p:cNvCxnSpPr>
            <p:nvPr/>
          </p:nvCxnSpPr>
          <p:spPr>
            <a:xfrm>
              <a:off x="750332" y="2127308"/>
              <a:ext cx="0" cy="2333364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직선 연결선 224">
              <a:extLst>
                <a:ext uri="{FF2B5EF4-FFF2-40B4-BE49-F238E27FC236}">
                  <a16:creationId xmlns:a16="http://schemas.microsoft.com/office/drawing/2014/main" id="{E971E9B3-EEB0-045E-77D1-9A95134D755F}"/>
                </a:ext>
              </a:extLst>
            </p:cNvPr>
            <p:cNvCxnSpPr>
              <a:cxnSpLocks/>
            </p:cNvCxnSpPr>
            <p:nvPr/>
          </p:nvCxnSpPr>
          <p:spPr>
            <a:xfrm>
              <a:off x="1361443" y="2172220"/>
              <a:ext cx="0" cy="433682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직선 연결선 225">
              <a:extLst>
                <a:ext uri="{FF2B5EF4-FFF2-40B4-BE49-F238E27FC236}">
                  <a16:creationId xmlns:a16="http://schemas.microsoft.com/office/drawing/2014/main" id="{A9FDE615-9E6E-C667-8CEB-EE0C2EDC663E}"/>
                </a:ext>
              </a:extLst>
            </p:cNvPr>
            <p:cNvCxnSpPr>
              <a:cxnSpLocks/>
            </p:cNvCxnSpPr>
            <p:nvPr/>
          </p:nvCxnSpPr>
          <p:spPr>
            <a:xfrm>
              <a:off x="1601205" y="2172220"/>
              <a:ext cx="0" cy="460470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" name="직선 연결선 226">
              <a:extLst>
                <a:ext uri="{FF2B5EF4-FFF2-40B4-BE49-F238E27FC236}">
                  <a16:creationId xmlns:a16="http://schemas.microsoft.com/office/drawing/2014/main" id="{DA19623C-9C73-8BA2-4C99-310E32D02858}"/>
                </a:ext>
              </a:extLst>
            </p:cNvPr>
            <p:cNvCxnSpPr>
              <a:cxnSpLocks/>
            </p:cNvCxnSpPr>
            <p:nvPr/>
          </p:nvCxnSpPr>
          <p:spPr>
            <a:xfrm>
              <a:off x="2178636" y="2172220"/>
              <a:ext cx="0" cy="59039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직선 연결선 234">
              <a:extLst>
                <a:ext uri="{FF2B5EF4-FFF2-40B4-BE49-F238E27FC236}">
                  <a16:creationId xmlns:a16="http://schemas.microsoft.com/office/drawing/2014/main" id="{A79E245E-07EE-543F-65EA-417903A97819}"/>
                </a:ext>
              </a:extLst>
            </p:cNvPr>
            <p:cNvCxnSpPr>
              <a:cxnSpLocks/>
            </p:cNvCxnSpPr>
            <p:nvPr/>
          </p:nvCxnSpPr>
          <p:spPr>
            <a:xfrm>
              <a:off x="1751224" y="2172220"/>
              <a:ext cx="0" cy="55311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직선 연결선 236">
              <a:extLst>
                <a:ext uri="{FF2B5EF4-FFF2-40B4-BE49-F238E27FC236}">
                  <a16:creationId xmlns:a16="http://schemas.microsoft.com/office/drawing/2014/main" id="{EA6ED4FB-439C-BD3B-3B49-2107F5462E36}"/>
                </a:ext>
              </a:extLst>
            </p:cNvPr>
            <p:cNvCxnSpPr>
              <a:cxnSpLocks/>
            </p:cNvCxnSpPr>
            <p:nvPr/>
          </p:nvCxnSpPr>
          <p:spPr>
            <a:xfrm>
              <a:off x="1932199" y="2172220"/>
              <a:ext cx="0" cy="57216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9" name="TextBox 278">
              <a:extLst>
                <a:ext uri="{FF2B5EF4-FFF2-40B4-BE49-F238E27FC236}">
                  <a16:creationId xmlns:a16="http://schemas.microsoft.com/office/drawing/2014/main" id="{F2597E20-58D8-FA05-FCB6-80DCF10EE5B5}"/>
                </a:ext>
              </a:extLst>
            </p:cNvPr>
            <p:cNvSpPr txBox="1"/>
            <p:nvPr/>
          </p:nvSpPr>
          <p:spPr>
            <a:xfrm>
              <a:off x="828785" y="2422178"/>
              <a:ext cx="41657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filler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sp>
          <p:nvSpPr>
            <p:cNvPr id="280" name="TextBox 279">
              <a:extLst>
                <a:ext uri="{FF2B5EF4-FFF2-40B4-BE49-F238E27FC236}">
                  <a16:creationId xmlns:a16="http://schemas.microsoft.com/office/drawing/2014/main" id="{BF043AFA-66B6-668E-E15F-51DCBE267CA7}"/>
                </a:ext>
              </a:extLst>
            </p:cNvPr>
            <p:cNvSpPr txBox="1"/>
            <p:nvPr/>
          </p:nvSpPr>
          <p:spPr>
            <a:xfrm>
              <a:off x="1243574" y="1412405"/>
              <a:ext cx="62853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channel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sp>
          <p:nvSpPr>
            <p:cNvPr id="282" name="TextBox 281">
              <a:extLst>
                <a:ext uri="{FF2B5EF4-FFF2-40B4-BE49-F238E27FC236}">
                  <a16:creationId xmlns:a16="http://schemas.microsoft.com/office/drawing/2014/main" id="{5F3AAB7A-8D0D-43E6-9770-7BADED14D656}"/>
                </a:ext>
              </a:extLst>
            </p:cNvPr>
            <p:cNvSpPr txBox="1"/>
            <p:nvPr/>
          </p:nvSpPr>
          <p:spPr>
            <a:xfrm>
              <a:off x="1762029" y="1595720"/>
              <a:ext cx="62853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BETOX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sp>
          <p:nvSpPr>
            <p:cNvPr id="283" name="TextBox 282">
              <a:extLst>
                <a:ext uri="{FF2B5EF4-FFF2-40B4-BE49-F238E27FC236}">
                  <a16:creationId xmlns:a16="http://schemas.microsoft.com/office/drawing/2014/main" id="{FC025F4E-C1FF-CCA5-9550-AFD410C81D93}"/>
                </a:ext>
              </a:extLst>
            </p:cNvPr>
            <p:cNvSpPr txBox="1"/>
            <p:nvPr/>
          </p:nvSpPr>
          <p:spPr>
            <a:xfrm>
              <a:off x="1955481" y="1770775"/>
              <a:ext cx="62853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CTN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sp>
          <p:nvSpPr>
            <p:cNvPr id="284" name="TextBox 283">
              <a:extLst>
                <a:ext uri="{FF2B5EF4-FFF2-40B4-BE49-F238E27FC236}">
                  <a16:creationId xmlns:a16="http://schemas.microsoft.com/office/drawing/2014/main" id="{504F71FC-466C-DDEF-2C91-25CC717B1DCB}"/>
                </a:ext>
              </a:extLst>
            </p:cNvPr>
            <p:cNvSpPr txBox="1"/>
            <p:nvPr/>
          </p:nvSpPr>
          <p:spPr>
            <a:xfrm>
              <a:off x="2299119" y="1966432"/>
              <a:ext cx="62853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BOX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cxnSp>
          <p:nvCxnSpPr>
            <p:cNvPr id="287" name="직선 화살표 연결선 286">
              <a:extLst>
                <a:ext uri="{FF2B5EF4-FFF2-40B4-BE49-F238E27FC236}">
                  <a16:creationId xmlns:a16="http://schemas.microsoft.com/office/drawing/2014/main" id="{15B0EF47-B033-D9C7-CCD8-5F91DF32369E}"/>
                </a:ext>
              </a:extLst>
            </p:cNvPr>
            <p:cNvCxnSpPr>
              <a:cxnSpLocks/>
            </p:cNvCxnSpPr>
            <p:nvPr/>
          </p:nvCxnSpPr>
          <p:spPr>
            <a:xfrm>
              <a:off x="1679115" y="1721113"/>
              <a:ext cx="158893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직선 화살표 연결선 288">
              <a:extLst>
                <a:ext uri="{FF2B5EF4-FFF2-40B4-BE49-F238E27FC236}">
                  <a16:creationId xmlns:a16="http://schemas.microsoft.com/office/drawing/2014/main" id="{7D685740-6A5A-5851-E175-12DEDAFCB5D2}"/>
                </a:ext>
              </a:extLst>
            </p:cNvPr>
            <p:cNvCxnSpPr>
              <a:cxnSpLocks/>
            </p:cNvCxnSpPr>
            <p:nvPr/>
          </p:nvCxnSpPr>
          <p:spPr>
            <a:xfrm>
              <a:off x="1854991" y="1897326"/>
              <a:ext cx="171551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직선 화살표 연결선 289">
              <a:extLst>
                <a:ext uri="{FF2B5EF4-FFF2-40B4-BE49-F238E27FC236}">
                  <a16:creationId xmlns:a16="http://schemas.microsoft.com/office/drawing/2014/main" id="{2AE7640F-F59B-4118-1378-2C2CAE547F4C}"/>
                </a:ext>
              </a:extLst>
            </p:cNvPr>
            <p:cNvCxnSpPr>
              <a:cxnSpLocks/>
            </p:cNvCxnSpPr>
            <p:nvPr/>
          </p:nvCxnSpPr>
          <p:spPr>
            <a:xfrm>
              <a:off x="2089785" y="2089543"/>
              <a:ext cx="282726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7" name="직선 화살표 연결선 296">
              <a:extLst>
                <a:ext uri="{FF2B5EF4-FFF2-40B4-BE49-F238E27FC236}">
                  <a16:creationId xmlns:a16="http://schemas.microsoft.com/office/drawing/2014/main" id="{89538A71-88D9-E8B1-41CC-8D112A2B40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67413" y="1658626"/>
              <a:ext cx="0" cy="513594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직선 화살표 연결선 298">
              <a:extLst>
                <a:ext uri="{FF2B5EF4-FFF2-40B4-BE49-F238E27FC236}">
                  <a16:creationId xmlns:a16="http://schemas.microsoft.com/office/drawing/2014/main" id="{6597BB9F-2C9D-14B4-9A0D-D354B58578A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79587" y="1720275"/>
              <a:ext cx="0" cy="492378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직선 화살표 연결선 300">
              <a:extLst>
                <a:ext uri="{FF2B5EF4-FFF2-40B4-BE49-F238E27FC236}">
                  <a16:creationId xmlns:a16="http://schemas.microsoft.com/office/drawing/2014/main" id="{9E32A56A-F006-A54A-CBCA-D338A04B5FF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49567" y="1893885"/>
              <a:ext cx="0" cy="375607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직선 화살표 연결선 302">
              <a:extLst>
                <a:ext uri="{FF2B5EF4-FFF2-40B4-BE49-F238E27FC236}">
                  <a16:creationId xmlns:a16="http://schemas.microsoft.com/office/drawing/2014/main" id="{4A274FDA-4DA0-4DC6-5765-6922987E42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89785" y="2089542"/>
              <a:ext cx="0" cy="269723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1" name="TextBox 310">
              <a:extLst>
                <a:ext uri="{FF2B5EF4-FFF2-40B4-BE49-F238E27FC236}">
                  <a16:creationId xmlns:a16="http://schemas.microsoft.com/office/drawing/2014/main" id="{8FD311D3-9D28-3880-7D83-BBA441596096}"/>
                </a:ext>
              </a:extLst>
            </p:cNvPr>
            <p:cNvSpPr txBox="1"/>
            <p:nvPr/>
          </p:nvSpPr>
          <p:spPr>
            <a:xfrm>
              <a:off x="2113200" y="3409811"/>
              <a:ext cx="62853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WL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cxnSp>
          <p:nvCxnSpPr>
            <p:cNvPr id="3" name="직선 화살표 연결선 2">
              <a:extLst>
                <a:ext uri="{FF2B5EF4-FFF2-40B4-BE49-F238E27FC236}">
                  <a16:creationId xmlns:a16="http://schemas.microsoft.com/office/drawing/2014/main" id="{8557ABA5-7680-ABCC-E903-BC38D3F540E3}"/>
                </a:ext>
              </a:extLst>
            </p:cNvPr>
            <p:cNvCxnSpPr/>
            <p:nvPr/>
          </p:nvCxnSpPr>
          <p:spPr>
            <a:xfrm flipH="1" flipV="1">
              <a:off x="1302867" y="4021435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직선 화살표 연결선 3">
              <a:extLst>
                <a:ext uri="{FF2B5EF4-FFF2-40B4-BE49-F238E27FC236}">
                  <a16:creationId xmlns:a16="http://schemas.microsoft.com/office/drawing/2014/main" id="{8E580F8D-3297-EE0F-130D-21EB1E98D1BC}"/>
                </a:ext>
              </a:extLst>
            </p:cNvPr>
            <p:cNvCxnSpPr/>
            <p:nvPr/>
          </p:nvCxnSpPr>
          <p:spPr>
            <a:xfrm flipH="1" flipV="1">
              <a:off x="1302867" y="3939282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직선 화살표 연결선 4">
              <a:extLst>
                <a:ext uri="{FF2B5EF4-FFF2-40B4-BE49-F238E27FC236}">
                  <a16:creationId xmlns:a16="http://schemas.microsoft.com/office/drawing/2014/main" id="{C35DDF68-9830-E57A-5FAE-3B090ADF0091}"/>
                </a:ext>
              </a:extLst>
            </p:cNvPr>
            <p:cNvCxnSpPr/>
            <p:nvPr/>
          </p:nvCxnSpPr>
          <p:spPr>
            <a:xfrm flipH="1" flipV="1">
              <a:off x="1302867" y="3857129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직선 화살표 연결선 5">
              <a:extLst>
                <a:ext uri="{FF2B5EF4-FFF2-40B4-BE49-F238E27FC236}">
                  <a16:creationId xmlns:a16="http://schemas.microsoft.com/office/drawing/2014/main" id="{33C3006B-DBF8-18B3-2F7B-646A490F90F5}"/>
                </a:ext>
              </a:extLst>
            </p:cNvPr>
            <p:cNvCxnSpPr/>
            <p:nvPr/>
          </p:nvCxnSpPr>
          <p:spPr>
            <a:xfrm flipH="1" flipV="1">
              <a:off x="1302867" y="3774976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직선 화살표 연결선 6">
              <a:extLst>
                <a:ext uri="{FF2B5EF4-FFF2-40B4-BE49-F238E27FC236}">
                  <a16:creationId xmlns:a16="http://schemas.microsoft.com/office/drawing/2014/main" id="{2385ED26-D5F2-0715-25F7-DD515645B863}"/>
                </a:ext>
              </a:extLst>
            </p:cNvPr>
            <p:cNvCxnSpPr/>
            <p:nvPr/>
          </p:nvCxnSpPr>
          <p:spPr>
            <a:xfrm flipH="1" flipV="1">
              <a:off x="1302867" y="3692823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화살표 연결선 7">
              <a:extLst>
                <a:ext uri="{FF2B5EF4-FFF2-40B4-BE49-F238E27FC236}">
                  <a16:creationId xmlns:a16="http://schemas.microsoft.com/office/drawing/2014/main" id="{4DDD404D-6C69-7730-BF4B-998E0F350BB2}"/>
                </a:ext>
              </a:extLst>
            </p:cNvPr>
            <p:cNvCxnSpPr/>
            <p:nvPr/>
          </p:nvCxnSpPr>
          <p:spPr>
            <a:xfrm flipH="1" flipV="1">
              <a:off x="1302867" y="3604966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직선 화살표 연결선 8">
              <a:extLst>
                <a:ext uri="{FF2B5EF4-FFF2-40B4-BE49-F238E27FC236}">
                  <a16:creationId xmlns:a16="http://schemas.microsoft.com/office/drawing/2014/main" id="{B6799101-8D2D-7390-4852-97F91DF4343D}"/>
                </a:ext>
              </a:extLst>
            </p:cNvPr>
            <p:cNvCxnSpPr/>
            <p:nvPr/>
          </p:nvCxnSpPr>
          <p:spPr>
            <a:xfrm flipH="1" flipV="1">
              <a:off x="1302867" y="3529584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직선 화살표 연결선 9">
              <a:extLst>
                <a:ext uri="{FF2B5EF4-FFF2-40B4-BE49-F238E27FC236}">
                  <a16:creationId xmlns:a16="http://schemas.microsoft.com/office/drawing/2014/main" id="{D9423BDF-DB07-A356-8389-EEE89B97C777}"/>
                </a:ext>
              </a:extLst>
            </p:cNvPr>
            <p:cNvCxnSpPr/>
            <p:nvPr/>
          </p:nvCxnSpPr>
          <p:spPr>
            <a:xfrm flipH="1" flipV="1">
              <a:off x="1302867" y="3455855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직선 화살표 연결선 10">
              <a:extLst>
                <a:ext uri="{FF2B5EF4-FFF2-40B4-BE49-F238E27FC236}">
                  <a16:creationId xmlns:a16="http://schemas.microsoft.com/office/drawing/2014/main" id="{37FADE82-12F8-9B83-DDE6-65BBBBA3092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26291" y="3416353"/>
              <a:ext cx="257025" cy="77886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직선 화살표 연결선 11">
              <a:extLst>
                <a:ext uri="{FF2B5EF4-FFF2-40B4-BE49-F238E27FC236}">
                  <a16:creationId xmlns:a16="http://schemas.microsoft.com/office/drawing/2014/main" id="{7896BFB9-0B4A-C5E5-D6D0-2D8A22F01E6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26291" y="3548152"/>
              <a:ext cx="257025" cy="77886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직선 화살표 연결선 12">
              <a:extLst>
                <a:ext uri="{FF2B5EF4-FFF2-40B4-BE49-F238E27FC236}">
                  <a16:creationId xmlns:a16="http://schemas.microsoft.com/office/drawing/2014/main" id="{42E369B9-A19F-6C09-CCAE-8C1043C0E8C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26291" y="3679951"/>
              <a:ext cx="257025" cy="77886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화살표 연결선 13">
              <a:extLst>
                <a:ext uri="{FF2B5EF4-FFF2-40B4-BE49-F238E27FC236}">
                  <a16:creationId xmlns:a16="http://schemas.microsoft.com/office/drawing/2014/main" id="{65B411AF-FC04-512F-F9FA-A975E53E996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26291" y="3811750"/>
              <a:ext cx="257025" cy="77886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직선 화살표 연결선 14">
              <a:extLst>
                <a:ext uri="{FF2B5EF4-FFF2-40B4-BE49-F238E27FC236}">
                  <a16:creationId xmlns:a16="http://schemas.microsoft.com/office/drawing/2014/main" id="{07FDCE58-E30B-D0D6-8FAF-15EA4BEDDEC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26291" y="3943549"/>
              <a:ext cx="257025" cy="77886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직선 화살표 연결선 15">
              <a:extLst>
                <a:ext uri="{FF2B5EF4-FFF2-40B4-BE49-F238E27FC236}">
                  <a16:creationId xmlns:a16="http://schemas.microsoft.com/office/drawing/2014/main" id="{3AD5945A-7541-1EC8-141A-9576B5E669F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19207" y="3631113"/>
              <a:ext cx="326431" cy="98918"/>
            </a:xfrm>
            <a:prstGeom prst="straightConnector1">
              <a:avLst/>
            </a:prstGeom>
            <a:ln>
              <a:solidFill>
                <a:srgbClr val="FFFF00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화살표 연결선 16">
              <a:extLst>
                <a:ext uri="{FF2B5EF4-FFF2-40B4-BE49-F238E27FC236}">
                  <a16:creationId xmlns:a16="http://schemas.microsoft.com/office/drawing/2014/main" id="{3DE328A6-0FB7-67FD-08DF-1E218E5E920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19207" y="3790102"/>
              <a:ext cx="326431" cy="98918"/>
            </a:xfrm>
            <a:prstGeom prst="straightConnector1">
              <a:avLst/>
            </a:prstGeom>
            <a:ln>
              <a:solidFill>
                <a:srgbClr val="FFFF00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직선 화살표 연결선 17">
              <a:extLst>
                <a:ext uri="{FF2B5EF4-FFF2-40B4-BE49-F238E27FC236}">
                  <a16:creationId xmlns:a16="http://schemas.microsoft.com/office/drawing/2014/main" id="{6861D00B-AC07-BD1C-3733-88252F79A86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19207" y="3949091"/>
              <a:ext cx="326431" cy="98918"/>
            </a:xfrm>
            <a:prstGeom prst="straightConnector1">
              <a:avLst/>
            </a:prstGeom>
            <a:ln>
              <a:solidFill>
                <a:srgbClr val="FFFF00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486335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02CFA-4AE9-C87A-A0C4-389C69A49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06CA8A-3E00-E06C-5092-F220B5B4A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29" y="193256"/>
            <a:ext cx="8955742" cy="535531"/>
          </a:xfrm>
        </p:spPr>
        <p:txBody>
          <a:bodyPr/>
          <a:lstStyle/>
          <a:p>
            <a:r>
              <a:rPr lang="en-US" altLang="ko-KR" sz="3200" dirty="0"/>
              <a:t>BETOX Trapped Electron </a:t>
            </a:r>
            <a:r>
              <a:rPr lang="en-US" altLang="ko-KR" sz="3200" dirty="0" err="1"/>
              <a:t>Detrapping</a:t>
            </a:r>
            <a:r>
              <a:rPr lang="en-US" altLang="ko-KR" sz="3200" dirty="0"/>
              <a:t> Modeling</a:t>
            </a:r>
            <a:endParaRPr lang="ko-KR" altLang="en-US" sz="3200" dirty="0"/>
          </a:p>
        </p:txBody>
      </p:sp>
      <p:grpSp>
        <p:nvGrpSpPr>
          <p:cNvPr id="177" name="그룹 176">
            <a:extLst>
              <a:ext uri="{FF2B5EF4-FFF2-40B4-BE49-F238E27FC236}">
                <a16:creationId xmlns:a16="http://schemas.microsoft.com/office/drawing/2014/main" id="{8F022FD0-ACA4-98C9-1A38-7C6A3D14B528}"/>
              </a:ext>
            </a:extLst>
          </p:cNvPr>
          <p:cNvGrpSpPr/>
          <p:nvPr/>
        </p:nvGrpSpPr>
        <p:grpSpPr>
          <a:xfrm>
            <a:off x="6677510" y="3167467"/>
            <a:ext cx="2200260" cy="3288813"/>
            <a:chOff x="4155873" y="5829539"/>
            <a:chExt cx="2200260" cy="3288813"/>
          </a:xfrm>
        </p:grpSpPr>
        <p:grpSp>
          <p:nvGrpSpPr>
            <p:cNvPr id="178" name="그룹 177">
              <a:extLst>
                <a:ext uri="{FF2B5EF4-FFF2-40B4-BE49-F238E27FC236}">
                  <a16:creationId xmlns:a16="http://schemas.microsoft.com/office/drawing/2014/main" id="{B0CC0EDB-2980-8DDE-4097-192140646C78}"/>
                </a:ext>
              </a:extLst>
            </p:cNvPr>
            <p:cNvGrpSpPr/>
            <p:nvPr/>
          </p:nvGrpSpPr>
          <p:grpSpPr>
            <a:xfrm>
              <a:off x="4155873" y="5829539"/>
              <a:ext cx="2200260" cy="3288813"/>
              <a:chOff x="4155873" y="5829539"/>
              <a:chExt cx="2200260" cy="3288813"/>
            </a:xfrm>
          </p:grpSpPr>
          <p:pic>
            <p:nvPicPr>
              <p:cNvPr id="182" name="그림 181" descr="스크린샷, 디자인, 예술이(가) 표시된 사진&#10;&#10;자동 생성된 설명">
                <a:extLst>
                  <a:ext uri="{FF2B5EF4-FFF2-40B4-BE49-F238E27FC236}">
                    <a16:creationId xmlns:a16="http://schemas.microsoft.com/office/drawing/2014/main" id="{1B150861-9878-20FE-6E22-72F9ADF824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856" t="4775" r="29017"/>
              <a:stretch/>
            </p:blipFill>
            <p:spPr>
              <a:xfrm>
                <a:off x="4155873" y="6233981"/>
                <a:ext cx="1987554" cy="2588633"/>
              </a:xfrm>
              <a:prstGeom prst="rect">
                <a:avLst/>
              </a:prstGeom>
            </p:spPr>
          </p:pic>
          <p:sp>
            <p:nvSpPr>
              <p:cNvPr id="183" name="화살표: 아래쪽 182">
                <a:extLst>
                  <a:ext uri="{FF2B5EF4-FFF2-40B4-BE49-F238E27FC236}">
                    <a16:creationId xmlns:a16="http://schemas.microsoft.com/office/drawing/2014/main" id="{1C64350A-9879-73C9-D1DE-E01148706FE9}"/>
                  </a:ext>
                </a:extLst>
              </p:cNvPr>
              <p:cNvSpPr/>
              <p:nvPr/>
            </p:nvSpPr>
            <p:spPr>
              <a:xfrm rot="5400000">
                <a:off x="4689525" y="8049405"/>
                <a:ext cx="152205" cy="398904"/>
              </a:xfrm>
              <a:prstGeom prst="downArrow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184" name="화살표: 아래쪽 183">
                <a:extLst>
                  <a:ext uri="{FF2B5EF4-FFF2-40B4-BE49-F238E27FC236}">
                    <a16:creationId xmlns:a16="http://schemas.microsoft.com/office/drawing/2014/main" id="{95479DC5-511F-5FE9-835F-62BFF680BF45}"/>
                  </a:ext>
                </a:extLst>
              </p:cNvPr>
              <p:cNvSpPr/>
              <p:nvPr/>
            </p:nvSpPr>
            <p:spPr>
              <a:xfrm rot="5400000">
                <a:off x="4592224" y="7919520"/>
                <a:ext cx="152205" cy="398904"/>
              </a:xfrm>
              <a:prstGeom prst="downArrow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185" name="화살표: 아래쪽 184">
                <a:extLst>
                  <a:ext uri="{FF2B5EF4-FFF2-40B4-BE49-F238E27FC236}">
                    <a16:creationId xmlns:a16="http://schemas.microsoft.com/office/drawing/2014/main" id="{791B09F6-6D15-6365-BCD3-051BED19B053}"/>
                  </a:ext>
                </a:extLst>
              </p:cNvPr>
              <p:cNvSpPr/>
              <p:nvPr/>
            </p:nvSpPr>
            <p:spPr>
              <a:xfrm rot="5400000">
                <a:off x="4490073" y="7798983"/>
                <a:ext cx="152205" cy="398904"/>
              </a:xfrm>
              <a:prstGeom prst="downArrow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cxnSp>
            <p:nvCxnSpPr>
              <p:cNvPr id="186" name="직선 연결선 185">
                <a:extLst>
                  <a:ext uri="{FF2B5EF4-FFF2-40B4-BE49-F238E27FC236}">
                    <a16:creationId xmlns:a16="http://schemas.microsoft.com/office/drawing/2014/main" id="{016D00E6-C014-12C5-9B34-7FCB132CCD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26725" y="5896691"/>
                <a:ext cx="0" cy="1535906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7" name="직선 연결선 186">
                <a:extLst>
                  <a:ext uri="{FF2B5EF4-FFF2-40B4-BE49-F238E27FC236}">
                    <a16:creationId xmlns:a16="http://schemas.microsoft.com/office/drawing/2014/main" id="{DCC3EFDD-CB48-0F57-28AB-86599E6DC5B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25459" y="5896691"/>
                <a:ext cx="0" cy="361474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0AF5BF1A-3EB7-8CBC-2AE9-CD40DB4EBCC4}"/>
                  </a:ext>
                </a:extLst>
              </p:cNvPr>
              <p:cNvSpPr txBox="1"/>
              <p:nvPr/>
            </p:nvSpPr>
            <p:spPr>
              <a:xfrm>
                <a:off x="4566176" y="5829539"/>
                <a:ext cx="1043735" cy="4040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013"/>
                  <a:t>BETOX Region</a:t>
                </a:r>
              </a:p>
              <a:p>
                <a:pPr algn="ctr"/>
                <a:r>
                  <a:rPr lang="en-US" altLang="ko-KR" sz="1013"/>
                  <a:t>(ONO)</a:t>
                </a:r>
              </a:p>
            </p:txBody>
          </p:sp>
          <p:grpSp>
            <p:nvGrpSpPr>
              <p:cNvPr id="189" name="그룹 188">
                <a:extLst>
                  <a:ext uri="{FF2B5EF4-FFF2-40B4-BE49-F238E27FC236}">
                    <a16:creationId xmlns:a16="http://schemas.microsoft.com/office/drawing/2014/main" id="{118F26CA-DA88-FE1C-1AC6-9A8103B90415}"/>
                  </a:ext>
                </a:extLst>
              </p:cNvPr>
              <p:cNvGrpSpPr/>
              <p:nvPr/>
            </p:nvGrpSpPr>
            <p:grpSpPr>
              <a:xfrm>
                <a:off x="4409675" y="6265426"/>
                <a:ext cx="1427217" cy="2124973"/>
                <a:chOff x="4409675" y="6458070"/>
                <a:chExt cx="1427217" cy="2124973"/>
              </a:xfrm>
            </p:grpSpPr>
            <p:cxnSp>
              <p:nvCxnSpPr>
                <p:cNvPr id="200" name="직선 연결선 199">
                  <a:extLst>
                    <a:ext uri="{FF2B5EF4-FFF2-40B4-BE49-F238E27FC236}">
                      <a16:creationId xmlns:a16="http://schemas.microsoft.com/office/drawing/2014/main" id="{6CA1E149-AE62-AEA9-4EDD-780E246109D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09675" y="7575550"/>
                  <a:ext cx="59199" cy="1007493"/>
                </a:xfrm>
                <a:prstGeom prst="line">
                  <a:avLst/>
                </a:prstGeom>
                <a:ln>
                  <a:solidFill>
                    <a:srgbClr val="FFFF00">
                      <a:alpha val="69804"/>
                    </a:srgbClr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1" name="직선 연결선 200">
                  <a:extLst>
                    <a:ext uri="{FF2B5EF4-FFF2-40B4-BE49-F238E27FC236}">
                      <a16:creationId xmlns:a16="http://schemas.microsoft.com/office/drawing/2014/main" id="{CCE48783-E6F8-F856-1E5F-E3D4BC4C2FC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4418201" y="7009769"/>
                  <a:ext cx="401449" cy="565781"/>
                </a:xfrm>
                <a:prstGeom prst="line">
                  <a:avLst/>
                </a:prstGeom>
                <a:ln>
                  <a:solidFill>
                    <a:srgbClr val="FFFF00">
                      <a:alpha val="69804"/>
                    </a:srgbClr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2" name="직선 연결선 201">
                  <a:extLst>
                    <a:ext uri="{FF2B5EF4-FFF2-40B4-BE49-F238E27FC236}">
                      <a16:creationId xmlns:a16="http://schemas.microsoft.com/office/drawing/2014/main" id="{385DC8FC-E4B8-F28F-58EF-8338CA7188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36700" y="7009769"/>
                  <a:ext cx="30143" cy="1009044"/>
                </a:xfrm>
                <a:prstGeom prst="line">
                  <a:avLst/>
                </a:prstGeom>
                <a:ln>
                  <a:solidFill>
                    <a:srgbClr val="FFFF00">
                      <a:alpha val="20000"/>
                    </a:srgbClr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3" name="직선 연결선 202">
                  <a:extLst>
                    <a:ext uri="{FF2B5EF4-FFF2-40B4-BE49-F238E27FC236}">
                      <a16:creationId xmlns:a16="http://schemas.microsoft.com/office/drawing/2014/main" id="{75B69C6A-0495-04BC-9B14-50A37238233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4883893" y="7924249"/>
                  <a:ext cx="157410" cy="94564"/>
                </a:xfrm>
                <a:prstGeom prst="line">
                  <a:avLst/>
                </a:prstGeom>
                <a:ln>
                  <a:solidFill>
                    <a:srgbClr val="FFFF00">
                      <a:alpha val="20000"/>
                    </a:srgbClr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4" name="직선 연결선 203">
                  <a:extLst>
                    <a:ext uri="{FF2B5EF4-FFF2-40B4-BE49-F238E27FC236}">
                      <a16:creationId xmlns:a16="http://schemas.microsoft.com/office/drawing/2014/main" id="{BDEA1707-83EF-6FE2-B75D-2A1BA8354AD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96775" y="6680200"/>
                  <a:ext cx="0" cy="1040384"/>
                </a:xfrm>
                <a:prstGeom prst="line">
                  <a:avLst/>
                </a:prstGeom>
                <a:ln>
                  <a:solidFill>
                    <a:srgbClr val="FFFF00">
                      <a:alpha val="69804"/>
                    </a:srgbClr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5" name="직선 연결선 204">
                  <a:extLst>
                    <a:ext uri="{FF2B5EF4-FFF2-40B4-BE49-F238E27FC236}">
                      <a16:creationId xmlns:a16="http://schemas.microsoft.com/office/drawing/2014/main" id="{3196023A-72CE-2505-AA69-304117AC80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96775" y="6458070"/>
                  <a:ext cx="328684" cy="222130"/>
                </a:xfrm>
                <a:prstGeom prst="line">
                  <a:avLst/>
                </a:prstGeom>
                <a:ln>
                  <a:solidFill>
                    <a:srgbClr val="FFFF00">
                      <a:alpha val="69804"/>
                    </a:srgbClr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6" name="직선 연결선 205">
                  <a:extLst>
                    <a:ext uri="{FF2B5EF4-FFF2-40B4-BE49-F238E27FC236}">
                      <a16:creationId xmlns:a16="http://schemas.microsoft.com/office/drawing/2014/main" id="{E2C2599A-F5E0-5598-B565-837DF590061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609911" y="6482254"/>
                  <a:ext cx="115548" cy="1501065"/>
                </a:xfrm>
                <a:prstGeom prst="line">
                  <a:avLst/>
                </a:prstGeom>
                <a:ln>
                  <a:solidFill>
                    <a:srgbClr val="FFFF00">
                      <a:alpha val="20000"/>
                    </a:srgbClr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7" name="직선 연결선 206">
                  <a:extLst>
                    <a:ext uri="{FF2B5EF4-FFF2-40B4-BE49-F238E27FC236}">
                      <a16:creationId xmlns:a16="http://schemas.microsoft.com/office/drawing/2014/main" id="{A314CE9F-7296-2D91-7ABC-7F93C48CA7A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626962" y="7909590"/>
                  <a:ext cx="209930" cy="73729"/>
                </a:xfrm>
                <a:prstGeom prst="line">
                  <a:avLst/>
                </a:prstGeom>
                <a:ln>
                  <a:solidFill>
                    <a:srgbClr val="FFFF00">
                      <a:alpha val="20000"/>
                    </a:srgbClr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8" name="직선 연결선 207">
                  <a:extLst>
                    <a:ext uri="{FF2B5EF4-FFF2-40B4-BE49-F238E27FC236}">
                      <a16:creationId xmlns:a16="http://schemas.microsoft.com/office/drawing/2014/main" id="{1A430988-E3F7-73C3-C5B2-C66EE68EE48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049061" y="7718808"/>
                  <a:ext cx="341973" cy="205441"/>
                </a:xfrm>
                <a:prstGeom prst="line">
                  <a:avLst/>
                </a:prstGeom>
                <a:ln>
                  <a:solidFill>
                    <a:srgbClr val="FFFF00">
                      <a:alpha val="69804"/>
                    </a:srgbClr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90" name="화살표: 아래쪽 189">
                <a:extLst>
                  <a:ext uri="{FF2B5EF4-FFF2-40B4-BE49-F238E27FC236}">
                    <a16:creationId xmlns:a16="http://schemas.microsoft.com/office/drawing/2014/main" id="{30F43438-227F-C99A-BE24-8BF92C956B59}"/>
                  </a:ext>
                </a:extLst>
              </p:cNvPr>
              <p:cNvSpPr/>
              <p:nvPr/>
            </p:nvSpPr>
            <p:spPr>
              <a:xfrm rot="19925906" flipH="1">
                <a:off x="5224310" y="7576453"/>
                <a:ext cx="188671" cy="279256"/>
              </a:xfrm>
              <a:prstGeom prst="downArrow">
                <a:avLst/>
              </a:prstGeom>
              <a:solidFill>
                <a:srgbClr val="00B0F0"/>
              </a:solidFill>
              <a:scene3d>
                <a:camera prst="orthographicFront">
                  <a:rot lat="2762498" lon="1771219" rev="1330561"/>
                </a:camera>
                <a:lightRig rig="threePt" dir="t"/>
              </a:scene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cxnSp>
            <p:nvCxnSpPr>
              <p:cNvPr id="191" name="직선 연결선 190">
                <a:extLst>
                  <a:ext uri="{FF2B5EF4-FFF2-40B4-BE49-F238E27FC236}">
                    <a16:creationId xmlns:a16="http://schemas.microsoft.com/office/drawing/2014/main" id="{E8C01DC7-791B-4A74-43F2-CB9DDC35CBD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65627" y="8304239"/>
                <a:ext cx="118266" cy="464881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2529AD0C-C28F-02DB-5D61-2264039B3938}"/>
                  </a:ext>
                </a:extLst>
              </p:cNvPr>
              <p:cNvSpPr txBox="1"/>
              <p:nvPr/>
            </p:nvSpPr>
            <p:spPr>
              <a:xfrm>
                <a:off x="4362450" y="8783517"/>
                <a:ext cx="1085850" cy="3348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788"/>
                  <a:t>Trap-to-Band Tunneling Emission</a:t>
                </a:r>
                <a:endParaRPr lang="ko-KR" altLang="en-US" sz="788"/>
              </a:p>
            </p:txBody>
          </p:sp>
          <p:sp>
            <p:nvSpPr>
              <p:cNvPr id="194" name="화살표: 아래쪽 193">
                <a:extLst>
                  <a:ext uri="{FF2B5EF4-FFF2-40B4-BE49-F238E27FC236}">
                    <a16:creationId xmlns:a16="http://schemas.microsoft.com/office/drawing/2014/main" id="{283CB6CC-4823-540D-528E-2243C2EDA567}"/>
                  </a:ext>
                </a:extLst>
              </p:cNvPr>
              <p:cNvSpPr/>
              <p:nvPr/>
            </p:nvSpPr>
            <p:spPr>
              <a:xfrm rot="8800769" flipH="1">
                <a:off x="4945085" y="7362945"/>
                <a:ext cx="188671" cy="279256"/>
              </a:xfrm>
              <a:prstGeom prst="downArrow">
                <a:avLst/>
              </a:prstGeom>
              <a:solidFill>
                <a:srgbClr val="00B0F0"/>
              </a:solidFill>
              <a:scene3d>
                <a:camera prst="orthographicFront">
                  <a:rot lat="2902812" lon="2358286" rev="1722722"/>
                </a:camera>
                <a:lightRig rig="threePt" dir="t"/>
              </a:scene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cxnSp>
            <p:nvCxnSpPr>
              <p:cNvPr id="195" name="직선 연결선 194">
                <a:extLst>
                  <a:ext uri="{FF2B5EF4-FFF2-40B4-BE49-F238E27FC236}">
                    <a16:creationId xmlns:a16="http://schemas.microsoft.com/office/drawing/2014/main" id="{E1A415D3-4B26-4A0D-94BF-358842F5645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25459" y="8217236"/>
                <a:ext cx="0" cy="361474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6" name="TextBox 195">
                <a:extLst>
                  <a:ext uri="{FF2B5EF4-FFF2-40B4-BE49-F238E27FC236}">
                    <a16:creationId xmlns:a16="http://schemas.microsoft.com/office/drawing/2014/main" id="{BD2A5A98-ABFD-BEE5-3591-F7D93E6F5542}"/>
                  </a:ext>
                </a:extLst>
              </p:cNvPr>
              <p:cNvSpPr txBox="1"/>
              <p:nvPr/>
            </p:nvSpPr>
            <p:spPr>
              <a:xfrm>
                <a:off x="5603199" y="8193932"/>
                <a:ext cx="752934" cy="4040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013"/>
                  <a:t>CTN</a:t>
                </a:r>
              </a:p>
              <a:p>
                <a:pPr algn="ctr"/>
                <a:r>
                  <a:rPr lang="en-US" altLang="ko-KR" sz="1013"/>
                  <a:t>Region</a:t>
                </a:r>
              </a:p>
            </p:txBody>
          </p:sp>
          <p:sp>
            <p:nvSpPr>
              <p:cNvPr id="197" name="화살표: 아래쪽 196">
                <a:extLst>
                  <a:ext uri="{FF2B5EF4-FFF2-40B4-BE49-F238E27FC236}">
                    <a16:creationId xmlns:a16="http://schemas.microsoft.com/office/drawing/2014/main" id="{F57EA6A0-48DA-F547-4FB5-7CD1D313A355}"/>
                  </a:ext>
                </a:extLst>
              </p:cNvPr>
              <p:cNvSpPr/>
              <p:nvPr/>
            </p:nvSpPr>
            <p:spPr>
              <a:xfrm rot="1499914" flipH="1">
                <a:off x="4910895" y="7515700"/>
                <a:ext cx="128448" cy="279256"/>
              </a:xfrm>
              <a:prstGeom prst="downArrow">
                <a:avLst/>
              </a:prstGeom>
              <a:solidFill>
                <a:srgbClr val="00B0F0"/>
              </a:solidFill>
              <a:scene3d>
                <a:camera prst="orthographicFront">
                  <a:rot lat="2762498" lon="1771219" rev="1330561"/>
                </a:camera>
                <a:lightRig rig="threePt" dir="t"/>
              </a:scene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sp>
            <p:nvSpPr>
              <p:cNvPr id="198" name="화살표: 아래쪽 197">
                <a:extLst>
                  <a:ext uri="{FF2B5EF4-FFF2-40B4-BE49-F238E27FC236}">
                    <a16:creationId xmlns:a16="http://schemas.microsoft.com/office/drawing/2014/main" id="{6D269ADA-E1F8-F6C7-2123-AC08F6AD9EF3}"/>
                  </a:ext>
                </a:extLst>
              </p:cNvPr>
              <p:cNvSpPr/>
              <p:nvPr/>
            </p:nvSpPr>
            <p:spPr>
              <a:xfrm rot="1499914" flipH="1">
                <a:off x="5348495" y="7790853"/>
                <a:ext cx="128448" cy="279256"/>
              </a:xfrm>
              <a:prstGeom prst="downArrow">
                <a:avLst/>
              </a:prstGeom>
              <a:solidFill>
                <a:srgbClr val="00B0F0"/>
              </a:solidFill>
              <a:scene3d>
                <a:camera prst="orthographicFront">
                  <a:rot lat="2762498" lon="1771219" rev="1330561"/>
                </a:camera>
                <a:lightRig rig="threePt" dir="t"/>
              </a:scene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13"/>
              </a:p>
            </p:txBody>
          </p:sp>
          <p:pic>
            <p:nvPicPr>
              <p:cNvPr id="199" name="그림 198">
                <a:extLst>
                  <a:ext uri="{FF2B5EF4-FFF2-40B4-BE49-F238E27FC236}">
                    <a16:creationId xmlns:a16="http://schemas.microsoft.com/office/drawing/2014/main" id="{15FF8E80-68CC-58E2-A545-1FFFEC5982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alphaModFix amt="50000"/>
              </a:blip>
              <a:stretch>
                <a:fillRect/>
              </a:stretch>
            </p:blipFill>
            <p:spPr>
              <a:xfrm>
                <a:off x="4898933" y="7374919"/>
                <a:ext cx="138613" cy="233739"/>
              </a:xfrm>
              <a:prstGeom prst="rect">
                <a:avLst/>
              </a:prstGeom>
            </p:spPr>
          </p:pic>
        </p:grpSp>
        <p:sp>
          <p:nvSpPr>
            <p:cNvPr id="179" name="자유형: 도형 178">
              <a:extLst>
                <a:ext uri="{FF2B5EF4-FFF2-40B4-BE49-F238E27FC236}">
                  <a16:creationId xmlns:a16="http://schemas.microsoft.com/office/drawing/2014/main" id="{EF71FE24-2A38-E5EF-C1DC-1D2C5766FEF4}"/>
                </a:ext>
              </a:extLst>
            </p:cNvPr>
            <p:cNvSpPr/>
            <p:nvPr/>
          </p:nvSpPr>
          <p:spPr>
            <a:xfrm rot="10800000">
              <a:off x="4188337" y="7548539"/>
              <a:ext cx="939709" cy="111996"/>
            </a:xfrm>
            <a:custGeom>
              <a:avLst/>
              <a:gdLst>
                <a:gd name="connsiteX0" fmla="*/ 0 w 1054100"/>
                <a:gd name="connsiteY0" fmla="*/ 110186 h 199104"/>
                <a:gd name="connsiteX1" fmla="*/ 127000 w 1054100"/>
                <a:gd name="connsiteY1" fmla="*/ 2236 h 199104"/>
                <a:gd name="connsiteX2" fmla="*/ 285750 w 1054100"/>
                <a:gd name="connsiteY2" fmla="*/ 199086 h 199104"/>
                <a:gd name="connsiteX3" fmla="*/ 463550 w 1054100"/>
                <a:gd name="connsiteY3" fmla="*/ 14936 h 199104"/>
                <a:gd name="connsiteX4" fmla="*/ 609600 w 1054100"/>
                <a:gd name="connsiteY4" fmla="*/ 186386 h 199104"/>
                <a:gd name="connsiteX5" fmla="*/ 768350 w 1054100"/>
                <a:gd name="connsiteY5" fmla="*/ 33986 h 199104"/>
                <a:gd name="connsiteX6" fmla="*/ 844550 w 1054100"/>
                <a:gd name="connsiteY6" fmla="*/ 46686 h 199104"/>
                <a:gd name="connsiteX7" fmla="*/ 920750 w 1054100"/>
                <a:gd name="connsiteY7" fmla="*/ 116536 h 199104"/>
                <a:gd name="connsiteX8" fmla="*/ 1054100 w 1054100"/>
                <a:gd name="connsiteY8" fmla="*/ 122886 h 1991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54100" h="199104">
                  <a:moveTo>
                    <a:pt x="0" y="110186"/>
                  </a:moveTo>
                  <a:cubicBezTo>
                    <a:pt x="39687" y="48802"/>
                    <a:pt x="79375" y="-12581"/>
                    <a:pt x="127000" y="2236"/>
                  </a:cubicBezTo>
                  <a:cubicBezTo>
                    <a:pt x="174625" y="17053"/>
                    <a:pt x="229658" y="196969"/>
                    <a:pt x="285750" y="199086"/>
                  </a:cubicBezTo>
                  <a:cubicBezTo>
                    <a:pt x="341842" y="201203"/>
                    <a:pt x="409575" y="17053"/>
                    <a:pt x="463550" y="14936"/>
                  </a:cubicBezTo>
                  <a:cubicBezTo>
                    <a:pt x="517525" y="12819"/>
                    <a:pt x="558800" y="183211"/>
                    <a:pt x="609600" y="186386"/>
                  </a:cubicBezTo>
                  <a:cubicBezTo>
                    <a:pt x="660400" y="189561"/>
                    <a:pt x="729192" y="57269"/>
                    <a:pt x="768350" y="33986"/>
                  </a:cubicBezTo>
                  <a:cubicBezTo>
                    <a:pt x="807508" y="10703"/>
                    <a:pt x="819150" y="32928"/>
                    <a:pt x="844550" y="46686"/>
                  </a:cubicBezTo>
                  <a:cubicBezTo>
                    <a:pt x="869950" y="60444"/>
                    <a:pt x="885825" y="103836"/>
                    <a:pt x="920750" y="116536"/>
                  </a:cubicBezTo>
                  <a:cubicBezTo>
                    <a:pt x="955675" y="129236"/>
                    <a:pt x="1004887" y="126061"/>
                    <a:pt x="1054100" y="122886"/>
                  </a:cubicBezTo>
                </a:path>
              </a:pathLst>
            </a:custGeom>
            <a:noFill/>
            <a:ln>
              <a:solidFill>
                <a:srgbClr val="002060"/>
              </a:solidFill>
              <a:prstDash val="dash"/>
              <a:headEnd type="none" w="med" len="med"/>
              <a:tailEnd type="arrow" w="med" len="med"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180" name="곱하기 기호 179">
              <a:extLst>
                <a:ext uri="{FF2B5EF4-FFF2-40B4-BE49-F238E27FC236}">
                  <a16:creationId xmlns:a16="http://schemas.microsoft.com/office/drawing/2014/main" id="{CBA223F7-B232-1A2D-94D2-5E76EF447290}"/>
                </a:ext>
              </a:extLst>
            </p:cNvPr>
            <p:cNvSpPr/>
            <p:nvPr/>
          </p:nvSpPr>
          <p:spPr>
            <a:xfrm>
              <a:off x="4567024" y="7440944"/>
              <a:ext cx="178638" cy="368545"/>
            </a:xfrm>
            <a:prstGeom prst="mathMultiply">
              <a:avLst/>
            </a:prstGeom>
            <a:solidFill>
              <a:srgbClr val="FF0000"/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81" name="그림 180">
              <a:extLst>
                <a:ext uri="{FF2B5EF4-FFF2-40B4-BE49-F238E27FC236}">
                  <a16:creationId xmlns:a16="http://schemas.microsoft.com/office/drawing/2014/main" id="{307CCB46-3ABB-127A-FAAF-8A3D9D4983C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alphaModFix amt="50000"/>
            </a:blip>
            <a:srcRect l="1" t="4762" r="-1" b="-1"/>
            <a:stretch/>
          </p:blipFill>
          <p:spPr>
            <a:xfrm>
              <a:off x="4883892" y="7608658"/>
              <a:ext cx="155343" cy="208866"/>
            </a:xfrm>
            <a:prstGeom prst="rect">
              <a:avLst/>
            </a:prstGeom>
          </p:spPr>
        </p:pic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29EFAC80-0F22-C8E0-9FBF-FA3954430E3E}"/>
              </a:ext>
            </a:extLst>
          </p:cNvPr>
          <p:cNvGrpSpPr/>
          <p:nvPr/>
        </p:nvGrpSpPr>
        <p:grpSpPr>
          <a:xfrm>
            <a:off x="302442" y="1107714"/>
            <a:ext cx="2389490" cy="2321286"/>
            <a:chOff x="1425895" y="5488309"/>
            <a:chExt cx="1801255" cy="174984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C049283-9338-CD6C-AEC7-D734628B2046}"/>
                </a:ext>
              </a:extLst>
            </p:cNvPr>
            <p:cNvSpPr txBox="1"/>
            <p:nvPr/>
          </p:nvSpPr>
          <p:spPr>
            <a:xfrm>
              <a:off x="2573623" y="6804516"/>
              <a:ext cx="402808" cy="1972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/>
                <a:t>n1</a:t>
              </a:r>
              <a:endParaRPr lang="ko-KR" altLang="en-US" sz="1100"/>
            </a:p>
          </p:txBody>
        </p:sp>
        <p:sp>
          <p:nvSpPr>
            <p:cNvPr id="8" name="자유형: 도형 7">
              <a:extLst>
                <a:ext uri="{FF2B5EF4-FFF2-40B4-BE49-F238E27FC236}">
                  <a16:creationId xmlns:a16="http://schemas.microsoft.com/office/drawing/2014/main" id="{86E0833D-D55B-9CD4-07AD-1E11DCDE3157}"/>
                </a:ext>
              </a:extLst>
            </p:cNvPr>
            <p:cNvSpPr/>
            <p:nvPr/>
          </p:nvSpPr>
          <p:spPr>
            <a:xfrm>
              <a:off x="1692868" y="5930050"/>
              <a:ext cx="1168400" cy="1308100"/>
            </a:xfrm>
            <a:custGeom>
              <a:avLst/>
              <a:gdLst>
                <a:gd name="connsiteX0" fmla="*/ 0 w 1168400"/>
                <a:gd name="connsiteY0" fmla="*/ 482600 h 1308100"/>
                <a:gd name="connsiteX1" fmla="*/ 292100 w 1168400"/>
                <a:gd name="connsiteY1" fmla="*/ 482600 h 1308100"/>
                <a:gd name="connsiteX2" fmla="*/ 374650 w 1168400"/>
                <a:gd name="connsiteY2" fmla="*/ 488950 h 1308100"/>
                <a:gd name="connsiteX3" fmla="*/ 469900 w 1168400"/>
                <a:gd name="connsiteY3" fmla="*/ 558800 h 1308100"/>
                <a:gd name="connsiteX4" fmla="*/ 514350 w 1168400"/>
                <a:gd name="connsiteY4" fmla="*/ 654050 h 1308100"/>
                <a:gd name="connsiteX5" fmla="*/ 514350 w 1168400"/>
                <a:gd name="connsiteY5" fmla="*/ 0 h 1308100"/>
                <a:gd name="connsiteX6" fmla="*/ 908050 w 1168400"/>
                <a:gd name="connsiteY6" fmla="*/ 825500 h 1308100"/>
                <a:gd name="connsiteX7" fmla="*/ 908050 w 1168400"/>
                <a:gd name="connsiteY7" fmla="*/ 1143000 h 1308100"/>
                <a:gd name="connsiteX8" fmla="*/ 1168400 w 1168400"/>
                <a:gd name="connsiteY8" fmla="*/ 1308100 h 130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68400" h="1308100">
                  <a:moveTo>
                    <a:pt x="0" y="482600"/>
                  </a:moveTo>
                  <a:lnTo>
                    <a:pt x="292100" y="482600"/>
                  </a:lnTo>
                  <a:lnTo>
                    <a:pt x="374650" y="488950"/>
                  </a:lnTo>
                  <a:lnTo>
                    <a:pt x="469900" y="558800"/>
                  </a:lnTo>
                  <a:lnTo>
                    <a:pt x="514350" y="654050"/>
                  </a:lnTo>
                  <a:lnTo>
                    <a:pt x="514350" y="0"/>
                  </a:lnTo>
                  <a:lnTo>
                    <a:pt x="908050" y="825500"/>
                  </a:lnTo>
                  <a:lnTo>
                    <a:pt x="908050" y="1143000"/>
                  </a:lnTo>
                  <a:lnTo>
                    <a:pt x="1168400" y="1308100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200"/>
            </a:p>
          </p:txBody>
        </p:sp>
        <p:cxnSp>
          <p:nvCxnSpPr>
            <p:cNvPr id="9" name="직선 화살표 연결선 8">
              <a:extLst>
                <a:ext uri="{FF2B5EF4-FFF2-40B4-BE49-F238E27FC236}">
                  <a16:creationId xmlns:a16="http://schemas.microsoft.com/office/drawing/2014/main" id="{6AA0B065-4873-01EB-4DB3-76E23F681695}"/>
                </a:ext>
              </a:extLst>
            </p:cNvPr>
            <p:cNvCxnSpPr>
              <a:cxnSpLocks/>
            </p:cNvCxnSpPr>
            <p:nvPr/>
          </p:nvCxnSpPr>
          <p:spPr>
            <a:xfrm>
              <a:off x="2234157" y="6463303"/>
              <a:ext cx="550930" cy="0"/>
            </a:xfrm>
            <a:prstGeom prst="straightConnector1">
              <a:avLst/>
            </a:prstGeom>
            <a:ln w="28575">
              <a:solidFill>
                <a:srgbClr val="FF350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3F819483-4FA9-F9CF-3F7F-9B7CC7198C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91354" y="6437903"/>
              <a:ext cx="412296" cy="0"/>
            </a:xfrm>
            <a:prstGeom prst="line">
              <a:avLst/>
            </a:prstGeom>
            <a:ln>
              <a:solidFill>
                <a:schemeClr val="tx1"/>
              </a:solidFill>
              <a:prstDash val="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32AE402-F62B-6336-8593-2FFDCA940A06}"/>
                </a:ext>
              </a:extLst>
            </p:cNvPr>
            <p:cNvSpPr txBox="1"/>
            <p:nvPr/>
          </p:nvSpPr>
          <p:spPr>
            <a:xfrm>
              <a:off x="1527289" y="6189408"/>
              <a:ext cx="697052" cy="1972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/>
                <a:t>Si-Channel</a:t>
              </a:r>
              <a:endParaRPr lang="ko-KR" altLang="en-US" sz="1100"/>
            </a:p>
          </p:txBody>
        </p:sp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C3A0B8FE-FAD4-8836-B9E8-C9B3C1BA4292}"/>
                </a:ext>
              </a:extLst>
            </p:cNvPr>
            <p:cNvSpPr/>
            <p:nvPr/>
          </p:nvSpPr>
          <p:spPr>
            <a:xfrm>
              <a:off x="2118459" y="6438900"/>
              <a:ext cx="78581" cy="123825"/>
            </a:xfrm>
            <a:custGeom>
              <a:avLst/>
              <a:gdLst>
                <a:gd name="connsiteX0" fmla="*/ 0 w 78581"/>
                <a:gd name="connsiteY0" fmla="*/ 4763 h 123825"/>
                <a:gd name="connsiteX1" fmla="*/ 52388 w 78581"/>
                <a:gd name="connsiteY1" fmla="*/ 45244 h 123825"/>
                <a:gd name="connsiteX2" fmla="*/ 78581 w 78581"/>
                <a:gd name="connsiteY2" fmla="*/ 123825 h 123825"/>
                <a:gd name="connsiteX3" fmla="*/ 78581 w 78581"/>
                <a:gd name="connsiteY3" fmla="*/ 0 h 123825"/>
                <a:gd name="connsiteX4" fmla="*/ 0 w 78581"/>
                <a:gd name="connsiteY4" fmla="*/ 4763 h 1238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8581" h="123825">
                  <a:moveTo>
                    <a:pt x="0" y="4763"/>
                  </a:moveTo>
                  <a:lnTo>
                    <a:pt x="52388" y="45244"/>
                  </a:lnTo>
                  <a:lnTo>
                    <a:pt x="78581" y="123825"/>
                  </a:lnTo>
                  <a:lnTo>
                    <a:pt x="78581" y="0"/>
                  </a:lnTo>
                  <a:lnTo>
                    <a:pt x="0" y="4763"/>
                  </a:lnTo>
                  <a:close/>
                </a:path>
              </a:pathLst>
            </a:custGeom>
            <a:solidFill>
              <a:srgbClr val="FF29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20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AB604A2-96F9-A17E-1BE2-E410E7D51089}"/>
                </a:ext>
              </a:extLst>
            </p:cNvPr>
            <p:cNvSpPr txBox="1"/>
            <p:nvPr/>
          </p:nvSpPr>
          <p:spPr>
            <a:xfrm>
              <a:off x="2251906" y="5832380"/>
              <a:ext cx="607806" cy="1972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/>
                <a:t>BETOX</a:t>
              </a:r>
              <a:endParaRPr lang="ko-KR" altLang="en-US" sz="110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739C714-1434-DE0B-737C-B0328C917A24}"/>
                </a:ext>
              </a:extLst>
            </p:cNvPr>
            <p:cNvSpPr txBox="1"/>
            <p:nvPr/>
          </p:nvSpPr>
          <p:spPr>
            <a:xfrm>
              <a:off x="2287746" y="6062283"/>
              <a:ext cx="402808" cy="1972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/>
                <a:t>o1</a:t>
              </a:r>
              <a:endParaRPr lang="ko-KR" altLang="en-US" sz="110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D80AB2B-6B31-3322-218B-2D3E770082B4}"/>
                </a:ext>
              </a:extLst>
            </p:cNvPr>
            <p:cNvSpPr txBox="1"/>
            <p:nvPr/>
          </p:nvSpPr>
          <p:spPr>
            <a:xfrm>
              <a:off x="1695639" y="6384928"/>
              <a:ext cx="439071" cy="27841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E</a:t>
              </a:r>
              <a:r>
                <a:rPr lang="en-US" altLang="ko-KR" b="1" baseline="-25000">
                  <a:latin typeface="Times New Roman" panose="02020603050405020304" pitchFamily="18" charset="0"/>
                  <a:cs typeface="Times New Roman" panose="02020603050405020304" pitchFamily="18" charset="0"/>
                </a:rPr>
                <a:t>F</a:t>
              </a:r>
              <a:endParaRPr lang="ko-KR" altLang="en-US" b="1" baseline="-250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7D6F820-CBE3-E6F1-5ADE-5B2ADC88ABD8}"/>
                </a:ext>
              </a:extLst>
            </p:cNvPr>
            <p:cNvSpPr txBox="1"/>
            <p:nvPr/>
          </p:nvSpPr>
          <p:spPr>
            <a:xfrm>
              <a:off x="1425895" y="5488309"/>
              <a:ext cx="1671588" cy="27841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Program </a:t>
              </a:r>
              <a:r>
                <a:rPr lang="en-US" altLang="ko-KR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(V</a:t>
              </a:r>
              <a:r>
                <a:rPr lang="en-US" altLang="ko-KR" sz="11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G</a:t>
              </a:r>
              <a:r>
                <a:rPr lang="en-US" altLang="ko-KR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= </a:t>
              </a:r>
              <a:r>
                <a:rPr lang="en-US" altLang="ko-KR" sz="11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V</a:t>
              </a:r>
              <a:r>
                <a:rPr lang="en-US" altLang="ko-KR" sz="1100" baseline="-250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pgm</a:t>
              </a:r>
              <a:r>
                <a:rPr lang="en-US" altLang="ko-KR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  <a:endPara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5B2441F-6E84-C899-8B50-DB8AC9ECB258}"/>
                </a:ext>
              </a:extLst>
            </p:cNvPr>
            <p:cNvSpPr txBox="1"/>
            <p:nvPr/>
          </p:nvSpPr>
          <p:spPr>
            <a:xfrm>
              <a:off x="2737512" y="6308421"/>
              <a:ext cx="489638" cy="27841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J</a:t>
              </a:r>
              <a:r>
                <a:rPr lang="en-US" altLang="ko-KR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FN</a:t>
              </a:r>
              <a:endParaRPr lang="ko-KR" altLang="en-US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57A49C27-FE39-BC58-EA02-A9AB05B7DF6F}"/>
              </a:ext>
            </a:extLst>
          </p:cNvPr>
          <p:cNvGrpSpPr/>
          <p:nvPr/>
        </p:nvGrpSpPr>
        <p:grpSpPr>
          <a:xfrm>
            <a:off x="342245" y="3515595"/>
            <a:ext cx="2349687" cy="2333644"/>
            <a:chOff x="3313708" y="5488178"/>
            <a:chExt cx="1749215" cy="173727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6382260-C3EB-5660-76BE-341891F4245D}"/>
                </a:ext>
              </a:extLst>
            </p:cNvPr>
            <p:cNvSpPr txBox="1"/>
            <p:nvPr/>
          </p:nvSpPr>
          <p:spPr>
            <a:xfrm>
              <a:off x="3320094" y="7009381"/>
              <a:ext cx="688143" cy="1947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100"/>
                <a:t>Si-Channel</a:t>
              </a:r>
              <a:endParaRPr lang="ko-KR" altLang="en-US" sz="1100"/>
            </a:p>
          </p:txBody>
        </p:sp>
        <p:sp>
          <p:nvSpPr>
            <p:cNvPr id="22" name="자유형: 도형 21">
              <a:extLst>
                <a:ext uri="{FF2B5EF4-FFF2-40B4-BE49-F238E27FC236}">
                  <a16:creationId xmlns:a16="http://schemas.microsoft.com/office/drawing/2014/main" id="{EA0C6900-6EE1-28C9-E3C3-28AE266FB7ED}"/>
                </a:ext>
              </a:extLst>
            </p:cNvPr>
            <p:cNvSpPr/>
            <p:nvPr/>
          </p:nvSpPr>
          <p:spPr>
            <a:xfrm>
              <a:off x="3571815" y="5930050"/>
              <a:ext cx="1041400" cy="1295400"/>
            </a:xfrm>
            <a:custGeom>
              <a:avLst/>
              <a:gdLst>
                <a:gd name="connsiteX0" fmla="*/ 0 w 1041400"/>
                <a:gd name="connsiteY0" fmla="*/ 1295400 h 1295400"/>
                <a:gd name="connsiteX1" fmla="*/ 400050 w 1041400"/>
                <a:gd name="connsiteY1" fmla="*/ 1295400 h 1295400"/>
                <a:gd name="connsiteX2" fmla="*/ 400050 w 1041400"/>
                <a:gd name="connsiteY2" fmla="*/ 368300 h 1295400"/>
                <a:gd name="connsiteX3" fmla="*/ 749300 w 1041400"/>
                <a:gd name="connsiteY3" fmla="*/ 0 h 1295400"/>
                <a:gd name="connsiteX4" fmla="*/ 749300 w 1041400"/>
                <a:gd name="connsiteY4" fmla="*/ 431800 h 1295400"/>
                <a:gd name="connsiteX5" fmla="*/ 1041400 w 1041400"/>
                <a:gd name="connsiteY5" fmla="*/ 254000 h 1295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41400" h="1295400">
                  <a:moveTo>
                    <a:pt x="0" y="1295400"/>
                  </a:moveTo>
                  <a:lnTo>
                    <a:pt x="400050" y="1295400"/>
                  </a:lnTo>
                  <a:lnTo>
                    <a:pt x="400050" y="368300"/>
                  </a:lnTo>
                  <a:lnTo>
                    <a:pt x="749300" y="0"/>
                  </a:lnTo>
                  <a:lnTo>
                    <a:pt x="749300" y="431800"/>
                  </a:lnTo>
                  <a:lnTo>
                    <a:pt x="1041400" y="254000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200"/>
            </a:p>
          </p:txBody>
        </p:sp>
        <p:cxnSp>
          <p:nvCxnSpPr>
            <p:cNvPr id="23" name="직선 연결선 22">
              <a:extLst>
                <a:ext uri="{FF2B5EF4-FFF2-40B4-BE49-F238E27FC236}">
                  <a16:creationId xmlns:a16="http://schemas.microsoft.com/office/drawing/2014/main" id="{58AF1CF0-6BFA-1D01-009C-24DD380851F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300760" y="6547727"/>
              <a:ext cx="342900" cy="175022"/>
            </a:xfrm>
            <a:prstGeom prst="line">
              <a:avLst/>
            </a:prstGeom>
            <a:ln>
              <a:solidFill>
                <a:srgbClr val="FF2900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직선 화살표 연결선 23">
              <a:extLst>
                <a:ext uri="{FF2B5EF4-FFF2-40B4-BE49-F238E27FC236}">
                  <a16:creationId xmlns:a16="http://schemas.microsoft.com/office/drawing/2014/main" id="{9CD70CB8-1286-D50C-B74E-ED7CCA5E7A7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727390" y="6635238"/>
              <a:ext cx="690742" cy="0"/>
            </a:xfrm>
            <a:prstGeom prst="straightConnector1">
              <a:avLst/>
            </a:prstGeom>
            <a:ln w="28575">
              <a:solidFill>
                <a:srgbClr val="FF350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직선 연결선 24">
              <a:extLst>
                <a:ext uri="{FF2B5EF4-FFF2-40B4-BE49-F238E27FC236}">
                  <a16:creationId xmlns:a16="http://schemas.microsoft.com/office/drawing/2014/main" id="{ACA36470-331A-F044-827A-14264A3967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69528" y="6547727"/>
              <a:ext cx="412296" cy="0"/>
            </a:xfrm>
            <a:prstGeom prst="line">
              <a:avLst/>
            </a:prstGeom>
            <a:ln>
              <a:solidFill>
                <a:schemeClr val="tx1"/>
              </a:solidFill>
              <a:prstDash val="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1E06E01-D165-1F1E-42F1-FC97D0832022}"/>
                </a:ext>
              </a:extLst>
            </p:cNvPr>
            <p:cNvSpPr txBox="1"/>
            <p:nvPr/>
          </p:nvSpPr>
          <p:spPr>
            <a:xfrm>
              <a:off x="4282991" y="5973964"/>
              <a:ext cx="402808" cy="1947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/>
                <a:t>n1</a:t>
              </a:r>
              <a:endParaRPr lang="ko-KR" altLang="en-US" sz="110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FEC287E-2B50-7A32-EA2A-087DFE40EA3C}"/>
                </a:ext>
              </a:extLst>
            </p:cNvPr>
            <p:cNvSpPr txBox="1"/>
            <p:nvPr/>
          </p:nvSpPr>
          <p:spPr>
            <a:xfrm>
              <a:off x="3913589" y="5930032"/>
              <a:ext cx="402808" cy="1947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/>
                <a:t>o1</a:t>
              </a:r>
              <a:endParaRPr lang="ko-KR" altLang="en-US" sz="110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612F1FA-16A0-1323-3332-F4AB5E173E15}"/>
                </a:ext>
              </a:extLst>
            </p:cNvPr>
            <p:cNvSpPr txBox="1"/>
            <p:nvPr/>
          </p:nvSpPr>
          <p:spPr>
            <a:xfrm>
              <a:off x="4017936" y="5724658"/>
              <a:ext cx="607806" cy="1947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/>
                <a:t>BETOX</a:t>
              </a:r>
              <a:endParaRPr lang="ko-KR" altLang="en-US" sz="1100"/>
            </a:p>
          </p:txBody>
        </p:sp>
        <p:sp>
          <p:nvSpPr>
            <p:cNvPr id="29" name="자유형: 도형 28">
              <a:extLst>
                <a:ext uri="{FF2B5EF4-FFF2-40B4-BE49-F238E27FC236}">
                  <a16:creationId xmlns:a16="http://schemas.microsoft.com/office/drawing/2014/main" id="{88083C4D-1FCF-774C-BFC6-45A7DDCAF86F}"/>
                </a:ext>
              </a:extLst>
            </p:cNvPr>
            <p:cNvSpPr/>
            <p:nvPr/>
          </p:nvSpPr>
          <p:spPr>
            <a:xfrm>
              <a:off x="3750979" y="6265258"/>
              <a:ext cx="597694" cy="118685"/>
            </a:xfrm>
            <a:custGeom>
              <a:avLst/>
              <a:gdLst>
                <a:gd name="connsiteX0" fmla="*/ 502444 w 502444"/>
                <a:gd name="connsiteY0" fmla="*/ 54390 h 118685"/>
                <a:gd name="connsiteX1" fmla="*/ 409575 w 502444"/>
                <a:gd name="connsiteY1" fmla="*/ 2003 h 118685"/>
                <a:gd name="connsiteX2" fmla="*/ 345281 w 502444"/>
                <a:gd name="connsiteY2" fmla="*/ 116303 h 118685"/>
                <a:gd name="connsiteX3" fmla="*/ 285750 w 502444"/>
                <a:gd name="connsiteY3" fmla="*/ 11528 h 118685"/>
                <a:gd name="connsiteX4" fmla="*/ 226219 w 502444"/>
                <a:gd name="connsiteY4" fmla="*/ 118684 h 118685"/>
                <a:gd name="connsiteX5" fmla="*/ 183356 w 502444"/>
                <a:gd name="connsiteY5" fmla="*/ 13909 h 118685"/>
                <a:gd name="connsiteX6" fmla="*/ 119063 w 502444"/>
                <a:gd name="connsiteY6" fmla="*/ 116303 h 118685"/>
                <a:gd name="connsiteX7" fmla="*/ 78581 w 502444"/>
                <a:gd name="connsiteY7" fmla="*/ 56772 h 118685"/>
                <a:gd name="connsiteX8" fmla="*/ 0 w 502444"/>
                <a:gd name="connsiteY8" fmla="*/ 56772 h 118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02444" h="118685">
                  <a:moveTo>
                    <a:pt x="502444" y="54390"/>
                  </a:moveTo>
                  <a:cubicBezTo>
                    <a:pt x="469106" y="23037"/>
                    <a:pt x="435769" y="-8316"/>
                    <a:pt x="409575" y="2003"/>
                  </a:cubicBezTo>
                  <a:cubicBezTo>
                    <a:pt x="383381" y="12322"/>
                    <a:pt x="365918" y="114716"/>
                    <a:pt x="345281" y="116303"/>
                  </a:cubicBezTo>
                  <a:cubicBezTo>
                    <a:pt x="324644" y="117890"/>
                    <a:pt x="305594" y="11131"/>
                    <a:pt x="285750" y="11528"/>
                  </a:cubicBezTo>
                  <a:cubicBezTo>
                    <a:pt x="265906" y="11925"/>
                    <a:pt x="243285" y="118287"/>
                    <a:pt x="226219" y="118684"/>
                  </a:cubicBezTo>
                  <a:cubicBezTo>
                    <a:pt x="209153" y="119081"/>
                    <a:pt x="201215" y="14306"/>
                    <a:pt x="183356" y="13909"/>
                  </a:cubicBezTo>
                  <a:cubicBezTo>
                    <a:pt x="165497" y="13512"/>
                    <a:pt x="136525" y="109159"/>
                    <a:pt x="119063" y="116303"/>
                  </a:cubicBezTo>
                  <a:cubicBezTo>
                    <a:pt x="101601" y="123447"/>
                    <a:pt x="98425" y="66694"/>
                    <a:pt x="78581" y="56772"/>
                  </a:cubicBezTo>
                  <a:cubicBezTo>
                    <a:pt x="58737" y="46850"/>
                    <a:pt x="29368" y="51811"/>
                    <a:pt x="0" y="56772"/>
                  </a:cubicBezTo>
                </a:path>
              </a:pathLst>
            </a:custGeom>
            <a:noFill/>
            <a:ln w="9525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200"/>
            </a:p>
          </p:txBody>
        </p:sp>
        <p:sp>
          <p:nvSpPr>
            <p:cNvPr id="30" name="곱하기 기호 29">
              <a:extLst>
                <a:ext uri="{FF2B5EF4-FFF2-40B4-BE49-F238E27FC236}">
                  <a16:creationId xmlns:a16="http://schemas.microsoft.com/office/drawing/2014/main" id="{189BDFC1-A4A2-91E1-67B1-4CFED1B02119}"/>
                </a:ext>
              </a:extLst>
            </p:cNvPr>
            <p:cNvSpPr/>
            <p:nvPr/>
          </p:nvSpPr>
          <p:spPr>
            <a:xfrm>
              <a:off x="3993924" y="6143376"/>
              <a:ext cx="194392" cy="376625"/>
            </a:xfrm>
            <a:prstGeom prst="mathMultiply">
              <a:avLst/>
            </a:prstGeom>
            <a:solidFill>
              <a:srgbClr val="FF29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200"/>
            </a:p>
          </p:txBody>
        </p:sp>
        <p:pic>
          <p:nvPicPr>
            <p:cNvPr id="31" name="그림 30">
              <a:extLst>
                <a:ext uri="{FF2B5EF4-FFF2-40B4-BE49-F238E27FC236}">
                  <a16:creationId xmlns:a16="http://schemas.microsoft.com/office/drawing/2014/main" id="{7B0065D0-D05A-8EFA-ED19-6D42A0EC3F0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343764" y="6242976"/>
              <a:ext cx="68314" cy="68314"/>
            </a:xfrm>
            <a:prstGeom prst="rect">
              <a:avLst/>
            </a:prstGeom>
          </p:spPr>
        </p:pic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23778246-7FFD-9A7C-E6A4-E7EBD6306310}"/>
                </a:ext>
              </a:extLst>
            </p:cNvPr>
            <p:cNvSpPr/>
            <p:nvPr/>
          </p:nvSpPr>
          <p:spPr>
            <a:xfrm>
              <a:off x="4416365" y="6311900"/>
              <a:ext cx="60409" cy="282575"/>
            </a:xfrm>
            <a:custGeom>
              <a:avLst/>
              <a:gdLst>
                <a:gd name="connsiteX0" fmla="*/ 0 w 60409"/>
                <a:gd name="connsiteY0" fmla="*/ 0 h 282575"/>
                <a:gd name="connsiteX1" fmla="*/ 50800 w 60409"/>
                <a:gd name="connsiteY1" fmla="*/ 92075 h 282575"/>
                <a:gd name="connsiteX2" fmla="*/ 60325 w 60409"/>
                <a:gd name="connsiteY2" fmla="*/ 282575 h 282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0409" h="282575">
                  <a:moveTo>
                    <a:pt x="0" y="0"/>
                  </a:moveTo>
                  <a:cubicBezTo>
                    <a:pt x="20373" y="22489"/>
                    <a:pt x="40746" y="44979"/>
                    <a:pt x="50800" y="92075"/>
                  </a:cubicBezTo>
                  <a:cubicBezTo>
                    <a:pt x="60854" y="139171"/>
                    <a:pt x="60589" y="210873"/>
                    <a:pt x="60325" y="282575"/>
                  </a:cubicBezTo>
                </a:path>
              </a:pathLst>
            </a:custGeom>
            <a:noFill/>
            <a:ln>
              <a:solidFill>
                <a:srgbClr val="0000FF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200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1330A9B-B694-5153-97D5-CF5D1BB1C47E}"/>
                </a:ext>
              </a:extLst>
            </p:cNvPr>
            <p:cNvSpPr txBox="1"/>
            <p:nvPr/>
          </p:nvSpPr>
          <p:spPr>
            <a:xfrm>
              <a:off x="4549254" y="6416921"/>
              <a:ext cx="439071" cy="2749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E</a:t>
              </a:r>
              <a:r>
                <a:rPr lang="en-US" altLang="ko-KR" b="1" baseline="-25000">
                  <a:latin typeface="Times New Roman" panose="02020603050405020304" pitchFamily="18" charset="0"/>
                  <a:cs typeface="Times New Roman" panose="02020603050405020304" pitchFamily="18" charset="0"/>
                </a:rPr>
                <a:t>F</a:t>
              </a:r>
              <a:endParaRPr lang="ko-KR" altLang="en-US" b="1" baseline="-250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17B0A07-3AB8-391A-9D8C-D45E4406AC48}"/>
                </a:ext>
              </a:extLst>
            </p:cNvPr>
            <p:cNvSpPr txBox="1"/>
            <p:nvPr/>
          </p:nvSpPr>
          <p:spPr>
            <a:xfrm>
              <a:off x="3313708" y="5488178"/>
              <a:ext cx="1749215" cy="2749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Retention </a:t>
              </a:r>
              <a:r>
                <a:rPr lang="en-US" altLang="ko-KR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(V</a:t>
              </a:r>
              <a:r>
                <a:rPr lang="en-US" altLang="ko-KR" sz="11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G</a:t>
              </a:r>
              <a:r>
                <a:rPr lang="en-US" altLang="ko-KR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= 0 V)</a:t>
              </a:r>
              <a:endParaRPr lang="en-US" altLang="ko-KR" sz="1100" b="1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6650D8C6-3DCC-A1C7-A6A5-D160A0567DF4}"/>
                </a:ext>
              </a:extLst>
            </p:cNvPr>
            <p:cNvSpPr txBox="1"/>
            <p:nvPr/>
          </p:nvSpPr>
          <p:spPr>
            <a:xfrm>
              <a:off x="3388432" y="6514025"/>
              <a:ext cx="489638" cy="2749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i="1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e</a:t>
              </a:r>
              <a:r>
                <a:rPr lang="en-US" altLang="ko-KR" baseline="-250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TBT</a:t>
              </a:r>
              <a:endParaRPr lang="ko-KR" altLang="en-US" baseline="-250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593B8EF8-B809-091B-DDC2-B2D67BCCA28D}"/>
                </a:ext>
              </a:extLst>
            </p:cNvPr>
            <p:cNvSpPr txBox="1"/>
            <p:nvPr/>
          </p:nvSpPr>
          <p:spPr>
            <a:xfrm>
              <a:off x="3421808" y="6107380"/>
              <a:ext cx="489638" cy="2749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i="1">
                  <a:latin typeface="Times New Roman" panose="02020603050405020304" pitchFamily="18" charset="0"/>
                  <a:cs typeface="Times New Roman" panose="02020603050405020304" pitchFamily="18" charset="0"/>
                </a:rPr>
                <a:t>e</a:t>
              </a:r>
              <a:r>
                <a:rPr lang="en-US" altLang="ko-KR" baseline="-25000">
                  <a:latin typeface="Times New Roman" panose="02020603050405020304" pitchFamily="18" charset="0"/>
                  <a:cs typeface="Times New Roman" panose="02020603050405020304" pitchFamily="18" charset="0"/>
                </a:rPr>
                <a:t>DT</a:t>
              </a:r>
              <a:endParaRPr lang="ko-KR" altLang="en-US" baseline="-250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61350C7B-0A88-595F-8911-74810F6666FF}"/>
              </a:ext>
            </a:extLst>
          </p:cNvPr>
          <p:cNvSpPr txBox="1"/>
          <p:nvPr/>
        </p:nvSpPr>
        <p:spPr>
          <a:xfrm>
            <a:off x="2739572" y="1075108"/>
            <a:ext cx="6101986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Program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동작에서는 강한 전기장에 의해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FN tunneling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이 발생함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하지만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, Retention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상태에서는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V</a:t>
            </a:r>
            <a:r>
              <a:rPr lang="en-US" altLang="ko-KR" sz="2000" baseline="-25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G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= 0V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이므로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충분한 전자가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conduction band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에 축적되지 않아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direct tunneling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영향이 감소함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A3AF5E-B0CA-1BEF-604C-E08AB0082CBB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TED 2025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CFE783-5799-DC38-DBBB-9EE992C845DD}"/>
              </a:ext>
            </a:extLst>
          </p:cNvPr>
          <p:cNvSpPr txBox="1"/>
          <p:nvPr/>
        </p:nvSpPr>
        <p:spPr>
          <a:xfrm>
            <a:off x="2636312" y="4150154"/>
            <a:ext cx="3752487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BETOX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내부에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trapped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electron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channel conduction band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trap-to-band tunneling  emission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될 수 있음</a:t>
            </a:r>
          </a:p>
        </p:txBody>
      </p:sp>
    </p:spTree>
    <p:extLst>
      <p:ext uri="{BB962C8B-B14F-4D97-AF65-F5344CB8AC3E}">
        <p14:creationId xmlns:p14="http://schemas.microsoft.com/office/powerpoint/2010/main" val="7318287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A623DB-6BD2-709E-782E-22837D9C5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29" y="193256"/>
            <a:ext cx="8955742" cy="535531"/>
          </a:xfrm>
        </p:spPr>
        <p:txBody>
          <a:bodyPr/>
          <a:lstStyle/>
          <a:p>
            <a:r>
              <a:rPr lang="en-US" altLang="ko-KR" sz="3200" dirty="0"/>
              <a:t>BETOX Trapped Electron </a:t>
            </a:r>
            <a:r>
              <a:rPr lang="en-US" altLang="ko-KR" sz="3200" dirty="0" err="1"/>
              <a:t>Detrapping</a:t>
            </a:r>
            <a:r>
              <a:rPr lang="en-US" altLang="ko-KR" sz="3200" dirty="0"/>
              <a:t> Modeling</a:t>
            </a:r>
            <a:endParaRPr lang="ko-KR" altLang="en-US" sz="32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3654E95-7B48-71F3-9382-573C6053EC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395" y="4475550"/>
            <a:ext cx="2438927" cy="41264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D0E53AB0-8193-AD84-2947-BC2CA446A5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480" y="4915294"/>
            <a:ext cx="3918517" cy="69907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F5FF37E-6AED-5563-AB75-CD3E193D95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480" y="5684604"/>
            <a:ext cx="3558106" cy="520699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3E5B9C51-92F8-FA00-5CCD-CC60ED6BB9C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2273"/>
          <a:stretch>
            <a:fillRect/>
          </a:stretch>
        </p:blipFill>
        <p:spPr>
          <a:xfrm>
            <a:off x="4572000" y="5614372"/>
            <a:ext cx="3805756" cy="59093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9D8566E-2EFC-6A1F-56BA-277D634C0D9C}"/>
              </a:ext>
            </a:extLst>
          </p:cNvPr>
          <p:cNvSpPr txBox="1"/>
          <p:nvPr/>
        </p:nvSpPr>
        <p:spPr>
          <a:xfrm>
            <a:off x="188536" y="3978111"/>
            <a:ext cx="87952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Emission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rate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모델링 </a:t>
            </a:r>
            <a:r>
              <a:rPr lang="ko-KR" altLang="en-US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결과식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(Jin, TED 2025)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83918E0-4C48-EBB1-6175-3A4CB2D2CA67}"/>
              </a:ext>
            </a:extLst>
          </p:cNvPr>
          <p:cNvSpPr txBox="1"/>
          <p:nvPr/>
        </p:nvSpPr>
        <p:spPr>
          <a:xfrm>
            <a:off x="188536" y="974452"/>
            <a:ext cx="87952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BETOX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O/N/O/N/O 5-layer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구조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Poisson solution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6B928F-72AE-53C1-1CBB-4DD6B6AE0364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TED 2025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857CC26-D0CA-579C-DD96-07EA1420425A}"/>
                  </a:ext>
                </a:extLst>
              </p:cNvPr>
              <p:cNvSpPr txBox="1"/>
              <p:nvPr/>
            </p:nvSpPr>
            <p:spPr>
              <a:xfrm>
                <a:off x="233072" y="1327792"/>
                <a:ext cx="4931777" cy="13991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𝑂</m:t>
                        </m:r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</m:e>
                    </m:func>
                  </m:oMath>
                </a14:m>
                <a:r>
                  <a:rPr lang="ko-KR" altLang="en-US" sz="11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1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𝑁</m:t>
                        </m:r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𝑂</m:t>
                                </m:r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</m:e>
                    </m:func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𝑂</m:t>
                                </m:r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</m:e>
                    </m:func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</m:t>
                            </m:r>
                            <m:r>
                              <m:rPr>
                                <m:lit/>
                              </m:r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_</m:t>
                            </m:r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𝑡𝑛</m:t>
                            </m:r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4</m:t>
                        </m:r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p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−</m:t>
                        </m:r>
                        <m:sSubSup>
                          <m:sSubSup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𝑂</m:t>
                            </m:r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ko-KR" altLang="en-US" sz="11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1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𝑂</m:t>
                        </m:r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𝑁</m:t>
                        </m:r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</m:e>
                    </m:func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</m:oMath>
                </a14:m>
                <a:r>
                  <a:rPr lang="ko-KR" altLang="en-US" sz="11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1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𝐶𝑇𝑁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𝑂</m:t>
                        </m:r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𝑡𝑜𝑥</m:t>
                            </m:r>
                          </m:sub>
                        </m:sSub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3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𝑡𝑜𝑥</m:t>
                                </m:r>
                              </m:sub>
                            </m:sSub>
                          </m:den>
                        </m:f>
                      </m:e>
                    </m:func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</m:t>
                            </m:r>
                            <m:r>
                              <m:rPr>
                                <m:lit/>
                              </m:r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_</m:t>
                            </m:r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𝑐𝑡𝑛</m:t>
                            </m:r>
                          </m:sub>
                        </m:sSub>
                      </m:num>
                      <m:den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4</m:t>
                        </m:r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p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−</m:t>
                        </m:r>
                        <m:sSubSup>
                          <m:sSubSup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𝑡𝑜𝑥</m:t>
                            </m:r>
                          </m:sub>
                          <m:sup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ko-KR" altLang="en-US" sz="11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1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𝑏𝑜𝑥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𝐶𝑇𝑁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𝐶𝑇𝑁</m:t>
                            </m:r>
                          </m:sub>
                        </m:sSub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4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𝐶𝑇𝑁</m:t>
                                </m:r>
                              </m:sub>
                            </m:sSub>
                          </m:den>
                        </m:f>
                      </m:e>
                    </m:func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=</m:t>
                    </m:r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𝑔</m:t>
                        </m:r>
                      </m:sub>
                    </m:sSub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−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4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𝑏𝑜𝑥</m:t>
                                </m:r>
                              </m:sub>
                            </m:sSub>
                          </m:num>
                          <m:den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den>
                        </m:f>
                      </m:e>
                    </m:func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</m:oMath>
                </a14:m>
                <a:r>
                  <a:rPr lang="ko-KR" altLang="en-US" sz="11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857CC26-D0CA-579C-DD96-07EA142042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072" y="1327792"/>
                <a:ext cx="4931777" cy="139910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092A3E4-9359-43FD-FE18-6B4B1B822481}"/>
                  </a:ext>
                </a:extLst>
              </p:cNvPr>
              <p:cNvSpPr txBox="1"/>
              <p:nvPr/>
            </p:nvSpPr>
            <p:spPr>
              <a:xfrm>
                <a:off x="380321" y="2727061"/>
                <a:ext cx="8560732" cy="8413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𝐾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f>
                      <m:f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𝑉</m:t>
                            </m:r>
                          </m:e>
                          <m:sub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𝑔</m:t>
                            </m:r>
                          </m:sub>
                        </m:sSub>
                      </m:num>
                      <m:den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𝛼</m:t>
                        </m:r>
                      </m:den>
                    </m:f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−</m:t>
                    </m:r>
                    <m:f>
                      <m:f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  <m:sSub>
                          <m:sSub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</m:t>
                            </m:r>
                            <m:r>
                              <m:rPr>
                                <m:lit/>
                              </m:r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_</m:t>
                            </m:r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𝑡𝑛</m:t>
                            </m:r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𝑂</m:t>
                                </m:r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</m:e>
                        </m:d>
                      </m:num>
                      <m:den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𝛼</m:t>
                        </m:r>
                      </m:den>
                    </m:f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  <m:d>
                      <m:dPr>
                        <m:begChr m:val="{"/>
                        <m:endChr m:val="}"/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 −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𝑂</m:t>
                                </m:r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</m:num>
                          <m:den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𝑂</m:t>
                                </m:r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</m:den>
                        </m:f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</m:sub>
                            </m:sSub>
                          </m:den>
                        </m:f>
                        <m:func>
                          <m:func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𝑛</m:t>
                                    </m:r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1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𝑂</m:t>
                                    </m:r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+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</m:sub>
                            </m:sSub>
                          </m:den>
                        </m:f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+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𝑜𝑥</m:t>
                                </m:r>
                              </m:sub>
                            </m:sSub>
                          </m:den>
                        </m:f>
                        <m:func>
                          <m:func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𝑡𝑜𝑥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𝑛</m:t>
                                    </m:r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+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</m:sub>
                            </m:sSub>
                          </m:den>
                        </m:f>
                        <m:func>
                          <m:func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𝐶𝑇𝑁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𝑡𝑜𝑥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+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𝑜𝑥</m:t>
                                </m:r>
                              </m:sub>
                            </m:sSub>
                          </m:den>
                        </m:f>
                        <m:func>
                          <m:func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𝑏𝑜𝑥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𝐶𝑇𝑁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 </m:t>
                        </m:r>
                      </m:e>
                    </m:d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 −</m:t>
                    </m:r>
                    <m:f>
                      <m:f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  <m:sSub>
                          <m:sSub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𝐶𝑇𝑁</m:t>
                            </m:r>
                          </m:sub>
                        </m:sSub>
                        <m:d>
                          <m:d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altLang="ko-KR" sz="105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𝐶𝑇𝑁</m:t>
                                </m:r>
                              </m:sub>
                              <m:sup>
                                <m:r>
                                  <a:rPr lang="en-US" altLang="ko-KR" sz="105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en-US" altLang="ko-KR" sz="105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𝑡𝑜𝑥</m:t>
                                </m:r>
                              </m:sub>
                              <m:sup>
                                <m:r>
                                  <a:rPr lang="en-US" altLang="ko-KR" sz="105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</m:e>
                        </m:d>
                      </m:num>
                      <m:den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𝛼</m:t>
                        </m:r>
                      </m:den>
                    </m:f>
                    <m:d>
                      <m:dPr>
                        <m:begChr m:val="{"/>
                        <m:endChr m:val="}"/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 −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𝑡𝑜𝑥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</m:num>
                          <m:den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𝐶𝑇𝑁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𝑡𝑜𝑥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</m:den>
                        </m:f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</m:sub>
                            </m:sSub>
                          </m:den>
                        </m:f>
                        <m:func>
                          <m:func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𝐶𝑇𝑁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𝑡𝑜𝑥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 +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</m:sub>
                            </m:sSub>
                          </m:den>
                        </m:f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+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𝑜𝑥</m:t>
                                </m:r>
                              </m:sub>
                            </m:sSub>
                          </m:den>
                        </m:f>
                        <m:func>
                          <m:func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𝑏𝑜𝑥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𝐶𝑇𝑁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 </m:t>
                        </m:r>
                      </m:e>
                    </m:d>
                  </m:oMath>
                </a14:m>
                <a:r>
                  <a:rPr lang="ko-KR" altLang="en-US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05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𝐾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−</m:t>
                    </m:r>
                    <m:f>
                      <m:f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</m:t>
                        </m:r>
                        <m:r>
                          <m:rPr>
                            <m:lit/>
                          </m:r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_</m:t>
                        </m:r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𝑡𝑛</m:t>
                        </m:r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Sup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𝑂</m:t>
                        </m:r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  <m:sup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ko-KR" altLang="en-US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r>
                  <a:rPr lang="en-US" altLang="ko-KR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,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sub>
                    </m:sSub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𝐾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</m:oMath>
                </a14:m>
                <a:r>
                  <a:rPr lang="en-US" altLang="ko-KR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ea typeface="맑은 고딕"/>
                    <a:cs typeface="Times New Roman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</m:e>
                      <m:sub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</m:t>
                        </m:r>
                        <m:r>
                          <m:rPr>
                            <m:lit/>
                          </m:r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_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𝑡𝑛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𝑡𝑛</m:t>
                            </m:r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−</m:t>
                        </m:r>
                        <m:sSubSup>
                          <m:sSubSup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𝑂</m:t>
                            </m:r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endParaRPr lang="en-US" altLang="ko-KR" sz="105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3</m:t>
                        </m:r>
                      </m:sub>
                    </m:sSub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𝐾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</m:e>
                      <m:sub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</m:t>
                        </m:r>
                        <m:r>
                          <m:rPr>
                            <m:lit/>
                          </m:r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_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𝑡𝑛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𝑡𝑛</m:t>
                            </m:r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−</m:t>
                        </m:r>
                        <m:sSubSup>
                          <m:sSubSup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𝑂</m:t>
                            </m:r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</m:e>
                    </m:d>
                    <m:r>
                      <a:rPr lang="en-US" altLang="ko-KR" sz="1050" i="1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−</m:t>
                    </m:r>
                    <m:f>
                      <m:f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</m:e>
                      <m:sub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</m:t>
                        </m:r>
                        <m:r>
                          <m:rPr>
                            <m:lit/>
                          </m:r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_</m:t>
                        </m:r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𝐶𝑇𝑁</m:t>
                        </m:r>
                      </m:sub>
                    </m:sSub>
                    <m:sSubSup>
                      <m:sSubSup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SupPr>
                      <m:e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𝑡𝑜𝑥</m:t>
                        </m:r>
                      </m:sub>
                      <m:sup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ko-KR" altLang="en-US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r>
                  <a:rPr lang="en-US" altLang="ko-KR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,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4</m:t>
                        </m:r>
                      </m:sub>
                    </m:sSub>
                    <m:r>
                      <a:rPr lang="en-US" altLang="ko-KR" sz="1050" i="1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r>
                      <a:rPr lang="en-US" altLang="ko-KR" sz="1050" i="1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𝐾</m:t>
                    </m:r>
                    <m:r>
                      <a:rPr lang="en-US" altLang="ko-KR" sz="1050" i="1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</m:e>
                      <m:sub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</m:t>
                        </m:r>
                        <m:r>
                          <m:rPr>
                            <m:lit/>
                          </m:r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_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𝑡𝑛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𝑡𝑛</m:t>
                            </m:r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−</m:t>
                        </m:r>
                        <m:sSubSup>
                          <m:sSubSup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𝑂</m:t>
                            </m:r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</m:e>
                    </m:d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</m:e>
                      <m:sub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</m:t>
                        </m:r>
                        <m:r>
                          <m:rPr>
                            <m:lit/>
                          </m:r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_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𝐶𝑇𝑁</m:t>
                        </m:r>
                      </m:sub>
                    </m:sSub>
                    <m:d>
                      <m:d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𝐶𝑇𝑁</m:t>
                            </m:r>
                          </m:sub>
                          <m:sup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− </m:t>
                        </m:r>
                        <m:sSubSup>
                          <m:sSubSup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𝑡𝑜𝑥</m:t>
                            </m:r>
                          </m:sub>
                          <m: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ko-KR" altLang="en-US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092A3E4-9359-43FD-FE18-6B4B1B8224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321" y="2727061"/>
                <a:ext cx="8560732" cy="84138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6BDA0D8-D123-884F-5FA7-AE2E947422D7}"/>
                  </a:ext>
                </a:extLst>
              </p:cNvPr>
              <p:cNvSpPr txBox="1"/>
              <p:nvPr/>
            </p:nvSpPr>
            <p:spPr>
              <a:xfrm>
                <a:off x="5078721" y="1248385"/>
                <a:ext cx="2340242" cy="15177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𝐹</m:t>
                        </m:r>
                      </m:e>
                      <m:sub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𝑂</m:t>
                        </m:r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num>
                      <m:den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den>
                    </m:f>
                  </m:oMath>
                </a14:m>
                <a:r>
                  <a:rPr lang="ko-KR" altLang="en-US" sz="12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2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𝐹</m:t>
                        </m:r>
                      </m:e>
                      <m:sub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𝑛</m:t>
                        </m:r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den>
                    </m:f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</m:t>
                            </m:r>
                            <m:r>
                              <m:rPr>
                                <m:lit/>
                              </m:r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_</m:t>
                            </m:r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𝑡𝑛</m:t>
                            </m:r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𝑟</m:t>
                    </m:r>
                  </m:oMath>
                </a14:m>
                <a:r>
                  <a:rPr lang="ko-KR" altLang="en-US" sz="12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2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𝐹</m:t>
                        </m:r>
                      </m:e>
                      <m:sub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𝑂</m:t>
                        </m:r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den>
                    </m:f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</m:oMath>
                </a14:m>
                <a:r>
                  <a:rPr lang="ko-KR" altLang="en-US" sz="12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2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𝐹</m:t>
                        </m:r>
                      </m:e>
                      <m:sub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𝐶𝑇𝑁</m:t>
                        </m:r>
                      </m:sub>
                    </m:sSub>
                    <m:d>
                      <m:d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3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den>
                    </m:f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</m:t>
                            </m:r>
                            <m:r>
                              <m:rPr>
                                <m:lit/>
                              </m:r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_</m:t>
                            </m:r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𝐶𝑇𝑁</m:t>
                            </m:r>
                          </m:sub>
                        </m:sSub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𝑟</m:t>
                    </m:r>
                  </m:oMath>
                </a14:m>
                <a:r>
                  <a:rPr lang="ko-KR" altLang="en-US" sz="12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2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𝐹</m:t>
                        </m:r>
                      </m:e>
                      <m:sub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𝑏𝑜𝑥</m:t>
                        </m:r>
                      </m:sub>
                    </m:sSub>
                    <m:d>
                      <m:d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4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den>
                    </m:f>
                  </m:oMath>
                </a14:m>
                <a:r>
                  <a:rPr lang="en-US" altLang="ko-KR" sz="12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6BDA0D8-D123-884F-5FA7-AE2E947422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8721" y="1248385"/>
                <a:ext cx="2340242" cy="151772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22DF6FB-8710-1CC3-ADB0-5F96955AA85D}"/>
                  </a:ext>
                </a:extLst>
              </p:cNvPr>
              <p:cNvSpPr txBox="1"/>
              <p:nvPr/>
            </p:nvSpPr>
            <p:spPr>
              <a:xfrm>
                <a:off x="462835" y="3595542"/>
                <a:ext cx="3491725" cy="26084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𝛼</m:t>
                    </m:r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r>
                      <m:rPr>
                        <m:sty m:val="p"/>
                      </m:rP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ln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o</m:t>
                            </m:r>
                            <m: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o</m:t>
                            </m:r>
                          </m:sub>
                        </m:sSub>
                      </m:den>
                    </m:f>
                    <m: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m:rPr>
                        <m:sty m:val="p"/>
                      </m:rP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ln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n</m:t>
                            </m:r>
                            <m: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o</m:t>
                            </m:r>
                            <m: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ox</m:t>
                            </m:r>
                          </m:sub>
                        </m:sSub>
                      </m:den>
                    </m:f>
                    <m: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  <m:r>
                      <m:rPr>
                        <m:sty m:val="p"/>
                      </m:rP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ln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tox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n</m:t>
                            </m:r>
                            <m: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m:rPr>
                        <m:sty m:val="p"/>
                      </m:rP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ln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ctn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tox</m:t>
                            </m:r>
                          </m:sub>
                        </m:sSub>
                      </m:den>
                    </m:f>
                    <m: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  <m:r>
                      <m:rPr>
                        <m:sty m:val="p"/>
                      </m:rP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ln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box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ctn</m:t>
                            </m:r>
                          </m:sub>
                        </m:sSub>
                      </m:den>
                    </m:f>
                  </m:oMath>
                </a14:m>
                <a:r>
                  <a:rPr lang="ko-KR" altLang="en-US" sz="11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22DF6FB-8710-1CC3-ADB0-5F96955AA8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2835" y="3595542"/>
                <a:ext cx="3491725" cy="260841"/>
              </a:xfrm>
              <a:prstGeom prst="rect">
                <a:avLst/>
              </a:prstGeom>
              <a:blipFill>
                <a:blip r:embed="rId9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721277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0B26E-D7EF-B0B7-2CB8-5143E66097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CTN Trapped Electron </a:t>
            </a:r>
            <a:r>
              <a:rPr lang="en-US" altLang="ko-KR" dirty="0" err="1"/>
              <a:t>Detrapping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B9E240-0629-BB38-4F1A-31651C51E6ED}"/>
              </a:ext>
            </a:extLst>
          </p:cNvPr>
          <p:cNvSpPr txBox="1"/>
          <p:nvPr/>
        </p:nvSpPr>
        <p:spPr>
          <a:xfrm>
            <a:off x="409443" y="1292174"/>
            <a:ext cx="8640428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BETOX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연구를 통해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local trap-to-band emission rate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모델링 구축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실제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retention loss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예측을 위해서는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trapped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electrons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trap-to-band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emission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모델링 구축이 필요함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기존모델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(Amoroso, TED 2011)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 charge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uniform distribution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가정하는 한계가 있음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본 연구에서는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arbitrary radial charge distribution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에 대한 모델링으로 확장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EE526A-F38A-B804-66AD-0446ED93057E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993426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FFB13-C180-6B13-EB4E-EE5BC2755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D7508F-D494-EA77-A7ED-80849A6253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Visualization of</a:t>
            </a:r>
            <a:r>
              <a:rPr lang="ko-KR" altLang="en-US" dirty="0"/>
              <a:t> </a:t>
            </a:r>
            <a:r>
              <a:rPr lang="en-US" altLang="ko-KR" dirty="0"/>
              <a:t>Charge Node Analysis</a:t>
            </a:r>
            <a:endParaRPr lang="ko-KR" altLang="en-US" dirty="0"/>
          </a:p>
        </p:txBody>
      </p: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B72A503D-4225-61B0-474A-CC164636B134}"/>
              </a:ext>
            </a:extLst>
          </p:cNvPr>
          <p:cNvGrpSpPr/>
          <p:nvPr/>
        </p:nvGrpSpPr>
        <p:grpSpPr>
          <a:xfrm>
            <a:off x="1833988" y="1328020"/>
            <a:ext cx="5493333" cy="2506307"/>
            <a:chOff x="625200" y="3911201"/>
            <a:chExt cx="2751706" cy="1255453"/>
          </a:xfrm>
        </p:grpSpPr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BF1E2ABC-C9B8-3D46-318C-8AD81EFDBFA8}"/>
                </a:ext>
              </a:extLst>
            </p:cNvPr>
            <p:cNvSpPr/>
            <p:nvPr/>
          </p:nvSpPr>
          <p:spPr>
            <a:xfrm>
              <a:off x="710049" y="4215920"/>
              <a:ext cx="571304" cy="571304"/>
            </a:xfrm>
            <a:prstGeom prst="ellipse">
              <a:avLst/>
            </a:prstGeom>
            <a:gradFill flip="none" rotWithShape="1">
              <a:gsLst>
                <a:gs pos="0">
                  <a:srgbClr val="FFFF00"/>
                </a:gs>
                <a:gs pos="68000">
                  <a:schemeClr val="bg1">
                    <a:lumMod val="87000"/>
                  </a:schemeClr>
                </a:gs>
                <a:gs pos="100000">
                  <a:schemeClr val="accent1">
                    <a:lumMod val="10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43" name="타원 42">
              <a:extLst>
                <a:ext uri="{FF2B5EF4-FFF2-40B4-BE49-F238E27FC236}">
                  <a16:creationId xmlns:a16="http://schemas.microsoft.com/office/drawing/2014/main" id="{944E6AA6-09F2-B256-F6D5-60031729195C}"/>
                </a:ext>
              </a:extLst>
            </p:cNvPr>
            <p:cNvSpPr/>
            <p:nvPr/>
          </p:nvSpPr>
          <p:spPr>
            <a:xfrm>
              <a:off x="859275" y="4365146"/>
              <a:ext cx="272853" cy="272853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F1FF53F1-0B71-2141-F311-CF9EBE51FABD}"/>
                </a:ext>
              </a:extLst>
            </p:cNvPr>
            <p:cNvSpPr/>
            <p:nvPr/>
          </p:nvSpPr>
          <p:spPr>
            <a:xfrm>
              <a:off x="1595454" y="4360656"/>
              <a:ext cx="272853" cy="272853"/>
            </a:xfrm>
            <a:prstGeom prst="ellipse">
              <a:avLst/>
            </a:prstGeom>
            <a:solidFill>
              <a:srgbClr val="FFE38B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D004AE03-CDAC-6ED7-099F-ABCD9A2798FF}"/>
                </a:ext>
              </a:extLst>
            </p:cNvPr>
            <p:cNvSpPr/>
            <p:nvPr/>
          </p:nvSpPr>
          <p:spPr>
            <a:xfrm>
              <a:off x="2009950" y="4350409"/>
              <a:ext cx="309600" cy="309600"/>
            </a:xfrm>
            <a:prstGeom prst="ellipse">
              <a:avLst/>
            </a:prstGeom>
            <a:solidFill>
              <a:srgbClr val="FFD85B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BF12D6C0-9E67-B27E-253F-7E6D353D7EB9}"/>
                </a:ext>
              </a:extLst>
            </p:cNvPr>
            <p:cNvSpPr/>
            <p:nvPr/>
          </p:nvSpPr>
          <p:spPr>
            <a:xfrm>
              <a:off x="2796877" y="4219557"/>
              <a:ext cx="571304" cy="571304"/>
            </a:xfrm>
            <a:prstGeom prst="ellipse">
              <a:avLst/>
            </a:prstGeom>
            <a:solidFill>
              <a:srgbClr val="9FD6EF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CDF4464B-0025-9B09-9AC9-1BD207967929}"/>
                </a:ext>
              </a:extLst>
            </p:cNvPr>
            <p:cNvSpPr txBox="1"/>
            <p:nvPr/>
          </p:nvSpPr>
          <p:spPr>
            <a:xfrm>
              <a:off x="756460" y="3999966"/>
              <a:ext cx="494704" cy="2004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2000">
                  <a:latin typeface="Arial" panose="020B0604020202020204" pitchFamily="34" charset="0"/>
                  <a:cs typeface="Arial" panose="020B0604020202020204" pitchFamily="34" charset="0"/>
                </a:rPr>
                <a:t>Q</a:t>
              </a:r>
              <a:endParaRPr lang="ko-KR" altLang="en-US" sz="2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2213377B-3561-31E0-6E15-C96C1F1CBA06}"/>
                </a:ext>
              </a:extLst>
            </p:cNvPr>
            <p:cNvSpPr txBox="1"/>
            <p:nvPr/>
          </p:nvSpPr>
          <p:spPr>
            <a:xfrm>
              <a:off x="1437503" y="4017428"/>
              <a:ext cx="588754" cy="1850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baseline="-2500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721E37DE-6D2C-C53A-53D8-EAB71F63A7C9}"/>
                </a:ext>
              </a:extLst>
            </p:cNvPr>
            <p:cNvSpPr txBox="1"/>
            <p:nvPr/>
          </p:nvSpPr>
          <p:spPr>
            <a:xfrm>
              <a:off x="1870373" y="4017428"/>
              <a:ext cx="588754" cy="1850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ko-KR" altLang="en-US" baseline="-25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0B0DDCF5-76E4-9558-CF10-3B8D22796B86}"/>
                </a:ext>
              </a:extLst>
            </p:cNvPr>
            <p:cNvSpPr txBox="1"/>
            <p:nvPr/>
          </p:nvSpPr>
          <p:spPr>
            <a:xfrm>
              <a:off x="2788152" y="4017428"/>
              <a:ext cx="588754" cy="1850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4728D366-DEB5-080C-6A65-A468ABB1D3E3}"/>
                </a:ext>
              </a:extLst>
            </p:cNvPr>
            <p:cNvSpPr txBox="1"/>
            <p:nvPr/>
          </p:nvSpPr>
          <p:spPr>
            <a:xfrm>
              <a:off x="1134091" y="3999966"/>
              <a:ext cx="494704" cy="2004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2000"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  <a:endParaRPr lang="ko-KR" altLang="en-US" sz="2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915A3B90-B63B-F803-3693-717F63402E82}"/>
                </a:ext>
              </a:extLst>
            </p:cNvPr>
            <p:cNvSpPr txBox="1"/>
            <p:nvPr/>
          </p:nvSpPr>
          <p:spPr>
            <a:xfrm>
              <a:off x="1700963" y="4032817"/>
              <a:ext cx="494704" cy="1695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86252F50-1631-5B29-2A18-7BDC43B266D4}"/>
                </a:ext>
              </a:extLst>
            </p:cNvPr>
            <p:cNvSpPr txBox="1"/>
            <p:nvPr/>
          </p:nvSpPr>
          <p:spPr>
            <a:xfrm>
              <a:off x="2124311" y="4033302"/>
              <a:ext cx="494704" cy="1695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ED3026A5-DDAC-D7EE-68A7-92F5D6553221}"/>
                </a:ext>
              </a:extLst>
            </p:cNvPr>
            <p:cNvSpPr txBox="1"/>
            <p:nvPr/>
          </p:nvSpPr>
          <p:spPr>
            <a:xfrm>
              <a:off x="2625737" y="4032817"/>
              <a:ext cx="494704" cy="1695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B01F24E6-1E0E-1147-8211-E3AACD8F7652}"/>
                </a:ext>
              </a:extLst>
            </p:cNvPr>
            <p:cNvSpPr txBox="1"/>
            <p:nvPr/>
          </p:nvSpPr>
          <p:spPr>
            <a:xfrm>
              <a:off x="2375024" y="3911201"/>
              <a:ext cx="494704" cy="292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3200" dirty="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3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BE62F419-C190-E18E-7944-F700E3BF2619}"/>
                </a:ext>
              </a:extLst>
            </p:cNvPr>
            <p:cNvSpPr txBox="1"/>
            <p:nvPr/>
          </p:nvSpPr>
          <p:spPr>
            <a:xfrm>
              <a:off x="1187590" y="4303226"/>
              <a:ext cx="494704" cy="3854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400"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  <a:endParaRPr lang="ko-KR" altLang="en-US" sz="44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8F6512F1-727F-32A1-B75A-FC65130F7B43}"/>
                </a:ext>
              </a:extLst>
            </p:cNvPr>
            <p:cNvSpPr txBox="1"/>
            <p:nvPr/>
          </p:nvSpPr>
          <p:spPr>
            <a:xfrm>
              <a:off x="1688837" y="4354617"/>
              <a:ext cx="494704" cy="292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32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3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17B13DF1-5F42-0DF2-401A-E32B39C6C329}"/>
                </a:ext>
              </a:extLst>
            </p:cNvPr>
            <p:cNvSpPr txBox="1"/>
            <p:nvPr/>
          </p:nvSpPr>
          <p:spPr>
            <a:xfrm>
              <a:off x="2143363" y="4352544"/>
              <a:ext cx="494704" cy="292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32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3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C412C1B8-B923-577D-46BC-0774954889FA}"/>
                </a:ext>
              </a:extLst>
            </p:cNvPr>
            <p:cNvSpPr txBox="1"/>
            <p:nvPr/>
          </p:nvSpPr>
          <p:spPr>
            <a:xfrm>
              <a:off x="2478696" y="4352544"/>
              <a:ext cx="494704" cy="292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32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3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8D77D7BF-FC50-9F7E-353D-5DD679B438A1}"/>
                </a:ext>
              </a:extLst>
            </p:cNvPr>
            <p:cNvSpPr txBox="1"/>
            <p:nvPr/>
          </p:nvSpPr>
          <p:spPr>
            <a:xfrm>
              <a:off x="2311029" y="4302815"/>
              <a:ext cx="494704" cy="292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32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3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9513EDBE-7793-1B39-8300-A41624EC7A7D}"/>
                </a:ext>
              </a:extLst>
            </p:cNvPr>
            <p:cNvSpPr txBox="1"/>
            <p:nvPr/>
          </p:nvSpPr>
          <p:spPr>
            <a:xfrm>
              <a:off x="1556649" y="4425387"/>
              <a:ext cx="350462" cy="1541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 dirty="0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1400" b="1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sz="1400" b="1" baseline="-25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0E2F39DA-FF1A-DB0B-87C2-45831DBE2228}"/>
                </a:ext>
              </a:extLst>
            </p:cNvPr>
            <p:cNvSpPr txBox="1"/>
            <p:nvPr/>
          </p:nvSpPr>
          <p:spPr>
            <a:xfrm>
              <a:off x="1989519" y="4425387"/>
              <a:ext cx="350462" cy="1541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1400" b="1" baseline="-2500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ko-KR" altLang="en-US" sz="1400" b="1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719E4998-4D5D-A9B0-90AE-2BC43D625B08}"/>
                </a:ext>
              </a:extLst>
            </p:cNvPr>
            <p:cNvSpPr txBox="1"/>
            <p:nvPr/>
          </p:nvSpPr>
          <p:spPr>
            <a:xfrm>
              <a:off x="2883383" y="4425387"/>
              <a:ext cx="398292" cy="1541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1400" b="1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sz="1400" b="1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8" name="타원 127">
              <a:extLst>
                <a:ext uri="{FF2B5EF4-FFF2-40B4-BE49-F238E27FC236}">
                  <a16:creationId xmlns:a16="http://schemas.microsoft.com/office/drawing/2014/main" id="{02A82083-6E71-0834-8D5B-8DD96D28D6A2}"/>
                </a:ext>
              </a:extLst>
            </p:cNvPr>
            <p:cNvSpPr/>
            <p:nvPr/>
          </p:nvSpPr>
          <p:spPr>
            <a:xfrm>
              <a:off x="859275" y="4365146"/>
              <a:ext cx="272853" cy="272853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129" name="타원 128">
              <a:extLst>
                <a:ext uri="{FF2B5EF4-FFF2-40B4-BE49-F238E27FC236}">
                  <a16:creationId xmlns:a16="http://schemas.microsoft.com/office/drawing/2014/main" id="{8A205626-EB9F-CA81-66D7-3C648846320B}"/>
                </a:ext>
              </a:extLst>
            </p:cNvPr>
            <p:cNvSpPr/>
            <p:nvPr/>
          </p:nvSpPr>
          <p:spPr>
            <a:xfrm>
              <a:off x="840901" y="4346772"/>
              <a:ext cx="309600" cy="309600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130" name="타원 129">
              <a:extLst>
                <a:ext uri="{FF2B5EF4-FFF2-40B4-BE49-F238E27FC236}">
                  <a16:creationId xmlns:a16="http://schemas.microsoft.com/office/drawing/2014/main" id="{D1BFAB3F-C7E4-AC7B-38FC-6604EE5FF48C}"/>
                </a:ext>
              </a:extLst>
            </p:cNvPr>
            <p:cNvSpPr/>
            <p:nvPr/>
          </p:nvSpPr>
          <p:spPr>
            <a:xfrm>
              <a:off x="710049" y="4221336"/>
              <a:ext cx="571304" cy="560472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131" name="타원 130">
              <a:extLst>
                <a:ext uri="{FF2B5EF4-FFF2-40B4-BE49-F238E27FC236}">
                  <a16:creationId xmlns:a16="http://schemas.microsoft.com/office/drawing/2014/main" id="{C0CC2DAF-2B4C-3E6F-CD64-527850716A0B}"/>
                </a:ext>
              </a:extLst>
            </p:cNvPr>
            <p:cNvSpPr/>
            <p:nvPr/>
          </p:nvSpPr>
          <p:spPr>
            <a:xfrm>
              <a:off x="822901" y="4328772"/>
              <a:ext cx="345600" cy="345600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BF4586BB-44DE-C8E5-B7A2-DFE6A6C01CE0}"/>
                </a:ext>
              </a:extLst>
            </p:cNvPr>
            <p:cNvSpPr txBox="1"/>
            <p:nvPr/>
          </p:nvSpPr>
          <p:spPr>
            <a:xfrm rot="19046009">
              <a:off x="1023784" y="4253832"/>
              <a:ext cx="257962" cy="1695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1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9A1607F9-BC49-9687-6799-E8E8058567DF}"/>
                </a:ext>
              </a:extLst>
            </p:cNvPr>
            <p:cNvSpPr txBox="1"/>
            <p:nvPr/>
          </p:nvSpPr>
          <p:spPr>
            <a:xfrm>
              <a:off x="625200" y="4777741"/>
              <a:ext cx="756243" cy="1541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>
                  <a:latin typeface="Arial" panose="020B0604020202020204" pitchFamily="34" charset="0"/>
                  <a:cs typeface="Arial" panose="020B0604020202020204" pitchFamily="34" charset="0"/>
                </a:rPr>
                <a:t>CTN charge</a:t>
              </a:r>
              <a:endParaRPr lang="ko-KR" altLang="en-US" sz="14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58588313-F35B-1178-BCFB-4C7A872BF863}"/>
                </a:ext>
              </a:extLst>
            </p:cNvPr>
            <p:cNvSpPr txBox="1"/>
            <p:nvPr/>
          </p:nvSpPr>
          <p:spPr>
            <a:xfrm>
              <a:off x="1563412" y="4734879"/>
              <a:ext cx="970554" cy="1695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600" dirty="0" err="1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600" baseline="-25000" dirty="0" err="1">
                  <a:latin typeface="Arial" panose="020B0604020202020204" pitchFamily="34" charset="0"/>
                  <a:cs typeface="Arial" panose="020B0604020202020204" pitchFamily="34" charset="0"/>
                </a:rPr>
                <a:t>i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 = </a:t>
              </a:r>
              <a:r>
                <a:rPr lang="en-US" altLang="ko-KR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π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16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i</a:t>
              </a:r>
              <a:r>
                <a:rPr lang="en-US" altLang="ko-KR" sz="1600" baseline="30000" dirty="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(n</a:t>
              </a:r>
              <a:r>
                <a:rPr lang="en-US" altLang="ko-KR" sz="16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t,i+1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-n</a:t>
              </a:r>
              <a:r>
                <a:rPr lang="en-US" altLang="ko-KR" sz="16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t,i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  <a:endParaRPr lang="ko-KR" alt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94ADB8C6-FDD0-C787-E999-2383A62828B3}"/>
                </a:ext>
              </a:extLst>
            </p:cNvPr>
            <p:cNvSpPr txBox="1"/>
            <p:nvPr/>
          </p:nvSpPr>
          <p:spPr>
            <a:xfrm>
              <a:off x="2552466" y="4873730"/>
              <a:ext cx="629362" cy="292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r>
                <a:rPr lang="en-US" altLang="ko-KR" sz="16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t,0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 = 0</a:t>
              </a:r>
            </a:p>
            <a:p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r>
                <a:rPr lang="en-US" altLang="ko-KR" sz="16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t,N+1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 = 0</a:t>
              </a:r>
              <a:endParaRPr lang="ko-KR" alt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03E8EF53-FE5E-5A30-49C4-7915B2D4A067}"/>
                </a:ext>
              </a:extLst>
            </p:cNvPr>
            <p:cNvSpPr txBox="1"/>
            <p:nvPr/>
          </p:nvSpPr>
          <p:spPr>
            <a:xfrm>
              <a:off x="1657154" y="4948827"/>
              <a:ext cx="857565" cy="1695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where, </a:t>
              </a:r>
              <a:r>
                <a:rPr lang="en-US" altLang="ko-KR" sz="1600" dirty="0" err="1">
                  <a:latin typeface="Arial" panose="020B0604020202020204" pitchFamily="34" charset="0"/>
                  <a:cs typeface="Arial" panose="020B0604020202020204" pitchFamily="34" charset="0"/>
                </a:rPr>
                <a:t>i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=1-N</a:t>
              </a:r>
              <a:endParaRPr lang="ko-KR" alt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7" name="왼쪽 중괄호 136">
              <a:extLst>
                <a:ext uri="{FF2B5EF4-FFF2-40B4-BE49-F238E27FC236}">
                  <a16:creationId xmlns:a16="http://schemas.microsoft.com/office/drawing/2014/main" id="{84F40FA2-D013-5416-4527-699E2367FDB0}"/>
                </a:ext>
              </a:extLst>
            </p:cNvPr>
            <p:cNvSpPr/>
            <p:nvPr/>
          </p:nvSpPr>
          <p:spPr>
            <a:xfrm>
              <a:off x="2504776" y="4937390"/>
              <a:ext cx="61691" cy="200055"/>
            </a:xfrm>
            <a:prstGeom prst="leftBrace">
              <a:avLst>
                <a:gd name="adj1" fmla="val 36719"/>
                <a:gd name="adj2" fmla="val 50000"/>
              </a:avLst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</p:grpSp>
      <p:grpSp>
        <p:nvGrpSpPr>
          <p:cNvPr id="263" name="그룹 262">
            <a:extLst>
              <a:ext uri="{FF2B5EF4-FFF2-40B4-BE49-F238E27FC236}">
                <a16:creationId xmlns:a16="http://schemas.microsoft.com/office/drawing/2014/main" id="{D6A2E9DC-6D22-B21D-001D-086A824010F0}"/>
              </a:ext>
            </a:extLst>
          </p:cNvPr>
          <p:cNvGrpSpPr/>
          <p:nvPr/>
        </p:nvGrpSpPr>
        <p:grpSpPr>
          <a:xfrm>
            <a:off x="1530551" y="5010760"/>
            <a:ext cx="6169658" cy="815352"/>
            <a:chOff x="2303921" y="4527578"/>
            <a:chExt cx="6169658" cy="815352"/>
          </a:xfrm>
        </p:grpSpPr>
        <p:cxnSp>
          <p:nvCxnSpPr>
            <p:cNvPr id="173" name="직선 연결선 172">
              <a:extLst>
                <a:ext uri="{FF2B5EF4-FFF2-40B4-BE49-F238E27FC236}">
                  <a16:creationId xmlns:a16="http://schemas.microsoft.com/office/drawing/2014/main" id="{18DFE411-7B4A-0A32-3DB3-90D3CEF354B5}"/>
                </a:ext>
              </a:extLst>
            </p:cNvPr>
            <p:cNvCxnSpPr>
              <a:cxnSpLocks/>
            </p:cNvCxnSpPr>
            <p:nvPr/>
          </p:nvCxnSpPr>
          <p:spPr>
            <a:xfrm>
              <a:off x="2303921" y="5004457"/>
              <a:ext cx="6118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4" name="그룹 173">
              <a:extLst>
                <a:ext uri="{FF2B5EF4-FFF2-40B4-BE49-F238E27FC236}">
                  <a16:creationId xmlns:a16="http://schemas.microsoft.com/office/drawing/2014/main" id="{9DC431EA-C7E3-E1FE-48D9-332E28BDB02F}"/>
                </a:ext>
              </a:extLst>
            </p:cNvPr>
            <p:cNvGrpSpPr/>
            <p:nvPr/>
          </p:nvGrpSpPr>
          <p:grpSpPr>
            <a:xfrm>
              <a:off x="2915777" y="4771606"/>
              <a:ext cx="143736" cy="465698"/>
              <a:chOff x="1663538" y="2271752"/>
              <a:chExt cx="33334" cy="233443"/>
            </a:xfrm>
          </p:grpSpPr>
          <p:cxnSp>
            <p:nvCxnSpPr>
              <p:cNvPr id="221" name="직선 연결선 220">
                <a:extLst>
                  <a:ext uri="{FF2B5EF4-FFF2-40B4-BE49-F238E27FC236}">
                    <a16:creationId xmlns:a16="http://schemas.microsoft.com/office/drawing/2014/main" id="{8F325648-A6A7-4CA8-F94A-2EB51B3376D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2" name="직선 연결선 221">
                <a:extLst>
                  <a:ext uri="{FF2B5EF4-FFF2-40B4-BE49-F238E27FC236}">
                    <a16:creationId xmlns:a16="http://schemas.microsoft.com/office/drawing/2014/main" id="{5EB1EE71-6C77-568A-F10B-CFAA63F6FF9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5" name="직선 연결선 174">
              <a:extLst>
                <a:ext uri="{FF2B5EF4-FFF2-40B4-BE49-F238E27FC236}">
                  <a16:creationId xmlns:a16="http://schemas.microsoft.com/office/drawing/2014/main" id="{83D528CD-A108-601C-6635-5C785C6F0D99}"/>
                </a:ext>
              </a:extLst>
            </p:cNvPr>
            <p:cNvCxnSpPr>
              <a:cxnSpLocks/>
            </p:cNvCxnSpPr>
            <p:nvPr/>
          </p:nvCxnSpPr>
          <p:spPr>
            <a:xfrm>
              <a:off x="3059513" y="5004457"/>
              <a:ext cx="6118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6" name="그룹 175">
              <a:extLst>
                <a:ext uri="{FF2B5EF4-FFF2-40B4-BE49-F238E27FC236}">
                  <a16:creationId xmlns:a16="http://schemas.microsoft.com/office/drawing/2014/main" id="{411D78AC-74E1-B90E-7346-B59D4F2DB195}"/>
                </a:ext>
              </a:extLst>
            </p:cNvPr>
            <p:cNvGrpSpPr/>
            <p:nvPr/>
          </p:nvGrpSpPr>
          <p:grpSpPr>
            <a:xfrm>
              <a:off x="3879966" y="4772228"/>
              <a:ext cx="143736" cy="465698"/>
              <a:chOff x="1663538" y="2271752"/>
              <a:chExt cx="33334" cy="233443"/>
            </a:xfrm>
          </p:grpSpPr>
          <p:cxnSp>
            <p:nvCxnSpPr>
              <p:cNvPr id="219" name="직선 연결선 218">
                <a:extLst>
                  <a:ext uri="{FF2B5EF4-FFF2-40B4-BE49-F238E27FC236}">
                    <a16:creationId xmlns:a16="http://schemas.microsoft.com/office/drawing/2014/main" id="{B0942312-9F5E-1815-1FDA-4F48384CBA2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0" name="직선 연결선 219">
                <a:extLst>
                  <a:ext uri="{FF2B5EF4-FFF2-40B4-BE49-F238E27FC236}">
                    <a16:creationId xmlns:a16="http://schemas.microsoft.com/office/drawing/2014/main" id="{89295952-40F9-707E-51B8-E53F657703D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7" name="직선 연결선 176">
              <a:extLst>
                <a:ext uri="{FF2B5EF4-FFF2-40B4-BE49-F238E27FC236}">
                  <a16:creationId xmlns:a16="http://schemas.microsoft.com/office/drawing/2014/main" id="{11A1DE4B-1435-8F22-5949-F0103E2B4DF9}"/>
                </a:ext>
              </a:extLst>
            </p:cNvPr>
            <p:cNvCxnSpPr>
              <a:cxnSpLocks/>
            </p:cNvCxnSpPr>
            <p:nvPr/>
          </p:nvCxnSpPr>
          <p:spPr>
            <a:xfrm>
              <a:off x="3677136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직선 연결선 177">
              <a:extLst>
                <a:ext uri="{FF2B5EF4-FFF2-40B4-BE49-F238E27FC236}">
                  <a16:creationId xmlns:a16="http://schemas.microsoft.com/office/drawing/2014/main" id="{C778AC04-0711-4503-F986-7D06BCF8B2ED}"/>
                </a:ext>
              </a:extLst>
            </p:cNvPr>
            <p:cNvCxnSpPr>
              <a:cxnSpLocks/>
            </p:cNvCxnSpPr>
            <p:nvPr/>
          </p:nvCxnSpPr>
          <p:spPr>
            <a:xfrm>
              <a:off x="4027294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9" name="그룹 178">
              <a:extLst>
                <a:ext uri="{FF2B5EF4-FFF2-40B4-BE49-F238E27FC236}">
                  <a16:creationId xmlns:a16="http://schemas.microsoft.com/office/drawing/2014/main" id="{1433180F-DDF2-AF88-461D-2DB381DA8CE0}"/>
                </a:ext>
              </a:extLst>
            </p:cNvPr>
            <p:cNvGrpSpPr/>
            <p:nvPr/>
          </p:nvGrpSpPr>
          <p:grpSpPr>
            <a:xfrm>
              <a:off x="4435153" y="4772228"/>
              <a:ext cx="143736" cy="465698"/>
              <a:chOff x="1663538" y="2271752"/>
              <a:chExt cx="33334" cy="233443"/>
            </a:xfrm>
          </p:grpSpPr>
          <p:cxnSp>
            <p:nvCxnSpPr>
              <p:cNvPr id="217" name="직선 연결선 216">
                <a:extLst>
                  <a:ext uri="{FF2B5EF4-FFF2-40B4-BE49-F238E27FC236}">
                    <a16:creationId xmlns:a16="http://schemas.microsoft.com/office/drawing/2014/main" id="{0F78B2AC-AB48-CAB4-1090-1E0EAE68605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8" name="직선 연결선 217">
                <a:extLst>
                  <a:ext uri="{FF2B5EF4-FFF2-40B4-BE49-F238E27FC236}">
                    <a16:creationId xmlns:a16="http://schemas.microsoft.com/office/drawing/2014/main" id="{DF0802A3-95AD-16A9-B6AB-8E04C7E44DA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80" name="직선 연결선 179">
              <a:extLst>
                <a:ext uri="{FF2B5EF4-FFF2-40B4-BE49-F238E27FC236}">
                  <a16:creationId xmlns:a16="http://schemas.microsoft.com/office/drawing/2014/main" id="{4F262ED2-7C5E-BCE2-00D4-8E974839AABF}"/>
                </a:ext>
              </a:extLst>
            </p:cNvPr>
            <p:cNvCxnSpPr>
              <a:cxnSpLocks/>
            </p:cNvCxnSpPr>
            <p:nvPr/>
          </p:nvCxnSpPr>
          <p:spPr>
            <a:xfrm>
              <a:off x="4232324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직선 연결선 180">
              <a:extLst>
                <a:ext uri="{FF2B5EF4-FFF2-40B4-BE49-F238E27FC236}">
                  <a16:creationId xmlns:a16="http://schemas.microsoft.com/office/drawing/2014/main" id="{CE1E3E79-5C2D-4232-AD9A-19B77838B532}"/>
                </a:ext>
              </a:extLst>
            </p:cNvPr>
            <p:cNvCxnSpPr>
              <a:cxnSpLocks/>
            </p:cNvCxnSpPr>
            <p:nvPr/>
          </p:nvCxnSpPr>
          <p:spPr>
            <a:xfrm>
              <a:off x="4582482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2" name="그룹 181">
              <a:extLst>
                <a:ext uri="{FF2B5EF4-FFF2-40B4-BE49-F238E27FC236}">
                  <a16:creationId xmlns:a16="http://schemas.microsoft.com/office/drawing/2014/main" id="{B9D5BA19-7DE3-73E4-D866-7911D79622D2}"/>
                </a:ext>
              </a:extLst>
            </p:cNvPr>
            <p:cNvGrpSpPr/>
            <p:nvPr/>
          </p:nvGrpSpPr>
          <p:grpSpPr>
            <a:xfrm>
              <a:off x="4989371" y="4772228"/>
              <a:ext cx="143736" cy="465698"/>
              <a:chOff x="1663538" y="2271752"/>
              <a:chExt cx="33334" cy="233443"/>
            </a:xfrm>
          </p:grpSpPr>
          <p:cxnSp>
            <p:nvCxnSpPr>
              <p:cNvPr id="215" name="직선 연결선 214">
                <a:extLst>
                  <a:ext uri="{FF2B5EF4-FFF2-40B4-BE49-F238E27FC236}">
                    <a16:creationId xmlns:a16="http://schemas.microsoft.com/office/drawing/2014/main" id="{F4CAE543-DF6D-7A56-EA78-B3CC8B18372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6" name="직선 연결선 215">
                <a:extLst>
                  <a:ext uri="{FF2B5EF4-FFF2-40B4-BE49-F238E27FC236}">
                    <a16:creationId xmlns:a16="http://schemas.microsoft.com/office/drawing/2014/main" id="{1257E854-1F91-5FC6-75DC-5F093215D57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83" name="직선 연결선 182">
              <a:extLst>
                <a:ext uri="{FF2B5EF4-FFF2-40B4-BE49-F238E27FC236}">
                  <a16:creationId xmlns:a16="http://schemas.microsoft.com/office/drawing/2014/main" id="{8C30F5CD-52D8-AA86-EAC3-5B58CFA8A07E}"/>
                </a:ext>
              </a:extLst>
            </p:cNvPr>
            <p:cNvCxnSpPr>
              <a:cxnSpLocks/>
            </p:cNvCxnSpPr>
            <p:nvPr/>
          </p:nvCxnSpPr>
          <p:spPr>
            <a:xfrm>
              <a:off x="4786545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직선 연결선 183">
              <a:extLst>
                <a:ext uri="{FF2B5EF4-FFF2-40B4-BE49-F238E27FC236}">
                  <a16:creationId xmlns:a16="http://schemas.microsoft.com/office/drawing/2014/main" id="{5423709A-B85C-3CDD-6CD3-931DEA31B2B9}"/>
                </a:ext>
              </a:extLst>
            </p:cNvPr>
            <p:cNvCxnSpPr>
              <a:cxnSpLocks/>
            </p:cNvCxnSpPr>
            <p:nvPr/>
          </p:nvCxnSpPr>
          <p:spPr>
            <a:xfrm>
              <a:off x="5136700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5" name="그룹 184">
              <a:extLst>
                <a:ext uri="{FF2B5EF4-FFF2-40B4-BE49-F238E27FC236}">
                  <a16:creationId xmlns:a16="http://schemas.microsoft.com/office/drawing/2014/main" id="{F56879D9-2002-8341-7D0C-F09BEB90746A}"/>
                </a:ext>
              </a:extLst>
            </p:cNvPr>
            <p:cNvGrpSpPr/>
            <p:nvPr/>
          </p:nvGrpSpPr>
          <p:grpSpPr>
            <a:xfrm>
              <a:off x="6611644" y="4772228"/>
              <a:ext cx="143736" cy="465698"/>
              <a:chOff x="1663538" y="2271752"/>
              <a:chExt cx="33334" cy="233443"/>
            </a:xfrm>
          </p:grpSpPr>
          <p:cxnSp>
            <p:nvCxnSpPr>
              <p:cNvPr id="213" name="직선 연결선 212">
                <a:extLst>
                  <a:ext uri="{FF2B5EF4-FFF2-40B4-BE49-F238E27FC236}">
                    <a16:creationId xmlns:a16="http://schemas.microsoft.com/office/drawing/2014/main" id="{6C8F499A-7792-CD9F-8FA3-DA640C61F8F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4" name="직선 연결선 213">
                <a:extLst>
                  <a:ext uri="{FF2B5EF4-FFF2-40B4-BE49-F238E27FC236}">
                    <a16:creationId xmlns:a16="http://schemas.microsoft.com/office/drawing/2014/main" id="{A5F8ED73-9C2D-A491-35F0-1A1A9D88724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86" name="직선 연결선 185">
              <a:extLst>
                <a:ext uri="{FF2B5EF4-FFF2-40B4-BE49-F238E27FC236}">
                  <a16:creationId xmlns:a16="http://schemas.microsoft.com/office/drawing/2014/main" id="{F51E93D9-D7C6-A6D1-8AB3-7BB4A5B1EC12}"/>
                </a:ext>
              </a:extLst>
            </p:cNvPr>
            <p:cNvCxnSpPr>
              <a:cxnSpLocks/>
            </p:cNvCxnSpPr>
            <p:nvPr/>
          </p:nvCxnSpPr>
          <p:spPr>
            <a:xfrm>
              <a:off x="6408818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직선 연결선 186">
              <a:extLst>
                <a:ext uri="{FF2B5EF4-FFF2-40B4-BE49-F238E27FC236}">
                  <a16:creationId xmlns:a16="http://schemas.microsoft.com/office/drawing/2014/main" id="{06ADA5CB-494E-07A6-7E6F-1D96ED4EDEE5}"/>
                </a:ext>
              </a:extLst>
            </p:cNvPr>
            <p:cNvCxnSpPr>
              <a:cxnSpLocks/>
            </p:cNvCxnSpPr>
            <p:nvPr/>
          </p:nvCxnSpPr>
          <p:spPr>
            <a:xfrm>
              <a:off x="6758973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직선 연결선 187">
              <a:extLst>
                <a:ext uri="{FF2B5EF4-FFF2-40B4-BE49-F238E27FC236}">
                  <a16:creationId xmlns:a16="http://schemas.microsoft.com/office/drawing/2014/main" id="{4B68A440-8C7E-C465-6FEB-65E1514950C8}"/>
                </a:ext>
              </a:extLst>
            </p:cNvPr>
            <p:cNvCxnSpPr>
              <a:cxnSpLocks/>
            </p:cNvCxnSpPr>
            <p:nvPr/>
          </p:nvCxnSpPr>
          <p:spPr>
            <a:xfrm>
              <a:off x="6936234" y="5004457"/>
              <a:ext cx="70718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9" name="그룹 188">
              <a:extLst>
                <a:ext uri="{FF2B5EF4-FFF2-40B4-BE49-F238E27FC236}">
                  <a16:creationId xmlns:a16="http://schemas.microsoft.com/office/drawing/2014/main" id="{638334FD-B7DF-E730-DA92-52771638644C}"/>
                </a:ext>
              </a:extLst>
            </p:cNvPr>
            <p:cNvGrpSpPr/>
            <p:nvPr/>
          </p:nvGrpSpPr>
          <p:grpSpPr>
            <a:xfrm>
              <a:off x="7646221" y="4771606"/>
              <a:ext cx="143736" cy="465698"/>
              <a:chOff x="1663538" y="2271752"/>
              <a:chExt cx="33334" cy="233443"/>
            </a:xfrm>
          </p:grpSpPr>
          <p:cxnSp>
            <p:nvCxnSpPr>
              <p:cNvPr id="211" name="직선 연결선 210">
                <a:extLst>
                  <a:ext uri="{FF2B5EF4-FFF2-40B4-BE49-F238E27FC236}">
                    <a16:creationId xmlns:a16="http://schemas.microsoft.com/office/drawing/2014/main" id="{12493DEA-4BB1-BE3D-2695-A9E60C0E4C1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2" name="직선 연결선 211">
                <a:extLst>
                  <a:ext uri="{FF2B5EF4-FFF2-40B4-BE49-F238E27FC236}">
                    <a16:creationId xmlns:a16="http://schemas.microsoft.com/office/drawing/2014/main" id="{4A5A6AFF-0B29-749F-238F-EE2BC7B31E0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90" name="직선 연결선 189">
              <a:extLst>
                <a:ext uri="{FF2B5EF4-FFF2-40B4-BE49-F238E27FC236}">
                  <a16:creationId xmlns:a16="http://schemas.microsoft.com/office/drawing/2014/main" id="{743974C2-B322-DE55-9B4C-F1FC7A504214}"/>
                </a:ext>
              </a:extLst>
            </p:cNvPr>
            <p:cNvCxnSpPr>
              <a:cxnSpLocks/>
            </p:cNvCxnSpPr>
            <p:nvPr/>
          </p:nvCxnSpPr>
          <p:spPr>
            <a:xfrm>
              <a:off x="7790555" y="5004457"/>
              <a:ext cx="68302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1" name="TextBox 190">
                  <a:extLst>
                    <a:ext uri="{FF2B5EF4-FFF2-40B4-BE49-F238E27FC236}">
                      <a16:creationId xmlns:a16="http://schemas.microsoft.com/office/drawing/2014/main" id="{D9C0D60D-A841-B617-4DCC-FF29293E2CD5}"/>
                    </a:ext>
                  </a:extLst>
                </p:cNvPr>
                <p:cNvSpPr txBox="1"/>
                <p:nvPr/>
              </p:nvSpPr>
              <p:spPr>
                <a:xfrm>
                  <a:off x="2787501" y="4527578"/>
                  <a:ext cx="412998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𝐓𝐎𝐗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 dirty="0"/>
                </a:p>
              </p:txBody>
            </p:sp>
          </mc:Choice>
          <mc:Fallback xmlns="">
            <p:sp>
              <p:nvSpPr>
                <p:cNvPr id="191" name="TextBox 190">
                  <a:extLst>
                    <a:ext uri="{FF2B5EF4-FFF2-40B4-BE49-F238E27FC236}">
                      <a16:creationId xmlns:a16="http://schemas.microsoft.com/office/drawing/2014/main" id="{D9C0D60D-A841-B617-4DCC-FF29293E2C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87501" y="4527578"/>
                  <a:ext cx="412998" cy="215443"/>
                </a:xfrm>
                <a:prstGeom prst="rect">
                  <a:avLst/>
                </a:prstGeom>
                <a:blipFill>
                  <a:blip r:embed="rId2"/>
                  <a:stretch>
                    <a:fillRect l="-13235" b="-1428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2" name="TextBox 191">
                  <a:extLst>
                    <a:ext uri="{FF2B5EF4-FFF2-40B4-BE49-F238E27FC236}">
                      <a16:creationId xmlns:a16="http://schemas.microsoft.com/office/drawing/2014/main" id="{11FD9BF9-B663-1C1B-1894-078C1D9CECEC}"/>
                    </a:ext>
                  </a:extLst>
                </p:cNvPr>
                <p:cNvSpPr txBox="1"/>
                <p:nvPr/>
              </p:nvSpPr>
              <p:spPr>
                <a:xfrm>
                  <a:off x="3859944" y="4527578"/>
                  <a:ext cx="231857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/>
                </a:p>
              </p:txBody>
            </p:sp>
          </mc:Choice>
          <mc:Fallback xmlns="">
            <p:sp>
              <p:nvSpPr>
                <p:cNvPr id="192" name="TextBox 191">
                  <a:extLst>
                    <a:ext uri="{FF2B5EF4-FFF2-40B4-BE49-F238E27FC236}">
                      <a16:creationId xmlns:a16="http://schemas.microsoft.com/office/drawing/2014/main" id="{11FD9BF9-B663-1C1B-1894-078C1D9CEC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59944" y="4527578"/>
                  <a:ext cx="231857" cy="215443"/>
                </a:xfrm>
                <a:prstGeom prst="rect">
                  <a:avLst/>
                </a:prstGeom>
                <a:blipFill>
                  <a:blip r:embed="rId3"/>
                  <a:stretch>
                    <a:fillRect l="-26316" b="-1428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3" name="TextBox 192">
                  <a:extLst>
                    <a:ext uri="{FF2B5EF4-FFF2-40B4-BE49-F238E27FC236}">
                      <a16:creationId xmlns:a16="http://schemas.microsoft.com/office/drawing/2014/main" id="{96FE84B9-8AD2-92F0-ADAE-94F2C3F8DFA0}"/>
                    </a:ext>
                  </a:extLst>
                </p:cNvPr>
                <p:cNvSpPr txBox="1"/>
                <p:nvPr/>
              </p:nvSpPr>
              <p:spPr>
                <a:xfrm>
                  <a:off x="4434716" y="4527578"/>
                  <a:ext cx="231857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/>
                </a:p>
              </p:txBody>
            </p:sp>
          </mc:Choice>
          <mc:Fallback xmlns="">
            <p:sp>
              <p:nvSpPr>
                <p:cNvPr id="193" name="TextBox 192">
                  <a:extLst>
                    <a:ext uri="{FF2B5EF4-FFF2-40B4-BE49-F238E27FC236}">
                      <a16:creationId xmlns:a16="http://schemas.microsoft.com/office/drawing/2014/main" id="{96FE84B9-8AD2-92F0-ADAE-94F2C3F8DF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4716" y="4527578"/>
                  <a:ext cx="231857" cy="215443"/>
                </a:xfrm>
                <a:prstGeom prst="rect">
                  <a:avLst/>
                </a:prstGeom>
                <a:blipFill>
                  <a:blip r:embed="rId4"/>
                  <a:stretch>
                    <a:fillRect l="-28947" b="-1428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4" name="TextBox 193">
                  <a:extLst>
                    <a:ext uri="{FF2B5EF4-FFF2-40B4-BE49-F238E27FC236}">
                      <a16:creationId xmlns:a16="http://schemas.microsoft.com/office/drawing/2014/main" id="{6A7406FE-6856-026D-382C-4F31FED57733}"/>
                    </a:ext>
                  </a:extLst>
                </p:cNvPr>
                <p:cNvSpPr txBox="1"/>
                <p:nvPr/>
              </p:nvSpPr>
              <p:spPr>
                <a:xfrm>
                  <a:off x="4987680" y="4527578"/>
                  <a:ext cx="231857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1" smtClean="0"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/>
                </a:p>
              </p:txBody>
            </p:sp>
          </mc:Choice>
          <mc:Fallback xmlns="">
            <p:sp>
              <p:nvSpPr>
                <p:cNvPr id="194" name="TextBox 193">
                  <a:extLst>
                    <a:ext uri="{FF2B5EF4-FFF2-40B4-BE49-F238E27FC236}">
                      <a16:creationId xmlns:a16="http://schemas.microsoft.com/office/drawing/2014/main" id="{6A7406FE-6856-026D-382C-4F31FED577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87680" y="4527578"/>
                  <a:ext cx="231857" cy="215443"/>
                </a:xfrm>
                <a:prstGeom prst="rect">
                  <a:avLst/>
                </a:prstGeom>
                <a:blipFill>
                  <a:blip r:embed="rId5"/>
                  <a:stretch>
                    <a:fillRect l="-26316" b="-1428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5" name="TextBox 194">
                  <a:extLst>
                    <a:ext uri="{FF2B5EF4-FFF2-40B4-BE49-F238E27FC236}">
                      <a16:creationId xmlns:a16="http://schemas.microsoft.com/office/drawing/2014/main" id="{64DE1BBB-7A83-BBAE-7085-375F85F94A13}"/>
                    </a:ext>
                  </a:extLst>
                </p:cNvPr>
                <p:cNvSpPr txBox="1"/>
                <p:nvPr/>
              </p:nvSpPr>
              <p:spPr>
                <a:xfrm>
                  <a:off x="6587654" y="4527578"/>
                  <a:ext cx="244683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𝐍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/>
                </a:p>
              </p:txBody>
            </p:sp>
          </mc:Choice>
          <mc:Fallback xmlns="">
            <p:sp>
              <p:nvSpPr>
                <p:cNvPr id="195" name="TextBox 194">
                  <a:extLst>
                    <a:ext uri="{FF2B5EF4-FFF2-40B4-BE49-F238E27FC236}">
                      <a16:creationId xmlns:a16="http://schemas.microsoft.com/office/drawing/2014/main" id="{64DE1BBB-7A83-BBAE-7085-375F85F94A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87654" y="4527578"/>
                  <a:ext cx="244683" cy="215443"/>
                </a:xfrm>
                <a:prstGeom prst="rect">
                  <a:avLst/>
                </a:prstGeom>
                <a:blipFill>
                  <a:blip r:embed="rId6"/>
                  <a:stretch>
                    <a:fillRect l="-25000" b="-1428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7" name="TextBox 196">
                  <a:extLst>
                    <a:ext uri="{FF2B5EF4-FFF2-40B4-BE49-F238E27FC236}">
                      <a16:creationId xmlns:a16="http://schemas.microsoft.com/office/drawing/2014/main" id="{2320E5BC-61E5-3416-2B2D-C2BB5047ACA4}"/>
                    </a:ext>
                  </a:extLst>
                </p:cNvPr>
                <p:cNvSpPr txBox="1"/>
                <p:nvPr/>
              </p:nvSpPr>
              <p:spPr>
                <a:xfrm>
                  <a:off x="7539668" y="4527578"/>
                  <a:ext cx="414602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𝐁𝐎𝐗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/>
                </a:p>
              </p:txBody>
            </p:sp>
          </mc:Choice>
          <mc:Fallback xmlns="">
            <p:sp>
              <p:nvSpPr>
                <p:cNvPr id="197" name="TextBox 196">
                  <a:extLst>
                    <a:ext uri="{FF2B5EF4-FFF2-40B4-BE49-F238E27FC236}">
                      <a16:creationId xmlns:a16="http://schemas.microsoft.com/office/drawing/2014/main" id="{2320E5BC-61E5-3416-2B2D-C2BB5047AC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39668" y="4527578"/>
                  <a:ext cx="414602" cy="215443"/>
                </a:xfrm>
                <a:prstGeom prst="rect">
                  <a:avLst/>
                </a:prstGeom>
                <a:blipFill>
                  <a:blip r:embed="rId7"/>
                  <a:stretch>
                    <a:fillRect l="-13235" b="-1428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38CE6D35-2932-CD2F-A863-1CF7105BC775}"/>
                </a:ext>
              </a:extLst>
            </p:cNvPr>
            <p:cNvSpPr txBox="1"/>
            <p:nvPr/>
          </p:nvSpPr>
          <p:spPr>
            <a:xfrm>
              <a:off x="3112116" y="5065931"/>
              <a:ext cx="103384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200" baseline="-2500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sz="12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FC26A3AE-6AD2-A403-FB08-3F2DD6B1178C}"/>
                </a:ext>
              </a:extLst>
            </p:cNvPr>
            <p:cNvSpPr txBox="1"/>
            <p:nvPr/>
          </p:nvSpPr>
          <p:spPr>
            <a:xfrm>
              <a:off x="3676806" y="5065931"/>
              <a:ext cx="103384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200" baseline="-2500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ko-KR" altLang="en-US" sz="12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EE9C6097-8E69-8DE8-64AD-3697D416946F}"/>
                </a:ext>
              </a:extLst>
            </p:cNvPr>
            <p:cNvSpPr txBox="1"/>
            <p:nvPr/>
          </p:nvSpPr>
          <p:spPr>
            <a:xfrm>
              <a:off x="4241496" y="5065931"/>
              <a:ext cx="103384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200" baseline="-2500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ko-KR" altLang="en-US" sz="12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83CDD3E1-3FDB-F509-B562-811D09B701A4}"/>
                </a:ext>
              </a:extLst>
            </p:cNvPr>
            <p:cNvSpPr txBox="1"/>
            <p:nvPr/>
          </p:nvSpPr>
          <p:spPr>
            <a:xfrm>
              <a:off x="4806185" y="5065931"/>
              <a:ext cx="103384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200" baseline="-25000"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ko-KR" altLang="en-US" sz="12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2" name="TextBox 201">
              <a:extLst>
                <a:ext uri="{FF2B5EF4-FFF2-40B4-BE49-F238E27FC236}">
                  <a16:creationId xmlns:a16="http://schemas.microsoft.com/office/drawing/2014/main" id="{B790F642-9D41-397B-0EBB-68B4A44E09D6}"/>
                </a:ext>
              </a:extLst>
            </p:cNvPr>
            <p:cNvSpPr txBox="1"/>
            <p:nvPr/>
          </p:nvSpPr>
          <p:spPr>
            <a:xfrm>
              <a:off x="5587940" y="5065931"/>
              <a:ext cx="13336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200" baseline="-25000">
                  <a:latin typeface="Arial" panose="020B0604020202020204" pitchFamily="34" charset="0"/>
                  <a:cs typeface="Arial" panose="020B0604020202020204" pitchFamily="34" charset="0"/>
                </a:rPr>
                <a:t>N-1</a:t>
              </a:r>
              <a:endParaRPr lang="ko-KR" altLang="en-US" sz="12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CFE36130-CEF3-04FD-2A61-B1AF97904B11}"/>
                </a:ext>
              </a:extLst>
            </p:cNvPr>
            <p:cNvSpPr txBox="1"/>
            <p:nvPr/>
          </p:nvSpPr>
          <p:spPr>
            <a:xfrm>
              <a:off x="6254789" y="5065931"/>
              <a:ext cx="13336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200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sz="12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4" name="타원 203">
              <a:extLst>
                <a:ext uri="{FF2B5EF4-FFF2-40B4-BE49-F238E27FC236}">
                  <a16:creationId xmlns:a16="http://schemas.microsoft.com/office/drawing/2014/main" id="{1E9A8437-3A4F-6831-B4C1-59530E141D03}"/>
                </a:ext>
              </a:extLst>
            </p:cNvPr>
            <p:cNvSpPr/>
            <p:nvPr/>
          </p:nvSpPr>
          <p:spPr>
            <a:xfrm>
              <a:off x="3632223" y="4978272"/>
              <a:ext cx="71098" cy="7109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/>
            </a:p>
          </p:txBody>
        </p:sp>
        <p:sp>
          <p:nvSpPr>
            <p:cNvPr id="205" name="타원 204">
              <a:extLst>
                <a:ext uri="{FF2B5EF4-FFF2-40B4-BE49-F238E27FC236}">
                  <a16:creationId xmlns:a16="http://schemas.microsoft.com/office/drawing/2014/main" id="{656A9055-AF82-3884-0CCC-461DDB3D1A53}"/>
                </a:ext>
              </a:extLst>
            </p:cNvPr>
            <p:cNvSpPr/>
            <p:nvPr/>
          </p:nvSpPr>
          <p:spPr>
            <a:xfrm>
              <a:off x="4196918" y="4978272"/>
              <a:ext cx="71098" cy="7109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/>
            </a:p>
          </p:txBody>
        </p:sp>
        <p:sp>
          <p:nvSpPr>
            <p:cNvPr id="206" name="타원 205">
              <a:extLst>
                <a:ext uri="{FF2B5EF4-FFF2-40B4-BE49-F238E27FC236}">
                  <a16:creationId xmlns:a16="http://schemas.microsoft.com/office/drawing/2014/main" id="{B43A9A5D-610A-AF7B-C51F-021E0A9FB38D}"/>
                </a:ext>
              </a:extLst>
            </p:cNvPr>
            <p:cNvSpPr/>
            <p:nvPr/>
          </p:nvSpPr>
          <p:spPr>
            <a:xfrm>
              <a:off x="4732846" y="4978272"/>
              <a:ext cx="71098" cy="7109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/>
            </a:p>
          </p:txBody>
        </p:sp>
        <p:sp>
          <p:nvSpPr>
            <p:cNvPr id="207" name="타원 206">
              <a:extLst>
                <a:ext uri="{FF2B5EF4-FFF2-40B4-BE49-F238E27FC236}">
                  <a16:creationId xmlns:a16="http://schemas.microsoft.com/office/drawing/2014/main" id="{9B6B4969-CEB7-7E95-03CF-DC9C2F6DF9F2}"/>
                </a:ext>
              </a:extLst>
            </p:cNvPr>
            <p:cNvSpPr/>
            <p:nvPr/>
          </p:nvSpPr>
          <p:spPr>
            <a:xfrm>
              <a:off x="5291638" y="4978272"/>
              <a:ext cx="71098" cy="7109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/>
            </a:p>
          </p:txBody>
        </p:sp>
        <p:sp>
          <p:nvSpPr>
            <p:cNvPr id="208" name="타원 207">
              <a:extLst>
                <a:ext uri="{FF2B5EF4-FFF2-40B4-BE49-F238E27FC236}">
                  <a16:creationId xmlns:a16="http://schemas.microsoft.com/office/drawing/2014/main" id="{DF772A4E-3C93-E5A7-7A95-7F079DE2031E}"/>
                </a:ext>
              </a:extLst>
            </p:cNvPr>
            <p:cNvSpPr/>
            <p:nvPr/>
          </p:nvSpPr>
          <p:spPr>
            <a:xfrm>
              <a:off x="6386686" y="4978272"/>
              <a:ext cx="71098" cy="7109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/>
            </a:p>
          </p:txBody>
        </p:sp>
        <p:sp>
          <p:nvSpPr>
            <p:cNvPr id="209" name="타원 208">
              <a:extLst>
                <a:ext uri="{FF2B5EF4-FFF2-40B4-BE49-F238E27FC236}">
                  <a16:creationId xmlns:a16="http://schemas.microsoft.com/office/drawing/2014/main" id="{7D3B397A-A258-9578-6D31-D2BE6073AF71}"/>
                </a:ext>
              </a:extLst>
            </p:cNvPr>
            <p:cNvSpPr/>
            <p:nvPr/>
          </p:nvSpPr>
          <p:spPr>
            <a:xfrm>
              <a:off x="6919475" y="4978272"/>
              <a:ext cx="71098" cy="7109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/>
            </a:p>
          </p:txBody>
        </p:sp>
        <p:cxnSp>
          <p:nvCxnSpPr>
            <p:cNvPr id="210" name="직선 연결선 209">
              <a:extLst>
                <a:ext uri="{FF2B5EF4-FFF2-40B4-BE49-F238E27FC236}">
                  <a16:creationId xmlns:a16="http://schemas.microsoft.com/office/drawing/2014/main" id="{546F02D3-E684-0037-2575-1E6AA71BAFA6}"/>
                </a:ext>
              </a:extLst>
            </p:cNvPr>
            <p:cNvCxnSpPr>
              <a:cxnSpLocks/>
            </p:cNvCxnSpPr>
            <p:nvPr/>
          </p:nvCxnSpPr>
          <p:spPr>
            <a:xfrm>
              <a:off x="6161733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5" name="TextBox 264">
            <a:extLst>
              <a:ext uri="{FF2B5EF4-FFF2-40B4-BE49-F238E27FC236}">
                <a16:creationId xmlns:a16="http://schemas.microsoft.com/office/drawing/2014/main" id="{40E80BAA-3C7A-7931-AAAE-9CDD49C27053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6B118A-05C6-64C9-E2F7-DD109F0125FB}"/>
              </a:ext>
            </a:extLst>
          </p:cNvPr>
          <p:cNvSpPr txBox="1"/>
          <p:nvPr/>
        </p:nvSpPr>
        <p:spPr>
          <a:xfrm>
            <a:off x="409443" y="1097965"/>
            <a:ext cx="86404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영역을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개의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radial charge cell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분할</a:t>
            </a:r>
          </a:p>
        </p:txBody>
      </p:sp>
      <p:sp>
        <p:nvSpPr>
          <p:cNvPr id="5" name="화살표: 아래쪽 4">
            <a:extLst>
              <a:ext uri="{FF2B5EF4-FFF2-40B4-BE49-F238E27FC236}">
                <a16:creationId xmlns:a16="http://schemas.microsoft.com/office/drawing/2014/main" id="{F5CC9C04-7F95-140B-5AF0-81EF27621DBB}"/>
              </a:ext>
            </a:extLst>
          </p:cNvPr>
          <p:cNvSpPr/>
          <p:nvPr/>
        </p:nvSpPr>
        <p:spPr>
          <a:xfrm>
            <a:off x="4167077" y="3834327"/>
            <a:ext cx="765318" cy="584774"/>
          </a:xfrm>
          <a:prstGeom prst="downArrow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F4C1DF-32FF-30D5-ED42-B3DFFFA0091A}"/>
              </a:ext>
            </a:extLst>
          </p:cNvPr>
          <p:cNvSpPr txBox="1"/>
          <p:nvPr/>
        </p:nvSpPr>
        <p:spPr>
          <a:xfrm>
            <a:off x="409443" y="4530323"/>
            <a:ext cx="86404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각각의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equivalent charge node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ΔQ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표현할 수 있음</a:t>
            </a:r>
          </a:p>
        </p:txBody>
      </p:sp>
    </p:spTree>
    <p:extLst>
      <p:ext uri="{BB962C8B-B14F-4D97-AF65-F5344CB8AC3E}">
        <p14:creationId xmlns:p14="http://schemas.microsoft.com/office/powerpoint/2010/main" val="10394000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66EED9-289A-C75D-E259-CC1987405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5C5F83-BEED-3220-1ABB-195354AAD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Detailed Poisson Solution</a:t>
            </a:r>
            <a:endParaRPr lang="ko-KR" altLang="en-US" dirty="0"/>
          </a:p>
        </p:txBody>
      </p:sp>
      <p:pic>
        <p:nvPicPr>
          <p:cNvPr id="4" name="그림 3" descr="텍스트, 폰트, 친필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957F814-81C0-B11D-82BA-3C10AE605C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505" y="1362634"/>
            <a:ext cx="4309835" cy="165722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205B187-72BA-F9FE-A791-B18A4C829D83}"/>
              </a:ext>
            </a:extLst>
          </p:cNvPr>
          <p:cNvSpPr txBox="1"/>
          <p:nvPr/>
        </p:nvSpPr>
        <p:spPr>
          <a:xfrm>
            <a:off x="580103" y="963561"/>
            <a:ext cx="33422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N+2 layer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전위 분포 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E6F4FE7-A57F-6A32-681A-2E4753E470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6016" y="3879798"/>
            <a:ext cx="1495634" cy="46679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D250DDF5-DA6E-192F-24F4-DF6B5E8F2B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240" y="4621154"/>
            <a:ext cx="3755923" cy="380809"/>
          </a:xfrm>
          <a:prstGeom prst="rect">
            <a:avLst/>
          </a:prstGeom>
        </p:spPr>
      </p:pic>
      <p:pic>
        <p:nvPicPr>
          <p:cNvPr id="12" name="그림 11" descr="텍스트, 도표, 폰트, 친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BAEC66E-9B73-0F63-EB4A-185634E426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4115" y="1570745"/>
            <a:ext cx="3755923" cy="314648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38A7378-CDF4-68F4-07FE-EFADAA096305}"/>
              </a:ext>
            </a:extLst>
          </p:cNvPr>
          <p:cNvSpPr txBox="1"/>
          <p:nvPr/>
        </p:nvSpPr>
        <p:spPr>
          <a:xfrm>
            <a:off x="5306231" y="963561"/>
            <a:ext cx="26842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경계조건 행렬식 정리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F19C8A-DB6C-16EB-E305-67194412DE18}"/>
              </a:ext>
            </a:extLst>
          </p:cNvPr>
          <p:cNvSpPr txBox="1"/>
          <p:nvPr/>
        </p:nvSpPr>
        <p:spPr>
          <a:xfrm>
            <a:off x="1405304" y="3322920"/>
            <a:ext cx="25170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선형방정식</a:t>
            </a:r>
          </a:p>
        </p:txBody>
      </p:sp>
      <p:sp>
        <p:nvSpPr>
          <p:cNvPr id="15" name="왼쪽 중괄호 14">
            <a:extLst>
              <a:ext uri="{FF2B5EF4-FFF2-40B4-BE49-F238E27FC236}">
                <a16:creationId xmlns:a16="http://schemas.microsoft.com/office/drawing/2014/main" id="{40FB273B-07DE-550B-C6ED-5B1B98A01187}"/>
              </a:ext>
            </a:extLst>
          </p:cNvPr>
          <p:cNvSpPr/>
          <p:nvPr/>
        </p:nvSpPr>
        <p:spPr>
          <a:xfrm>
            <a:off x="4864932" y="1363671"/>
            <a:ext cx="356707" cy="3447888"/>
          </a:xfrm>
          <a:prstGeom prst="leftBrace">
            <a:avLst>
              <a:gd name="adj1" fmla="val 80279"/>
              <a:gd name="adj2" fmla="val 65858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18E10C-866D-D215-EA54-6985C98C0068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59550E-6915-D59A-CE8E-8A031A181A7D}"/>
              </a:ext>
            </a:extLst>
          </p:cNvPr>
          <p:cNvSpPr txBox="1"/>
          <p:nvPr/>
        </p:nvSpPr>
        <p:spPr>
          <a:xfrm>
            <a:off x="580104" y="5410986"/>
            <a:ext cx="27192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역행렬</a:t>
            </a:r>
            <a:r>
              <a:rPr lang="ko-KR" altLang="en-US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계산</a:t>
            </a:r>
            <a:r>
              <a:rPr lang="en-US" altLang="ko-KR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…?	x = A</a:t>
            </a:r>
            <a:r>
              <a:rPr lang="en-US" altLang="ko-KR" sz="24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-1</a:t>
            </a:r>
            <a:r>
              <a:rPr lang="en-US" altLang="ko-KR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 ..?</a:t>
            </a:r>
            <a:endParaRPr lang="ko-KR" altLang="en-US" sz="2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459E2C-4E16-26A4-071A-63101296EA36}"/>
              </a:ext>
            </a:extLst>
          </p:cNvPr>
          <p:cNvSpPr txBox="1"/>
          <p:nvPr/>
        </p:nvSpPr>
        <p:spPr>
          <a:xfrm>
            <a:off x="4572000" y="5664511"/>
            <a:ext cx="376784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구하는데 있어 모든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coefficient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계산은 불필요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!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ADF34F1C-3C4D-D660-97C8-C53D17206B47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3099250" y="6018454"/>
            <a:ext cx="147275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137248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FC4F5-1BC0-444C-80AE-9E166FBE0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E13666-3AEC-DBB1-B987-49885C8D72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Q-</a:t>
            </a:r>
            <a:r>
              <a:rPr lang="en-US" altLang="ko-KR" dirty="0" err="1"/>
              <a:t>ΔV</a:t>
            </a:r>
            <a:r>
              <a:rPr lang="en-US" altLang="ko-KR" baseline="-25000" dirty="0" err="1"/>
              <a:t>th</a:t>
            </a:r>
            <a:r>
              <a:rPr lang="en-US" altLang="ko-KR" dirty="0"/>
              <a:t> Optimized Calculation</a:t>
            </a:r>
            <a:endParaRPr lang="ko-KR" altLang="en-US" dirty="0"/>
          </a:p>
        </p:txBody>
      </p:sp>
      <p:pic>
        <p:nvPicPr>
          <p:cNvPr id="5" name="그림 4" descr="폰트, 텍스트, 화이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A08BDE1-8A43-FEC0-E8C1-EE714D441E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977" y="1770233"/>
            <a:ext cx="2410161" cy="733527"/>
          </a:xfrm>
          <a:prstGeom prst="rect">
            <a:avLst/>
          </a:prstGeom>
        </p:spPr>
      </p:pic>
      <p:pic>
        <p:nvPicPr>
          <p:cNvPr id="6" name="그림 5" descr="폰트, 텍스트, 라인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5F27606-0963-B914-E944-35FAE9B57F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8127" y="2677219"/>
            <a:ext cx="2160900" cy="53498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50CEA32D-CC1D-4CEB-E725-A5295A65ED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5345" y="3212201"/>
            <a:ext cx="3813982" cy="43359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B0153A1-F69A-C98F-D4B9-96EA751DAB8F}"/>
              </a:ext>
            </a:extLst>
          </p:cNvPr>
          <p:cNvSpPr txBox="1"/>
          <p:nvPr/>
        </p:nvSpPr>
        <p:spPr>
          <a:xfrm>
            <a:off x="530941" y="1196664"/>
            <a:ext cx="50203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: channel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에서의 전기장의 세기가 중요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B7EB8B-F728-D4C4-2DBF-EC64979A3A84}"/>
              </a:ext>
            </a:extLst>
          </p:cNvPr>
          <p:cNvSpPr txBox="1"/>
          <p:nvPr/>
        </p:nvSpPr>
        <p:spPr>
          <a:xfrm>
            <a:off x="530941" y="2744853"/>
            <a:ext cx="350028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Cramer’s rule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에 따르면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, 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DD3E0A-E53D-607A-4FF3-2A882D3950FC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pic>
        <p:nvPicPr>
          <p:cNvPr id="7" name="그림 6" descr="텍스트, 도표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0FCC1F5-C0A9-FA93-07A8-C0C1C143A7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8606" y="3774674"/>
            <a:ext cx="5613595" cy="243062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3148E05-C795-3D57-D309-5023DCBB2510}"/>
              </a:ext>
            </a:extLst>
          </p:cNvPr>
          <p:cNvSpPr txBox="1"/>
          <p:nvPr/>
        </p:nvSpPr>
        <p:spPr>
          <a:xfrm>
            <a:off x="4175806" y="1783053"/>
            <a:ext cx="456704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K</a:t>
            </a:r>
            <a:r>
              <a:rPr lang="en-US" altLang="ko-KR" sz="2000" baseline="-25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TOX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값을 </a:t>
            </a:r>
            <a:r>
              <a:rPr lang="ko-KR" altLang="en-US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일치시키는게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값 구하는 핵심 과정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!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2146A9C4-EFCA-2894-B40D-A521D8730E6F}"/>
              </a:ext>
            </a:extLst>
          </p:cNvPr>
          <p:cNvSpPr/>
          <p:nvPr/>
        </p:nvSpPr>
        <p:spPr>
          <a:xfrm>
            <a:off x="3212538" y="2014917"/>
            <a:ext cx="890124" cy="303119"/>
          </a:xfrm>
          <a:prstGeom prst="rightArrow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72418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4E407A-4361-331A-4C48-DCCF1EF9AC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167D83-D14C-2A1F-C38B-F2B1B5D378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Q-</a:t>
            </a:r>
            <a:r>
              <a:rPr lang="en-US" altLang="ko-KR" dirty="0" err="1"/>
              <a:t>ΔV</a:t>
            </a:r>
            <a:r>
              <a:rPr lang="en-US" altLang="ko-KR" baseline="-25000" dirty="0" err="1"/>
              <a:t>th</a:t>
            </a:r>
            <a:r>
              <a:rPr lang="en-US" altLang="ko-KR" dirty="0"/>
              <a:t> Optimized Calculation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51972AA-673D-92C3-7122-A46E58BE71E6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1A0895-B17C-2A05-E460-D81E66DE46D8}"/>
              </a:ext>
            </a:extLst>
          </p:cNvPr>
          <p:cNvSpPr txBox="1"/>
          <p:nvPr/>
        </p:nvSpPr>
        <p:spPr>
          <a:xfrm>
            <a:off x="420786" y="1051965"/>
            <a:ext cx="781690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결론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: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임의로 주어진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내의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discretized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분포에 대한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계산식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EABD303-D736-C00E-7EC5-CF361C230BB1}"/>
                  </a:ext>
                </a:extLst>
              </p:cNvPr>
              <p:cNvSpPr txBox="1"/>
              <p:nvPr/>
            </p:nvSpPr>
            <p:spPr>
              <a:xfrm>
                <a:off x="780341" y="3327137"/>
                <a:ext cx="7816906" cy="26775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20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/>
                      </a:rPr>
                      <m:t>∴</m:t>
                    </m:r>
                    <m:r>
                      <a:rPr lang="en-US" altLang="ko-KR" sz="20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 </m:t>
                    </m:r>
                    <m:r>
                      <m:rPr>
                        <m:sty m:val="p"/>
                      </m:rPr>
                      <a:rPr lang="en-US" altLang="ko-KR" sz="20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Δ</m:t>
                    </m:r>
                    <m:sSub>
                      <m:sSubPr>
                        <m:ctrlP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𝑡h</m:t>
                        </m:r>
                      </m:sub>
                    </m:sSub>
                    <m:r>
                      <a:rPr lang="en-US" altLang="ko-KR" sz="20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=−</m:t>
                    </m:r>
                    <m:func>
                      <m:funcPr>
                        <m:ctrlP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20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det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ko-KR" sz="20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20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n-US" altLang="ko-KR" sz="20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𝑏</m:t>
                                </m:r>
                                <m:d>
                                  <m:dPr>
                                    <m:ctrlP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Δ</m:t>
                                    </m:r>
                                    <m:sSub>
                                      <m:sSubPr>
                                        <m:ctrlP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𝑄</m:t>
                                        </m:r>
                                      </m:e>
                                      <m:sub>
                                        <m: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,0</m:t>
                                    </m:r>
                                  </m:e>
                                </m:d>
                              </m:sub>
                            </m:sSub>
                          </m:e>
                        </m:d>
                      </m:e>
                    </m:func>
                    <m:r>
                      <a:rPr lang="en-US" altLang="ko-KR" sz="20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 −</m:t>
                    </m:r>
                    <m:r>
                      <m:rPr>
                        <m:sty m:val="p"/>
                      </m:rPr>
                      <a:rPr lang="en-US" altLang="ko-KR" sz="20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det</m:t>
                    </m:r>
                    <m:d>
                      <m:dPr>
                        <m:begChr m:val="["/>
                        <m:endChr m:val="]"/>
                        <m:ctrlPr>
                          <a:rPr lang="ko-KR" altLang="en-US" sz="200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ko-KR" altLang="en-US" sz="200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mP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ko-KR" altLang="en-US" sz="200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</m:ctrlPr>
                                </m:mPr>
                                <m:mr>
                                  <m:e>
                                    <m:f>
                                      <m:fPr>
                                        <m:ctrlP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ko-KR" sz="200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Δ</m:t>
                                        </m:r>
                                        <m:sSub>
                                          <m:sSubPr>
                                            <m:ctrlP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𝑄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0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2</m:t>
                                        </m:r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𝜋</m:t>
                                        </m:r>
                                      </m:den>
                                    </m:f>
                                  </m:e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−1</m:t>
                                    </m:r>
                                  </m:e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f>
                                      <m:fPr>
                                        <m:ctrlP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ko-KR" sz="200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Δ</m:t>
                                        </m:r>
                                        <m:sSub>
                                          <m:sSubPr>
                                            <m:ctrlP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𝑄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2</m:t>
                                        </m:r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𝜋</m:t>
                                        </m:r>
                                      </m:den>
                                    </m:f>
                                  </m:e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−1</m:t>
                                    </m:r>
                                  </m:e>
                                </m:mr>
                              </m:m>
                            </m:e>
                            <m:e>
                              <m:r>
                                <a:rPr lang="ko-KR" altLang="en-US" sz="200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⋯</m:t>
                              </m:r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ko-KR" altLang="en-US" sz="200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</m:ctrlPr>
                                </m:mPr>
                                <m:mr>
                                  <m:e>
                                    <m:eqArr>
                                      <m:eqArrPr>
                                        <m:ctrlP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0</m:t>
                                        </m:r>
                                      </m:e>
                                      <m:e/>
                                    </m:eqArr>
                                  </m:e>
                                  <m:e>
                                    <m:eqArr>
                                      <m:eqArrPr>
                                        <m:ctrlP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0</m:t>
                                        </m:r>
                                      </m:e>
                                      <m:e/>
                                    </m:eqArr>
                                  </m:e>
                                </m:mr>
                                <m:mr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mr>
                          <m:mr>
                            <m:e>
                              <m:r>
                                <a:rPr lang="ko-KR" altLang="en-US" sz="200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⋮</m:t>
                              </m:r>
                            </m:e>
                            <m:e>
                              <m:r>
                                <a:rPr lang="ko-KR" altLang="en-US" sz="200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⋱</m:t>
                              </m:r>
                            </m:e>
                            <m:e>
                              <m:r>
                                <a:rPr lang="ko-KR" altLang="en-US" sz="200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ko-KR" altLang="en-US" sz="200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</m:ctrlPr>
                                </m:mPr>
                                <m:mr>
                                  <m:e>
                                    <m:f>
                                      <m:fPr>
                                        <m:ctrlP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ko-KR" sz="200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Δ</m:t>
                                        </m:r>
                                        <m:sSub>
                                          <m:sSubPr>
                                            <m:ctrlP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𝑄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𝑁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2</m:t>
                                        </m:r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𝜋</m:t>
                                        </m:r>
                                      </m:den>
                                    </m:f>
                                  </m:e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0</m:t>
                                    </m:r>
                                  </m:e>
                                  <m:e>
                                    <m:f>
                                      <m:fPr>
                                        <m:ctrlP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2</m:t>
                                        </m:r>
                                        <m: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𝜋</m:t>
                                        </m:r>
                                      </m:num>
                                      <m:den>
                                        <m:sSub>
                                          <m:sSubPr>
                                            <m:ctrlP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𝐶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  <m:e>
                                    <m:f>
                                      <m:fPr>
                                        <m:ctrlP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2</m:t>
                                        </m:r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𝜋</m:t>
                                        </m:r>
                                      </m:num>
                                      <m:den>
                                        <m:sSub>
                                          <m:sSubPr>
                                            <m:ctrlP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𝐶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mr>
                              </m:m>
                            </m:e>
                            <m:e>
                              <m:r>
                                <a:rPr lang="ko-KR" altLang="en-US" sz="200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⋯</m:t>
                              </m:r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ko-KR" altLang="en-US" sz="200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</m:ctrlPr>
                                </m:mPr>
                                <m:mr>
                                  <m:e>
                                    <m:eqArr>
                                      <m:eqArrPr>
                                        <m:ctrlP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eqArrPr>
                                      <m:e/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1</m:t>
                                        </m:r>
                                      </m:e>
                                      <m:e/>
                                    </m:eqArr>
                                  </m:e>
                                  <m:e>
                                    <m:eqArr>
                                      <m:eqArrPr>
                                        <m:ctrlP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eqArrPr>
                                      <m:e/>
                                      <m:e>
                                        <m: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−1</m:t>
                                        </m:r>
                                      </m:e>
                                      <m:e/>
                                    </m:eqArr>
                                  </m:e>
                                </m:mr>
                                <m:mr>
                                  <m:e>
                                    <m:f>
                                      <m:fPr>
                                        <m:ctrlP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2</m:t>
                                        </m:r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𝜋</m:t>
                                        </m:r>
                                      </m:num>
                                      <m:den>
                                        <m:sSub>
                                          <m:sSubPr>
                                            <m:ctrlP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𝐶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𝑁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  <m:e>
                                    <m:f>
                                      <m:fPr>
                                        <m:ctrlP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2</m:t>
                                        </m:r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𝜋</m:t>
                                        </m:r>
                                      </m:num>
                                      <m:den>
                                        <m:sSub>
                                          <m:sSubPr>
                                            <m:ctrlP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𝐶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𝐵𝑂𝑋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</m:oMath>
                </a14:m>
                <a:r>
                  <a:rPr lang="ko-KR" altLang="en-US" sz="20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EABD303-D736-C00E-7EC5-CF361C230B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341" y="3327137"/>
                <a:ext cx="7816906" cy="267752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E6409AD-EE3B-7EB5-E832-79A8F4E18140}"/>
                  </a:ext>
                </a:extLst>
              </p:cNvPr>
              <p:cNvSpPr txBox="1"/>
              <p:nvPr/>
            </p:nvSpPr>
            <p:spPr>
              <a:xfrm>
                <a:off x="863846" y="1853077"/>
                <a:ext cx="7816906" cy="579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초기 입력 조건</a:t>
                </a:r>
                <a:r>
                  <a:rPr lang="en-US" altLang="ko-KR" sz="20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: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0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Δ</m:t>
                    </m:r>
                    <m:sSub>
                      <m:sSubPr>
                        <m:ctrlP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𝑄</m:t>
                        </m:r>
                      </m:e>
                      <m:sub>
                        <m: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𝑖</m:t>
                        </m:r>
                      </m:sub>
                    </m:sSub>
                    <m:r>
                      <a:rPr lang="en-US" altLang="ko-KR" sz="20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(</m:t>
                    </m:r>
                    <m:r>
                      <a:rPr lang="en-US" altLang="ko-KR" sz="20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𝑖</m:t>
                    </m:r>
                    <m:r>
                      <a:rPr lang="en-US" altLang="ko-KR" sz="20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=1−</m:t>
                    </m:r>
                    <m:r>
                      <a:rPr lang="en-US" altLang="ko-KR" sz="20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𝑁</m:t>
                    </m:r>
                    <m:r>
                      <a:rPr lang="en-US" altLang="ko-KR" sz="20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)</m:t>
                    </m:r>
                  </m:oMath>
                </a14:m>
                <a:r>
                  <a:rPr lang="en-US" altLang="ko-KR" sz="20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,  </a:t>
                </a:r>
                <a14:m>
                  <m:oMath xmlns:m="http://schemas.openxmlformats.org/officeDocument/2006/math">
                    <m:r>
                      <a:rPr lang="en-US" altLang="ko-KR" sz="2000" b="0" i="1" dirty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𝐶</m:t>
                    </m:r>
                    <m:r>
                      <a:rPr lang="en-US" altLang="ko-KR" sz="2000" b="0" i="1" dirty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f>
                      <m:fPr>
                        <m:ctrlPr>
                          <a:rPr lang="en-US" altLang="ko-KR" sz="2000" b="0" i="1" dirty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2000" b="0" i="1" dirty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  <m:r>
                          <a:rPr lang="en-US" altLang="ko-KR" sz="2000" b="0" i="1" dirty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𝜋𝜀</m:t>
                        </m:r>
                      </m:num>
                      <m:den>
                        <m:func>
                          <m:funcPr>
                            <m:ctrlPr>
                              <a:rPr lang="en-US" altLang="ko-KR" sz="2000" b="0" i="1" dirty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2000" b="0" i="0" dirty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altLang="ko-KR" sz="2000" b="0" i="1" dirty="0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dPr>
                              <m:e>
                                <m:r>
                                  <a:rPr lang="en-US" altLang="ko-KR" sz="2000" b="0" i="1" dirty="0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𝑏</m:t>
                                </m:r>
                                <m:r>
                                  <m:rPr>
                                    <m:lit/>
                                  </m:rPr>
                                  <a:rPr lang="en-US" altLang="ko-KR" sz="2000" b="0" i="1" dirty="0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/</m:t>
                                </m:r>
                                <m:r>
                                  <a:rPr lang="en-US" altLang="ko-KR" sz="2000" b="0" i="1" dirty="0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𝑎</m:t>
                                </m:r>
                              </m:e>
                            </m:d>
                          </m:e>
                        </m:func>
                      </m:den>
                    </m:f>
                  </m:oMath>
                </a14:m>
                <a:endParaRPr lang="ko-KR" altLang="en-US" sz="2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E6409AD-EE3B-7EB5-E832-79A8F4E181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3846" y="1853077"/>
                <a:ext cx="7816906" cy="57932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5" name="그룹 24">
            <a:extLst>
              <a:ext uri="{FF2B5EF4-FFF2-40B4-BE49-F238E27FC236}">
                <a16:creationId xmlns:a16="http://schemas.microsoft.com/office/drawing/2014/main" id="{54FA823E-92CA-840A-1DDE-B7F62364E727}"/>
              </a:ext>
            </a:extLst>
          </p:cNvPr>
          <p:cNvGrpSpPr/>
          <p:nvPr/>
        </p:nvGrpSpPr>
        <p:grpSpPr>
          <a:xfrm>
            <a:off x="6548586" y="1976728"/>
            <a:ext cx="947738" cy="886470"/>
            <a:chOff x="6105526" y="1766242"/>
            <a:chExt cx="947738" cy="886470"/>
          </a:xfrm>
        </p:grpSpPr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7D67F8BE-9D96-9694-A1BA-6960AC958AD4}"/>
                </a:ext>
              </a:extLst>
            </p:cNvPr>
            <p:cNvSpPr/>
            <p:nvPr/>
          </p:nvSpPr>
          <p:spPr>
            <a:xfrm>
              <a:off x="6105526" y="1766888"/>
              <a:ext cx="885824" cy="885824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E56C46D4-392E-14C4-50E0-9C3F26C86606}"/>
                </a:ext>
              </a:extLst>
            </p:cNvPr>
            <p:cNvSpPr/>
            <p:nvPr/>
          </p:nvSpPr>
          <p:spPr>
            <a:xfrm>
              <a:off x="6338275" y="1999637"/>
              <a:ext cx="420326" cy="420326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0" name="직선 화살표 연결선 9">
              <a:extLst>
                <a:ext uri="{FF2B5EF4-FFF2-40B4-BE49-F238E27FC236}">
                  <a16:creationId xmlns:a16="http://schemas.microsoft.com/office/drawing/2014/main" id="{4BD2C5D7-AECC-9DD4-A650-BAA670C8FAB3}"/>
                </a:ext>
              </a:extLst>
            </p:cNvPr>
            <p:cNvCxnSpPr>
              <a:endCxn id="7" idx="7"/>
            </p:cNvCxnSpPr>
            <p:nvPr/>
          </p:nvCxnSpPr>
          <p:spPr>
            <a:xfrm flipV="1">
              <a:off x="6553200" y="2061192"/>
              <a:ext cx="143846" cy="15813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직선 화살표 연결선 10">
              <a:extLst>
                <a:ext uri="{FF2B5EF4-FFF2-40B4-BE49-F238E27FC236}">
                  <a16:creationId xmlns:a16="http://schemas.microsoft.com/office/drawing/2014/main" id="{E8954EC5-F222-6104-8B98-394114FCDC2C}"/>
                </a:ext>
              </a:extLst>
            </p:cNvPr>
            <p:cNvCxnSpPr>
              <a:cxnSpLocks/>
              <a:endCxn id="3" idx="6"/>
            </p:cNvCxnSpPr>
            <p:nvPr/>
          </p:nvCxnSpPr>
          <p:spPr>
            <a:xfrm flipV="1">
              <a:off x="6548438" y="2209800"/>
              <a:ext cx="442912" cy="952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6962CBE2-5006-34A3-0FB8-CD4F84FDEE9D}"/>
                </a:ext>
              </a:extLst>
            </p:cNvPr>
            <p:cNvCxnSpPr/>
            <p:nvPr/>
          </p:nvCxnSpPr>
          <p:spPr>
            <a:xfrm>
              <a:off x="6448425" y="1853230"/>
              <a:ext cx="2000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6A9D9BF4-F3DD-0750-8A6C-73FD6D4C422B}"/>
                </a:ext>
              </a:extLst>
            </p:cNvPr>
            <p:cNvCxnSpPr/>
            <p:nvPr/>
          </p:nvCxnSpPr>
          <p:spPr>
            <a:xfrm>
              <a:off x="6448425" y="1907205"/>
              <a:ext cx="2000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918C43A9-724D-1FFC-C55D-478A8093C4FD}"/>
                </a:ext>
              </a:extLst>
            </p:cNvPr>
            <p:cNvCxnSpPr>
              <a:cxnSpLocks/>
              <a:stCxn id="7" idx="0"/>
            </p:cNvCxnSpPr>
            <p:nvPr/>
          </p:nvCxnSpPr>
          <p:spPr>
            <a:xfrm flipV="1">
              <a:off x="6548438" y="1914786"/>
              <a:ext cx="0" cy="8485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AEB067FF-2361-D35C-4613-14F06E7D74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48437" y="1766242"/>
              <a:ext cx="0" cy="8761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14D1E24-7CC3-76F6-BEA4-E42EE728E4A5}"/>
                    </a:ext>
                  </a:extLst>
                </p:cNvPr>
                <p:cNvSpPr txBox="1"/>
                <p:nvPr/>
              </p:nvSpPr>
              <p:spPr>
                <a:xfrm>
                  <a:off x="6433343" y="1961263"/>
                  <a:ext cx="336551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altLang="ko-KR" sz="1050" b="0" i="1" dirty="0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𝑎</m:t>
                      </m:r>
                    </m:oMath>
                  </a14:m>
                  <a:r>
                    <a:rPr lang="ko-KR" altLang="en-US" sz="1050" dirty="0">
                      <a:ln w="9525">
                        <a:solidFill>
                          <a:schemeClr val="tx1">
                            <a:alpha val="29000"/>
                          </a:schemeClr>
                        </a:solidFill>
                      </a:ln>
                      <a:latin typeface="Times New Roman"/>
                      <a:ea typeface="맑은 고딕"/>
                      <a:cs typeface="Times New Roman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14D1E24-7CC3-76F6-BEA4-E42EE728E4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3343" y="1961263"/>
                  <a:ext cx="336551" cy="2616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44E1D0FB-CE49-6B85-C3E8-E3F33F71F3B0}"/>
                    </a:ext>
                  </a:extLst>
                </p:cNvPr>
                <p:cNvSpPr txBox="1"/>
                <p:nvPr/>
              </p:nvSpPr>
              <p:spPr>
                <a:xfrm>
                  <a:off x="6716713" y="2157595"/>
                  <a:ext cx="336551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altLang="ko-KR" sz="1050" b="0" i="1" dirty="0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𝑏</m:t>
                      </m:r>
                    </m:oMath>
                  </a14:m>
                  <a:r>
                    <a:rPr lang="ko-KR" altLang="en-US" sz="1050" dirty="0">
                      <a:ln w="9525">
                        <a:solidFill>
                          <a:schemeClr val="tx1">
                            <a:alpha val="29000"/>
                          </a:schemeClr>
                        </a:solidFill>
                      </a:ln>
                      <a:latin typeface="Times New Roman"/>
                      <a:ea typeface="맑은 고딕"/>
                      <a:cs typeface="Times New Roman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44E1D0FB-CE49-6B85-C3E8-E3F33F71F3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16713" y="2157595"/>
                  <a:ext cx="336551" cy="26161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7D504B7-ED9F-7FEE-7B70-49BD7BED55A6}"/>
                  </a:ext>
                </a:extLst>
              </p:cNvPr>
              <p:cNvSpPr txBox="1"/>
              <p:nvPr/>
            </p:nvSpPr>
            <p:spPr>
              <a:xfrm>
                <a:off x="6555492" y="1886374"/>
                <a:ext cx="54675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0" i="1" baseline="-3000" dirty="0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𝐶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7D504B7-ED9F-7FEE-7B70-49BD7BED55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5492" y="1886374"/>
                <a:ext cx="546754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67742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33ADB9-34DA-B950-A802-3A43A8BED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제목 1">
            <a:extLst>
              <a:ext uri="{FF2B5EF4-FFF2-40B4-BE49-F238E27FC236}">
                <a16:creationId xmlns:a16="http://schemas.microsoft.com/office/drawing/2014/main" id="{7F58E887-E832-99FA-0F24-A9AFF8C1C0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63" y="165100"/>
            <a:ext cx="8956675" cy="592138"/>
          </a:xfrm>
        </p:spPr>
        <p:txBody>
          <a:bodyPr/>
          <a:lstStyle/>
          <a:p>
            <a:r>
              <a:rPr lang="en-US" altLang="ko-KR" dirty="0"/>
              <a:t>Time-step-free Physics-based Modeling</a:t>
            </a:r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D75A4D3-247C-22B1-F1AE-B86974CCBE78}"/>
              </a:ext>
            </a:extLst>
          </p:cNvPr>
          <p:cNvSpPr txBox="1"/>
          <p:nvPr/>
        </p:nvSpPr>
        <p:spPr>
          <a:xfrm>
            <a:off x="671847" y="1120462"/>
            <a:ext cx="75091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핵심 원리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: initial trapped charge distribution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부터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target retention time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직접 계산</a:t>
            </a:r>
          </a:p>
        </p:txBody>
      </p:sp>
      <p:sp>
        <p:nvSpPr>
          <p:cNvPr id="3" name="Shape 4">
            <a:extLst>
              <a:ext uri="{FF2B5EF4-FFF2-40B4-BE49-F238E27FC236}">
                <a16:creationId xmlns:a16="http://schemas.microsoft.com/office/drawing/2014/main" id="{0B019CFC-82C9-105D-FCDD-B75465C27C5D}"/>
              </a:ext>
            </a:extLst>
          </p:cNvPr>
          <p:cNvSpPr/>
          <p:nvPr/>
        </p:nvSpPr>
        <p:spPr>
          <a:xfrm>
            <a:off x="7632700" y="254185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5">
            <a:extLst>
              <a:ext uri="{FF2B5EF4-FFF2-40B4-BE49-F238E27FC236}">
                <a16:creationId xmlns:a16="http://schemas.microsoft.com/office/drawing/2014/main" id="{15A7DFE3-C15B-860D-119E-F34640D54D2A}"/>
              </a:ext>
            </a:extLst>
          </p:cNvPr>
          <p:cNvSpPr/>
          <p:nvPr/>
        </p:nvSpPr>
        <p:spPr>
          <a:xfrm>
            <a:off x="7632700" y="400489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8311B41D-60B9-2619-8B99-9242345E3C1D}"/>
              </a:ext>
            </a:extLst>
          </p:cNvPr>
          <p:cNvSpPr/>
          <p:nvPr/>
        </p:nvSpPr>
        <p:spPr>
          <a:xfrm>
            <a:off x="6489700" y="1901775"/>
            <a:ext cx="2286000" cy="685800"/>
          </a:xfrm>
          <a:prstGeom prst="rect">
            <a:avLst/>
          </a:prstGeom>
          <a:solidFill>
            <a:srgbClr val="EAFBFC"/>
          </a:solidFill>
          <a:ln w="12700">
            <a:solidFill>
              <a:srgbClr val="7FD9DF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1. Initial state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t0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)</a:t>
            </a:r>
            <a:endParaRPr lang="en-US" sz="1450" dirty="0"/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BADA6501-2D63-D31A-2E5E-0221B93D84B6}"/>
              </a:ext>
            </a:extLst>
          </p:cNvPr>
          <p:cNvSpPr/>
          <p:nvPr/>
        </p:nvSpPr>
        <p:spPr>
          <a:xfrm>
            <a:off x="6489700" y="3282519"/>
            <a:ext cx="2286000" cy="685800"/>
          </a:xfrm>
          <a:prstGeom prst="rect">
            <a:avLst/>
          </a:prstGeom>
          <a:solidFill>
            <a:srgbClr val="F0F7FF"/>
          </a:solidFill>
          <a:ln w="12700">
            <a:solidFill>
              <a:srgbClr val="A9CCE3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2. Emission rates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ch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WL</a:t>
            </a:r>
            <a:endParaRPr lang="en-US" sz="1450" baseline="-25000" dirty="0"/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D5066E75-AF93-E9A3-9676-300154B024F9}"/>
              </a:ext>
            </a:extLst>
          </p:cNvPr>
          <p:cNvSpPr/>
          <p:nvPr/>
        </p:nvSpPr>
        <p:spPr>
          <a:xfrm>
            <a:off x="6489700" y="4754703"/>
            <a:ext cx="2286000" cy="685800"/>
          </a:xfrm>
          <a:prstGeom prst="rect">
            <a:avLst/>
          </a:prstGeom>
          <a:solidFill>
            <a:srgbClr val="F7F2E2"/>
          </a:solidFill>
          <a:ln w="12700">
            <a:solidFill>
              <a:srgbClr val="F2D38E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 Direct evaluation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t)</a:t>
            </a:r>
            <a:endParaRPr lang="en-US" sz="1450" dirty="0"/>
          </a:p>
        </p:txBody>
      </p:sp>
      <p:pic>
        <p:nvPicPr>
          <p:cNvPr id="45" name="그림 44">
            <a:extLst>
              <a:ext uri="{FF2B5EF4-FFF2-40B4-BE49-F238E27FC236}">
                <a16:creationId xmlns:a16="http://schemas.microsoft.com/office/drawing/2014/main" id="{AEF8090E-1CBF-ECCD-AB9E-F978D889B8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595" y="1854072"/>
            <a:ext cx="5496708" cy="3860024"/>
          </a:xfrm>
          <a:prstGeom prst="rect">
            <a:avLst/>
          </a:prstGeom>
        </p:spPr>
      </p:pic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7EACCCCB-6BCA-1872-D756-495F8CC939D3}"/>
              </a:ext>
            </a:extLst>
          </p:cNvPr>
          <p:cNvCxnSpPr>
            <a:cxnSpLocks/>
          </p:cNvCxnSpPr>
          <p:nvPr/>
        </p:nvCxnSpPr>
        <p:spPr>
          <a:xfrm flipH="1">
            <a:off x="5588000" y="1901775"/>
            <a:ext cx="901700" cy="339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11CCC6D7-D585-2B55-CEDB-2857EAD6F2D7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CF5BBB-2D30-00D7-79F5-405AED2EA63C}"/>
              </a:ext>
            </a:extLst>
          </p:cNvPr>
          <p:cNvSpPr txBox="1"/>
          <p:nvPr/>
        </p:nvSpPr>
        <p:spPr>
          <a:xfrm>
            <a:off x="1541143" y="5761990"/>
            <a:ext cx="75091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계산 비용은 </a:t>
            </a:r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final retention time </a:t>
            </a:r>
            <a:r>
              <a:rPr lang="ko-KR" altLang="en-US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자체가 아니라</a:t>
            </a:r>
          </a:p>
          <a:p>
            <a:pPr algn="r"/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 bin </a:t>
            </a:r>
            <a:r>
              <a:rPr lang="ko-KR" altLang="en-US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수와 </a:t>
            </a:r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evaluated time point </a:t>
            </a:r>
            <a:r>
              <a:rPr lang="ko-KR" altLang="en-US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수에 의해 결정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988DD71-58A4-C0F7-7D4B-BA19C07038AA}"/>
              </a:ext>
            </a:extLst>
          </p:cNvPr>
          <p:cNvCxnSpPr>
            <a:cxnSpLocks/>
          </p:cNvCxnSpPr>
          <p:nvPr/>
        </p:nvCxnSpPr>
        <p:spPr>
          <a:xfrm flipH="1">
            <a:off x="6046586" y="2576839"/>
            <a:ext cx="443114" cy="31606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28F921A-9011-3F85-500D-0EB173CEC725}"/>
              </a:ext>
            </a:extLst>
          </p:cNvPr>
          <p:cNvSpPr txBox="1"/>
          <p:nvPr/>
        </p:nvSpPr>
        <p:spPr>
          <a:xfrm>
            <a:off x="806823" y="3679576"/>
            <a:ext cx="7960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27BCF5-2405-5B72-05BF-C4316D65EF91}"/>
              </a:ext>
            </a:extLst>
          </p:cNvPr>
          <p:cNvSpPr txBox="1"/>
          <p:nvPr/>
        </p:nvSpPr>
        <p:spPr>
          <a:xfrm>
            <a:off x="344242" y="4157188"/>
            <a:ext cx="7960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TOX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076E66-0C5F-6E31-9940-F4C00432FE22}"/>
              </a:ext>
            </a:extLst>
          </p:cNvPr>
          <p:cNvSpPr txBox="1"/>
          <p:nvPr/>
        </p:nvSpPr>
        <p:spPr>
          <a:xfrm>
            <a:off x="1367564" y="4157188"/>
            <a:ext cx="7960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BOX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33F96E6-0A68-3A23-64B1-5B337DD34AC3}"/>
              </a:ext>
            </a:extLst>
          </p:cNvPr>
          <p:cNvSpPr txBox="1"/>
          <p:nvPr/>
        </p:nvSpPr>
        <p:spPr>
          <a:xfrm>
            <a:off x="-97824" y="3510050"/>
            <a:ext cx="90139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Si-channel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52228B-9112-3A34-8731-54BE8A79F6D3}"/>
              </a:ext>
            </a:extLst>
          </p:cNvPr>
          <p:cNvSpPr txBox="1"/>
          <p:nvPr/>
        </p:nvSpPr>
        <p:spPr>
          <a:xfrm>
            <a:off x="1840902" y="3404795"/>
            <a:ext cx="7960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WL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111347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6D9860-FE47-EE4D-586C-5252C3DE4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00F9AB-425E-FA11-7964-DA92B4B82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Time-step-free Physics-based Modeling</a:t>
            </a:r>
            <a:endParaRPr lang="ko-KR" altLang="en-US" dirty="0"/>
          </a:p>
        </p:txBody>
      </p:sp>
      <p:graphicFrame>
        <p:nvGraphicFramePr>
          <p:cNvPr id="9" name="개체 8">
            <a:extLst>
              <a:ext uri="{FF2B5EF4-FFF2-40B4-BE49-F238E27FC236}">
                <a16:creationId xmlns:a16="http://schemas.microsoft.com/office/drawing/2014/main" id="{E214A776-0BA0-6D9B-EE09-CF6C8122E84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89089150"/>
              </p:ext>
            </p:extLst>
          </p:nvPr>
        </p:nvGraphicFramePr>
        <p:xfrm>
          <a:off x="94129" y="2477565"/>
          <a:ext cx="3272867" cy="23132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2" imgW="4851068" imgH="3429000" progId="Origin50.Graph">
                  <p:embed/>
                </p:oleObj>
              </mc:Choice>
              <mc:Fallback>
                <p:oleObj name="Graph" r:id="rId2" imgW="4851068" imgH="3429000" progId="Origin50.Graph">
                  <p:embed/>
                  <p:pic>
                    <p:nvPicPr>
                      <p:cNvPr id="9" name="개체 8">
                        <a:extLst>
                          <a:ext uri="{FF2B5EF4-FFF2-40B4-BE49-F238E27FC236}">
                            <a16:creationId xmlns:a16="http://schemas.microsoft.com/office/drawing/2014/main" id="{E214A776-0BA0-6D9B-EE09-CF6C8122E84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94129" y="2477565"/>
                        <a:ext cx="3272867" cy="23132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개체 10">
            <a:extLst>
              <a:ext uri="{FF2B5EF4-FFF2-40B4-BE49-F238E27FC236}">
                <a16:creationId xmlns:a16="http://schemas.microsoft.com/office/drawing/2014/main" id="{5D5268AF-0DA4-A78D-FBBD-A716375A918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41827693"/>
              </p:ext>
            </p:extLst>
          </p:nvPr>
        </p:nvGraphicFramePr>
        <p:xfrm>
          <a:off x="3079377" y="2477565"/>
          <a:ext cx="3272870" cy="231252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4" imgW="4852293" imgH="3429000" progId="Origin50.Graph">
                  <p:embed/>
                </p:oleObj>
              </mc:Choice>
              <mc:Fallback>
                <p:oleObj name="Graph" r:id="rId4" imgW="4852293" imgH="3429000" progId="Origin50.Graph">
                  <p:embed/>
                  <p:pic>
                    <p:nvPicPr>
                      <p:cNvPr id="11" name="개체 10">
                        <a:extLst>
                          <a:ext uri="{FF2B5EF4-FFF2-40B4-BE49-F238E27FC236}">
                            <a16:creationId xmlns:a16="http://schemas.microsoft.com/office/drawing/2014/main" id="{5D5268AF-0DA4-A78D-FBBD-A716375A918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079377" y="2477565"/>
                        <a:ext cx="3272870" cy="231252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CBEA3E0D-66BC-97CB-2974-B02824AC9B4F}"/>
              </a:ext>
            </a:extLst>
          </p:cNvPr>
          <p:cNvSpPr txBox="1"/>
          <p:nvPr/>
        </p:nvSpPr>
        <p:spPr>
          <a:xfrm>
            <a:off x="290596" y="1937786"/>
            <a:ext cx="81324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Numerical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상관관계 실험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ED5578-D548-FAD6-E0CD-87F45C626CD9}"/>
              </a:ext>
            </a:extLst>
          </p:cNvPr>
          <p:cNvSpPr txBox="1"/>
          <p:nvPr/>
        </p:nvSpPr>
        <p:spPr>
          <a:xfrm>
            <a:off x="170117" y="4977911"/>
            <a:ext cx="323296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 bin</a:t>
            </a:r>
            <a:r>
              <a:rPr lang="ko-KR" altLang="en-US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을 </a:t>
            </a:r>
            <a:r>
              <a:rPr lang="en-US" altLang="ko-KR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10-140 </a:t>
            </a:r>
            <a:r>
              <a:rPr lang="ko-KR" altLang="en-US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등분하여 비교 테스트</a:t>
            </a:r>
            <a:endParaRPr lang="en-US" altLang="ko-KR" sz="18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18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100</a:t>
            </a:r>
            <a:r>
              <a:rPr lang="ko-KR" altLang="en-US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등분 이상부터 수렴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BDD621D-D424-F110-3C45-0440816845D3}"/>
              </a:ext>
            </a:extLst>
          </p:cNvPr>
          <p:cNvSpPr txBox="1"/>
          <p:nvPr/>
        </p:nvSpPr>
        <p:spPr>
          <a:xfrm>
            <a:off x="3403079" y="4978666"/>
            <a:ext cx="280918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 slice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5-50 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등분하여 비교 테스트</a:t>
            </a:r>
            <a:endParaRPr lang="en-US" altLang="ko-KR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30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등분 이상부터 수렴</a:t>
            </a:r>
            <a:endParaRPr lang="en-US" altLang="ko-KR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3" name="Shape 4">
            <a:extLst>
              <a:ext uri="{FF2B5EF4-FFF2-40B4-BE49-F238E27FC236}">
                <a16:creationId xmlns:a16="http://schemas.microsoft.com/office/drawing/2014/main" id="{C108074A-5398-A5EE-1C42-93ABBC6AA34F}"/>
              </a:ext>
            </a:extLst>
          </p:cNvPr>
          <p:cNvSpPr/>
          <p:nvPr/>
        </p:nvSpPr>
        <p:spPr>
          <a:xfrm>
            <a:off x="7632700" y="254185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5">
            <a:extLst>
              <a:ext uri="{FF2B5EF4-FFF2-40B4-BE49-F238E27FC236}">
                <a16:creationId xmlns:a16="http://schemas.microsoft.com/office/drawing/2014/main" id="{26928542-BF00-FA00-B0C1-85E590104E3A}"/>
              </a:ext>
            </a:extLst>
          </p:cNvPr>
          <p:cNvSpPr/>
          <p:nvPr/>
        </p:nvSpPr>
        <p:spPr>
          <a:xfrm>
            <a:off x="7632700" y="400489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616A4D45-15EB-9A15-5890-816F64A32EA5}"/>
              </a:ext>
            </a:extLst>
          </p:cNvPr>
          <p:cNvSpPr/>
          <p:nvPr/>
        </p:nvSpPr>
        <p:spPr>
          <a:xfrm>
            <a:off x="6489700" y="1901775"/>
            <a:ext cx="2286000" cy="685800"/>
          </a:xfrm>
          <a:prstGeom prst="rect">
            <a:avLst/>
          </a:prstGeom>
          <a:solidFill>
            <a:srgbClr val="EAFBFC"/>
          </a:solidFill>
          <a:ln w="12700">
            <a:solidFill>
              <a:srgbClr val="7FD9DF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1. Initial state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t0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)</a:t>
            </a:r>
            <a:endParaRPr lang="en-US" sz="1450" dirty="0"/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0746F2A7-0A8B-91A9-BF93-19E3F7248752}"/>
              </a:ext>
            </a:extLst>
          </p:cNvPr>
          <p:cNvSpPr/>
          <p:nvPr/>
        </p:nvSpPr>
        <p:spPr>
          <a:xfrm>
            <a:off x="6489700" y="3282519"/>
            <a:ext cx="2286000" cy="685800"/>
          </a:xfrm>
          <a:prstGeom prst="rect">
            <a:avLst/>
          </a:prstGeom>
          <a:solidFill>
            <a:srgbClr val="F0F7FF"/>
          </a:solidFill>
          <a:ln w="12700">
            <a:solidFill>
              <a:srgbClr val="A9CCE3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2. Emission rates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ch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WL</a:t>
            </a:r>
            <a:endParaRPr lang="en-US" sz="1450" baseline="-25000" dirty="0"/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91C3DD21-A8F3-AE5E-2E0D-B2186A0D3AC4}"/>
              </a:ext>
            </a:extLst>
          </p:cNvPr>
          <p:cNvSpPr/>
          <p:nvPr/>
        </p:nvSpPr>
        <p:spPr>
          <a:xfrm>
            <a:off x="6489700" y="4754703"/>
            <a:ext cx="2286000" cy="685800"/>
          </a:xfrm>
          <a:prstGeom prst="rect">
            <a:avLst/>
          </a:prstGeom>
          <a:solidFill>
            <a:srgbClr val="F7F2E2"/>
          </a:solidFill>
          <a:ln w="12700">
            <a:solidFill>
              <a:srgbClr val="F2D38E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 Direct evaluation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t)</a:t>
            </a:r>
            <a:endParaRPr lang="en-US" sz="1450" dirty="0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81F6EF07-2A81-EEC2-8EFF-F92E71A4F92D}"/>
              </a:ext>
            </a:extLst>
          </p:cNvPr>
          <p:cNvCxnSpPr>
            <a:cxnSpLocks/>
          </p:cNvCxnSpPr>
          <p:nvPr/>
        </p:nvCxnSpPr>
        <p:spPr>
          <a:xfrm flipH="1">
            <a:off x="5588000" y="1901775"/>
            <a:ext cx="901700" cy="339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B03260FF-CD2F-D451-3738-A9A7E20B535D}"/>
              </a:ext>
            </a:extLst>
          </p:cNvPr>
          <p:cNvCxnSpPr>
            <a:cxnSpLocks/>
          </p:cNvCxnSpPr>
          <p:nvPr/>
        </p:nvCxnSpPr>
        <p:spPr>
          <a:xfrm flipH="1">
            <a:off x="6046586" y="2576839"/>
            <a:ext cx="443114" cy="31606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C7B55EE-D75B-E80E-A93D-48427165EAEE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1E2A6B0-2BB0-DDE9-59BA-F5EF06917DC1}"/>
              </a:ext>
            </a:extLst>
          </p:cNvPr>
          <p:cNvSpPr txBox="1"/>
          <p:nvPr/>
        </p:nvSpPr>
        <p:spPr>
          <a:xfrm>
            <a:off x="671847" y="1120462"/>
            <a:ext cx="75091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핵심 원리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: initial trapped charge distribution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부터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target retention time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직접 계산</a:t>
            </a:r>
          </a:p>
        </p:txBody>
      </p:sp>
    </p:spTree>
    <p:extLst>
      <p:ext uri="{BB962C8B-B14F-4D97-AF65-F5344CB8AC3E}">
        <p14:creationId xmlns:p14="http://schemas.microsoft.com/office/powerpoint/2010/main" val="39126568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제목 1">
            <a:extLst>
              <a:ext uri="{FF2B5EF4-FFF2-40B4-BE49-F238E27FC236}">
                <a16:creationId xmlns:a16="http://schemas.microsoft.com/office/drawing/2014/main" id="{69A62632-E77A-3927-5FF5-36F3D48481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63" y="165100"/>
            <a:ext cx="8956675" cy="592138"/>
          </a:xfrm>
        </p:spPr>
        <p:txBody>
          <a:bodyPr/>
          <a:lstStyle/>
          <a:p>
            <a:r>
              <a:rPr lang="en-US" altLang="ko-KR" dirty="0"/>
              <a:t>Time-step-free Physics-based Modeling</a:t>
            </a:r>
            <a:endParaRPr lang="ko-KR" altLang="en-US" dirty="0"/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4B12687F-16DE-0115-C6A4-52E374D80ADA}"/>
              </a:ext>
            </a:extLst>
          </p:cNvPr>
          <p:cNvSpPr/>
          <p:nvPr/>
        </p:nvSpPr>
        <p:spPr>
          <a:xfrm>
            <a:off x="7632700" y="254185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5">
            <a:extLst>
              <a:ext uri="{FF2B5EF4-FFF2-40B4-BE49-F238E27FC236}">
                <a16:creationId xmlns:a16="http://schemas.microsoft.com/office/drawing/2014/main" id="{1ACA70EC-8205-C076-89B9-19A20CDEC131}"/>
              </a:ext>
            </a:extLst>
          </p:cNvPr>
          <p:cNvSpPr/>
          <p:nvPr/>
        </p:nvSpPr>
        <p:spPr>
          <a:xfrm>
            <a:off x="7632700" y="400489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6">
            <a:extLst>
              <a:ext uri="{FF2B5EF4-FFF2-40B4-BE49-F238E27FC236}">
                <a16:creationId xmlns:a16="http://schemas.microsoft.com/office/drawing/2014/main" id="{D85A6764-C53E-AE99-4112-60BB60EFD33A}"/>
              </a:ext>
            </a:extLst>
          </p:cNvPr>
          <p:cNvSpPr/>
          <p:nvPr/>
        </p:nvSpPr>
        <p:spPr>
          <a:xfrm>
            <a:off x="6489700" y="1901775"/>
            <a:ext cx="2286000" cy="685800"/>
          </a:xfrm>
          <a:prstGeom prst="rect">
            <a:avLst/>
          </a:prstGeom>
          <a:solidFill>
            <a:srgbClr val="EAFBFC"/>
          </a:solidFill>
          <a:ln w="12700">
            <a:solidFill>
              <a:srgbClr val="7FD9DF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1. Initial state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t0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)</a:t>
            </a:r>
            <a:endParaRPr lang="en-US" sz="1450" dirty="0"/>
          </a:p>
        </p:txBody>
      </p:sp>
      <p:sp>
        <p:nvSpPr>
          <p:cNvPr id="22" name="Text 7">
            <a:extLst>
              <a:ext uri="{FF2B5EF4-FFF2-40B4-BE49-F238E27FC236}">
                <a16:creationId xmlns:a16="http://schemas.microsoft.com/office/drawing/2014/main" id="{CD9D4F22-0BD8-C767-6471-0D1BF4AE26E7}"/>
              </a:ext>
            </a:extLst>
          </p:cNvPr>
          <p:cNvSpPr/>
          <p:nvPr/>
        </p:nvSpPr>
        <p:spPr>
          <a:xfrm>
            <a:off x="6489700" y="3282519"/>
            <a:ext cx="2286000" cy="685800"/>
          </a:xfrm>
          <a:prstGeom prst="rect">
            <a:avLst/>
          </a:prstGeom>
          <a:solidFill>
            <a:srgbClr val="F0F7FF"/>
          </a:solidFill>
          <a:ln w="12700">
            <a:solidFill>
              <a:srgbClr val="A9CCE3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2. Emission rates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ch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WL</a:t>
            </a:r>
            <a:endParaRPr lang="en-US" sz="1450" baseline="-25000" dirty="0"/>
          </a:p>
        </p:txBody>
      </p:sp>
      <p:sp>
        <p:nvSpPr>
          <p:cNvPr id="23" name="Text 8">
            <a:extLst>
              <a:ext uri="{FF2B5EF4-FFF2-40B4-BE49-F238E27FC236}">
                <a16:creationId xmlns:a16="http://schemas.microsoft.com/office/drawing/2014/main" id="{2602DC4E-8168-9EC4-84C7-2DA8A78AE552}"/>
              </a:ext>
            </a:extLst>
          </p:cNvPr>
          <p:cNvSpPr/>
          <p:nvPr/>
        </p:nvSpPr>
        <p:spPr>
          <a:xfrm>
            <a:off x="6489700" y="4754703"/>
            <a:ext cx="2286000" cy="685800"/>
          </a:xfrm>
          <a:prstGeom prst="rect">
            <a:avLst/>
          </a:prstGeom>
          <a:solidFill>
            <a:srgbClr val="F7F2E2"/>
          </a:solidFill>
          <a:ln w="12700">
            <a:solidFill>
              <a:srgbClr val="F2D38E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 Direct evaluation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t)</a:t>
            </a:r>
            <a:endParaRPr lang="en-US" sz="1450" dirty="0"/>
          </a:p>
        </p:txBody>
      </p:sp>
      <p:pic>
        <p:nvPicPr>
          <p:cNvPr id="24" name="Image 0">
            <a:extLst>
              <a:ext uri="{FF2B5EF4-FFF2-40B4-BE49-F238E27FC236}">
                <a16:creationId xmlns:a16="http://schemas.microsoft.com/office/drawing/2014/main" id="{F767B7CD-BAE3-34B5-A4FA-06E18284752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594" t="61128" r="14538"/>
          <a:stretch>
            <a:fillRect/>
          </a:stretch>
        </p:blipFill>
        <p:spPr>
          <a:xfrm>
            <a:off x="1652622" y="4733900"/>
            <a:ext cx="3605719" cy="1413205"/>
          </a:xfrm>
          <a:prstGeom prst="rect">
            <a:avLst/>
          </a:prstGeom>
        </p:spPr>
      </p:pic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109F6592-A71C-39DA-CBD2-234513F82200}"/>
              </a:ext>
            </a:extLst>
          </p:cNvPr>
          <p:cNvCxnSpPr>
            <a:cxnSpLocks/>
          </p:cNvCxnSpPr>
          <p:nvPr/>
        </p:nvCxnSpPr>
        <p:spPr>
          <a:xfrm flipH="1" flipV="1">
            <a:off x="5453517" y="2324100"/>
            <a:ext cx="1036183" cy="95841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94D90DDE-2D84-9963-E550-2C0D76C46C27}"/>
              </a:ext>
            </a:extLst>
          </p:cNvPr>
          <p:cNvCxnSpPr>
            <a:cxnSpLocks/>
          </p:cNvCxnSpPr>
          <p:nvPr/>
        </p:nvCxnSpPr>
        <p:spPr>
          <a:xfrm flipH="1">
            <a:off x="5453517" y="3968319"/>
            <a:ext cx="1036183" cy="205148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37FB1475-1299-9D16-CE2C-045210718D6B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B765071B-98C4-1AFE-696F-48E64ECF1D5B}"/>
              </a:ext>
            </a:extLst>
          </p:cNvPr>
          <p:cNvGrpSpPr/>
          <p:nvPr/>
        </p:nvGrpSpPr>
        <p:grpSpPr>
          <a:xfrm>
            <a:off x="962958" y="1828348"/>
            <a:ext cx="4351370" cy="1689118"/>
            <a:chOff x="1008979" y="2324100"/>
            <a:chExt cx="4351370" cy="1689118"/>
          </a:xfrm>
        </p:grpSpPr>
        <mc:AlternateContent xmlns:mc="http://schemas.openxmlformats.org/markup-compatibility/2006" xmlns:a14="http://schemas.microsoft.com/office/drawing/2010/main">
          <mc:Choice Requires="a14">
            <p:graphicFrame>
              <p:nvGraphicFramePr>
                <p:cNvPr id="2" name="개체 1">
                  <a:extLst>
                    <a:ext uri="{FF2B5EF4-FFF2-40B4-BE49-F238E27FC236}">
                      <a16:creationId xmlns:a16="http://schemas.microsoft.com/office/drawing/2014/main" id="{5A8CC464-9F64-C3DA-DC18-C10744D49F08}"/>
                    </a:ext>
                  </a:extLst>
                </p:cNvPr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2069609160"/>
                    </p:ext>
                  </p:extLst>
                </p:nvPr>
              </p:nvGraphicFramePr>
              <p:xfrm>
                <a:off x="1008979" y="2324100"/>
                <a:ext cx="4351370" cy="1689118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Graph" r:id="rId3" imgW="6012550" imgH="2335684" progId="Origin50.Graph">
                        <p:embed/>
                      </p:oleObj>
                    </mc:Choice>
                    <mc:Fallback>
                      <p:oleObj name="Graph" r:id="rId3" imgW="6012550" imgH="2335684" progId="Origin50.Graph">
                        <p:embed/>
                        <p:pic>
                          <p:nvPicPr>
                            <p:cNvPr id="2" name="개체 1">
                              <a:extLst>
                                <a:ext uri="{FF2B5EF4-FFF2-40B4-BE49-F238E27FC236}">
                                  <a16:creationId xmlns:a16="http://schemas.microsoft.com/office/drawing/2014/main" id="{5A8CC464-9F64-C3DA-DC18-C10744D49F08}"/>
                                </a:ext>
                              </a:extLst>
                            </p:cNvPr>
                            <p:cNvPicPr/>
                            <p:nvPr/>
                          </p:nvPicPr>
                          <p:blipFill>
                            <a:blip r:embed="rId4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1008979" y="2324100"/>
                              <a:ext cx="4351370" cy="1689118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Choice>
          <mc:Fallback xmlns="">
            <p:graphicFrame>
              <p:nvGraphicFramePr>
                <p:cNvPr id="2" name="개체 1">
                  <a:extLst>
                    <a:ext uri="{FF2B5EF4-FFF2-40B4-BE49-F238E27FC236}">
                      <a16:creationId xmlns:a16="http://schemas.microsoft.com/office/drawing/2014/main" id="{5A8CC464-9F64-C3DA-DC18-C10744D49F08}"/>
                    </a:ext>
                  </a:extLst>
                </p:cNvPr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2069609160"/>
                    </p:ext>
                  </p:extLst>
                </p:nvPr>
              </p:nvGraphicFramePr>
              <p:xfrm>
                <a:off x="1008979" y="2324100"/>
                <a:ext cx="4351370" cy="1689118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Graph" r:id="rId5" imgW="6012550" imgH="2335684" progId="Origin50.Graph">
                        <p:embed/>
                      </p:oleObj>
                    </mc:Choice>
                    <mc:Fallback>
                      <p:oleObj name="Graph" r:id="rId5" imgW="6012550" imgH="2335684" progId="Origin50.Graph">
                        <p:embed/>
                        <p:pic>
                          <p:nvPicPr>
                            <p:cNvPr id="66" name="개체 65">
                              <a:extLst>
                                <a:ext uri="{FF2B5EF4-FFF2-40B4-BE49-F238E27FC236}">
                                  <a16:creationId xmlns:a16="http://schemas.microsoft.com/office/drawing/2014/main" id="{53425263-3E34-2652-799F-E0AC3F4F1EC8}"/>
                                </a:ext>
                              </a:extLst>
                            </p:cNvPr>
                            <p:cNvPicPr/>
                            <p:nvPr/>
                          </p:nvPicPr>
                          <p:blipFill>
                            <a:blip r:embed="rId6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1008979" y="2324100"/>
                              <a:ext cx="4351370" cy="1689118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8F019DA1-A28F-0AAB-A173-B21E7AC7EC08}"/>
                    </a:ext>
                  </a:extLst>
                </p:cNvPr>
                <p:cNvSpPr txBox="1"/>
                <p:nvPr/>
              </p:nvSpPr>
              <p:spPr>
                <a:xfrm>
                  <a:off x="1798187" y="3028603"/>
                  <a:ext cx="1691465" cy="25391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𝑒</m:t>
                          </m:r>
                        </m:e>
                        <m:sub>
                          <m: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𝑐h</m:t>
                          </m:r>
                        </m:sub>
                      </m:sSub>
                      <m:r>
                        <a:rPr lang="en-US" altLang="ko-KR" sz="105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=</m:t>
                      </m:r>
                      <m:sSub>
                        <m:sSubPr>
                          <m:ctrlP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𝜈</m:t>
                          </m:r>
                        </m:e>
                        <m:sub>
                          <m: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𝑐h</m:t>
                          </m:r>
                        </m:sub>
                      </m:sSub>
                      <m:r>
                        <a:rPr lang="en-US" altLang="ko-KR" sz="105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×</m:t>
                      </m:r>
                      <m:sSub>
                        <m:sSubPr>
                          <m:ctrlP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ko-KR" sz="105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</m:ctrlPr>
                            </m:dPr>
                            <m:e>
                              <m:r>
                                <a:rPr lang="en-US" altLang="ko-KR" sz="105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𝑇𝐶</m:t>
                              </m:r>
                            </m:e>
                          </m:d>
                        </m:e>
                        <m:sub>
                          <m: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𝑐h</m:t>
                          </m:r>
                        </m:sub>
                      </m:sSub>
                    </m:oMath>
                  </a14:m>
                  <a:r>
                    <a:rPr lang="ko-KR" altLang="en-US" sz="1050" dirty="0">
                      <a:ln w="9525">
                        <a:solidFill>
                          <a:schemeClr val="tx1">
                            <a:alpha val="29000"/>
                          </a:schemeClr>
                        </a:solidFill>
                      </a:ln>
                      <a:latin typeface="Times New Roman" panose="02020603050405020304" pitchFamily="18" charset="0"/>
                      <a:ea typeface="맑은 고딕"/>
                      <a:cs typeface="Times New Roman" panose="02020603050405020304" pitchFamily="18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8F019DA1-A28F-0AAB-A173-B21E7AC7EC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8187" y="3028603"/>
                  <a:ext cx="1691465" cy="253916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7C40F8D-4B57-7460-16CD-7232E8CF6506}"/>
                    </a:ext>
                  </a:extLst>
                </p:cNvPr>
                <p:cNvSpPr txBox="1"/>
                <p:nvPr/>
              </p:nvSpPr>
              <p:spPr>
                <a:xfrm>
                  <a:off x="3299817" y="3028603"/>
                  <a:ext cx="1757144" cy="25391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𝑒</m:t>
                          </m:r>
                        </m:e>
                        <m:sub>
                          <m: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𝑊𝐿</m:t>
                          </m:r>
                        </m:sub>
                      </m:sSub>
                      <m:r>
                        <a:rPr lang="en-US" altLang="ko-KR" sz="105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=</m:t>
                      </m:r>
                      <m:sSub>
                        <m:sSubPr>
                          <m:ctrlP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𝜈</m:t>
                          </m:r>
                        </m:e>
                        <m:sub>
                          <m: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𝑊𝐿</m:t>
                          </m:r>
                        </m:sub>
                      </m:sSub>
                      <m:r>
                        <a:rPr lang="en-US" altLang="ko-KR" sz="105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×</m:t>
                      </m:r>
                      <m:sSub>
                        <m:sSubPr>
                          <m:ctrlP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ko-KR" sz="105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</m:ctrlPr>
                            </m:dPr>
                            <m:e>
                              <m:r>
                                <a:rPr lang="en-US" altLang="ko-KR" sz="105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𝑇𝐶</m:t>
                              </m:r>
                            </m:e>
                          </m:d>
                        </m:e>
                        <m:sub>
                          <m: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𝑊𝐿</m:t>
                          </m:r>
                        </m:sub>
                      </m:sSub>
                    </m:oMath>
                  </a14:m>
                  <a:r>
                    <a:rPr lang="ko-KR" altLang="en-US" sz="1050" dirty="0">
                      <a:ln w="9525">
                        <a:solidFill>
                          <a:schemeClr val="tx1">
                            <a:alpha val="29000"/>
                          </a:schemeClr>
                        </a:solidFill>
                      </a:ln>
                      <a:latin typeface="Times New Roman" panose="02020603050405020304" pitchFamily="18" charset="0"/>
                      <a:ea typeface="맑은 고딕"/>
                      <a:cs typeface="Times New Roman" panose="02020603050405020304" pitchFamily="18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7C40F8D-4B57-7460-16CD-7232E8CF65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99817" y="3028603"/>
                  <a:ext cx="1757144" cy="253916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곱하기 기호 5">
              <a:extLst>
                <a:ext uri="{FF2B5EF4-FFF2-40B4-BE49-F238E27FC236}">
                  <a16:creationId xmlns:a16="http://schemas.microsoft.com/office/drawing/2014/main" id="{8951DCAA-6CC8-B760-13EE-B7B98F210ED1}"/>
                </a:ext>
              </a:extLst>
            </p:cNvPr>
            <p:cNvSpPr/>
            <p:nvPr/>
          </p:nvSpPr>
          <p:spPr>
            <a:xfrm>
              <a:off x="2902427" y="2960108"/>
              <a:ext cx="172873" cy="172873"/>
            </a:xfrm>
            <a:prstGeom prst="mathMultiply">
              <a:avLst>
                <a:gd name="adj1" fmla="val 6378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cxnSp>
          <p:nvCxnSpPr>
            <p:cNvPr id="7" name="직선 화살표 연결선 6">
              <a:extLst>
                <a:ext uri="{FF2B5EF4-FFF2-40B4-BE49-F238E27FC236}">
                  <a16:creationId xmlns:a16="http://schemas.microsoft.com/office/drawing/2014/main" id="{60DE76E4-7E92-40FA-EF2D-5EE68EED110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38911" y="3046547"/>
              <a:ext cx="1239181" cy="0"/>
            </a:xfrm>
            <a:prstGeom prst="straightConnector1">
              <a:avLst/>
            </a:prstGeom>
            <a:ln w="9525">
              <a:solidFill>
                <a:schemeClr val="tx1"/>
              </a:solidFill>
              <a:prstDash val="sysDash"/>
              <a:headEnd w="sm" len="med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화살표 연결선 7">
              <a:extLst>
                <a:ext uri="{FF2B5EF4-FFF2-40B4-BE49-F238E27FC236}">
                  <a16:creationId xmlns:a16="http://schemas.microsoft.com/office/drawing/2014/main" id="{3130A2D6-E888-8AC1-BCF4-29BAB376CD71}"/>
                </a:ext>
              </a:extLst>
            </p:cNvPr>
            <p:cNvCxnSpPr>
              <a:cxnSpLocks/>
            </p:cNvCxnSpPr>
            <p:nvPr/>
          </p:nvCxnSpPr>
          <p:spPr>
            <a:xfrm>
              <a:off x="3123355" y="3046545"/>
              <a:ext cx="1730121" cy="0"/>
            </a:xfrm>
            <a:prstGeom prst="straightConnector1">
              <a:avLst/>
            </a:prstGeom>
            <a:ln w="9525">
              <a:solidFill>
                <a:schemeClr val="tx1"/>
              </a:solidFill>
              <a:prstDash val="sysDash"/>
              <a:headEnd w="sm" len="med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직선 화살표 연결선 8">
              <a:extLst>
                <a:ext uri="{FF2B5EF4-FFF2-40B4-BE49-F238E27FC236}">
                  <a16:creationId xmlns:a16="http://schemas.microsoft.com/office/drawing/2014/main" id="{A99085FB-222D-229D-CFA6-F8B4B521CB06}"/>
                </a:ext>
              </a:extLst>
            </p:cNvPr>
            <p:cNvCxnSpPr>
              <a:cxnSpLocks/>
            </p:cNvCxnSpPr>
            <p:nvPr/>
          </p:nvCxnSpPr>
          <p:spPr>
            <a:xfrm>
              <a:off x="1666852" y="2727327"/>
              <a:ext cx="2" cy="608136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직선 화살표 연결선 9">
              <a:extLst>
                <a:ext uri="{FF2B5EF4-FFF2-40B4-BE49-F238E27FC236}">
                  <a16:creationId xmlns:a16="http://schemas.microsoft.com/office/drawing/2014/main" id="{73D1D068-1E5E-B21E-C045-8A94A0F862BA}"/>
                </a:ext>
              </a:extLst>
            </p:cNvPr>
            <p:cNvCxnSpPr>
              <a:cxnSpLocks/>
            </p:cNvCxnSpPr>
            <p:nvPr/>
          </p:nvCxnSpPr>
          <p:spPr>
            <a:xfrm>
              <a:off x="4827719" y="2778466"/>
              <a:ext cx="2" cy="690607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직선 화살표 연결선 10">
              <a:extLst>
                <a:ext uri="{FF2B5EF4-FFF2-40B4-BE49-F238E27FC236}">
                  <a16:creationId xmlns:a16="http://schemas.microsoft.com/office/drawing/2014/main" id="{2932EEE7-DCD2-79E4-9F6E-E282117B0691}"/>
                </a:ext>
              </a:extLst>
            </p:cNvPr>
            <p:cNvCxnSpPr>
              <a:cxnSpLocks/>
            </p:cNvCxnSpPr>
            <p:nvPr/>
          </p:nvCxnSpPr>
          <p:spPr>
            <a:xfrm>
              <a:off x="2304263" y="2632072"/>
              <a:ext cx="2" cy="236565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491CDF9-D48C-E570-D828-2DC4B923877A}"/>
                </a:ext>
              </a:extLst>
            </p:cNvPr>
            <p:cNvSpPr txBox="1"/>
            <p:nvPr/>
          </p:nvSpPr>
          <p:spPr>
            <a:xfrm rot="16200000">
              <a:off x="1162896" y="2898661"/>
              <a:ext cx="79906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/>
                <a:t>3.1 eV</a:t>
              </a:r>
              <a:endParaRPr lang="ko-KR" altLang="en-US" sz="1100" baseline="-25000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ECA5A6E-F2FA-E672-0003-E7B2BF846745}"/>
                </a:ext>
              </a:extLst>
            </p:cNvPr>
            <p:cNvSpPr txBox="1"/>
            <p:nvPr/>
          </p:nvSpPr>
          <p:spPr>
            <a:xfrm>
              <a:off x="2252634" y="2585061"/>
              <a:ext cx="79906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/>
                <a:t>1.0 eV</a:t>
              </a:r>
              <a:endParaRPr lang="ko-KR" altLang="en-US" sz="1100" baseline="-250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D8C12D0-1117-7717-FDA0-64AAE0373F3D}"/>
                </a:ext>
              </a:extLst>
            </p:cNvPr>
            <p:cNvSpPr txBox="1"/>
            <p:nvPr/>
          </p:nvSpPr>
          <p:spPr>
            <a:xfrm rot="16200000">
              <a:off x="4530912" y="3024883"/>
              <a:ext cx="90673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/>
                <a:t>3.65 eV</a:t>
              </a:r>
              <a:endParaRPr lang="ko-KR" altLang="en-US" sz="1100" baseline="-25000" dirty="0"/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F1152F07-F07F-DF93-F69C-C157A2EFB5B0}"/>
              </a:ext>
            </a:extLst>
          </p:cNvPr>
          <p:cNvSpPr txBox="1"/>
          <p:nvPr/>
        </p:nvSpPr>
        <p:spPr>
          <a:xfrm>
            <a:off x="671847" y="1120462"/>
            <a:ext cx="75091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핵심 원리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: initial trapped charge distribution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부터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target retention time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직접 계산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83F40A5-6E59-AA1E-DD39-08BF4CD733B9}"/>
              </a:ext>
            </a:extLst>
          </p:cNvPr>
          <p:cNvSpPr txBox="1"/>
          <p:nvPr/>
        </p:nvSpPr>
        <p:spPr>
          <a:xfrm>
            <a:off x="623295" y="3968319"/>
            <a:ext cx="523533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주어진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initial band diagram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을 기준으로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channel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방향과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word line (WL)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방향으로의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emission rate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을 계산</a:t>
            </a:r>
          </a:p>
        </p:txBody>
      </p:sp>
    </p:spTree>
    <p:extLst>
      <p:ext uri="{BB962C8B-B14F-4D97-AF65-F5344CB8AC3E}">
        <p14:creationId xmlns:p14="http://schemas.microsoft.com/office/powerpoint/2010/main" val="17276067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0">
            <a:extLst>
              <a:ext uri="{FF2B5EF4-FFF2-40B4-BE49-F238E27FC236}">
                <a16:creationId xmlns:a16="http://schemas.microsoft.com/office/drawing/2014/main" id="{9D86E16C-2668-BDFB-67AF-17D3DF21BE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793" b="54372"/>
          <a:stretch>
            <a:fillRect/>
          </a:stretch>
        </p:blipFill>
        <p:spPr>
          <a:xfrm>
            <a:off x="119260" y="4521925"/>
            <a:ext cx="5743704" cy="71038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94963FC-EDAD-6A5C-ADF7-04DF9FB33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Time-step-free Physics-based Modeling</a:t>
            </a:r>
            <a:endParaRPr lang="ko-KR" altLang="en-US" dirty="0"/>
          </a:p>
        </p:txBody>
      </p:sp>
      <p:pic>
        <p:nvPicPr>
          <p:cNvPr id="9" name="Image 0">
            <a:extLst>
              <a:ext uri="{FF2B5EF4-FFF2-40B4-BE49-F238E27FC236}">
                <a16:creationId xmlns:a16="http://schemas.microsoft.com/office/drawing/2014/main" id="{8494EF6E-67AB-B509-21AC-D97822104F1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3833"/>
          <a:stretch>
            <a:fillRect/>
          </a:stretch>
        </p:blipFill>
        <p:spPr>
          <a:xfrm>
            <a:off x="94129" y="3308745"/>
            <a:ext cx="5743704" cy="682208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B20EAB49-46F6-5CD2-4064-B6DF13C5494E}"/>
              </a:ext>
            </a:extLst>
          </p:cNvPr>
          <p:cNvSpPr/>
          <p:nvPr/>
        </p:nvSpPr>
        <p:spPr>
          <a:xfrm>
            <a:off x="94129" y="4523817"/>
            <a:ext cx="5743705" cy="71038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Shape 4">
            <a:extLst>
              <a:ext uri="{FF2B5EF4-FFF2-40B4-BE49-F238E27FC236}">
                <a16:creationId xmlns:a16="http://schemas.microsoft.com/office/drawing/2014/main" id="{30A67EAC-3D18-A813-1B7F-EF00AB74EE0B}"/>
              </a:ext>
            </a:extLst>
          </p:cNvPr>
          <p:cNvSpPr/>
          <p:nvPr/>
        </p:nvSpPr>
        <p:spPr>
          <a:xfrm>
            <a:off x="7632700" y="254185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5">
            <a:extLst>
              <a:ext uri="{FF2B5EF4-FFF2-40B4-BE49-F238E27FC236}">
                <a16:creationId xmlns:a16="http://schemas.microsoft.com/office/drawing/2014/main" id="{EA3316C8-B3F0-0741-486E-9F598E19EAC9}"/>
              </a:ext>
            </a:extLst>
          </p:cNvPr>
          <p:cNvSpPr/>
          <p:nvPr/>
        </p:nvSpPr>
        <p:spPr>
          <a:xfrm>
            <a:off x="7632700" y="400489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6">
            <a:extLst>
              <a:ext uri="{FF2B5EF4-FFF2-40B4-BE49-F238E27FC236}">
                <a16:creationId xmlns:a16="http://schemas.microsoft.com/office/drawing/2014/main" id="{A06F1B6E-FF40-0D85-3AFB-60732B005EBD}"/>
              </a:ext>
            </a:extLst>
          </p:cNvPr>
          <p:cNvSpPr/>
          <p:nvPr/>
        </p:nvSpPr>
        <p:spPr>
          <a:xfrm>
            <a:off x="6489700" y="1901775"/>
            <a:ext cx="2286000" cy="685800"/>
          </a:xfrm>
          <a:prstGeom prst="rect">
            <a:avLst/>
          </a:prstGeom>
          <a:solidFill>
            <a:srgbClr val="EAFBFC"/>
          </a:solidFill>
          <a:ln w="12700">
            <a:solidFill>
              <a:srgbClr val="7FD9DF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1. Initial state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t0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)</a:t>
            </a:r>
            <a:endParaRPr lang="en-US" sz="1450" dirty="0"/>
          </a:p>
        </p:txBody>
      </p:sp>
      <p:sp>
        <p:nvSpPr>
          <p:cNvPr id="25" name="Text 7">
            <a:extLst>
              <a:ext uri="{FF2B5EF4-FFF2-40B4-BE49-F238E27FC236}">
                <a16:creationId xmlns:a16="http://schemas.microsoft.com/office/drawing/2014/main" id="{06C744D8-385E-9175-FCCD-311D63DFD297}"/>
              </a:ext>
            </a:extLst>
          </p:cNvPr>
          <p:cNvSpPr/>
          <p:nvPr/>
        </p:nvSpPr>
        <p:spPr>
          <a:xfrm>
            <a:off x="6489700" y="3282519"/>
            <a:ext cx="2286000" cy="685800"/>
          </a:xfrm>
          <a:prstGeom prst="rect">
            <a:avLst/>
          </a:prstGeom>
          <a:solidFill>
            <a:srgbClr val="F0F7FF"/>
          </a:solidFill>
          <a:ln w="12700">
            <a:solidFill>
              <a:srgbClr val="A9CCE3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2. Emission rates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ch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WL</a:t>
            </a:r>
            <a:endParaRPr lang="en-US" sz="1450" baseline="-25000" dirty="0"/>
          </a:p>
        </p:txBody>
      </p:sp>
      <p:sp>
        <p:nvSpPr>
          <p:cNvPr id="26" name="Text 8">
            <a:extLst>
              <a:ext uri="{FF2B5EF4-FFF2-40B4-BE49-F238E27FC236}">
                <a16:creationId xmlns:a16="http://schemas.microsoft.com/office/drawing/2014/main" id="{50879281-E7E4-1239-2EB3-9AA6BBAFC2F7}"/>
              </a:ext>
            </a:extLst>
          </p:cNvPr>
          <p:cNvSpPr/>
          <p:nvPr/>
        </p:nvSpPr>
        <p:spPr>
          <a:xfrm>
            <a:off x="6489700" y="4754703"/>
            <a:ext cx="2286000" cy="685800"/>
          </a:xfrm>
          <a:prstGeom prst="rect">
            <a:avLst/>
          </a:prstGeom>
          <a:solidFill>
            <a:srgbClr val="F7F2E2"/>
          </a:solidFill>
          <a:ln w="12700">
            <a:solidFill>
              <a:srgbClr val="F2D38E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 Direct evaluation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t)</a:t>
            </a:r>
            <a:endParaRPr lang="en-US" sz="145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7C19316-AA1E-A65B-62A1-C5778A2FF30D}"/>
              </a:ext>
            </a:extLst>
          </p:cNvPr>
          <p:cNvSpPr txBox="1"/>
          <p:nvPr/>
        </p:nvSpPr>
        <p:spPr>
          <a:xfrm>
            <a:off x="685804" y="5763278"/>
            <a:ext cx="20446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초기 전하 분포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591B02D-6FA9-5624-5571-5AEAC82166C6}"/>
              </a:ext>
            </a:extLst>
          </p:cNvPr>
          <p:cNvSpPr txBox="1"/>
          <p:nvPr/>
        </p:nvSpPr>
        <p:spPr>
          <a:xfrm>
            <a:off x="2940369" y="5763278"/>
            <a:ext cx="305582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u="sng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closed-form evaluation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71C1046-9366-24B4-9B84-F63C4F802D07}"/>
              </a:ext>
            </a:extLst>
          </p:cNvPr>
          <p:cNvSpPr txBox="1"/>
          <p:nvPr/>
        </p:nvSpPr>
        <p:spPr>
          <a:xfrm>
            <a:off x="1279396" y="2992018"/>
            <a:ext cx="352537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Autonomous ODE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FDAB256E-2B4D-60A8-D584-17DBDA9A9E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722" y="2096806"/>
            <a:ext cx="1473454" cy="583242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30FF1D13-8AA4-D278-4E0A-EF5F9B16F212}"/>
              </a:ext>
            </a:extLst>
          </p:cNvPr>
          <p:cNvSpPr txBox="1"/>
          <p:nvPr/>
        </p:nvSpPr>
        <p:spPr>
          <a:xfrm>
            <a:off x="2416176" y="2202088"/>
            <a:ext cx="2963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: Autonomous ODE</a:t>
            </a:r>
          </a:p>
        </p:txBody>
      </p: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2FE68F3D-0A0E-724C-ADBE-10863EC0246F}"/>
              </a:ext>
            </a:extLst>
          </p:cNvPr>
          <p:cNvCxnSpPr>
            <a:cxnSpLocks/>
          </p:cNvCxnSpPr>
          <p:nvPr/>
        </p:nvCxnSpPr>
        <p:spPr>
          <a:xfrm flipH="1" flipV="1">
            <a:off x="5453517" y="2324100"/>
            <a:ext cx="1036183" cy="24306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9C13342E-CC28-5518-920B-68D264394054}"/>
              </a:ext>
            </a:extLst>
          </p:cNvPr>
          <p:cNvCxnSpPr>
            <a:cxnSpLocks/>
          </p:cNvCxnSpPr>
          <p:nvPr/>
        </p:nvCxnSpPr>
        <p:spPr>
          <a:xfrm flipH="1">
            <a:off x="5664200" y="5440503"/>
            <a:ext cx="825500" cy="36463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A4F5560A-5E4C-FDE4-2499-CACE4E1756D6}"/>
              </a:ext>
            </a:extLst>
          </p:cNvPr>
          <p:cNvCxnSpPr>
            <a:cxnSpLocks/>
          </p:cNvCxnSpPr>
          <p:nvPr/>
        </p:nvCxnSpPr>
        <p:spPr>
          <a:xfrm flipH="1">
            <a:off x="2208891" y="4965700"/>
            <a:ext cx="521609" cy="6778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6510CED3-0489-0CBC-0FC6-B84C13B7EA5E}"/>
              </a:ext>
            </a:extLst>
          </p:cNvPr>
          <p:cNvCxnSpPr>
            <a:cxnSpLocks/>
          </p:cNvCxnSpPr>
          <p:nvPr/>
        </p:nvCxnSpPr>
        <p:spPr>
          <a:xfrm>
            <a:off x="4023362" y="5082210"/>
            <a:ext cx="0" cy="5613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463AD96-4B77-F53B-65CE-579DC5A3457A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47A803-82ED-C960-87D1-686C061EC82E}"/>
              </a:ext>
            </a:extLst>
          </p:cNvPr>
          <p:cNvSpPr txBox="1"/>
          <p:nvPr/>
        </p:nvSpPr>
        <p:spPr>
          <a:xfrm>
            <a:off x="671847" y="1120462"/>
            <a:ext cx="75091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핵심 원리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: initial trapped charge distribution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부터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target retention time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직접 계산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84A7D5-AE2B-59F2-51AD-65A4E5885624}"/>
              </a:ext>
            </a:extLst>
          </p:cNvPr>
          <p:cNvSpPr txBox="1"/>
          <p:nvPr/>
        </p:nvSpPr>
        <p:spPr>
          <a:xfrm>
            <a:off x="221198" y="3976663"/>
            <a:ext cx="564176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위 식을 풀면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,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시간에 따른 일반해를 구할 수 있음</a:t>
            </a:r>
          </a:p>
        </p:txBody>
      </p:sp>
    </p:spTree>
    <p:extLst>
      <p:ext uri="{BB962C8B-B14F-4D97-AF65-F5344CB8AC3E}">
        <p14:creationId xmlns:p14="http://schemas.microsoft.com/office/powerpoint/2010/main" val="792157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51B074-14AA-D1D3-2BED-7349DDDAD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 err="1"/>
              <a:t>Validation</a:t>
            </a:r>
            <a:r>
              <a:rPr lang="ko-KR" altLang="ko-KR" dirty="0"/>
              <a:t> of Time-</a:t>
            </a:r>
            <a:r>
              <a:rPr lang="ko-KR" altLang="ko-KR" dirty="0" err="1"/>
              <a:t>Step</a:t>
            </a:r>
            <a:r>
              <a:rPr lang="ko-KR" altLang="ko-KR" dirty="0"/>
              <a:t>-</a:t>
            </a:r>
            <a:r>
              <a:rPr lang="ko-KR" altLang="ko-KR" dirty="0" err="1"/>
              <a:t>Free</a:t>
            </a:r>
            <a:r>
              <a:rPr lang="ko-KR" altLang="ko-KR" dirty="0"/>
              <a:t> </a:t>
            </a:r>
            <a:r>
              <a:rPr lang="ko-KR" altLang="ko-KR" dirty="0" err="1"/>
              <a:t>Evaluation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4B8559-A6CB-4679-56E2-9555CFA35DDF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graphicFrame>
        <p:nvGraphicFramePr>
          <p:cNvPr id="3" name="개체 2">
            <a:extLst>
              <a:ext uri="{FF2B5EF4-FFF2-40B4-BE49-F238E27FC236}">
                <a16:creationId xmlns:a16="http://schemas.microsoft.com/office/drawing/2014/main" id="{CC4BF23F-9A1E-A8CF-CD5D-C773068B059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52244881"/>
              </p:ext>
            </p:extLst>
          </p:nvPr>
        </p:nvGraphicFramePr>
        <p:xfrm>
          <a:off x="317608" y="1589149"/>
          <a:ext cx="5939817" cy="312850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2" imgW="6510977" imgH="3429000" progId="Origin50.Graph">
                  <p:embed/>
                </p:oleObj>
              </mc:Choice>
              <mc:Fallback>
                <p:oleObj name="Graph" r:id="rId2" imgW="6510977" imgH="3429000" progId="Origin50.Graph">
                  <p:embed/>
                  <p:pic>
                    <p:nvPicPr>
                      <p:cNvPr id="3" name="개체 2">
                        <a:extLst>
                          <a:ext uri="{FF2B5EF4-FFF2-40B4-BE49-F238E27FC236}">
                            <a16:creationId xmlns:a16="http://schemas.microsoft.com/office/drawing/2014/main" id="{CC4BF23F-9A1E-A8CF-CD5D-C773068B059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17608" y="1589149"/>
                        <a:ext cx="5939817" cy="312850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개체 4">
            <a:extLst>
              <a:ext uri="{FF2B5EF4-FFF2-40B4-BE49-F238E27FC236}">
                <a16:creationId xmlns:a16="http://schemas.microsoft.com/office/drawing/2014/main" id="{E695E53B-06B8-4866-D8B4-056CE931048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08569977"/>
              </p:ext>
            </p:extLst>
          </p:nvPr>
        </p:nvGraphicFramePr>
        <p:xfrm>
          <a:off x="5942910" y="1405156"/>
          <a:ext cx="2720590" cy="271933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4" imgW="3430915" imgH="3429000" progId="Origin50.Graph">
                  <p:embed/>
                </p:oleObj>
              </mc:Choice>
              <mc:Fallback>
                <p:oleObj name="Graph" r:id="rId4" imgW="3430915" imgH="3429000" progId="Origin50.Graph">
                  <p:embed/>
                  <p:pic>
                    <p:nvPicPr>
                      <p:cNvPr id="5" name="개체 4">
                        <a:extLst>
                          <a:ext uri="{FF2B5EF4-FFF2-40B4-BE49-F238E27FC236}">
                            <a16:creationId xmlns:a16="http://schemas.microsoft.com/office/drawing/2014/main" id="{E695E53B-06B8-4866-D8B4-056CE931048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5942910" y="1405156"/>
                        <a:ext cx="2720590" cy="271933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직사각형 5">
            <a:extLst>
              <a:ext uri="{FF2B5EF4-FFF2-40B4-BE49-F238E27FC236}">
                <a16:creationId xmlns:a16="http://schemas.microsoft.com/office/drawing/2014/main" id="{DBA3946F-0D9D-D20E-343F-DB58E7B84E28}"/>
              </a:ext>
            </a:extLst>
          </p:cNvPr>
          <p:cNvSpPr/>
          <p:nvPr/>
        </p:nvSpPr>
        <p:spPr>
          <a:xfrm>
            <a:off x="4632968" y="3237176"/>
            <a:ext cx="776459" cy="78815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E5C47E32-DCF9-3066-374E-B3B5B91FE7BD}"/>
              </a:ext>
            </a:extLst>
          </p:cNvPr>
          <p:cNvCxnSpPr>
            <a:cxnSpLocks/>
          </p:cNvCxnSpPr>
          <p:nvPr/>
        </p:nvCxnSpPr>
        <p:spPr>
          <a:xfrm flipV="1">
            <a:off x="5412783" y="1990641"/>
            <a:ext cx="982837" cy="1238443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BA9B2448-13F2-3A59-4CF3-7B7568869EA4}"/>
              </a:ext>
            </a:extLst>
          </p:cNvPr>
          <p:cNvCxnSpPr>
            <a:cxnSpLocks/>
          </p:cNvCxnSpPr>
          <p:nvPr/>
        </p:nvCxnSpPr>
        <p:spPr>
          <a:xfrm flipV="1">
            <a:off x="5412783" y="3907197"/>
            <a:ext cx="976156" cy="126338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A3A06D7-A104-27CE-74BB-AF9BE9261D4A}"/>
              </a:ext>
            </a:extLst>
          </p:cNvPr>
          <p:cNvSpPr txBox="1"/>
          <p:nvPr/>
        </p:nvSpPr>
        <p:spPr>
          <a:xfrm>
            <a:off x="609600" y="998706"/>
            <a:ext cx="844027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Time-step-free evaluation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validity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확인하기 위해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iteration test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수행함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1678DCF-0AC9-42F4-FCC8-A364F96D6EA1}"/>
              </a:ext>
            </a:extLst>
          </p:cNvPr>
          <p:cNvSpPr txBox="1"/>
          <p:nvPr/>
        </p:nvSpPr>
        <p:spPr>
          <a:xfrm>
            <a:off x="404602" y="4856657"/>
            <a:ext cx="864526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Iterative test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진행한 결과와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iteration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이 없는 단일계산으로 진행한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time-step-free evaluation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차이가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10</a:t>
            </a:r>
            <a:r>
              <a:rPr lang="en-US" altLang="ko-KR" sz="20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9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[s]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이상의 시간이 지나야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3%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가량 차이 발생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두 결과의 차이가 작아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time-step-free approximation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이 유효함을 확인함</a:t>
            </a: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9912FC59-0819-61D0-A5AD-8B40C19393F8}"/>
              </a:ext>
            </a:extLst>
          </p:cNvPr>
          <p:cNvSpPr/>
          <p:nvPr/>
        </p:nvSpPr>
        <p:spPr>
          <a:xfrm>
            <a:off x="7444673" y="2764821"/>
            <a:ext cx="906308" cy="1142376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B910136-1934-488E-0CB2-D79D42046EA9}"/>
              </a:ext>
            </a:extLst>
          </p:cNvPr>
          <p:cNvSpPr txBox="1"/>
          <p:nvPr/>
        </p:nvSpPr>
        <p:spPr>
          <a:xfrm>
            <a:off x="6168259" y="2010077"/>
            <a:ext cx="204286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&lt; 3% difference</a:t>
            </a:r>
          </a:p>
          <a:p>
            <a:pPr algn="r"/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after 10</a:t>
            </a:r>
            <a:r>
              <a:rPr lang="en-US" altLang="ko-KR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9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s</a:t>
            </a:r>
            <a:endParaRPr lang="en-US" altLang="ko-KR" sz="18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843356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AF3F79-6A8A-8036-C0EA-5795BB86F5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Cryogenic Retention Condition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D0C03B-AB43-3256-A1E2-5EEE9F5EB919}"/>
              </a:ext>
            </a:extLst>
          </p:cNvPr>
          <p:cNvSpPr txBox="1"/>
          <p:nvPr/>
        </p:nvSpPr>
        <p:spPr>
          <a:xfrm>
            <a:off x="6500047" y="3429000"/>
            <a:ext cx="23355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실험 측정 결과</a:t>
            </a:r>
            <a:b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</a:b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(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Refaldi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, IRPS 2025)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DE3B60B-6694-A2A6-F560-C9BB3B565E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241" y="1233845"/>
            <a:ext cx="5515526" cy="341889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BED8035-BA60-EBB1-D663-6D0EA6820F51}"/>
              </a:ext>
            </a:extLst>
          </p:cNvPr>
          <p:cNvSpPr txBox="1"/>
          <p:nvPr/>
        </p:nvSpPr>
        <p:spPr>
          <a:xfrm>
            <a:off x="386415" y="4668923"/>
            <a:ext cx="853822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실험적으로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effect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분리하는 기법</a:t>
            </a:r>
            <a:endParaRPr lang="en-US" altLang="ko-KR" sz="2000" b="1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800100" lvl="1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Thermal transition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억제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800100" lvl="1" indent="-342900">
              <a:buFontTx/>
              <a:buChar char="-"/>
            </a:pP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effect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분리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Modeling validation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에 적합한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measurement reference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제공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(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단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,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단위는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A.U.)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9748CA-8A3C-2756-E4D8-C7F53508008F}"/>
              </a:ext>
            </a:extLst>
          </p:cNvPr>
          <p:cNvSpPr txBox="1"/>
          <p:nvPr/>
        </p:nvSpPr>
        <p:spPr>
          <a:xfrm>
            <a:off x="490376" y="944426"/>
            <a:ext cx="467115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극저온 조건이 필요한 이유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?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6779477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CDBA3E-99CC-2403-9B66-32F6B0A650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Cryogenic-like</a:t>
            </a:r>
            <a:r>
              <a:rPr lang="ko-KR" altLang="en-US" dirty="0"/>
              <a:t> </a:t>
            </a:r>
            <a:r>
              <a:rPr lang="en-US" altLang="ko-KR" dirty="0"/>
              <a:t>TCAD Emulation</a:t>
            </a:r>
            <a:endParaRPr lang="ko-KR" altLang="en-US" dirty="0"/>
          </a:p>
        </p:txBody>
      </p:sp>
      <p:graphicFrame>
        <p:nvGraphicFramePr>
          <p:cNvPr id="5" name="개체 4">
            <a:extLst>
              <a:ext uri="{FF2B5EF4-FFF2-40B4-BE49-F238E27FC236}">
                <a16:creationId xmlns:a16="http://schemas.microsoft.com/office/drawing/2014/main" id="{FD167D98-28C5-E5A9-685D-94869095ABA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97560406"/>
              </p:ext>
            </p:extLst>
          </p:nvPr>
        </p:nvGraphicFramePr>
        <p:xfrm>
          <a:off x="270133" y="2456147"/>
          <a:ext cx="4512278" cy="3188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2" imgW="4852293" imgH="3429000" progId="Origin50.Graph">
                  <p:embed/>
                </p:oleObj>
              </mc:Choice>
              <mc:Fallback>
                <p:oleObj name="Graph" r:id="rId2" imgW="4852293" imgH="3429000" progId="Origin50.Graph">
                  <p:embed/>
                  <p:pic>
                    <p:nvPicPr>
                      <p:cNvPr id="5" name="개체 4">
                        <a:extLst>
                          <a:ext uri="{FF2B5EF4-FFF2-40B4-BE49-F238E27FC236}">
                            <a16:creationId xmlns:a16="http://schemas.microsoft.com/office/drawing/2014/main" id="{FD167D98-28C5-E5A9-685D-94869095ABA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70133" y="2456147"/>
                        <a:ext cx="4512278" cy="31882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개체 6">
            <a:extLst>
              <a:ext uri="{FF2B5EF4-FFF2-40B4-BE49-F238E27FC236}">
                <a16:creationId xmlns:a16="http://schemas.microsoft.com/office/drawing/2014/main" id="{14B6E2C1-3363-1BE2-6647-EE017647913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90832575"/>
              </p:ext>
            </p:extLst>
          </p:nvPr>
        </p:nvGraphicFramePr>
        <p:xfrm>
          <a:off x="4312293" y="2456146"/>
          <a:ext cx="4512277" cy="3188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4" imgW="4852293" imgH="3429000" progId="Origin50.Graph">
                  <p:embed/>
                </p:oleObj>
              </mc:Choice>
              <mc:Fallback>
                <p:oleObj name="Graph" r:id="rId4" imgW="4852293" imgH="3429000" progId="Origin50.Graph">
                  <p:embed/>
                  <p:pic>
                    <p:nvPicPr>
                      <p:cNvPr id="7" name="개체 6">
                        <a:extLst>
                          <a:ext uri="{FF2B5EF4-FFF2-40B4-BE49-F238E27FC236}">
                            <a16:creationId xmlns:a16="http://schemas.microsoft.com/office/drawing/2014/main" id="{14B6E2C1-3363-1BE2-6647-EE017647913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4312293" y="2456146"/>
                        <a:ext cx="4512277" cy="31882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DBC5718D-5BED-047F-20A9-523A06430935}"/>
              </a:ext>
            </a:extLst>
          </p:cNvPr>
          <p:cNvSpPr txBox="1"/>
          <p:nvPr/>
        </p:nvSpPr>
        <p:spPr>
          <a:xfrm>
            <a:off x="582626" y="914400"/>
            <a:ext cx="81324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온도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–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σ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n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수렴성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테스트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: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극저온 환경과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σ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→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0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사이의 상호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7608DE6-0EF3-553C-CD62-5355B43A02DA}"/>
              </a:ext>
            </a:extLst>
          </p:cNvPr>
          <p:cNvSpPr txBox="1"/>
          <p:nvPr/>
        </p:nvSpPr>
        <p:spPr>
          <a:xfrm>
            <a:off x="449107" y="5644409"/>
            <a:ext cx="419976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300 K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→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83 K (TCAD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최저온도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)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9345EB9-D1D5-A26A-BAE4-AC75B00ED387}"/>
              </a:ext>
            </a:extLst>
          </p:cNvPr>
          <p:cNvSpPr txBox="1"/>
          <p:nvPr/>
        </p:nvSpPr>
        <p:spPr>
          <a:xfrm>
            <a:off x="4674101" y="5644409"/>
            <a:ext cx="41997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10</a:t>
            </a:r>
            <a:r>
              <a:rPr lang="en-US" altLang="ko-KR" sz="20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-16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→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10</a:t>
            </a:r>
            <a:r>
              <a:rPr lang="en-US" altLang="ko-KR" sz="20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-31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→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… [cm</a:t>
            </a:r>
            <a:r>
              <a:rPr lang="en-US" altLang="ko-KR" sz="20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2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]</a:t>
            </a:r>
          </a:p>
          <a:p>
            <a:pPr algn="ctr"/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σ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→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0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지속적으로 확장 가능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21D683-5F2B-B1E1-496C-C09134B03AED}"/>
              </a:ext>
            </a:extLst>
          </p:cNvPr>
          <p:cNvSpPr txBox="1"/>
          <p:nvPr/>
        </p:nvSpPr>
        <p:spPr>
          <a:xfrm>
            <a:off x="582626" y="1480008"/>
            <a:ext cx="802404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Cyrogenic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-like TCAD Emulation Physics deck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SRH Recombination, Fermi statistics, non-local tunneling, Poole-Frenkel emission, thermionic emission </a:t>
            </a:r>
          </a:p>
        </p:txBody>
      </p:sp>
    </p:spTree>
    <p:extLst>
      <p:ext uri="{BB962C8B-B14F-4D97-AF65-F5344CB8AC3E}">
        <p14:creationId xmlns:p14="http://schemas.microsoft.com/office/powerpoint/2010/main" val="27819558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9778E4-D4DA-FF84-213C-4BA55B8D4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678384-2A41-9399-D026-DC24419FF4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Cryogenic-like</a:t>
            </a:r>
            <a:r>
              <a:rPr lang="ko-KR" altLang="en-US" dirty="0"/>
              <a:t> </a:t>
            </a:r>
            <a:r>
              <a:rPr lang="en-US" altLang="ko-KR" dirty="0"/>
              <a:t>Emulation</a:t>
            </a:r>
            <a:endParaRPr lang="ko-KR" altLang="en-US" dirty="0"/>
          </a:p>
        </p:txBody>
      </p:sp>
      <p:graphicFrame>
        <p:nvGraphicFramePr>
          <p:cNvPr id="34" name="개체 33">
            <a:extLst>
              <a:ext uri="{FF2B5EF4-FFF2-40B4-BE49-F238E27FC236}">
                <a16:creationId xmlns:a16="http://schemas.microsoft.com/office/drawing/2014/main" id="{58BB9F18-96F1-98CA-A9A2-43AF25E724E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87002017"/>
              </p:ext>
            </p:extLst>
          </p:nvPr>
        </p:nvGraphicFramePr>
        <p:xfrm>
          <a:off x="4246004" y="2469567"/>
          <a:ext cx="4510590" cy="318566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2" imgW="6842908" imgH="4833106" progId="Origin50.Graph">
                  <p:embed/>
                </p:oleObj>
              </mc:Choice>
              <mc:Fallback>
                <p:oleObj name="Graph" r:id="rId2" imgW="6842908" imgH="4833106" progId="Origin50.Graph">
                  <p:embed/>
                  <p:pic>
                    <p:nvPicPr>
                      <p:cNvPr id="34" name="개체 33">
                        <a:extLst>
                          <a:ext uri="{FF2B5EF4-FFF2-40B4-BE49-F238E27FC236}">
                            <a16:creationId xmlns:a16="http://schemas.microsoft.com/office/drawing/2014/main" id="{58BB9F18-96F1-98CA-A9A2-43AF25E724E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4246004" y="2469567"/>
                        <a:ext cx="4510590" cy="318566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5" name="개체 34">
            <a:extLst>
              <a:ext uri="{FF2B5EF4-FFF2-40B4-BE49-F238E27FC236}">
                <a16:creationId xmlns:a16="http://schemas.microsoft.com/office/drawing/2014/main" id="{891322FF-2DED-B48F-6ACB-94E2A4CB174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83164639"/>
              </p:ext>
            </p:extLst>
          </p:nvPr>
        </p:nvGraphicFramePr>
        <p:xfrm>
          <a:off x="329810" y="2469567"/>
          <a:ext cx="4510590" cy="318566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4" imgW="6842908" imgH="4833106" progId="Origin50.Graph">
                  <p:embed/>
                </p:oleObj>
              </mc:Choice>
              <mc:Fallback>
                <p:oleObj name="Graph" r:id="rId4" imgW="6842908" imgH="4833106" progId="Origin50.Graph">
                  <p:embed/>
                  <p:pic>
                    <p:nvPicPr>
                      <p:cNvPr id="35" name="개체 34">
                        <a:extLst>
                          <a:ext uri="{FF2B5EF4-FFF2-40B4-BE49-F238E27FC236}">
                            <a16:creationId xmlns:a16="http://schemas.microsoft.com/office/drawing/2014/main" id="{891322FF-2DED-B48F-6ACB-94E2A4CB174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29810" y="2469567"/>
                        <a:ext cx="4510590" cy="318566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8" name="화살표: 오른쪽 37">
            <a:extLst>
              <a:ext uri="{FF2B5EF4-FFF2-40B4-BE49-F238E27FC236}">
                <a16:creationId xmlns:a16="http://schemas.microsoft.com/office/drawing/2014/main" id="{6E4C4EB1-1AB2-EF73-61FE-BF2FED9CA5D4}"/>
              </a:ext>
            </a:extLst>
          </p:cNvPr>
          <p:cNvSpPr/>
          <p:nvPr/>
        </p:nvSpPr>
        <p:spPr>
          <a:xfrm rot="19517270">
            <a:off x="6601209" y="3212271"/>
            <a:ext cx="2063126" cy="288363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96E982E-8192-2839-C046-42F0792C60F9}"/>
              </a:ext>
            </a:extLst>
          </p:cNvPr>
          <p:cNvSpPr txBox="1"/>
          <p:nvPr/>
        </p:nvSpPr>
        <p:spPr>
          <a:xfrm>
            <a:off x="5766892" y="3981728"/>
            <a:ext cx="26840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altLang="ko-KR" sz="1400" baseline="-25000" dirty="0" err="1">
                <a:latin typeface="Arial" panose="020B0604020202020204" pitchFamily="34" charset="0"/>
                <a:cs typeface="Arial" panose="020B0604020202020204" pitchFamily="34" charset="0"/>
              </a:rPr>
              <a:t>TOX</a:t>
            </a:r>
            <a:r>
              <a:rPr lang="ko-KR" alt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en-US" altLang="ko-KR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ko-KR" sz="1400" dirty="0">
                <a:latin typeface="Arial" panose="020B0604020202020204" pitchFamily="34" charset="0"/>
                <a:cs typeface="Arial" panose="020B0604020202020204" pitchFamily="34" charset="0"/>
              </a:rPr>
              <a:t>= 3, 3.5, 4, 4.5, 5 [nm]</a:t>
            </a:r>
            <a:endParaRPr lang="ko-KR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BEAFB2D-3964-F8C5-3A78-F54BCCB0BDC3}"/>
              </a:ext>
            </a:extLst>
          </p:cNvPr>
          <p:cNvSpPr txBox="1"/>
          <p:nvPr/>
        </p:nvSpPr>
        <p:spPr>
          <a:xfrm>
            <a:off x="457874" y="869128"/>
            <a:ext cx="4002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측정치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– TCAD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56E689E-70A9-729F-9318-9FC0E2EB24FF}"/>
              </a:ext>
            </a:extLst>
          </p:cNvPr>
          <p:cNvSpPr txBox="1"/>
          <p:nvPr/>
        </p:nvSpPr>
        <p:spPr>
          <a:xfrm>
            <a:off x="838200" y="5655236"/>
            <a:ext cx="4002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O/N/O = </a:t>
            </a:r>
            <a:r>
              <a:rPr lang="en-US" altLang="ko-KR" sz="2000" b="1" u="sng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3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/6/8 [nm]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48B69CA-0EFC-F706-FD4E-7D72C00A5731}"/>
              </a:ext>
            </a:extLst>
          </p:cNvPr>
          <p:cNvSpPr txBox="1"/>
          <p:nvPr/>
        </p:nvSpPr>
        <p:spPr>
          <a:xfrm>
            <a:off x="5236915" y="869128"/>
            <a:ext cx="32490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모델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– TCAD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0C85960-DCE8-5A8A-C306-712154208786}"/>
              </a:ext>
            </a:extLst>
          </p:cNvPr>
          <p:cNvSpPr txBox="1"/>
          <p:nvPr/>
        </p:nvSpPr>
        <p:spPr>
          <a:xfrm>
            <a:off x="5347463" y="1565557"/>
            <a:ext cx="37024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TOX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= 3 ~ 5 [nm]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변화에 따른 변동 검증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2C7020-E6E8-261A-1309-E318F0030DCE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D307E3-3C5B-A30F-F588-D2C7BD43FE83}"/>
              </a:ext>
            </a:extLst>
          </p:cNvPr>
          <p:cNvSpPr txBox="1"/>
          <p:nvPr/>
        </p:nvSpPr>
        <p:spPr>
          <a:xfrm>
            <a:off x="532065" y="1269238"/>
            <a:ext cx="430833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Tx/>
              <a:buChar char="-"/>
            </a:pPr>
            <a:r>
              <a:rPr lang="ko-KR" altLang="en-US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측정치와 </a:t>
            </a:r>
            <a:r>
              <a:rPr lang="en-US" altLang="ko-KR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TCAD calibration</a:t>
            </a:r>
            <a:r>
              <a:rPr lang="ko-KR" altLang="en-US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진행</a:t>
            </a:r>
            <a:endParaRPr lang="en-US" altLang="ko-KR" sz="18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는 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A.U. 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값이지만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, </a:t>
            </a:r>
            <a:r>
              <a:rPr lang="en-US" altLang="ko-KR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</a:t>
            </a:r>
            <a:r>
              <a:rPr lang="en-US" altLang="ko-KR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TOX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값 조절을 하며 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 scale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을 기준으로 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calibration</a:t>
            </a:r>
            <a:endParaRPr lang="en-US" altLang="ko-KR" sz="18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0505063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9E756A-E44F-E0AA-9320-D7B3AF308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Computational Impact</a:t>
            </a:r>
            <a:endParaRPr lang="ko-KR" altLang="en-US" dirty="0"/>
          </a:p>
        </p:txBody>
      </p:sp>
      <p:sp>
        <p:nvSpPr>
          <p:cNvPr id="5" name="Text 4">
            <a:extLst>
              <a:ext uri="{FF2B5EF4-FFF2-40B4-BE49-F238E27FC236}">
                <a16:creationId xmlns:a16="http://schemas.microsoft.com/office/drawing/2014/main" id="{4CD5D8C2-B9F6-A0F7-6221-3EEF51EFE7A4}"/>
              </a:ext>
            </a:extLst>
          </p:cNvPr>
          <p:cNvSpPr/>
          <p:nvPr/>
        </p:nvSpPr>
        <p:spPr>
          <a:xfrm>
            <a:off x="1678940" y="987552"/>
            <a:ext cx="1325880" cy="411480"/>
          </a:xfrm>
          <a:prstGeom prst="rect">
            <a:avLst/>
          </a:prstGeom>
          <a:solidFill>
            <a:srgbClr val="0D2B45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Property</a:t>
            </a:r>
            <a:endParaRPr lang="en-US" dirty="0"/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CC292B0B-D34E-907E-C605-4BFBBE5B65D8}"/>
              </a:ext>
            </a:extLst>
          </p:cNvPr>
          <p:cNvSpPr/>
          <p:nvPr/>
        </p:nvSpPr>
        <p:spPr>
          <a:xfrm>
            <a:off x="3004820" y="987552"/>
            <a:ext cx="1965960" cy="411480"/>
          </a:xfrm>
          <a:prstGeom prst="rect">
            <a:avLst/>
          </a:prstGeom>
          <a:solidFill>
            <a:srgbClr val="0D2B45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Transient TCAD</a:t>
            </a:r>
            <a:endParaRPr lang="en-US" dirty="0"/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0CAC4BE1-4759-0E57-69C3-F84F2E395A97}"/>
              </a:ext>
            </a:extLst>
          </p:cNvPr>
          <p:cNvSpPr/>
          <p:nvPr/>
        </p:nvSpPr>
        <p:spPr>
          <a:xfrm>
            <a:off x="4970780" y="987552"/>
            <a:ext cx="2468880" cy="411480"/>
          </a:xfrm>
          <a:prstGeom prst="rect">
            <a:avLst/>
          </a:prstGeom>
          <a:solidFill>
            <a:srgbClr val="0D2B45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Time-step-free model</a:t>
            </a:r>
            <a:endParaRPr lang="en-US" dirty="0"/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74A61EC9-7FFD-4533-05C7-E035E49B4AA9}"/>
              </a:ext>
            </a:extLst>
          </p:cNvPr>
          <p:cNvSpPr/>
          <p:nvPr/>
        </p:nvSpPr>
        <p:spPr>
          <a:xfrm>
            <a:off x="1678940" y="1399032"/>
            <a:ext cx="1325880" cy="658368"/>
          </a:xfrm>
          <a:prstGeom prst="rect">
            <a:avLst/>
          </a:prstGeom>
          <a:solidFill>
            <a:srgbClr val="F6F8FB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Temporal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treatment</a:t>
            </a:r>
            <a:endParaRPr lang="en-US" sz="1400" dirty="0"/>
          </a:p>
        </p:txBody>
      </p:sp>
      <p:sp>
        <p:nvSpPr>
          <p:cNvPr id="9" name="Text 8">
            <a:extLst>
              <a:ext uri="{FF2B5EF4-FFF2-40B4-BE49-F238E27FC236}">
                <a16:creationId xmlns:a16="http://schemas.microsoft.com/office/drawing/2014/main" id="{E9DE8736-7A8A-C50A-3017-6C1F863E93F0}"/>
              </a:ext>
            </a:extLst>
          </p:cNvPr>
          <p:cNvSpPr/>
          <p:nvPr/>
        </p:nvSpPr>
        <p:spPr>
          <a:xfrm>
            <a:off x="3004820" y="1399032"/>
            <a:ext cx="1965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Sequential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time stepping</a:t>
            </a:r>
            <a:endParaRPr lang="en-US" sz="1600" dirty="0"/>
          </a:p>
        </p:txBody>
      </p:sp>
      <p:sp>
        <p:nvSpPr>
          <p:cNvPr id="11" name="Text 10">
            <a:extLst>
              <a:ext uri="{FF2B5EF4-FFF2-40B4-BE49-F238E27FC236}">
                <a16:creationId xmlns:a16="http://schemas.microsoft.com/office/drawing/2014/main" id="{68E33C37-1795-66F9-5660-BBB19ED8B691}"/>
              </a:ext>
            </a:extLst>
          </p:cNvPr>
          <p:cNvSpPr/>
          <p:nvPr/>
        </p:nvSpPr>
        <p:spPr>
          <a:xfrm>
            <a:off x="1678940" y="2057400"/>
            <a:ext cx="1325880" cy="768096"/>
          </a:xfrm>
          <a:prstGeom prst="rect">
            <a:avLst/>
          </a:prstGeom>
          <a:solidFill>
            <a:srgbClr val="F6F8FB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Final-time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dependence</a:t>
            </a:r>
            <a:endParaRPr lang="en-US" sz="1400" dirty="0"/>
          </a:p>
        </p:txBody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F7DC4FCC-0D75-763F-35C3-C1C4EE2BAA4F}"/>
              </a:ext>
            </a:extLst>
          </p:cNvPr>
          <p:cNvSpPr/>
          <p:nvPr/>
        </p:nvSpPr>
        <p:spPr>
          <a:xfrm>
            <a:off x="3004820" y="2057400"/>
            <a:ext cx="196596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Runtime grows as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simulated retention time increases</a:t>
            </a:r>
            <a:endParaRPr lang="en-US" sz="1200" dirty="0"/>
          </a:p>
        </p:txBody>
      </p:sp>
      <p:sp>
        <p:nvSpPr>
          <p:cNvPr id="13" name="Text 12">
            <a:extLst>
              <a:ext uri="{FF2B5EF4-FFF2-40B4-BE49-F238E27FC236}">
                <a16:creationId xmlns:a16="http://schemas.microsoft.com/office/drawing/2014/main" id="{2FE02911-90C1-620B-37B5-516FFEA285B3}"/>
              </a:ext>
            </a:extLst>
          </p:cNvPr>
          <p:cNvSpPr/>
          <p:nvPr/>
        </p:nvSpPr>
        <p:spPr>
          <a:xfrm>
            <a:off x="4970780" y="2057400"/>
            <a:ext cx="246888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Independent of final</a:t>
            </a:r>
            <a:endParaRPr lang="en-US" sz="1400" b="1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physical time for fixed queries</a:t>
            </a:r>
            <a:endParaRPr lang="en-US" sz="1400" b="1" dirty="0"/>
          </a:p>
        </p:txBody>
      </p:sp>
      <p:sp>
        <p:nvSpPr>
          <p:cNvPr id="14" name="Text 13">
            <a:extLst>
              <a:ext uri="{FF2B5EF4-FFF2-40B4-BE49-F238E27FC236}">
                <a16:creationId xmlns:a16="http://schemas.microsoft.com/office/drawing/2014/main" id="{49D174F1-A2EB-7C3A-60B1-3C29EC4E261C}"/>
              </a:ext>
            </a:extLst>
          </p:cNvPr>
          <p:cNvSpPr/>
          <p:nvPr/>
        </p:nvSpPr>
        <p:spPr>
          <a:xfrm>
            <a:off x="1678940" y="2825496"/>
            <a:ext cx="1325880" cy="603504"/>
          </a:xfrm>
          <a:prstGeom prst="rect">
            <a:avLst/>
          </a:prstGeom>
          <a:solidFill>
            <a:srgbClr val="F6F8FB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Average</a:t>
            </a:r>
          </a:p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runtime</a:t>
            </a:r>
            <a:endParaRPr lang="en-US" sz="1400" dirty="0"/>
          </a:p>
        </p:txBody>
      </p:sp>
      <p:sp>
        <p:nvSpPr>
          <p:cNvPr id="15" name="Text 14">
            <a:extLst>
              <a:ext uri="{FF2B5EF4-FFF2-40B4-BE49-F238E27FC236}">
                <a16:creationId xmlns:a16="http://schemas.microsoft.com/office/drawing/2014/main" id="{C5677FC9-B3AA-9449-57E9-50B3E482C8F1}"/>
              </a:ext>
            </a:extLst>
          </p:cNvPr>
          <p:cNvSpPr/>
          <p:nvPr/>
        </p:nvSpPr>
        <p:spPr>
          <a:xfrm>
            <a:off x="3004820" y="2825496"/>
            <a:ext cx="196596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b="1" dirty="0">
                <a:solidFill>
                  <a:srgbClr val="5C667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27483 s</a:t>
            </a:r>
            <a:endParaRPr lang="en-US" sz="2400" dirty="0"/>
          </a:p>
        </p:txBody>
      </p:sp>
      <p:sp>
        <p:nvSpPr>
          <p:cNvPr id="16" name="Text 15">
            <a:extLst>
              <a:ext uri="{FF2B5EF4-FFF2-40B4-BE49-F238E27FC236}">
                <a16:creationId xmlns:a16="http://schemas.microsoft.com/office/drawing/2014/main" id="{6EB728DA-214C-44E4-E603-837D7618C767}"/>
              </a:ext>
            </a:extLst>
          </p:cNvPr>
          <p:cNvSpPr/>
          <p:nvPr/>
        </p:nvSpPr>
        <p:spPr>
          <a:xfrm>
            <a:off x="4970780" y="2825496"/>
            <a:ext cx="246888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3.926 s</a:t>
            </a:r>
            <a:endParaRPr lang="en-US" sz="2400" dirty="0"/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B04CC522-EDC8-597E-28D2-84CE8A293807}"/>
              </a:ext>
            </a:extLst>
          </p:cNvPr>
          <p:cNvSpPr/>
          <p:nvPr/>
        </p:nvSpPr>
        <p:spPr>
          <a:xfrm>
            <a:off x="4806315" y="1355175"/>
            <a:ext cx="2797810" cy="74608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Closed-form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evaluation of Eq. (13)</a:t>
            </a:r>
            <a:endParaRPr lang="en-US" sz="1600" dirty="0"/>
          </a:p>
        </p:txBody>
      </p:sp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7859EE1C-ABE7-24EC-F8B1-5EEDAA8EDA66}"/>
              </a:ext>
            </a:extLst>
          </p:cNvPr>
          <p:cNvSpPr/>
          <p:nvPr/>
        </p:nvSpPr>
        <p:spPr>
          <a:xfrm>
            <a:off x="4254500" y="3306735"/>
            <a:ext cx="1460500" cy="286857"/>
          </a:xfrm>
          <a:custGeom>
            <a:avLst/>
            <a:gdLst>
              <a:gd name="csX0" fmla="*/ 0 w 1460500"/>
              <a:gd name="csY0" fmla="*/ 0 h 457598"/>
              <a:gd name="csX1" fmla="*/ 787400 w 1460500"/>
              <a:gd name="csY1" fmla="*/ 457200 h 457598"/>
              <a:gd name="csX2" fmla="*/ 1460500 w 1460500"/>
              <a:gd name="csY2" fmla="*/ 63500 h 4575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460500" h="457598">
                <a:moveTo>
                  <a:pt x="0" y="0"/>
                </a:moveTo>
                <a:cubicBezTo>
                  <a:pt x="271991" y="223308"/>
                  <a:pt x="543983" y="446617"/>
                  <a:pt x="787400" y="457200"/>
                </a:cubicBezTo>
                <a:cubicBezTo>
                  <a:pt x="1030817" y="467783"/>
                  <a:pt x="1245658" y="265641"/>
                  <a:pt x="1460500" y="63500"/>
                </a:cubicBezTo>
              </a:path>
            </a:pathLst>
          </a:custGeom>
          <a:noFill/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35527E49-DD95-E8F9-13BD-E2F50DA954EA}"/>
              </a:ext>
            </a:extLst>
          </p:cNvPr>
          <p:cNvSpPr/>
          <p:nvPr/>
        </p:nvSpPr>
        <p:spPr>
          <a:xfrm>
            <a:off x="4060190" y="3593592"/>
            <a:ext cx="1849120" cy="419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 dirty="0">
                <a:solidFill>
                  <a:srgbClr val="00A6B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≈ 7000×</a:t>
            </a:r>
            <a:endParaRPr lang="en-US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33320400-7B65-329F-145D-D149F9AC68A8}"/>
              </a:ext>
            </a:extLst>
          </p:cNvPr>
          <p:cNvSpPr/>
          <p:nvPr/>
        </p:nvSpPr>
        <p:spPr>
          <a:xfrm>
            <a:off x="4060190" y="3913803"/>
            <a:ext cx="1849120" cy="286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0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runtime reduction</a:t>
            </a:r>
            <a:endParaRPr 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C18F11F-06B6-3B51-BBFF-6FB4C620D1E5}"/>
              </a:ext>
            </a:extLst>
          </p:cNvPr>
          <p:cNvSpPr txBox="1"/>
          <p:nvPr/>
        </p:nvSpPr>
        <p:spPr>
          <a:xfrm>
            <a:off x="838200" y="4326304"/>
            <a:ext cx="75819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TCAD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는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final physical time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까지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 step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별 순차적으로 계산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Time-step-free model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closed-form evaluation</a:t>
            </a: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Computational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resource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는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final retention time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자체가 아니라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 bin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수와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evaluated time point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수에 의해 결정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4331CB-D5AF-B0B9-DC72-6B9FA595B49E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3213830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CBE7987C-E18E-E3BC-9DFA-C2C591888545}"/>
              </a:ext>
            </a:extLst>
          </p:cNvPr>
          <p:cNvSpPr/>
          <p:nvPr/>
        </p:nvSpPr>
        <p:spPr>
          <a:xfrm>
            <a:off x="182402" y="1414385"/>
            <a:ext cx="3938616" cy="3864491"/>
          </a:xfrm>
          <a:prstGeom prst="roundRect">
            <a:avLst>
              <a:gd name="adj" fmla="val 14821"/>
            </a:avLst>
          </a:prstGeom>
          <a:noFill/>
          <a:ln w="190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D9194162-33F7-E614-537E-318E5112B445}"/>
              </a:ext>
            </a:extLst>
          </p:cNvPr>
          <p:cNvSpPr/>
          <p:nvPr/>
        </p:nvSpPr>
        <p:spPr>
          <a:xfrm>
            <a:off x="742544" y="2103978"/>
            <a:ext cx="2795082" cy="2795082"/>
          </a:xfrm>
          <a:prstGeom prst="ellipse">
            <a:avLst/>
          </a:prstGeom>
          <a:pattFill prst="trellis">
            <a:fgClr>
              <a:srgbClr val="92D050"/>
            </a:fgClr>
            <a:bgClr>
              <a:schemeClr val="bg1"/>
            </a:bgClr>
          </a:pattFill>
          <a:ln w="12700"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CE6DF536-C418-C7D4-8F6D-D558C19740BE}"/>
              </a:ext>
            </a:extLst>
          </p:cNvPr>
          <p:cNvSpPr/>
          <p:nvPr/>
        </p:nvSpPr>
        <p:spPr>
          <a:xfrm>
            <a:off x="959796" y="2321230"/>
            <a:ext cx="2360578" cy="236057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E2EE4E6-A909-FC01-699D-34B210CF9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29" y="165556"/>
            <a:ext cx="8955742" cy="590931"/>
          </a:xfrm>
        </p:spPr>
        <p:txBody>
          <a:bodyPr/>
          <a:lstStyle/>
          <a:p>
            <a:r>
              <a:rPr lang="en-US" altLang="ko-KR" dirty="0"/>
              <a:t>Limited</a:t>
            </a:r>
            <a:r>
              <a:rPr lang="ko-KR" altLang="en-US" dirty="0"/>
              <a:t> </a:t>
            </a:r>
            <a:r>
              <a:rPr lang="en-US" altLang="ko-KR" dirty="0"/>
              <a:t>Contribution of TAT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788DA6-1DDD-4AFE-56F7-6FE64FA08E3A}"/>
              </a:ext>
            </a:extLst>
          </p:cNvPr>
          <p:cNvSpPr txBox="1"/>
          <p:nvPr/>
        </p:nvSpPr>
        <p:spPr>
          <a:xfrm>
            <a:off x="252015" y="935741"/>
            <a:ext cx="83203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가능 경로 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(Route Count)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개념 활용하여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TAT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제외 이유</a:t>
            </a: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E562B87A-D685-7207-1F0D-0701614FE223}"/>
              </a:ext>
            </a:extLst>
          </p:cNvPr>
          <p:cNvSpPr/>
          <p:nvPr/>
        </p:nvSpPr>
        <p:spPr>
          <a:xfrm>
            <a:off x="1102468" y="2463902"/>
            <a:ext cx="2075234" cy="2075234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284FF6E5-CF94-2690-53A6-FE6B72D1BD78}"/>
              </a:ext>
            </a:extLst>
          </p:cNvPr>
          <p:cNvSpPr/>
          <p:nvPr/>
        </p:nvSpPr>
        <p:spPr>
          <a:xfrm>
            <a:off x="1413753" y="2775187"/>
            <a:ext cx="1452664" cy="1452664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C242787-161C-BF0A-F994-B7B75BE605C9}"/>
              </a:ext>
            </a:extLst>
          </p:cNvPr>
          <p:cNvSpPr txBox="1"/>
          <p:nvPr/>
        </p:nvSpPr>
        <p:spPr>
          <a:xfrm>
            <a:off x="1825557" y="3950852"/>
            <a:ext cx="6290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filler</a:t>
            </a:r>
            <a:endParaRPr lang="ko-KR" altLang="en-US" sz="12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03E09B6-7E4D-133B-A36E-71BCC5DA8E4B}"/>
              </a:ext>
            </a:extLst>
          </p:cNvPr>
          <p:cNvSpPr txBox="1"/>
          <p:nvPr/>
        </p:nvSpPr>
        <p:spPr>
          <a:xfrm>
            <a:off x="1660187" y="4227850"/>
            <a:ext cx="9597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/>
                </a:solidFill>
                <a:latin typeface="Times New Roman"/>
                <a:ea typeface="맑은 고딕"/>
                <a:cs typeface="Times New Roman"/>
              </a:rPr>
              <a:t>Si-channel</a:t>
            </a:r>
            <a:endParaRPr lang="ko-KR" altLang="en-US" sz="1200" b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/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980C462-F110-4EFA-B18E-4ECCD87CE08F}"/>
              </a:ext>
            </a:extLst>
          </p:cNvPr>
          <p:cNvSpPr txBox="1"/>
          <p:nvPr/>
        </p:nvSpPr>
        <p:spPr>
          <a:xfrm>
            <a:off x="599872" y="4656348"/>
            <a:ext cx="6290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TOX</a:t>
            </a:r>
            <a:endParaRPr lang="ko-KR" altLang="en-US" sz="12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35D85EE-D54E-62E7-0203-66C89417E43E}"/>
              </a:ext>
            </a:extLst>
          </p:cNvPr>
          <p:cNvSpPr txBox="1"/>
          <p:nvPr/>
        </p:nvSpPr>
        <p:spPr>
          <a:xfrm>
            <a:off x="742544" y="4903232"/>
            <a:ext cx="6290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</a:t>
            </a:r>
            <a:endParaRPr lang="ko-KR" altLang="en-US" sz="12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D20C5906-F467-CC3A-F9E3-1BA75607E79C}"/>
              </a:ext>
            </a:extLst>
          </p:cNvPr>
          <p:cNvCxnSpPr/>
          <p:nvPr/>
        </p:nvCxnSpPr>
        <p:spPr>
          <a:xfrm flipH="1">
            <a:off x="1057072" y="4539136"/>
            <a:ext cx="768485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0B8FBA15-6BFF-A56D-2A52-2930D5FEB9D0}"/>
              </a:ext>
            </a:extLst>
          </p:cNvPr>
          <p:cNvCxnSpPr>
            <a:cxnSpLocks/>
          </p:cNvCxnSpPr>
          <p:nvPr/>
        </p:nvCxnSpPr>
        <p:spPr>
          <a:xfrm flipH="1">
            <a:off x="927370" y="4539136"/>
            <a:ext cx="142672" cy="14267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92EED7AB-02E6-DD08-0CD8-4B68EF73B60C}"/>
              </a:ext>
            </a:extLst>
          </p:cNvPr>
          <p:cNvCxnSpPr/>
          <p:nvPr/>
        </p:nvCxnSpPr>
        <p:spPr>
          <a:xfrm flipH="1">
            <a:off x="1275944" y="4756387"/>
            <a:ext cx="768485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6A13D0EE-771C-5785-0DE0-686FE8476DEF}"/>
              </a:ext>
            </a:extLst>
          </p:cNvPr>
          <p:cNvCxnSpPr>
            <a:cxnSpLocks/>
          </p:cNvCxnSpPr>
          <p:nvPr/>
        </p:nvCxnSpPr>
        <p:spPr>
          <a:xfrm flipH="1">
            <a:off x="1146242" y="4756387"/>
            <a:ext cx="142672" cy="14267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095A2FEC-D802-5315-E715-9440BD4F8037}"/>
              </a:ext>
            </a:extLst>
          </p:cNvPr>
          <p:cNvCxnSpPr>
            <a:cxnSpLocks/>
          </p:cNvCxnSpPr>
          <p:nvPr/>
        </p:nvCxnSpPr>
        <p:spPr>
          <a:xfrm flipH="1">
            <a:off x="3022059" y="3508005"/>
            <a:ext cx="42801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A43E964E-314F-30F2-C5CB-BBAE1C3CE130}"/>
              </a:ext>
            </a:extLst>
          </p:cNvPr>
          <p:cNvCxnSpPr>
            <a:cxnSpLocks/>
          </p:cNvCxnSpPr>
          <p:nvPr/>
        </p:nvCxnSpPr>
        <p:spPr>
          <a:xfrm flipH="1" flipV="1">
            <a:off x="2918298" y="4007358"/>
            <a:ext cx="298315" cy="18644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53C84424-EEC5-BFF6-452C-54AE0297CA58}"/>
              </a:ext>
            </a:extLst>
          </p:cNvPr>
          <p:cNvCxnSpPr>
            <a:cxnSpLocks/>
          </p:cNvCxnSpPr>
          <p:nvPr/>
        </p:nvCxnSpPr>
        <p:spPr>
          <a:xfrm>
            <a:off x="878731" y="3508005"/>
            <a:ext cx="410183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FBC2E793-E2E1-E603-695C-E074E942FF26}"/>
              </a:ext>
            </a:extLst>
          </p:cNvPr>
          <p:cNvCxnSpPr>
            <a:cxnSpLocks/>
          </p:cNvCxnSpPr>
          <p:nvPr/>
        </p:nvCxnSpPr>
        <p:spPr>
          <a:xfrm>
            <a:off x="2159540" y="2217469"/>
            <a:ext cx="0" cy="47341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FC5B3934-1CE8-ECB0-F0B6-FD7C7328B637}"/>
              </a:ext>
            </a:extLst>
          </p:cNvPr>
          <p:cNvCxnSpPr>
            <a:cxnSpLocks/>
          </p:cNvCxnSpPr>
          <p:nvPr/>
        </p:nvCxnSpPr>
        <p:spPr>
          <a:xfrm flipV="1">
            <a:off x="2159540" y="4441860"/>
            <a:ext cx="0" cy="3631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1D0F2261-716B-45B3-32E4-F3DA08644233}"/>
              </a:ext>
            </a:extLst>
          </p:cNvPr>
          <p:cNvCxnSpPr>
            <a:cxnSpLocks/>
          </p:cNvCxnSpPr>
          <p:nvPr/>
        </p:nvCxnSpPr>
        <p:spPr>
          <a:xfrm flipH="1" flipV="1">
            <a:off x="2645923" y="4275274"/>
            <a:ext cx="168613" cy="2829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1B6A83C2-C031-D2E1-BC17-92D690DF0626}"/>
              </a:ext>
            </a:extLst>
          </p:cNvPr>
          <p:cNvCxnSpPr>
            <a:cxnSpLocks/>
          </p:cNvCxnSpPr>
          <p:nvPr/>
        </p:nvCxnSpPr>
        <p:spPr>
          <a:xfrm flipV="1">
            <a:off x="1542646" y="4331612"/>
            <a:ext cx="166180" cy="28419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F8293DBF-BF2A-17A5-3730-64D5ED265080}"/>
              </a:ext>
            </a:extLst>
          </p:cNvPr>
          <p:cNvCxnSpPr>
            <a:cxnSpLocks/>
          </p:cNvCxnSpPr>
          <p:nvPr/>
        </p:nvCxnSpPr>
        <p:spPr>
          <a:xfrm flipV="1">
            <a:off x="1083822" y="3984321"/>
            <a:ext cx="296897" cy="2195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87332147-8690-5D02-4611-18572FA7AAA6}"/>
              </a:ext>
            </a:extLst>
          </p:cNvPr>
          <p:cNvCxnSpPr>
            <a:cxnSpLocks/>
          </p:cNvCxnSpPr>
          <p:nvPr/>
        </p:nvCxnSpPr>
        <p:spPr>
          <a:xfrm>
            <a:off x="1006609" y="2885873"/>
            <a:ext cx="342293" cy="20016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08475678-6B11-CBFF-03E9-62F15D944696}"/>
              </a:ext>
            </a:extLst>
          </p:cNvPr>
          <p:cNvCxnSpPr>
            <a:cxnSpLocks/>
          </p:cNvCxnSpPr>
          <p:nvPr/>
        </p:nvCxnSpPr>
        <p:spPr>
          <a:xfrm>
            <a:off x="1413753" y="2471265"/>
            <a:ext cx="295073" cy="3428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3E8030BE-DEAE-C558-1944-832F3CD5255F}"/>
              </a:ext>
            </a:extLst>
          </p:cNvPr>
          <p:cNvCxnSpPr>
            <a:cxnSpLocks/>
          </p:cNvCxnSpPr>
          <p:nvPr/>
        </p:nvCxnSpPr>
        <p:spPr>
          <a:xfrm flipH="1">
            <a:off x="2607721" y="2454175"/>
            <a:ext cx="240862" cy="32972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7EBF30A3-9F6D-FA23-4B53-E67F1C8FE0E2}"/>
              </a:ext>
            </a:extLst>
          </p:cNvPr>
          <p:cNvCxnSpPr>
            <a:cxnSpLocks/>
          </p:cNvCxnSpPr>
          <p:nvPr/>
        </p:nvCxnSpPr>
        <p:spPr>
          <a:xfrm flipH="1">
            <a:off x="2890280" y="2885873"/>
            <a:ext cx="403697" cy="24805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타원 60">
            <a:extLst>
              <a:ext uri="{FF2B5EF4-FFF2-40B4-BE49-F238E27FC236}">
                <a16:creationId xmlns:a16="http://schemas.microsoft.com/office/drawing/2014/main" id="{730E3302-1349-0570-552B-503D4AA87974}"/>
              </a:ext>
            </a:extLst>
          </p:cNvPr>
          <p:cNvSpPr/>
          <p:nvPr/>
        </p:nvSpPr>
        <p:spPr>
          <a:xfrm>
            <a:off x="5265096" y="2103978"/>
            <a:ext cx="2795082" cy="2795082"/>
          </a:xfrm>
          <a:prstGeom prst="ellipse">
            <a:avLst/>
          </a:prstGeom>
          <a:pattFill prst="trellis">
            <a:fgClr>
              <a:srgbClr val="92D050"/>
            </a:fgClr>
            <a:bgClr>
              <a:schemeClr val="bg1"/>
            </a:bgClr>
          </a:pattFill>
          <a:ln w="12700"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752A6ED0-2622-EBBE-A88F-CDED6D54E93C}"/>
              </a:ext>
            </a:extLst>
          </p:cNvPr>
          <p:cNvSpPr/>
          <p:nvPr/>
        </p:nvSpPr>
        <p:spPr>
          <a:xfrm>
            <a:off x="5482348" y="2321230"/>
            <a:ext cx="2360578" cy="236057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E0C7F59C-F9A2-829F-8D2A-898DFABEC75F}"/>
              </a:ext>
            </a:extLst>
          </p:cNvPr>
          <p:cNvSpPr/>
          <p:nvPr/>
        </p:nvSpPr>
        <p:spPr>
          <a:xfrm>
            <a:off x="5625020" y="2463902"/>
            <a:ext cx="2075234" cy="2075234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83020422-C4BE-E02A-9F07-57ADBA7AFB4A}"/>
              </a:ext>
            </a:extLst>
          </p:cNvPr>
          <p:cNvSpPr/>
          <p:nvPr/>
        </p:nvSpPr>
        <p:spPr>
          <a:xfrm>
            <a:off x="5936305" y="2775187"/>
            <a:ext cx="1452664" cy="1452664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EB7434C-4557-CEBB-5CA1-C649A44A91CB}"/>
              </a:ext>
            </a:extLst>
          </p:cNvPr>
          <p:cNvSpPr txBox="1"/>
          <p:nvPr/>
        </p:nvSpPr>
        <p:spPr>
          <a:xfrm>
            <a:off x="6348109" y="3950852"/>
            <a:ext cx="6290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filler</a:t>
            </a:r>
            <a:endParaRPr lang="ko-KR" altLang="en-US" sz="12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57D963E-811C-FBBC-8E10-15FB711D3081}"/>
              </a:ext>
            </a:extLst>
          </p:cNvPr>
          <p:cNvSpPr txBox="1"/>
          <p:nvPr/>
        </p:nvSpPr>
        <p:spPr>
          <a:xfrm>
            <a:off x="6182739" y="4227850"/>
            <a:ext cx="9597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/>
                </a:solidFill>
                <a:latin typeface="Times New Roman"/>
                <a:ea typeface="맑은 고딕"/>
                <a:cs typeface="Times New Roman"/>
              </a:rPr>
              <a:t>Si-channel</a:t>
            </a:r>
            <a:endParaRPr lang="ko-KR" altLang="en-US" sz="1200" b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/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BBF22E1-0BB8-2C25-A2A5-E1428E69F98A}"/>
              </a:ext>
            </a:extLst>
          </p:cNvPr>
          <p:cNvSpPr txBox="1"/>
          <p:nvPr/>
        </p:nvSpPr>
        <p:spPr>
          <a:xfrm>
            <a:off x="5122424" y="4656348"/>
            <a:ext cx="6290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TOX</a:t>
            </a:r>
            <a:endParaRPr lang="ko-KR" altLang="en-US" sz="12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A376F7D-E571-C2B3-3E63-7AB977024A1C}"/>
              </a:ext>
            </a:extLst>
          </p:cNvPr>
          <p:cNvSpPr txBox="1"/>
          <p:nvPr/>
        </p:nvSpPr>
        <p:spPr>
          <a:xfrm>
            <a:off x="5265096" y="4903232"/>
            <a:ext cx="6290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</a:t>
            </a:r>
            <a:endParaRPr lang="ko-KR" altLang="en-US" sz="12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cxnSp>
        <p:nvCxnSpPr>
          <p:cNvPr id="69" name="직선 연결선 68">
            <a:extLst>
              <a:ext uri="{FF2B5EF4-FFF2-40B4-BE49-F238E27FC236}">
                <a16:creationId xmlns:a16="http://schemas.microsoft.com/office/drawing/2014/main" id="{58919A1B-A451-0A6B-8F81-62646D1AD3C7}"/>
              </a:ext>
            </a:extLst>
          </p:cNvPr>
          <p:cNvCxnSpPr/>
          <p:nvPr/>
        </p:nvCxnSpPr>
        <p:spPr>
          <a:xfrm flipH="1">
            <a:off x="5579624" y="4539136"/>
            <a:ext cx="768485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직선 연결선 69">
            <a:extLst>
              <a:ext uri="{FF2B5EF4-FFF2-40B4-BE49-F238E27FC236}">
                <a16:creationId xmlns:a16="http://schemas.microsoft.com/office/drawing/2014/main" id="{EFB51CC5-4F8D-7FD9-7E96-8EBA5CDA6943}"/>
              </a:ext>
            </a:extLst>
          </p:cNvPr>
          <p:cNvCxnSpPr>
            <a:cxnSpLocks/>
          </p:cNvCxnSpPr>
          <p:nvPr/>
        </p:nvCxnSpPr>
        <p:spPr>
          <a:xfrm flipH="1">
            <a:off x="5449922" y="4539136"/>
            <a:ext cx="142672" cy="14267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D6A4505B-A343-48C0-9091-434EAF95BE86}"/>
              </a:ext>
            </a:extLst>
          </p:cNvPr>
          <p:cNvCxnSpPr/>
          <p:nvPr/>
        </p:nvCxnSpPr>
        <p:spPr>
          <a:xfrm flipH="1">
            <a:off x="5798496" y="4756387"/>
            <a:ext cx="768485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71">
            <a:extLst>
              <a:ext uri="{FF2B5EF4-FFF2-40B4-BE49-F238E27FC236}">
                <a16:creationId xmlns:a16="http://schemas.microsoft.com/office/drawing/2014/main" id="{4DB9F78D-75E8-F1AC-023A-96F9B635DD82}"/>
              </a:ext>
            </a:extLst>
          </p:cNvPr>
          <p:cNvCxnSpPr>
            <a:cxnSpLocks/>
          </p:cNvCxnSpPr>
          <p:nvPr/>
        </p:nvCxnSpPr>
        <p:spPr>
          <a:xfrm flipH="1">
            <a:off x="5668794" y="4756387"/>
            <a:ext cx="142672" cy="14267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A9D4CAF2-3F39-51C3-6CC8-4D2F6F406B81}"/>
              </a:ext>
            </a:extLst>
          </p:cNvPr>
          <p:cNvCxnSpPr>
            <a:cxnSpLocks/>
          </p:cNvCxnSpPr>
          <p:nvPr/>
        </p:nvCxnSpPr>
        <p:spPr>
          <a:xfrm flipH="1">
            <a:off x="7544611" y="3508005"/>
            <a:ext cx="428017" cy="0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F02C59D3-EC19-908D-10E6-841B31976D2F}"/>
              </a:ext>
            </a:extLst>
          </p:cNvPr>
          <p:cNvCxnSpPr>
            <a:cxnSpLocks/>
          </p:cNvCxnSpPr>
          <p:nvPr/>
        </p:nvCxnSpPr>
        <p:spPr>
          <a:xfrm flipH="1" flipV="1">
            <a:off x="7440850" y="4007358"/>
            <a:ext cx="298315" cy="18644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직선 화살표 연결선 74">
            <a:extLst>
              <a:ext uri="{FF2B5EF4-FFF2-40B4-BE49-F238E27FC236}">
                <a16:creationId xmlns:a16="http://schemas.microsoft.com/office/drawing/2014/main" id="{19529D91-112B-FAC6-E5E9-C8F0B84D6276}"/>
              </a:ext>
            </a:extLst>
          </p:cNvPr>
          <p:cNvCxnSpPr>
            <a:cxnSpLocks/>
          </p:cNvCxnSpPr>
          <p:nvPr/>
        </p:nvCxnSpPr>
        <p:spPr>
          <a:xfrm>
            <a:off x="5401283" y="3508005"/>
            <a:ext cx="410183" cy="0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E615961A-0D73-9781-D77C-EAF687D40830}"/>
              </a:ext>
            </a:extLst>
          </p:cNvPr>
          <p:cNvCxnSpPr>
            <a:cxnSpLocks/>
          </p:cNvCxnSpPr>
          <p:nvPr/>
        </p:nvCxnSpPr>
        <p:spPr>
          <a:xfrm>
            <a:off x="6682092" y="2217469"/>
            <a:ext cx="0" cy="47341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573A3675-4852-E433-0FBD-4E6AE0929C07}"/>
              </a:ext>
            </a:extLst>
          </p:cNvPr>
          <p:cNvCxnSpPr>
            <a:cxnSpLocks/>
          </p:cNvCxnSpPr>
          <p:nvPr/>
        </p:nvCxnSpPr>
        <p:spPr>
          <a:xfrm flipV="1">
            <a:off x="6682092" y="4441860"/>
            <a:ext cx="0" cy="363166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E9B9CBDA-0713-04BD-0223-2880D4AF907E}"/>
              </a:ext>
            </a:extLst>
          </p:cNvPr>
          <p:cNvCxnSpPr>
            <a:cxnSpLocks/>
          </p:cNvCxnSpPr>
          <p:nvPr/>
        </p:nvCxnSpPr>
        <p:spPr>
          <a:xfrm flipH="1" flipV="1">
            <a:off x="7168475" y="4275274"/>
            <a:ext cx="168613" cy="282912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60C449AE-76B4-CA8F-1A2A-EF1DFC19DEE8}"/>
              </a:ext>
            </a:extLst>
          </p:cNvPr>
          <p:cNvCxnSpPr>
            <a:cxnSpLocks/>
          </p:cNvCxnSpPr>
          <p:nvPr/>
        </p:nvCxnSpPr>
        <p:spPr>
          <a:xfrm flipV="1">
            <a:off x="6065198" y="4331612"/>
            <a:ext cx="166180" cy="284190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8FCC4C5E-FAB0-49C1-43FA-52E62D048C40}"/>
              </a:ext>
            </a:extLst>
          </p:cNvPr>
          <p:cNvCxnSpPr>
            <a:cxnSpLocks/>
          </p:cNvCxnSpPr>
          <p:nvPr/>
        </p:nvCxnSpPr>
        <p:spPr>
          <a:xfrm flipV="1">
            <a:off x="5606374" y="3984321"/>
            <a:ext cx="296897" cy="2195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0581EA01-1EC1-76A8-F5F3-A3C335A7394D}"/>
              </a:ext>
            </a:extLst>
          </p:cNvPr>
          <p:cNvCxnSpPr>
            <a:cxnSpLocks/>
          </p:cNvCxnSpPr>
          <p:nvPr/>
        </p:nvCxnSpPr>
        <p:spPr>
          <a:xfrm>
            <a:off x="5529161" y="2885873"/>
            <a:ext cx="342293" cy="200161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0EB0807F-4A8C-4381-E16A-2CED8451EFD6}"/>
              </a:ext>
            </a:extLst>
          </p:cNvPr>
          <p:cNvCxnSpPr>
            <a:cxnSpLocks/>
          </p:cNvCxnSpPr>
          <p:nvPr/>
        </p:nvCxnSpPr>
        <p:spPr>
          <a:xfrm>
            <a:off x="5936305" y="2471265"/>
            <a:ext cx="295073" cy="342833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06BC769C-073E-C8D8-2052-CA2C3390F291}"/>
              </a:ext>
            </a:extLst>
          </p:cNvPr>
          <p:cNvCxnSpPr>
            <a:cxnSpLocks/>
          </p:cNvCxnSpPr>
          <p:nvPr/>
        </p:nvCxnSpPr>
        <p:spPr>
          <a:xfrm flipH="1">
            <a:off x="7130273" y="2454175"/>
            <a:ext cx="240862" cy="329727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52CF4F18-6166-CAE0-88F2-76D642DD042A}"/>
              </a:ext>
            </a:extLst>
          </p:cNvPr>
          <p:cNvCxnSpPr>
            <a:cxnSpLocks/>
          </p:cNvCxnSpPr>
          <p:nvPr/>
        </p:nvCxnSpPr>
        <p:spPr>
          <a:xfrm flipH="1">
            <a:off x="7412832" y="2885873"/>
            <a:ext cx="403697" cy="248053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타원 84">
            <a:extLst>
              <a:ext uri="{FF2B5EF4-FFF2-40B4-BE49-F238E27FC236}">
                <a16:creationId xmlns:a16="http://schemas.microsoft.com/office/drawing/2014/main" id="{84EDC39A-7FC1-DF21-ED8A-370629537870}"/>
              </a:ext>
            </a:extLst>
          </p:cNvPr>
          <p:cNvSpPr/>
          <p:nvPr/>
        </p:nvSpPr>
        <p:spPr>
          <a:xfrm>
            <a:off x="6612732" y="2335821"/>
            <a:ext cx="123217" cy="12321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타원 85">
            <a:extLst>
              <a:ext uri="{FF2B5EF4-FFF2-40B4-BE49-F238E27FC236}">
                <a16:creationId xmlns:a16="http://schemas.microsoft.com/office/drawing/2014/main" id="{1251A386-23FF-0F26-ADA1-77C5ED8704C5}"/>
              </a:ext>
            </a:extLst>
          </p:cNvPr>
          <p:cNvSpPr/>
          <p:nvPr/>
        </p:nvSpPr>
        <p:spPr>
          <a:xfrm>
            <a:off x="5666363" y="4038972"/>
            <a:ext cx="123217" cy="12321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타원 86">
            <a:extLst>
              <a:ext uri="{FF2B5EF4-FFF2-40B4-BE49-F238E27FC236}">
                <a16:creationId xmlns:a16="http://schemas.microsoft.com/office/drawing/2014/main" id="{685EDA62-B28A-5F33-8CC9-F43F5B8441DB}"/>
              </a:ext>
            </a:extLst>
          </p:cNvPr>
          <p:cNvSpPr/>
          <p:nvPr/>
        </p:nvSpPr>
        <p:spPr>
          <a:xfrm>
            <a:off x="7527360" y="4045457"/>
            <a:ext cx="123217" cy="12321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자유형: 도형 94">
            <a:extLst>
              <a:ext uri="{FF2B5EF4-FFF2-40B4-BE49-F238E27FC236}">
                <a16:creationId xmlns:a16="http://schemas.microsoft.com/office/drawing/2014/main" id="{E72083E2-6C41-1F13-B14D-ACE0409DCC37}"/>
              </a:ext>
            </a:extLst>
          </p:cNvPr>
          <p:cNvSpPr/>
          <p:nvPr/>
        </p:nvSpPr>
        <p:spPr>
          <a:xfrm>
            <a:off x="191011" y="1414386"/>
            <a:ext cx="3930009" cy="475583"/>
          </a:xfrm>
          <a:custGeom>
            <a:avLst/>
            <a:gdLst>
              <a:gd name="csX0" fmla="*/ 607664 w 3930009"/>
              <a:gd name="csY0" fmla="*/ 0 h 584647"/>
              <a:gd name="csX1" fmla="*/ 3325790 w 3930009"/>
              <a:gd name="csY1" fmla="*/ 0 h 584647"/>
              <a:gd name="csX2" fmla="*/ 3923637 w 3930009"/>
              <a:gd name="csY2" fmla="*/ 487259 h 584647"/>
              <a:gd name="csX3" fmla="*/ 3930009 w 3930009"/>
              <a:gd name="csY3" fmla="*/ 550468 h 584647"/>
              <a:gd name="csX4" fmla="*/ 3930009 w 3930009"/>
              <a:gd name="csY4" fmla="*/ 584647 h 584647"/>
              <a:gd name="csX5" fmla="*/ 0 w 3930009"/>
              <a:gd name="csY5" fmla="*/ 584647 h 584647"/>
              <a:gd name="csX6" fmla="*/ 9817 w 3930009"/>
              <a:gd name="csY6" fmla="*/ 487259 h 584647"/>
              <a:gd name="csX7" fmla="*/ 607664 w 3930009"/>
              <a:gd name="csY7" fmla="*/ 0 h 584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930009" h="584647">
                <a:moveTo>
                  <a:pt x="607664" y="0"/>
                </a:moveTo>
                <a:lnTo>
                  <a:pt x="3325790" y="0"/>
                </a:lnTo>
                <a:cubicBezTo>
                  <a:pt x="3620690" y="0"/>
                  <a:pt x="3866734" y="209181"/>
                  <a:pt x="3923637" y="487259"/>
                </a:cubicBezTo>
                <a:lnTo>
                  <a:pt x="3930009" y="550468"/>
                </a:lnTo>
                <a:lnTo>
                  <a:pt x="3930009" y="584647"/>
                </a:lnTo>
                <a:lnTo>
                  <a:pt x="0" y="584647"/>
                </a:lnTo>
                <a:lnTo>
                  <a:pt x="9817" y="487259"/>
                </a:lnTo>
                <a:cubicBezTo>
                  <a:pt x="66720" y="209181"/>
                  <a:pt x="312764" y="0"/>
                  <a:pt x="607664" y="0"/>
                </a:cubicBezTo>
                <a:close/>
              </a:path>
            </a:pathLst>
          </a:cu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 w="9525">
                  <a:solidFill>
                    <a:prstClr val="black">
                      <a:alpha val="29000"/>
                    </a:prstClr>
                  </a:solidFill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CTN &gt; Si-channel (</a:t>
            </a:r>
            <a:r>
              <a:rPr kumimoji="0" lang="en-US" altLang="ko-KR" sz="2000" b="1" i="0" u="none" strike="noStrike" kern="1200" cap="none" spc="0" normalizeH="0" baseline="0" noProof="0" dirty="0" err="1">
                <a:ln w="9525">
                  <a:solidFill>
                    <a:prstClr val="black">
                      <a:alpha val="29000"/>
                    </a:prstClr>
                  </a:solidFill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Detrap</a:t>
            </a:r>
            <a:r>
              <a:rPr kumimoji="0" lang="en-US" altLang="ko-KR" sz="2000" b="1" i="0" u="none" strike="noStrike" kern="1200" cap="none" spc="0" normalizeH="0" baseline="0" noProof="0" dirty="0">
                <a:ln w="9525">
                  <a:solidFill>
                    <a:prstClr val="black">
                      <a:alpha val="29000"/>
                    </a:prstClr>
                  </a:solidFill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)</a:t>
            </a:r>
            <a:endParaRPr kumimoji="0" lang="ko-KR" altLang="en-US" sz="2000" b="1" i="0" u="none" strike="noStrike" kern="1200" cap="none" spc="0" normalizeH="0" baseline="0" noProof="0" dirty="0">
              <a:ln w="9525">
                <a:solidFill>
                  <a:prstClr val="black">
                    <a:alpha val="29000"/>
                  </a:prstClr>
                </a:solidFill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맑은 고딕"/>
              <a:cs typeface="Arial" panose="020B0604020202020204" pitchFamily="34" charset="0"/>
            </a:endParaRPr>
          </a:p>
        </p:txBody>
      </p:sp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0D08574B-1A1D-A853-8FA9-17D4B6549A54}"/>
              </a:ext>
            </a:extLst>
          </p:cNvPr>
          <p:cNvSpPr/>
          <p:nvPr/>
        </p:nvSpPr>
        <p:spPr>
          <a:xfrm>
            <a:off x="4737370" y="1414385"/>
            <a:ext cx="3938616" cy="3864491"/>
          </a:xfrm>
          <a:prstGeom prst="roundRect">
            <a:avLst>
              <a:gd name="adj" fmla="val 14821"/>
            </a:avLst>
          </a:prstGeom>
          <a:noFill/>
          <a:ln w="190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자유형: 도형 96">
            <a:extLst>
              <a:ext uri="{FF2B5EF4-FFF2-40B4-BE49-F238E27FC236}">
                <a16:creationId xmlns:a16="http://schemas.microsoft.com/office/drawing/2014/main" id="{E3B50051-8540-D79B-3E90-9E116354E493}"/>
              </a:ext>
            </a:extLst>
          </p:cNvPr>
          <p:cNvSpPr/>
          <p:nvPr/>
        </p:nvSpPr>
        <p:spPr>
          <a:xfrm>
            <a:off x="4745979" y="1414386"/>
            <a:ext cx="3930009" cy="475583"/>
          </a:xfrm>
          <a:custGeom>
            <a:avLst/>
            <a:gdLst>
              <a:gd name="csX0" fmla="*/ 607664 w 3930009"/>
              <a:gd name="csY0" fmla="*/ 0 h 584647"/>
              <a:gd name="csX1" fmla="*/ 3325790 w 3930009"/>
              <a:gd name="csY1" fmla="*/ 0 h 584647"/>
              <a:gd name="csX2" fmla="*/ 3923637 w 3930009"/>
              <a:gd name="csY2" fmla="*/ 487259 h 584647"/>
              <a:gd name="csX3" fmla="*/ 3930009 w 3930009"/>
              <a:gd name="csY3" fmla="*/ 550468 h 584647"/>
              <a:gd name="csX4" fmla="*/ 3930009 w 3930009"/>
              <a:gd name="csY4" fmla="*/ 584647 h 584647"/>
              <a:gd name="csX5" fmla="*/ 0 w 3930009"/>
              <a:gd name="csY5" fmla="*/ 584647 h 584647"/>
              <a:gd name="csX6" fmla="*/ 9817 w 3930009"/>
              <a:gd name="csY6" fmla="*/ 487259 h 584647"/>
              <a:gd name="csX7" fmla="*/ 607664 w 3930009"/>
              <a:gd name="csY7" fmla="*/ 0 h 584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930009" h="584647">
                <a:moveTo>
                  <a:pt x="607664" y="0"/>
                </a:moveTo>
                <a:lnTo>
                  <a:pt x="3325790" y="0"/>
                </a:lnTo>
                <a:cubicBezTo>
                  <a:pt x="3620690" y="0"/>
                  <a:pt x="3866734" y="209181"/>
                  <a:pt x="3923637" y="487259"/>
                </a:cubicBezTo>
                <a:lnTo>
                  <a:pt x="3930009" y="550468"/>
                </a:lnTo>
                <a:lnTo>
                  <a:pt x="3930009" y="584647"/>
                </a:lnTo>
                <a:lnTo>
                  <a:pt x="0" y="584647"/>
                </a:lnTo>
                <a:lnTo>
                  <a:pt x="9817" y="487259"/>
                </a:lnTo>
                <a:cubicBezTo>
                  <a:pt x="66720" y="209181"/>
                  <a:pt x="312764" y="0"/>
                  <a:pt x="607664" y="0"/>
                </a:cubicBezTo>
                <a:close/>
              </a:path>
            </a:pathLst>
          </a:cu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 w="9525">
                  <a:solidFill>
                    <a:prstClr val="black">
                      <a:alpha val="29000"/>
                    </a:prstClr>
                  </a:solidFill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CTN &gt; TOX &gt; Si-channel (TAT)</a:t>
            </a:r>
            <a:endParaRPr kumimoji="0" lang="ko-KR" altLang="en-US" sz="2000" b="1" i="0" u="none" strike="noStrike" kern="1200" cap="none" spc="0" normalizeH="0" baseline="0" noProof="0" dirty="0">
              <a:ln w="9525">
                <a:solidFill>
                  <a:prstClr val="black">
                    <a:alpha val="29000"/>
                  </a:prstClr>
                </a:solidFill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맑은 고딕"/>
              <a:cs typeface="Arial" panose="020B0604020202020204" pitchFamily="34" charset="0"/>
            </a:endParaRPr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A25D5D62-9594-E7C5-5617-0493E0617D49}"/>
              </a:ext>
            </a:extLst>
          </p:cNvPr>
          <p:cNvSpPr/>
          <p:nvPr/>
        </p:nvSpPr>
        <p:spPr>
          <a:xfrm>
            <a:off x="191011" y="5421549"/>
            <a:ext cx="3938616" cy="66014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ABCDEF98-10FA-88DC-13E9-8FC4C25F61F8}"/>
              </a:ext>
            </a:extLst>
          </p:cNvPr>
          <p:cNvSpPr txBox="1"/>
          <p:nvPr/>
        </p:nvSpPr>
        <p:spPr>
          <a:xfrm>
            <a:off x="298315" y="5414626"/>
            <a:ext cx="174611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가능 경로 수</a:t>
            </a:r>
            <a:endParaRPr lang="en-US" altLang="ko-KR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algn="ctr"/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(Route Count)</a:t>
            </a:r>
            <a:endParaRPr lang="ko-KR" altLang="en-US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190AA24F-F8F8-F2A9-2708-CC4A5072F235}"/>
              </a:ext>
            </a:extLst>
          </p:cNvPr>
          <p:cNvSpPr txBox="1"/>
          <p:nvPr/>
        </p:nvSpPr>
        <p:spPr>
          <a:xfrm>
            <a:off x="2383513" y="5414626"/>
            <a:ext cx="174611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매우 많음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algn="ctr"/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(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넓은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υ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범위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)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01" name="사각형: 둥근 모서리 100">
            <a:extLst>
              <a:ext uri="{FF2B5EF4-FFF2-40B4-BE49-F238E27FC236}">
                <a16:creationId xmlns:a16="http://schemas.microsoft.com/office/drawing/2014/main" id="{DCF7E265-FAB5-B7E1-C46C-35592126EA0A}"/>
              </a:ext>
            </a:extLst>
          </p:cNvPr>
          <p:cNvSpPr/>
          <p:nvPr/>
        </p:nvSpPr>
        <p:spPr>
          <a:xfrm>
            <a:off x="4671605" y="5421549"/>
            <a:ext cx="3938616" cy="66014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927CBF51-393A-246B-2A87-A0933CC705F5}"/>
              </a:ext>
            </a:extLst>
          </p:cNvPr>
          <p:cNvSpPr txBox="1"/>
          <p:nvPr/>
        </p:nvSpPr>
        <p:spPr>
          <a:xfrm>
            <a:off x="4778909" y="5414626"/>
            <a:ext cx="174611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가능 경로 수</a:t>
            </a:r>
            <a:endParaRPr lang="en-US" altLang="ko-KR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algn="ctr"/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(Route Count)</a:t>
            </a:r>
            <a:endParaRPr lang="ko-KR" altLang="en-US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17CEF4B5-8D35-5787-B8C7-115E0F51F637}"/>
              </a:ext>
            </a:extLst>
          </p:cNvPr>
          <p:cNvSpPr txBox="1"/>
          <p:nvPr/>
        </p:nvSpPr>
        <p:spPr>
          <a:xfrm>
            <a:off x="6628643" y="5555240"/>
            <a:ext cx="221704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min(N</a:t>
            </a:r>
            <a:r>
              <a:rPr lang="en-US" altLang="ko-KR" sz="2000" baseline="-25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TOX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, N</a:t>
            </a:r>
            <a:r>
              <a:rPr lang="en-US" altLang="ko-KR" sz="2000" baseline="-25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)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04" name="화살표: 오른쪽 103">
            <a:extLst>
              <a:ext uri="{FF2B5EF4-FFF2-40B4-BE49-F238E27FC236}">
                <a16:creationId xmlns:a16="http://schemas.microsoft.com/office/drawing/2014/main" id="{68A3BB24-AA1F-8247-BC37-E37E021E2BD3}"/>
              </a:ext>
            </a:extLst>
          </p:cNvPr>
          <p:cNvSpPr/>
          <p:nvPr/>
        </p:nvSpPr>
        <p:spPr>
          <a:xfrm>
            <a:off x="2023067" y="5601667"/>
            <a:ext cx="358496" cy="299903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화살표: 오른쪽 104">
            <a:extLst>
              <a:ext uri="{FF2B5EF4-FFF2-40B4-BE49-F238E27FC236}">
                <a16:creationId xmlns:a16="http://schemas.microsoft.com/office/drawing/2014/main" id="{7FEA4A27-C3C1-4957-2238-B8BB65015ED6}"/>
              </a:ext>
            </a:extLst>
          </p:cNvPr>
          <p:cNvSpPr/>
          <p:nvPr/>
        </p:nvSpPr>
        <p:spPr>
          <a:xfrm>
            <a:off x="6434033" y="5601667"/>
            <a:ext cx="358496" cy="299903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0295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31AF4F-8D7B-49A4-C797-A66808DF7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Limited</a:t>
            </a:r>
            <a:r>
              <a:rPr lang="ko-KR" altLang="en-US" dirty="0"/>
              <a:t> </a:t>
            </a:r>
            <a:r>
              <a:rPr lang="en-US" altLang="ko-KR" dirty="0"/>
              <a:t>Contribution of TAT</a:t>
            </a:r>
            <a:endParaRPr lang="ko-KR" altLang="en-US" dirty="0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090E8FCD-9BB8-1DD9-84A7-26901D81198E}"/>
              </a:ext>
            </a:extLst>
          </p:cNvPr>
          <p:cNvSpPr/>
          <p:nvPr/>
        </p:nvSpPr>
        <p:spPr>
          <a:xfrm>
            <a:off x="1134894" y="1427755"/>
            <a:ext cx="752272" cy="388804"/>
          </a:xfrm>
          <a:prstGeom prst="roundRect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CTN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6F561000-F2AA-726D-D4C5-71C8716A9117}"/>
              </a:ext>
            </a:extLst>
          </p:cNvPr>
          <p:cNvCxnSpPr>
            <a:cxnSpLocks/>
            <a:stCxn id="8" idx="2"/>
            <a:endCxn id="12" idx="0"/>
          </p:cNvCxnSpPr>
          <p:nvPr/>
        </p:nvCxnSpPr>
        <p:spPr>
          <a:xfrm>
            <a:off x="1511030" y="1816559"/>
            <a:ext cx="0" cy="3658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BF7AFF9-F22B-12DF-FDC2-E663847656B6}"/>
              </a:ext>
            </a:extLst>
          </p:cNvPr>
          <p:cNvSpPr txBox="1"/>
          <p:nvPr/>
        </p:nvSpPr>
        <p:spPr>
          <a:xfrm>
            <a:off x="323068" y="1816559"/>
            <a:ext cx="113740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75000"/>
                  </a:schemeClr>
                </a:solidFill>
                <a:latin typeface="Times New Roman"/>
                <a:ea typeface="맑은 고딕"/>
                <a:cs typeface="Times New Roman"/>
              </a:rPr>
              <a:t>Jo, TED (2025)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7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62CAC175-721B-19E7-C12F-4CB760B55988}"/>
              </a:ext>
            </a:extLst>
          </p:cNvPr>
          <p:cNvSpPr/>
          <p:nvPr/>
        </p:nvSpPr>
        <p:spPr>
          <a:xfrm>
            <a:off x="1134894" y="2182360"/>
            <a:ext cx="752272" cy="388804"/>
          </a:xfrm>
          <a:prstGeom prst="roundRect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TOX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AB0ACA8A-7259-8446-3F84-76D5BFEE4998}"/>
              </a:ext>
            </a:extLst>
          </p:cNvPr>
          <p:cNvSpPr/>
          <p:nvPr/>
        </p:nvSpPr>
        <p:spPr>
          <a:xfrm>
            <a:off x="904672" y="2936965"/>
            <a:ext cx="1212715" cy="388804"/>
          </a:xfrm>
          <a:prstGeom prst="roundRect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Si-channel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DBE1A83E-4B34-61CD-49C2-9335559280DA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>
            <a:off x="1511030" y="2571164"/>
            <a:ext cx="0" cy="3658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4D3E6E4-56CF-D38D-906B-034E8C02B4D3}"/>
              </a:ext>
            </a:extLst>
          </p:cNvPr>
          <p:cNvSpPr txBox="1"/>
          <p:nvPr/>
        </p:nvSpPr>
        <p:spPr>
          <a:xfrm>
            <a:off x="327933" y="2540126"/>
            <a:ext cx="1137409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75000"/>
                  </a:schemeClr>
                </a:solidFill>
                <a:latin typeface="Times New Roman"/>
                <a:ea typeface="맑은 고딕"/>
                <a:cs typeface="Times New Roman"/>
              </a:rPr>
              <a:t>Jin, TED (2025)</a:t>
            </a:r>
            <a:b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75000"/>
                  </a:schemeClr>
                </a:solidFill>
                <a:latin typeface="Times New Roman"/>
                <a:ea typeface="맑은 고딕"/>
                <a:cs typeface="Times New Roman"/>
              </a:rPr>
            </a:br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75000"/>
                  </a:schemeClr>
                </a:solidFill>
                <a:latin typeface="Times New Roman"/>
                <a:ea typeface="맑은 고딕"/>
                <a:cs typeface="Times New Roman"/>
              </a:rPr>
              <a:t>Jin, EDL</a:t>
            </a:r>
            <a:r>
              <a:rPr lang="ko-KR" altLang="en-US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75000"/>
                  </a:schemeClr>
                </a:solidFill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75000"/>
                  </a:schemeClr>
                </a:solidFill>
                <a:latin typeface="Times New Roman"/>
                <a:ea typeface="맑은 고딕"/>
                <a:cs typeface="Times New Roman"/>
              </a:rPr>
              <a:t>(2026)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7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A1607320-6253-26C9-C040-E6C40151BD68}"/>
              </a:ext>
            </a:extLst>
          </p:cNvPr>
          <p:cNvSpPr/>
          <p:nvPr/>
        </p:nvSpPr>
        <p:spPr>
          <a:xfrm>
            <a:off x="2480553" y="1013835"/>
            <a:ext cx="2795082" cy="2795082"/>
          </a:xfrm>
          <a:prstGeom prst="ellipse">
            <a:avLst/>
          </a:prstGeom>
          <a:pattFill prst="trellis">
            <a:fgClr>
              <a:srgbClr val="92D050"/>
            </a:fgClr>
            <a:bgClr>
              <a:schemeClr val="bg1"/>
            </a:bgClr>
          </a:pattFill>
          <a:ln w="12700"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27A039A0-81CC-092F-A7E1-7FFED60CF6B2}"/>
              </a:ext>
            </a:extLst>
          </p:cNvPr>
          <p:cNvSpPr/>
          <p:nvPr/>
        </p:nvSpPr>
        <p:spPr>
          <a:xfrm>
            <a:off x="2697805" y="1231087"/>
            <a:ext cx="2360578" cy="236057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5173D236-C51B-E800-8BBE-097D43B83E07}"/>
              </a:ext>
            </a:extLst>
          </p:cNvPr>
          <p:cNvSpPr/>
          <p:nvPr/>
        </p:nvSpPr>
        <p:spPr>
          <a:xfrm>
            <a:off x="2840477" y="1373759"/>
            <a:ext cx="2075234" cy="2075234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8EEBC37D-9FE1-1CE7-13CF-9AE02D6BCB25}"/>
              </a:ext>
            </a:extLst>
          </p:cNvPr>
          <p:cNvSpPr/>
          <p:nvPr/>
        </p:nvSpPr>
        <p:spPr>
          <a:xfrm>
            <a:off x="3151762" y="1685044"/>
            <a:ext cx="1452664" cy="1452664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10BCAA1-78A5-AEC6-4CFC-A5AC07C4C9DC}"/>
              </a:ext>
            </a:extLst>
          </p:cNvPr>
          <p:cNvSpPr txBox="1"/>
          <p:nvPr/>
        </p:nvSpPr>
        <p:spPr>
          <a:xfrm>
            <a:off x="3563566" y="2860709"/>
            <a:ext cx="6290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filler</a:t>
            </a:r>
            <a:endParaRPr lang="ko-KR" altLang="en-US" sz="12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CD91BA1-EB60-E0D5-A806-9ACDD0659413}"/>
              </a:ext>
            </a:extLst>
          </p:cNvPr>
          <p:cNvSpPr txBox="1"/>
          <p:nvPr/>
        </p:nvSpPr>
        <p:spPr>
          <a:xfrm>
            <a:off x="3398196" y="3137707"/>
            <a:ext cx="9597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/>
                </a:solidFill>
                <a:latin typeface="Times New Roman"/>
                <a:ea typeface="맑은 고딕"/>
                <a:cs typeface="Times New Roman"/>
              </a:rPr>
              <a:t>Si-channel</a:t>
            </a:r>
            <a:endParaRPr lang="ko-KR" altLang="en-US" sz="1200" b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/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1DC338D-7DD4-D8BD-BF82-55DE14D83EA2}"/>
              </a:ext>
            </a:extLst>
          </p:cNvPr>
          <p:cNvSpPr txBox="1"/>
          <p:nvPr/>
        </p:nvSpPr>
        <p:spPr>
          <a:xfrm>
            <a:off x="2337881" y="3566205"/>
            <a:ext cx="6290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TOX</a:t>
            </a:r>
            <a:endParaRPr lang="ko-KR" altLang="en-US" sz="12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1696A83-E025-5F4D-A0F8-85A63A628807}"/>
              </a:ext>
            </a:extLst>
          </p:cNvPr>
          <p:cNvSpPr txBox="1"/>
          <p:nvPr/>
        </p:nvSpPr>
        <p:spPr>
          <a:xfrm>
            <a:off x="2480553" y="3813089"/>
            <a:ext cx="6290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</a:t>
            </a:r>
            <a:endParaRPr lang="ko-KR" altLang="en-US" sz="12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61D61567-C1A2-64DB-FF8D-DBAFDFA5A56A}"/>
              </a:ext>
            </a:extLst>
          </p:cNvPr>
          <p:cNvCxnSpPr/>
          <p:nvPr/>
        </p:nvCxnSpPr>
        <p:spPr>
          <a:xfrm flipH="1">
            <a:off x="2795081" y="3448993"/>
            <a:ext cx="768485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2A2BB4A5-C1CA-1841-5681-6BCA40657CE8}"/>
              </a:ext>
            </a:extLst>
          </p:cNvPr>
          <p:cNvCxnSpPr>
            <a:cxnSpLocks/>
          </p:cNvCxnSpPr>
          <p:nvPr/>
        </p:nvCxnSpPr>
        <p:spPr>
          <a:xfrm flipH="1">
            <a:off x="2665379" y="3448993"/>
            <a:ext cx="142672" cy="14267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25E5167D-2091-F096-FD78-CF8F81D4ACE5}"/>
              </a:ext>
            </a:extLst>
          </p:cNvPr>
          <p:cNvCxnSpPr/>
          <p:nvPr/>
        </p:nvCxnSpPr>
        <p:spPr>
          <a:xfrm flipH="1">
            <a:off x="3013953" y="3666244"/>
            <a:ext cx="768485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49873144-A22B-9473-2EBC-3F830019580D}"/>
              </a:ext>
            </a:extLst>
          </p:cNvPr>
          <p:cNvCxnSpPr>
            <a:cxnSpLocks/>
          </p:cNvCxnSpPr>
          <p:nvPr/>
        </p:nvCxnSpPr>
        <p:spPr>
          <a:xfrm flipH="1">
            <a:off x="2884251" y="3666244"/>
            <a:ext cx="142672" cy="14267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0A88D98A-A782-FB59-150A-B7B19B5C45FB}"/>
              </a:ext>
            </a:extLst>
          </p:cNvPr>
          <p:cNvCxnSpPr>
            <a:cxnSpLocks/>
          </p:cNvCxnSpPr>
          <p:nvPr/>
        </p:nvCxnSpPr>
        <p:spPr>
          <a:xfrm flipH="1">
            <a:off x="4760068" y="2417862"/>
            <a:ext cx="428017" cy="0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466C3F9C-B281-F7FD-36EE-EEE2EC6A5AC1}"/>
              </a:ext>
            </a:extLst>
          </p:cNvPr>
          <p:cNvCxnSpPr>
            <a:cxnSpLocks/>
          </p:cNvCxnSpPr>
          <p:nvPr/>
        </p:nvCxnSpPr>
        <p:spPr>
          <a:xfrm flipH="1" flipV="1">
            <a:off x="4656307" y="2917215"/>
            <a:ext cx="298315" cy="18644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B7FEB314-5FE8-E6B6-D8F6-34C75C5BD5C1}"/>
              </a:ext>
            </a:extLst>
          </p:cNvPr>
          <p:cNvCxnSpPr>
            <a:cxnSpLocks/>
          </p:cNvCxnSpPr>
          <p:nvPr/>
        </p:nvCxnSpPr>
        <p:spPr>
          <a:xfrm>
            <a:off x="2616740" y="2417862"/>
            <a:ext cx="410183" cy="0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12889F16-881F-5DC0-2469-AC90740E2548}"/>
              </a:ext>
            </a:extLst>
          </p:cNvPr>
          <p:cNvCxnSpPr>
            <a:cxnSpLocks/>
          </p:cNvCxnSpPr>
          <p:nvPr/>
        </p:nvCxnSpPr>
        <p:spPr>
          <a:xfrm>
            <a:off x="3897549" y="1127326"/>
            <a:ext cx="0" cy="47341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B968079A-00BD-2DC5-BBEC-DEB5E5182C30}"/>
              </a:ext>
            </a:extLst>
          </p:cNvPr>
          <p:cNvCxnSpPr>
            <a:cxnSpLocks/>
          </p:cNvCxnSpPr>
          <p:nvPr/>
        </p:nvCxnSpPr>
        <p:spPr>
          <a:xfrm flipV="1">
            <a:off x="3897549" y="3351717"/>
            <a:ext cx="0" cy="363166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46290A55-3F44-A567-3ACD-BA691640B839}"/>
              </a:ext>
            </a:extLst>
          </p:cNvPr>
          <p:cNvCxnSpPr>
            <a:cxnSpLocks/>
          </p:cNvCxnSpPr>
          <p:nvPr/>
        </p:nvCxnSpPr>
        <p:spPr>
          <a:xfrm flipH="1" flipV="1">
            <a:off x="4383932" y="3185131"/>
            <a:ext cx="168613" cy="282912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CC8B5E64-BD41-D6B3-74D5-360C7A14357E}"/>
              </a:ext>
            </a:extLst>
          </p:cNvPr>
          <p:cNvCxnSpPr>
            <a:cxnSpLocks/>
          </p:cNvCxnSpPr>
          <p:nvPr/>
        </p:nvCxnSpPr>
        <p:spPr>
          <a:xfrm flipV="1">
            <a:off x="3280655" y="3241469"/>
            <a:ext cx="166180" cy="284190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C05C4181-6FB7-7644-B308-946D9A5A7AC2}"/>
              </a:ext>
            </a:extLst>
          </p:cNvPr>
          <p:cNvCxnSpPr>
            <a:cxnSpLocks/>
          </p:cNvCxnSpPr>
          <p:nvPr/>
        </p:nvCxnSpPr>
        <p:spPr>
          <a:xfrm flipV="1">
            <a:off x="2821831" y="2894178"/>
            <a:ext cx="296897" cy="2195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C9AB3ACF-74F7-49EC-DE88-E9377AB43679}"/>
              </a:ext>
            </a:extLst>
          </p:cNvPr>
          <p:cNvCxnSpPr>
            <a:cxnSpLocks/>
          </p:cNvCxnSpPr>
          <p:nvPr/>
        </p:nvCxnSpPr>
        <p:spPr>
          <a:xfrm>
            <a:off x="2744618" y="1795730"/>
            <a:ext cx="342293" cy="200161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0642DD2C-8D4A-4F34-38B0-C6877B601850}"/>
              </a:ext>
            </a:extLst>
          </p:cNvPr>
          <p:cNvCxnSpPr>
            <a:cxnSpLocks/>
          </p:cNvCxnSpPr>
          <p:nvPr/>
        </p:nvCxnSpPr>
        <p:spPr>
          <a:xfrm>
            <a:off x="3151762" y="1381122"/>
            <a:ext cx="295073" cy="342833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C3C81A52-34C7-DB13-EA22-539E90F082B5}"/>
              </a:ext>
            </a:extLst>
          </p:cNvPr>
          <p:cNvCxnSpPr>
            <a:cxnSpLocks/>
          </p:cNvCxnSpPr>
          <p:nvPr/>
        </p:nvCxnSpPr>
        <p:spPr>
          <a:xfrm flipH="1">
            <a:off x="4345730" y="1364032"/>
            <a:ext cx="240862" cy="329727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2B8D30D8-DBDF-66C4-B062-43DEBAEA2C36}"/>
              </a:ext>
            </a:extLst>
          </p:cNvPr>
          <p:cNvCxnSpPr>
            <a:cxnSpLocks/>
          </p:cNvCxnSpPr>
          <p:nvPr/>
        </p:nvCxnSpPr>
        <p:spPr>
          <a:xfrm flipH="1">
            <a:off x="4628289" y="1795730"/>
            <a:ext cx="403697" cy="248053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타원 39">
            <a:extLst>
              <a:ext uri="{FF2B5EF4-FFF2-40B4-BE49-F238E27FC236}">
                <a16:creationId xmlns:a16="http://schemas.microsoft.com/office/drawing/2014/main" id="{1361E6F3-0753-87B5-84E1-60F62A7A44B1}"/>
              </a:ext>
            </a:extLst>
          </p:cNvPr>
          <p:cNvSpPr/>
          <p:nvPr/>
        </p:nvSpPr>
        <p:spPr>
          <a:xfrm>
            <a:off x="3828189" y="1245678"/>
            <a:ext cx="123217" cy="12321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6595BA47-0E9E-84B1-4D8E-3903F79877CC}"/>
              </a:ext>
            </a:extLst>
          </p:cNvPr>
          <p:cNvSpPr/>
          <p:nvPr/>
        </p:nvSpPr>
        <p:spPr>
          <a:xfrm>
            <a:off x="2881820" y="2948829"/>
            <a:ext cx="123217" cy="12321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타원 41">
            <a:extLst>
              <a:ext uri="{FF2B5EF4-FFF2-40B4-BE49-F238E27FC236}">
                <a16:creationId xmlns:a16="http://schemas.microsoft.com/office/drawing/2014/main" id="{14C8AD10-A0B9-A063-0ADC-EA9099F11371}"/>
              </a:ext>
            </a:extLst>
          </p:cNvPr>
          <p:cNvSpPr/>
          <p:nvPr/>
        </p:nvSpPr>
        <p:spPr>
          <a:xfrm>
            <a:off x="4742817" y="2955314"/>
            <a:ext cx="123217" cy="12321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54" name="개체 53">
            <a:extLst>
              <a:ext uri="{FF2B5EF4-FFF2-40B4-BE49-F238E27FC236}">
                <a16:creationId xmlns:a16="http://schemas.microsoft.com/office/drawing/2014/main" id="{D8B77745-725F-1DAC-28E4-EAC0AA3694B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44781279"/>
              </p:ext>
            </p:extLst>
          </p:nvPr>
        </p:nvGraphicFramePr>
        <p:xfrm>
          <a:off x="5256887" y="944009"/>
          <a:ext cx="3543848" cy="220214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2" imgW="4851068" imgH="3014254" progId="Origin50.Graph">
                  <p:embed/>
                </p:oleObj>
              </mc:Choice>
              <mc:Fallback>
                <p:oleObj name="Graph" r:id="rId2" imgW="4851068" imgH="3014254" progId="Origin50.Graph">
                  <p:embed/>
                  <p:pic>
                    <p:nvPicPr>
                      <p:cNvPr id="18" name="개체 17">
                        <a:extLst>
                          <a:ext uri="{FF2B5EF4-FFF2-40B4-BE49-F238E27FC236}">
                            <a16:creationId xmlns:a16="http://schemas.microsoft.com/office/drawing/2014/main" id="{D90E9187-7683-BCA0-7070-1E70E8FE2E7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5256887" y="944009"/>
                        <a:ext cx="3543848" cy="220214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5" name="TextBox 54">
            <a:extLst>
              <a:ext uri="{FF2B5EF4-FFF2-40B4-BE49-F238E27FC236}">
                <a16:creationId xmlns:a16="http://schemas.microsoft.com/office/drawing/2014/main" id="{223DB183-F6A9-0CFB-EDB7-A638740BFB56}"/>
              </a:ext>
            </a:extLst>
          </p:cNvPr>
          <p:cNvSpPr txBox="1"/>
          <p:nvPr/>
        </p:nvSpPr>
        <p:spPr>
          <a:xfrm>
            <a:off x="5693924" y="2936965"/>
            <a:ext cx="303827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BETOX total trap density (measurement)</a:t>
            </a:r>
          </a:p>
          <a:p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1k:  4.49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×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10</a:t>
            </a:r>
            <a:r>
              <a:rPr lang="en-US" altLang="ko-KR" sz="20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16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cm</a:t>
            </a:r>
            <a:r>
              <a:rPr lang="en-US" altLang="ko-KR" sz="20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-3</a:t>
            </a:r>
          </a:p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10k: 1.16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×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10</a:t>
            </a:r>
            <a:r>
              <a:rPr lang="en-US" altLang="ko-KR" sz="20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17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cm</a:t>
            </a:r>
            <a:r>
              <a:rPr lang="en-US" altLang="ko-KR" sz="20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-3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50k: 1.89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×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10</a:t>
            </a:r>
            <a:r>
              <a:rPr lang="en-US" altLang="ko-KR" sz="20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17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cm</a:t>
            </a:r>
            <a:r>
              <a:rPr lang="en-US" altLang="ko-KR" sz="20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-3</a:t>
            </a:r>
            <a:endParaRPr lang="ko-KR" altLang="en-US" sz="2000" baseline="30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7DD5C75-DAE3-BAB1-9C1A-1F8B6989A1D9}"/>
              </a:ext>
            </a:extLst>
          </p:cNvPr>
          <p:cNvSpPr txBox="1"/>
          <p:nvPr/>
        </p:nvSpPr>
        <p:spPr>
          <a:xfrm>
            <a:off x="7785370" y="3414706"/>
            <a:ext cx="120622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75000"/>
                  </a:schemeClr>
                </a:solidFill>
                <a:latin typeface="Times New Roman"/>
                <a:ea typeface="맑은 고딕"/>
                <a:cs typeface="Times New Roman"/>
              </a:rPr>
              <a:t>Jo, TED (2025)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7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1E68E90-9788-7CE6-4395-180AFA885B16}"/>
              </a:ext>
            </a:extLst>
          </p:cNvPr>
          <p:cNvSpPr txBox="1"/>
          <p:nvPr/>
        </p:nvSpPr>
        <p:spPr>
          <a:xfrm>
            <a:off x="239354" y="4166683"/>
            <a:ext cx="511145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Jo, TED (2025)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기준으로는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BETOX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기반으로 하였지만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,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모델링 식만 가지고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TOX defect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trap-to-trap tunneling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경로 추가</a:t>
            </a:r>
          </a:p>
        </p:txBody>
      </p:sp>
    </p:spTree>
    <p:extLst>
      <p:ext uri="{BB962C8B-B14F-4D97-AF65-F5344CB8AC3E}">
        <p14:creationId xmlns:p14="http://schemas.microsoft.com/office/powerpoint/2010/main" val="25901902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EA5D5B-DFAF-EC00-BB27-B7038E75E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Summary and Future Works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E562CA-1197-3480-6AE5-83E0224C1610}"/>
              </a:ext>
            </a:extLst>
          </p:cNvPr>
          <p:cNvSpPr txBox="1"/>
          <p:nvPr/>
        </p:nvSpPr>
        <p:spPr>
          <a:xfrm>
            <a:off x="838200" y="4724307"/>
            <a:ext cx="758190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Future Works</a:t>
            </a:r>
          </a:p>
          <a:p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cell-to-cell variation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및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retention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산포 적용 가능한 모델링 셋업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SPICE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등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cell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단위의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reliability simulation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과의 연계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F87DAE-5004-3A5D-5530-833BD49E1D52}"/>
              </a:ext>
            </a:extLst>
          </p:cNvPr>
          <p:cNvSpPr txBox="1"/>
          <p:nvPr/>
        </p:nvSpPr>
        <p:spPr>
          <a:xfrm>
            <a:off x="838200" y="920360"/>
            <a:ext cx="7957842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Summary</a:t>
            </a:r>
          </a:p>
          <a:p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BETOX trap-to-band tunneling emission rate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모델링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(Jin, TED 2025)</a:t>
            </a: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전자 임의 분포에 대한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계산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framework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구축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Closed-form autonomous ODE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기반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time-step-free retention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모델 제안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Cryogenic-like TCAD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검증 및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~7000x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시뮬레이션 시간 단축 확인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현 모델 기반으로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성분과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TAT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성분 비교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466849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/>
      <a:lstStyle/>
      <a:style>
        <a:lnRef idx="2">
          <a:schemeClr val="accent1">
            <a:shade val="2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2000" dirty="0" smtClean="0">
            <a:ln w="9525">
              <a:solidFill>
                <a:schemeClr val="tx1">
                  <a:alpha val="29000"/>
                </a:schemeClr>
              </a:solidFill>
            </a:ln>
            <a:latin typeface="Times New Roman"/>
            <a:ea typeface="맑은 고딕"/>
            <a:cs typeface="Times New Roman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4330</TotalTime>
  <Words>1503</Words>
  <Application>Microsoft Office PowerPoint</Application>
  <PresentationFormat>화면 슬라이드 쇼(4:3)</PresentationFormat>
  <Paragraphs>327</Paragraphs>
  <Slides>22</Slides>
  <Notes>0</Notes>
  <HiddenSlides>0</HiddenSlides>
  <MMClips>0</MMClips>
  <ScaleCrop>false</ScaleCrop>
  <HeadingPairs>
    <vt:vector size="8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31" baseType="lpstr">
      <vt:lpstr>Noto Sans CJK KR</vt:lpstr>
      <vt:lpstr>맑은 고딕</vt:lpstr>
      <vt:lpstr>Arial</vt:lpstr>
      <vt:lpstr>Calibri</vt:lpstr>
      <vt:lpstr>Cambria Math</vt:lpstr>
      <vt:lpstr>Times New Roman</vt:lpstr>
      <vt:lpstr>Wingdings</vt:lpstr>
      <vt:lpstr>Office 테마</vt:lpstr>
      <vt:lpstr>Graph</vt:lpstr>
      <vt:lpstr>Time-Step-Free Physics-based Modeling of Retention Loss in Cryogenic 3-D NAND Flash </vt:lpstr>
      <vt:lpstr>Content</vt:lpstr>
      <vt:lpstr>Introduction</vt:lpstr>
      <vt:lpstr>BETOX Trapped Electron Detrapping Modeling</vt:lpstr>
      <vt:lpstr>BETOX Trapped Electron Detrapping Modeling</vt:lpstr>
      <vt:lpstr>CTN Trapped Electron Detrapping</vt:lpstr>
      <vt:lpstr>Visualization of Charge Node Analysis</vt:lpstr>
      <vt:lpstr>Detailed Poisson Solution</vt:lpstr>
      <vt:lpstr>Q-ΔVth Optimized Calculation</vt:lpstr>
      <vt:lpstr>Q-ΔVth Optimized Calculation</vt:lpstr>
      <vt:lpstr>Time-step-free Physics-based Modeling</vt:lpstr>
      <vt:lpstr>Time-step-free Physics-based Modeling</vt:lpstr>
      <vt:lpstr>Time-step-free Physics-based Modeling</vt:lpstr>
      <vt:lpstr>Time-step-free Physics-based Modeling</vt:lpstr>
      <vt:lpstr>Validation of Time-Step-Free Evaluation</vt:lpstr>
      <vt:lpstr>Cryogenic Retention Condition</vt:lpstr>
      <vt:lpstr>Cryogenic-like TCAD Emulation</vt:lpstr>
      <vt:lpstr>Cryogenic-like Emulation</vt:lpstr>
      <vt:lpstr>Computational Impact</vt:lpstr>
      <vt:lpstr>Limited Contribution of TAT</vt:lpstr>
      <vt:lpstr>Limited Contribution of TAT</vt:lpstr>
      <vt:lpstr>Summary and Future Works</vt:lpstr>
    </vt:vector>
  </TitlesOfParts>
  <Manager/>
  <Company>Microsoft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</dc:creator>
  <cp:lastModifiedBy>MYUNG JIN</cp:lastModifiedBy>
  <cp:revision>985</cp:revision>
  <dcterms:created xsi:type="dcterms:W3CDTF">2016-06-02T05:19:04Z</dcterms:created>
  <dcterms:modified xsi:type="dcterms:W3CDTF">2026-07-23T08:14:17Z</dcterms:modified>
  <cp:version/>
</cp:coreProperties>
</file>